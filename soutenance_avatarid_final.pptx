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4" r:id="rId20"/>
    <p:sldId id="267" r:id="rId13"/>
    <p:sldId id="268" r:id="rId14"/>
    <p:sldId id="269" r:id="rId15"/>
    <p:sldId id="270" r:id="rId16"/>
    <p:sldId id="271" r:id="rId17"/>
    <p:sldId id="272" r:id="rId18"/>
    <p:sldId id="273" r:id="rId19"/>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fe3c77c-8aff-e4e2-a5d2-57e76390f292}">
          <p14:sldIdLst>
            <p14:sldId id="256"/>
          </p14:sldIdLst>
        </p14:section>
        <p14:section name="Problème et cadrage" id="{2363e330-0cb6-723b-31f4-8fcb7f9446fa}">
          <p14:sldIdLst>
            <p14:sldId id="257"/>
            <p14:sldId id="258"/>
            <p14:sldId id="259"/>
            <p14:sldId id="260"/>
          </p14:sldIdLst>
        </p14:section>
        <p14:section name="Solution" id="{3b3de097-aa97-26e0-ae0e-52333dc569fd}">
          <p14:sldIdLst>
            <p14:sldId id="261"/>
            <p14:sldId id="262"/>
            <p14:sldId id="263"/>
            <p14:sldId id="264"/>
            <p14:sldId id="265"/>
          </p14:sldIdLst>
        </p14:section>
        <p14:section name="Démonstration" id="{08352774-7847-861b-7e79-22dc90a3787c}">
          <p14:sldIdLst>
            <p14:sldId id="274"/>
          </p14:sldIdLst>
        </p14:section>
        <p14:section name="Résultats" id="{43061e6f-73e8-1bb7-abeb-0550a489a8ce}">
          <p14:sldIdLst>
            <p14:sldId id="267"/>
            <p14:sldId id="268"/>
            <p14:sldId id="269"/>
            <p14:sldId id="270"/>
          </p14:sldIdLst>
        </p14:section>
        <p14:section name="Annexes" id="{b98a9ca2-bc68-dce9-5422-5af3af9851f1}">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1.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Jours</c:v>
                </c:pt>
              </c:strCache>
            </c:strRef>
          </c:tx>
          <c:spPr>
            <a:solidFill>
              <a:srgbClr val="8A97A6"/>
            </a:solidFill>
            <a:effectLst/>
          </c:spPr>
          <c:invertIfNegative val="0"/>
          <c:dLbls>
            <c:numFmt formatCode="0.0" sourceLinked="0"/>
            <c:txPr>
              <a:bodyPr/>
              <a:lstStyle/>
              <a:p>
                <a:pPr>
                  <a:defRPr b="0" i="0" strike="noStrike" sz="1400" u="none">
                    <a:solidFill>
                      <a:srgbClr val="14202B"/>
                    </a:solidFill>
                    <a:latin typeface="Arial"/>
                  </a:defRPr>
                </a:pPr>
              </a:p>
            </c:txPr>
            <c:showLegendKey val="0"/>
            <c:showVal val="1"/>
            <c:showCatName val="0"/>
            <c:showSerName val="0"/>
            <c:showPercent val="0"/>
            <c:showBubbleSize val="0"/>
            <c:showLeaderLines val="0"/>
          </c:dLbls>
          <c:cat>
            <c:multiLvlStrRef>
              <c:f>Sheet1!$A$2:$A$7</c:f>
              <c:multiLvlStrCache>
                <c:ptCount val="6"/>
                <c:lvl>
                  <c:pt idx="0">
                    <c:v>Mise en place</c:v>
                  </c:pt>
                  <c:pt idx="1">
                    <c:v>Détection</c:v>
                  </c:pt>
                  <c:pt idx="2">
                    <c:v>Autocapture</c:v>
                  </c:pt>
                  <c:pt idx="3">
                    <c:v>Recto/verso</c:v>
                  </c:pt>
                  <c:pt idx="4">
                    <c:v>Finitions</c:v>
                  </c:pt>
                  <c:pt idx="5">
                    <c:v>Livraison</c:v>
                  </c:pt>
                </c:lvl>
              </c:multiLvlStrCache>
            </c:multiLvlStrRef>
          </c:cat>
          <c:val>
            <c:numRef>
              <c:f>Sheet1!$B$2:$B$7</c:f>
              <c:numCache>
                <c:formatCode>General</c:formatCode>
                <c:ptCount val="6"/>
                <c:pt idx="0">
                  <c:v>1.5</c:v>
                </c:pt>
                <c:pt idx="1">
                  <c:v>8</c:v>
                </c:pt>
                <c:pt idx="2">
                  <c:v>2</c:v>
                </c:pt>
                <c:pt idx="3">
                  <c:v>4</c:v>
                </c:pt>
                <c:pt idx="4">
                  <c:v>5</c:v>
                </c:pt>
                <c:pt idx="5">
                  <c:v>5</c:v>
                </c:pt>
              </c:numCache>
            </c:numRef>
          </c:val>
        </c:ser>
        <c:dLbls>
          <c:numFmt formatCode="0.0" sourceLinked="0"/>
          <c:txPr>
            <a:bodyPr/>
            <a:lstStyle/>
            <a:p>
              <a:pPr>
                <a:defRPr b="0" i="0" strike="noStrike" sz="1400" u="none">
                  <a:solidFill>
                    <a:srgbClr val="14202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4202B"/>
                </a:solidFill>
                <a:latin typeface="Arial"/>
              </a:defRPr>
            </a:pPr>
            <a:endParaRPr lang="en-US"/>
          </a:p>
        </c:txPr>
        <c:crossAx val="2094734552"/>
        <c:crosses val="autoZero"/>
        <c:auto val="1"/>
        <c:lblAlgn val="ctr"/>
        <c:noMultiLvlLbl val="1"/>
      </c:catAx>
      <c:valAx>
        <c:axId val="2094734552"/>
        <c:scaling>
          <c:orientation val="minMax"/>
          <c:max val="9.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CIBLE : 25 s (cumul 0:25).
TEXTE ORAL : « Mesdames et Messieurs les membres du jury, bonjour. Je présente le module de détection automatique et d'autocapture de la carte d'identité nationale, réalisé pendant mon stage chez Codingaholic, à La Marsa, dans le projet Avatar-ID. Quinze minutes : le problème, la solution, une démonstration, puis les résultats et leurs limites. »
TRANSITION : « Commençons par le problème. »
À RETENIR : le sujet tient en une phrase : une application mobile qui capture seule recto et verso de la CIN.
QUESTION PROBABLE : « Quel était votre périmètre exact ? » → le module de détection et d'autocapture ; pas de vérification d'identité ni d'anti-fraude biométrique (rapport, §7.2.4, p. 43).
À COMPLÉTER AVANT LE JOUR J : date de soutenance, encadrant ENSI, fichiers officiels des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CIBLE : 45 s (cumul 1:10).
TEXTE ORAL : « Dans Avatar-ID, l'utilisateur doit fournir sa carte d'identité. Si on lui demande une simple photo, on obtient une image floue, mal cadrée, ou le recto envoyé deux fois à la place du verso. Ce sont les défauts que le rapport relève dès le chapitre 1. Mon module guide l'utilisateur et ne capture que lorsque l'image est exploitable, une seule fois par face. »
TRANSITION : « Pour juger si c'est réussi, il fallait des cibles chiffrées. »
À RETENIR : trois défauts typiques ; l'autocapture les évite par construction.
ATTENTION : les trois schémas sont illustratifs ; ne pas les présenter comme des mesures.
QUESTION PROBABLE : « Pourquoi ne pas utiliser le scanner natif du téléphone ? » → le rapport compare trois options techniques (tableau 1.2, p. 16) ; il ne documente pas de test du scanner natif. Ne pas inventer.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CIBLE : 45 s (cumul 1:55).</a:t>
            </a:r>
          </a:p>
          <a:p>
            <a:r>
              <a:t>TEXTE ORAL : « Le cahier des charges fixe trois cibles : moins de 100 ms de traitement par frame, au moins 90 % de reconnaissance recto/verso en conditions normales, et une capture en environ deux secondes au plus après le bon positionnement de la carte. L'application doit tourner sur Android et sur iOS. Je précise tout de suite : ce sont des cibles. Les mesures viendront plus tard, avec leurs limites. »</a:t>
            </a:r>
          </a:p>
          <a:p>
            <a:r>
              <a:t>TRANSITION : « Ces contraintes ont dicté le choix technologique. »</a:t>
            </a:r>
          </a:p>
          <a:p>
            <a:r>
              <a:t>À RETENIR : cibles ≠ résultats ; Android et iOS exigés.</a:t>
            </a:r>
          </a:p>
          <a:p>
            <a:r>
              <a:t>QUESTION PROBABLE : « Avez-vous testé sur iOS ? » → le rapport n'en documente aucun ; OpenCV est multiplateforme par nature, mais je ne présente pas cela comme une validation. [À COMPLÉTER si vous avez testé iOS.]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CIBLE : 45 s (cumul 2:40).
TEXTE ORAL : « Trois options ont été évaluées. ML Kit : simple, mais pas de support iOS. Un modèle entraîné sur mesure : possible sur iOS, mais il faut plusieurs centaines d'images annotées, ce qui est incompatible avec six semaines. OpenCV : multiplateforme, sans entraînement ; le prix à payer est un réglage empirique des seuils. Notez que ces deux éliminations viennent d'une analyse des contraintes, pas d'un benchmark. »
TRANSITION : « Voyons l'architecture qui isole OpenCV. »
À RETENIR : choix par élimination ; coût assumé = réglage empirique.
QUESTION PROBABLE : « Pourquoi pas du deep learning ? » → pas de jeu de données annoté disponible et six semaines ; le rapport le dit explicitement (p. 15–16). Le classificateur de Haar utilisé au ch. 6 est pré-entraîné, fourni par OpenCV.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CIBLE : 55 s (cumul 3:35).
TEXTE ORAL : « L'application est organisée en sept modules par fonctionnalité, plus deux modules transverses. Chaque fonctionnalité suit le même motif en trois couches : présentation, données, et un domaine pur qui ne dépend ni de Flutter ni d'OpenCV. Conséquence directe : la plus grande partie de la logique métier se teste sans caméra, sans OpenCV et sans émulateur, d'où la proportion de tests de palier A, détaillée en diapositive de secours B. »
TRANSITION : « Entrons dans le cœur : le pipeline de détection. »
À RETENIR : le domaine en orange est la couche qui rend les tests rapides.
QUESTION PROBABLE : « Pourquoi feature-first ? » → un module ne peut pas casser silencieusement la logique d'un autre : ils ne partagent que des interfaces de domaine explicites (rapport, p.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CIBLE : 75 s (cumul 4:50).
TEXTE ORAL : « Voici le pipeline. Chaque frame caméra, en YUV420 ou BGRA, devient une matrice OpenCV. On applique un CLAHE pour renforcer le contraste local. Puis quatre passes produisent chacune un masque : Canny avec des seuils à 0,66 et 1,33 fois la médiane, un seuillage adaptatif gaussien, la saturation HSV avec Otsu, et en dernier recours un gradient morphologique, qui n'intervient que si aucun candidat n'atteint 0,65. Les contours sont ensuite approchés par un quadrilatère ; un score combine 80 % de proportion et 20 % de taille ; on accepte à partir de 0,30. La carte est redressée en 856 par 540 pixels. Tout cela tourne dans un Isolate Dart persistant ; si une frame arrive pendant un traitement, elle est abandonnée, ce qui évite de saccader l'aperçu. »
TRANSITION : « Cette étape a connu une vraie difficulté. »
À RETENIR : quatre passes, un score, seuil 0,30 ; le gradient est un dernier recours.
DÉTAILS : recherche grossière à l'échelle 0,45 puis affinage pleine résolution ; rejet si un coin touche le bord ou si l'aire dépasse 75 % ; repli minAreaRect avec pénalité ×0,85.
QUESTION PROBABLE : « Comment avez-vous choisi les seuils ? » → empiriquement, sur un petit nombre d'échantillons de CIN (rapport, p. 16 et tableau 5.1). Pas de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CIBLE : 65 s (cumul 5:55).</a:t>
            </a:r>
          </a:p>
          <a:p>
            <a:r>
              <a:t>TEXTE ORAL : « La difficulté principale : la détection marchait sur fond sombre mais échouait souvent sur une carte claire posée sur une table blanche, un cas pourtant courant. Deux causes. Un bug : les seuils de Canny étaient calculés à partir de la moyenne de l'image et non de sa médiane, ce qui les poussait trop haut sur les scènes claires. Et un manque de contraste local. Correctif : seuils sur la médiane, et passe CLAHE avant la détection. Le rapport conclut à un taux de détection comparable entre fond clair et fond sombre ; je dois préciser honnêtement qu'il ne le chiffre pas. »</a:t>
            </a:r>
          </a:p>
          <a:p>
            <a:r>
              <a:t>TRANSITION : « Une fois la carte détectée, il faut décider quand capturer. »</a:t>
            </a:r>
          </a:p>
          <a:p>
            <a:r>
              <a:t>À RETENIR : cause = moyenne au lieu de médiane ; correctif = médiane + CLAHE ; effet non chiffré.</a:t>
            </a:r>
          </a:p>
          <a:p>
            <a:r>
              <a:t>QUESTION PROBABLE : « Quel est le gain chiffré du correctif ? » → aucune mesure avant/après n'est documentée ; le rapport parle d'un taux « comparable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CIBLE : 65 s (cumul 7:00).
TEXTE ORAL : « L'autocapture est une machine à états : searching, poorQuality, holding, triggerCapture, captured. Tant que le quadrilatère est détecté mais que la qualité est insuffisante, on reste en poorQuality. Trois contrôles : la netteté, variance du Laplacien au moins 120 ; la luminosité moyenne entre 60 et 225 avec au plus 12 % de pixels saturés ; la stabilité, dérive des coins inférieure à 2,5 % de la diagonale sur trois frames. Quand tout est bon, il faut tenir deux frames bonnes consécutives : c'est un compteur de frames, pas un minuteur. Seulement alors la capture se déclenche. »
TRANSITION : « Reste à savoir si on photographie le recto ou le verso. »
À RETENIR : le seuil 120 n'a de sens qu'à 856 × 540 px ; le maintien = 2 frames.
QUESTION PROBABLE : « Pourquoi 120 ? » → seuil empirique, valable uniquement sur l'image redressée 856×540 (tableau 5.1). Voir la diapositive de secours A.
QUESTION PROBABLE 2 : « Et si l'utilisateur n'y arrive pas ? » → le message de timeout n'est pas implémenté (limite assumée, diapositive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CIBLE : 55 s (cumul 7:55).
TEXTE ORAL : « Pour le recto, on cherche un visage avec un classificateur de Haar pré-entraîné fourni par OpenCV, dans une zone en haut à gauche, sur quatre rotations, et on confirme par template matching du logo et du drapeau avec un seuil de corrélation de 0,6. Pour le verso, trois indices : un code-barres, dont on ne fait que la localisation, une texture compatible avec une empreinte, et une ligne de séparation détectée par Hough ; les quatre rotations votent. Un état global de progression empêche de capturer deux fois la même face. Les deux images montrent les silhouettes de guidage de l'application, pas des détections. »
TRANSITION : « Que voit l'utilisateur ensuite ? »
À RETENIR : indices multiples + vote sur 4 rotations + anti-doublon.
ATTENTION : les légendes du rapport (fig. 6.3 / 6.4) parlent de « région d'intérêt détectée » ; les images montrent en fait les silhouettes de guidage. Ne pas dire « voici la détection ».
QUESTION PROBABLE : « Pourquoi pas de lecture du code-barres ? » → seule sa présence compte pour distinguer le verso ; le décodage n'est pas dans le périmètre.
QUESTION PROBABLE 2 : « Un visage sur une photo d'écran ? » → pas de détection de vivacité (§7.2.4, p.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CIBLE : 30 s (cumul 8:25).</a:t>
            </a:r>
          </a:p>
          <a:p>
            <a:r>
              <a:t>TEXTE ORAL : « Une fois les deux faces capturées, l'utilisateur voit un aperçu du recto, du verso et d'une page A4 composée. Il peut recadrer, pivoter ou améliorer chaque face, valider ou reprendre. »</a:t>
            </a:r>
          </a:p>
          <a:p>
            <a:r>
              <a:t>TRANSITION : « Place à la démonstration. »</a:t>
            </a:r>
          </a:p>
          <a:p>
            <a:r>
              <a:t>À RETENIR : validation humaine à chaque face ; page A4 composée en 2480 × 3508 px.</a:t>
            </a:r>
          </a:p>
          <a:p>
            <a:r>
              <a:t>NOTE : les cases grises masquent photo, nom, numéros et texte arabe de la carte du rapport.</a:t>
            </a:r>
          </a:p>
          <a:p>
            <a:r>
              <a:t>QUESTION PROBABLE : « Où vont les images exportées ? » → galerie de l'appareil via package:gal ; elles échappent ensuite au contrôle de l'application (cloud, partage), ce dont l'utilisateur doit être informé (§7.2.4, p. 43).</a:t>
            </a:r>
          </a:p>
          <a:p>
            <a:r>
              <a:t>QUESTION PROBABLE 2 : « La page A4 est-elle testée ? » → le fichier de test du compositeur n'apparaît pas dans la campagne d'exécution (tableau 9.2, p. 50) ; ne pas l'affirmer testé.</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CIBLE : 45 s (cumul 11:00).</a:t>
            </a:r>
          </a:p>
          <a:p>
            <a:r>
              <a:t>TEXTE ORAL : « Côté tests automatisés, la dernière campagne disponible exécute 177 cas, tous réussis, sur 21 des 28 fichiers de test. Ils sont organisés en quatre paliers : logique pure, plateforme simulée, OpenCV réel sur images synthétiques, et le palier D, manuel, avec de vraies cartes. »</a:t>
            </a:r>
          </a:p>
          <a:p>
            <a:r>
              <a:t>TRANSITION : « Et sur appareil réel ? »</a:t>
            </a:r>
          </a:p>
          <a:p>
            <a:r>
              <a:t>À RETENIR : « 177/177 » et « 21 fichiers sur 28 » vont toujours ensemble.</a:t>
            </a:r>
          </a:p>
          <a:p>
            <a:r>
              <a:t>POURQUOI UNE TRANSCRIPTION : la figure 9.1 du rapport est une image de 265 × 20 px, illisible en projection. Si vous relancez flutter test, remplacez par une vraie capture.</a:t>
            </a:r>
          </a:p>
          <a:p>
            <a:r>
              <a:t>QUESTION PROBABLE : « Pourquoi ces sept fichiers n'ont-ils pas tourné ? » → le rapport ne le sait pas : aucun message d'erreur associé (p. 50). Cinq des sept fichiers de palier C se sont bien exécutés, donc le binaire natif d'opencv_dart n'est pas la cause générale.</a:t>
            </a:r>
          </a:p>
          <a:p>
            <a:r>
              <a:t>QUESTION PROBABLE 2 : « Quelle est la couverture ? » → jamais mesurée ; flutter test --coverage est l'option indiquée au rapport (p. 52). [À COMPLÉTER si vous l'avez relancé.]</a:t>
            </a:r>
          </a:p>
          <a:p>
            <a:r>
              <a:t>POUR LE JURY : la liste des sept fichiers sans résultat et la couverture ne sont plus sur la diapositive ; les réponses sont prêtes ci-dessus.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CIBLE : 50 s (cumul 11:50).
TEXTE ORAL : « Trois mesures manuelles sur appareil réel. Traitement par frame : entre 92 et 100 ms, pour une cible idéale sous 100 ms : on est à la limite. Reconnaissance recto/verso : 92 % pour une cible de 90 % en conditions normales. Délai entre stabilisation et capture : environ deux secondes, pour une cible d'environ deux secondes au maximum. Chaque ligne a sa limite : l'appareil, le nombre de frames, les conditions et la taille de l'échantillon ne sont pas documentés, et le délai se compte à partir de la stabilisation, pas de la pose de la carte. »
TRANSITION : « Voyons les limites dans leur ensemble. »
À RETENIR : ces chiffres sont à la limite de leurs cibles ; aucun n'est prouvé statistiquement.
QUESTION PROBABLE : « Sur combien de cartes le 92 % ? » → non documenté dans le rapport. [À COMPLÉTER si vous connaissez l'échantillon et l'appareil.] Ne pas improviser un nombre.
QUESTION PROBABLE 2 : « Les 100 ms incluent-elles la conversion de la frame ? » → la mesure est prise avant/après le traitement d'une frame dans DetectionIsolateWorker (tableau 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CIBLE : 45 s (cumul 12:35).</a:t>
            </a:r>
          </a:p>
          <a:p>
            <a:r>
              <a:t>TEXTE ORAL : « Je préfère nommer moi-même les limites. Le message de timeout n'est pas implémenté. Il n'y a pas de détection de vivacité ni d'anti-fraude, ce qui est hors du périmètre du stage. Et les conditions des mesures manuelles ne sont pas documentées. »</a:t>
            </a:r>
          </a:p>
          <a:p>
            <a:r>
              <a:t>TRANSITION : « Pour conclure. »</a:t>
            </a:r>
          </a:p>
          <a:p>
            <a:r>
              <a:t>À RETENIR : le jury doit entendre ces limites de ma bouche avant de les trouver.</a:t>
            </a:r>
          </a:p>
          <a:p>
            <a:r>
              <a:t>ATTENTION : le rapport contient un passage (§1.1.2) qui laisse entendre une garantie de sécurité plus forte que le §7.2.4. Toujours citer le §7.2.4 : contrôles qui réduisent le risque de photo d'écran, sans détecter le rejeu ni le spoofing.</a:t>
            </a:r>
          </a:p>
          <a:p>
            <a:r>
              <a:t>QUESTION PROBABLE : « Peut-on utiliser le module en production ? » → il a atteint ses trois cibles à la limite, avec des mesures non étendues ; avant production : tests iOS, couverture, timeout, échantillon élargi.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CIBLE : 45 s (cumul 13:20). Marge restante ≈ 100 s pour les transitions, jusqu'à 15:00.</a:t>
            </a:r>
          </a:p>
          <a:p>
            <a:r>
              <a:t>TEXTE ORAL : « En six semaines, le module capture seul le recto puis le verso d'une CIN : détection par quatre passes et un score, autocapture par netteté, luminosité et stabilité, reconnaissance recto/verso, aperçu, recadrage, page A4 et historique. Trois mesures manuelles sont à la limite de leurs cibles, 177 tests passent sur 21 fichiers sur 28. Il reste à implémenter le message de timeout et à élargir l'échantillon de mesures. Merci de votre attention ; je suis à votre disposition pour vos questions. »</a:t>
            </a:r>
          </a:p>
          <a:p>
            <a:r>
              <a:t>À RETENIR : livré / mesuré / non fait.</a:t>
            </a:r>
          </a:p>
          <a:p>
            <a:r>
              <a:t>GRAPHIQUE : durées du tableau 2.4 : 1,5 + 8 + 2 + 4 + 5 + 5 = 25,5 jours sur 30 ; le reste est une marge tampon d'environ 4,5 jours (§2.8, p. 23).</a:t>
            </a:r>
          </a:p>
          <a:p>
            <a:r>
              <a:t>Q&amp;R : voir le fichier jury_qa.md ; diapositives de secours A à C après celle-ci.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SECOURS A : à ouvrir seulement si le jury interroge les seuils.
RÉPONSE : tous ces seuils sont fixés par réglage empirique sur les échantillons de CIN disponibles (rapport, §5.5, p. 35). Le seuil de netteté 120 est calibré sur l'image redressée de 856 × 540 px ; à une autre résolution, la variance du Laplacien change et le seuil n'est plus valable.
Aucun benchmark ni analyse de sensibilité n'est documenté.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SECOURS B : détail des tests.
RÉPONSE : 28 fichiers (15 de palier A, 6 de B, 7 de C). La campagne disponible en exécute 21, soit 177 cas, tous réussis. Les paliers A et B sont rapides et sans matériel ; le palier C dépend du binaire natif d'opencv_dart ; le palier D (visage réel, code-barres, empreinte, flux caméra de bout en bout) est manuel. Cinq des sept fichiers de palier C se sont exécutés, ce qui prouve que le binaire natif était disponible sur la machine ayant produit le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SECOURS C : confidentialité et fraude.
RÉPONSE : les contrôles (netteté, luminosité, stabilité, reconnaissance recto/verso) réduisent fortement le risque de photo d'écran ou d'image préparée, sans constituer une détection de rejeu ou de spoofing : pas de vivacité biométrique, pas d'analyse de texture anti-fraude ; hors périmètre (rapport, p. 43). Deux points de confidentialité : l'export galerie (les images suivent ensuite le cycle de vie des photos : sauvegarde cloud, partage) et l'historique des captures de la session.
ATTENTION : ne pas citer le §1.1.2, plus optimiste ; s'en tenir au §7.2.4.
Chiffrement et conformité : le rapport n'en parle pas ; répondre « non évalué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CIBLE : 110 s (cumul 10:15). Début à 8:25.</a:t>
            </a:r>
          </a:p>
          <a:p>
            <a:r>
              <a:t>PARCOURS (≈ 15 s par écran ; un clic fait apparaître chaque écran) :</a:t>
            </a:r>
          </a:p>
          <a:p>
            <a:r>
              <a:t>1. RECTO : le cadre-guide passe du rouge au vert selon la détection ; le message guide l'utilisateur tant que l'image n'est pas assez nette.</a:t>
            </a:r>
          </a:p>
          <a:p>
            <a:r>
              <a:t>2. VERSO : même principe ; la face est reconnue par son contenu.</a:t>
            </a:r>
          </a:p>
          <a:p>
            <a:r>
              <a:t>3. APERÇU : recto, verso et page à imprimer.</a:t>
            </a:r>
          </a:p>
          <a:p>
            <a:r>
              <a:t>4. RECADRER : l'utilisateur glisse les coins du cadre.</a:t>
            </a:r>
          </a:p>
          <a:p>
            <a:r>
              <a:t>5. PIVOTER : par quart de tour.</a:t>
            </a:r>
          </a:p>
          <a:p>
            <a:r>
              <a:t>6. AMÉLIORER : contraste, netteté, mode scan.</a:t>
            </a:r>
          </a:p>
          <a:p>
            <a:r>
              <a:t>7. HISTORIQUE : captures de la session.</a:t>
            </a:r>
          </a:p>
          <a:p>
            <a:r>
              <a:t>TEXTE ORAL : « Voici le parcours tel qu'il se déroule à l'écran, à partir de captures de la session de test. Le cadre-guide est rouge ou vert selon la détection, et la capture ne part qu'après deux frames bonnes consécutives. Une fois recto et verso capturés, l'utilisateur voit l'aperçu, recadre, pivote, améliore, puis retrouve ses captures dans l'historique. »</a:t>
            </a:r>
          </a:p>
          <a:p>
            <a:r>
              <a:t>PRÉCISION À DIRE : les captures sont fixes ; elles ne montrent pas le changement de couleur du cadre ni le déclenchement automatique. « Sur l'application, la capture se déclenche seule dès que l'image est stable. »</a:t>
            </a:r>
          </a:p>
          <a:p>
            <a:r>
              <a:t>TRANSITION : « Voyons maintenant ce que disent les tests. »</a:t>
            </a:r>
          </a:p>
          <a:p>
            <a:r>
              <a:t>QUESTION PROBABLE : « Pourquoi pas de démonstration en direct ? » → dire simplement que le parcours est présenté à partir de captures de la session de test ; ne pas inventer d'autre raison.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46304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3" name="Text 0"/>
          <p:cNvSpPr/>
          <p:nvPr>
            <p:ph idx="101" type="body" hasCustomPrompt="1"/>
          </p:nvPr>
        </p:nvSpPr>
        <p:spPr>
          <a:xfrm>
            <a:off x="548640" y="3931920"/>
            <a:ext cx="11094415" cy="137160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FFIRMATION_FIGUR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887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400" dirty="0">
                <a:solidFill>
                  <a:schemeClr val="tx2"/>
                </a:solidFill>
              </a:rPr>
              <a:t>Avatar-ID · autocapture de la CIN</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4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AGRAMME_PLEI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887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400" dirty="0">
                <a:solidFill>
                  <a:schemeClr val="tx2"/>
                </a:solidFill>
              </a:rPr>
              <a:t>Avatar-ID · autocapture de la CIN</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4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RAND_CHIFFR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887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400" dirty="0">
                <a:solidFill>
                  <a:schemeClr val="tx2"/>
                </a:solidFill>
              </a:rPr>
              <a:t>Avatar-ID · autocapture de la CIN</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4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EUX_COLONNES">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887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400" dirty="0">
                <a:solidFill>
                  <a:schemeClr val="tx2"/>
                </a:solidFill>
              </a:rPr>
              <a:t>Avatar-ID · autocapture de la CIN</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400">
                <a:solidFill>
                  <a:schemeClr val="tx2"/>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M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400" dirty="0">
                <a:solidFill>
                  <a:schemeClr val="tx2"/>
                </a:solidFill>
              </a:rPr>
              <a:t>Avatar-ID · autocapture de la CIN</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400">
                <a:solidFill>
                  <a:schemeClr val="tx2"/>
                </a:solidFill>
              </a:defRPr>
            </a:lvl1pPr>
          </a:lstStyle>
          <a:p>
            <a:pPr algn="r"/>
            <a:fld id="{F7021451-1387-4CA6-816F-3879F97B5CBC}" type="slidenum">
              <a:rPr b="0" lang="en-US"/>
              <a:t>1007</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4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3.xml"/><Relationship Id="rId9" Type="http://schemas.openxmlformats.org/officeDocument/2006/relationships/notesSlide" Target="../notesSlides/notesSlide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Manouba" descr="Logo Université de la Manouba">    </p:cNvPr>
          <p:cNvPicPr>
            <a:picLocks noChangeAspect="1"/>
          </p:cNvPicPr>
          <p:nvPr/>
        </p:nvPicPr>
        <p:blipFill>
          <a:blip r:embed="rId1"/>
          <a:stretch>
            <a:fillRect/>
          </a:stretch>
        </p:blipFill>
        <p:spPr>
          <a:xfrm>
            <a:off x="548640" y="548640"/>
            <a:ext cx="692201" cy="914400"/>
          </a:xfrm>
          <a:prstGeom prst="rect">
            <a:avLst/>
          </a:prstGeom>
        </p:spPr>
      </p:pic>
      <p:pic>
        <p:nvPicPr>
          <p:cNvPr id="3" name="Logo ENSI" descr="Logo ENSI">    </p:cNvPr>
          <p:cNvPicPr>
            <a:picLocks noChangeAspect="1"/>
          </p:cNvPicPr>
          <p:nvPr/>
        </p:nvPicPr>
        <p:blipFill>
          <a:blip r:embed="rId2"/>
          <a:stretch>
            <a:fillRect/>
          </a:stretch>
        </p:blipFill>
        <p:spPr>
          <a:xfrm>
            <a:off x="1554480" y="548640"/>
            <a:ext cx="761695" cy="914400"/>
          </a:xfrm>
          <a:prstGeom prst="rect">
            <a:avLst/>
          </a:prstGeom>
        </p:spPr>
      </p:pic>
      <p:pic>
        <p:nvPicPr>
          <p:cNvPr id="4" name="Logo Codingaholic" descr="Logo Codingaholic">    </p:cNvPr>
          <p:cNvPicPr>
            <a:picLocks noChangeAspect="1"/>
          </p:cNvPicPr>
          <p:nvPr/>
        </p:nvPicPr>
        <p:blipFill>
          <a:blip r:embed="rId3"/>
          <a:stretch>
            <a:fillRect/>
          </a:stretch>
        </p:blipFill>
        <p:spPr>
          <a:xfrm>
            <a:off x="2651760" y="731520"/>
            <a:ext cx="1251814" cy="548640"/>
          </a:xfrm>
          <a:prstGeom prst="rect">
            <a:avLst/>
          </a:prstGeom>
        </p:spPr>
      </p:pic>
      <p:sp>
        <p:nvSpPr>
          <p:cNvPr id="5" name="Text 0"/>
          <p:cNvSpPr/>
          <p:nvPr>
            <p:ph idx="100" type="title" hasCustomPrompt="1"/>
          </p:nvPr>
        </p:nvSpPr>
        <p:spPr>
          <a:xfrm>
            <a:off x="548640" y="2194560"/>
            <a:ext cx="11094415" cy="1463040"/>
          </a:xfrm>
          <a:prstGeom prst="rect">
            <a:avLst/>
          </a:prstGeom>
          <a:noFill/>
          <a:ln/>
        </p:spPr>
        <p:txBody>
          <a:bodyPr wrap="square" lIns="0" tIns="0" rIns="0" bIns="0" rtlCol="0" anchor="t"/>
          <a:lstStyle/>
          <a:p>
            <a:pPr algn="l" indent="0" marL="0">
              <a:buNone/>
            </a:pPr>
            <a:r>
              <a:rPr lang="en-US" sz="4400" b="1" dirty="0">
                <a:solidFill>
                  <a:schemeClr val="tx1"/>
                </a:solidFill>
              </a:rPr>
              <a:t>Détection automatique et autocapture</a:t>
            </a:r>
            <a:endParaRPr lang="en-US" sz="4400" dirty="0"/>
          </a:p>
          <a:p>
            <a:pPr algn="l" indent="0" marL="0">
              <a:buNone/>
            </a:pPr>
            <a:r>
              <a:rPr lang="en-US" sz="4400" b="1" dirty="0">
                <a:solidFill>
                  <a:schemeClr val="tx1"/>
                </a:solidFill>
              </a:rPr>
              <a:t>de la carte d’identité nationale</a:t>
            </a:r>
            <a:endParaRPr lang="en-US" sz="4400" dirty="0"/>
          </a:p>
        </p:txBody>
      </p:sp>
      <p:sp>
        <p:nvSpPr>
          <p:cNvPr id="6" name="Text 0"/>
          <p:cNvSpPr/>
          <p:nvPr>
            <p:ph idx="101" type="body" hasCustomPrompt="1"/>
          </p:nvPr>
        </p:nvSpPr>
        <p:spPr>
          <a:xfrm>
            <a:off x="548640" y="3931920"/>
            <a:ext cx="11094415" cy="1371600"/>
          </a:xfrm>
          <a:prstGeom prst="rect">
            <a:avLst/>
          </a:prstGeom>
          <a:noFill/>
          <a:ln/>
        </p:spPr>
        <p:txBody>
          <a:bodyPr wrap="square" lIns="0" tIns="0" rIns="0" bIns="0" rtlCol="0" anchor="t"/>
          <a:lstStyle/>
          <a:p>
            <a:pPr algn="l" indent="0" marL="0">
              <a:buNone/>
            </a:pPr>
            <a:r>
              <a:rPr lang="en-US" sz="2000" dirty="0">
                <a:solidFill>
                  <a:schemeClr val="tx2"/>
                </a:solidFill>
              </a:rPr>
              <a:t>Module Avatar-ID · Flutter, OpenCV · Université de la Manouba, ENSI · 2025/2026</a:t>
            </a:r>
            <a:endParaRPr lang="en-US" sz="2000" dirty="0"/>
          </a:p>
          <a:p>
            <a:pPr algn="l" indent="0" marL="0">
              <a:buNone/>
            </a:pPr>
            <a:r>
              <a:rPr lang="en-US" sz="2000" dirty="0">
                <a:solidFill>
                  <a:schemeClr val="tx2"/>
                </a:solidFill>
              </a:rPr>
              <a:t>Mohammed Amine Chaieb · stage à Codingaholic, La Marsa</a:t>
            </a:r>
            <a:endParaRPr lang="en-US" sz="2000" dirty="0"/>
          </a:p>
          <a:p>
            <a:pPr algn="l" indent="0" marL="0">
              <a:buNone/>
            </a:pPr>
            <a:r>
              <a:rPr lang="en-US" sz="2000" dirty="0">
                <a:solidFill>
                  <a:schemeClr val="tx2"/>
                </a:solidFill>
              </a:rPr>
              <a:t>Encadrant entreprise : Jendoubi Mohamed Khalil</a:t>
            </a:r>
            <a:endParaRPr lang="en-US" sz="2000" dirty="0"/>
          </a:p>
          <a:p>
            <a:pPr algn="l" indent="0" marL="0">
              <a:buNone/>
            </a:pPr>
            <a:r>
              <a:rPr lang="en-US" sz="2000" b="1" dirty="0">
                <a:solidFill>
                  <a:schemeClr val="accent1"/>
                </a:solidFill>
              </a:rPr>
              <a:t>[Date de soutenance et encadrant ENSI : à confirmer]</a:t>
            </a:r>
            <a:endParaRPr lang="en-US" sz="20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88720"/>
          </a:xfrm>
          <a:prstGeom prst="rect">
            <a:avLst/>
          </a:prstGeom>
          <a:noFill/>
          <a:ln/>
        </p:spPr>
        <p:txBody>
          <a:bodyPr wrap="square" lIns="0" tIns="0" rIns="0" bIns="0" rtlCol="0" anchor="t"/>
          <a:lstStyle/>
          <a:p>
            <a:pPr algn="l" indent="0" marL="0">
              <a:buNone/>
            </a:pPr>
            <a:r>
              <a:rPr lang="en-US" sz="3200" b="1" dirty="0">
                <a:solidFill>
                  <a:schemeClr val="tx1"/>
                </a:solidFill>
              </a:rPr>
              <a:t>La photo libre d’une CIN est floue,</a:t>
            </a:r>
            <a:endParaRPr lang="en-US" sz="3200" dirty="0"/>
          </a:p>
          <a:p>
            <a:pPr algn="l" indent="0" marL="0">
              <a:buNone/>
            </a:pPr>
            <a:r>
              <a:rPr lang="en-US" sz="3200" b="1" dirty="0">
                <a:solidFill>
                  <a:schemeClr val="tx1"/>
                </a:solidFill>
              </a:rPr>
              <a:t>de travers ou en double</a:t>
            </a:r>
            <a:endParaRPr lang="en-US" sz="3200" dirty="0"/>
          </a:p>
        </p:txBody>
      </p:sp>
      <p:sp>
        <p:nvSpPr>
          <p:cNvPr id="3" name="Panneau 1"/>
          <p:cNvSpPr/>
          <p:nvPr/>
        </p:nvSpPr>
        <p:spPr>
          <a:xfrm>
            <a:off x="548640" y="1783080"/>
            <a:ext cx="3520440" cy="2651760"/>
          </a:xfrm>
          <a:prstGeom prst="rect">
            <a:avLst/>
          </a:prstGeom>
          <a:solidFill>
            <a:schemeClr val="bg2"/>
          </a:solidFill>
          <a:ln w="9525">
            <a:solidFill>
              <a:schemeClr val="bg2"/>
            </a:solidFill>
            <a:prstDash val="solid"/>
          </a:ln>
        </p:spPr>
      </p:sp>
      <p:sp>
        <p:nvSpPr>
          <p:cNvPr id="4" name="Panneau 2"/>
          <p:cNvSpPr/>
          <p:nvPr/>
        </p:nvSpPr>
        <p:spPr>
          <a:xfrm>
            <a:off x="4335628" y="1783080"/>
            <a:ext cx="3520440" cy="2651760"/>
          </a:xfrm>
          <a:prstGeom prst="rect">
            <a:avLst/>
          </a:prstGeom>
          <a:solidFill>
            <a:schemeClr val="bg2"/>
          </a:solidFill>
          <a:ln w="9525">
            <a:solidFill>
              <a:schemeClr val="bg2"/>
            </a:solidFill>
            <a:prstDash val="solid"/>
          </a:ln>
        </p:spPr>
      </p:sp>
      <p:sp>
        <p:nvSpPr>
          <p:cNvPr id="5" name="Panneau 3"/>
          <p:cNvSpPr/>
          <p:nvPr/>
        </p:nvSpPr>
        <p:spPr>
          <a:xfrm>
            <a:off x="8122615" y="1783080"/>
            <a:ext cx="3520440" cy="2651760"/>
          </a:xfrm>
          <a:prstGeom prst="rect">
            <a:avLst/>
          </a:prstGeom>
          <a:solidFill>
            <a:schemeClr val="bg2"/>
          </a:solidFill>
          <a:ln w="9525">
            <a:solidFill>
              <a:schemeClr val="bg2"/>
            </a:solidFill>
            <a:prstDash val="solid"/>
          </a:ln>
        </p:spPr>
      </p:sp>
      <p:sp>
        <p:nvSpPr>
          <p:cNvPr id="6" name="Carte floue, copie 1"/>
          <p:cNvSpPr/>
          <p:nvPr/>
        </p:nvSpPr>
        <p:spPr>
          <a:xfrm>
            <a:off x="1417320" y="2286000"/>
            <a:ext cx="1737360" cy="1097280"/>
          </a:xfrm>
          <a:prstGeom prst="rect">
            <a:avLst/>
          </a:prstGeom>
          <a:solidFill>
            <a:schemeClr val="bg1"/>
          </a:solidFill>
          <a:ln w="19050">
            <a:solidFill>
              <a:schemeClr val="accent1"/>
            </a:solidFill>
            <a:prstDash val="dash"/>
          </a:ln>
        </p:spPr>
      </p:sp>
      <p:sp>
        <p:nvSpPr>
          <p:cNvPr id="7" name="Carte floue, copie 2"/>
          <p:cNvSpPr/>
          <p:nvPr/>
        </p:nvSpPr>
        <p:spPr>
          <a:xfrm>
            <a:off x="1554480" y="2423160"/>
            <a:ext cx="1737360" cy="1097280"/>
          </a:xfrm>
          <a:prstGeom prst="rect">
            <a:avLst/>
          </a:prstGeom>
          <a:solidFill>
            <a:schemeClr val="bg1"/>
          </a:solidFill>
          <a:ln w="19050">
            <a:solidFill>
              <a:schemeClr val="accent1"/>
            </a:solidFill>
            <a:prstDash val="dash"/>
          </a:ln>
        </p:spPr>
      </p:sp>
      <p:sp>
        <p:nvSpPr>
          <p:cNvPr id="8" name="Carte floue, nette"/>
          <p:cNvSpPr/>
          <p:nvPr/>
        </p:nvSpPr>
        <p:spPr>
          <a:xfrm>
            <a:off x="1691640" y="2560320"/>
            <a:ext cx="1737360" cy="1097280"/>
          </a:xfrm>
          <a:prstGeom prst="rect">
            <a:avLst/>
          </a:prstGeom>
          <a:solidFill>
            <a:schemeClr val="bg1"/>
          </a:solidFill>
          <a:ln w="19050">
            <a:solidFill>
              <a:schemeClr val="tx1"/>
            </a:solidFill>
            <a:prstDash val="solid"/>
          </a:ln>
        </p:spPr>
      </p:sp>
      <p:sp>
        <p:nvSpPr>
          <p:cNvPr id="9" name="Cadre-guide"/>
          <p:cNvSpPr/>
          <p:nvPr/>
        </p:nvSpPr>
        <p:spPr>
          <a:xfrm>
            <a:off x="5158588" y="2331720"/>
            <a:ext cx="1874520" cy="1188720"/>
          </a:xfrm>
          <a:prstGeom prst="rect">
            <a:avLst/>
          </a:prstGeom>
          <a:solidFill>
            <a:schemeClr val="bg1"/>
          </a:solidFill>
          <a:ln w="19050">
            <a:solidFill>
              <a:schemeClr val="accent4"/>
            </a:solidFill>
            <a:prstDash val="dash"/>
          </a:ln>
        </p:spPr>
      </p:sp>
      <p:sp>
        <p:nvSpPr>
          <p:cNvPr id="10" name="Carte de travers"/>
          <p:cNvSpPr/>
          <p:nvPr/>
        </p:nvSpPr>
        <p:spPr>
          <a:xfrm rot="840000">
            <a:off x="5204308" y="2377440"/>
            <a:ext cx="1783080" cy="1097280"/>
          </a:xfrm>
          <a:prstGeom prst="rect">
            <a:avLst/>
          </a:prstGeom>
          <a:solidFill>
            <a:schemeClr val="bg1"/>
          </a:solidFill>
          <a:ln w="31750">
            <a:solidFill>
              <a:schemeClr val="accent1"/>
            </a:solidFill>
            <a:prstDash val="solid"/>
          </a:ln>
        </p:spPr>
      </p:sp>
      <p:sp>
        <p:nvSpPr>
          <p:cNvPr id="11" name="Recto 1"/>
          <p:cNvSpPr/>
          <p:nvPr/>
        </p:nvSpPr>
        <p:spPr>
          <a:xfrm>
            <a:off x="8534095" y="2468880"/>
            <a:ext cx="1417320" cy="914400"/>
          </a:xfrm>
          <a:prstGeom prst="rect">
            <a:avLst/>
          </a:prstGeom>
          <a:solidFill>
            <a:schemeClr val="bg1"/>
          </a:solidFill>
          <a:ln w="19050">
            <a:solidFill>
              <a:schemeClr val="tx1"/>
            </a:solidFill>
          </a:ln>
        </p:spPr>
        <p:txBody>
          <a:bodyPr wrap="square" rtlCol="0" anchor="ctr"/>
          <a:lstStyle/>
          <a:p>
            <a:pPr algn="ctr" indent="0" marL="0">
              <a:buNone/>
            </a:pPr>
            <a:r>
              <a:rPr lang="en-US" sz="1800" dirty="0">
                <a:solidFill>
                  <a:schemeClr val="tx1"/>
                </a:solidFill>
              </a:rPr>
              <a:t>recto</a:t>
            </a:r>
            <a:endParaRPr lang="en-US" sz="1800" dirty="0"/>
          </a:p>
        </p:txBody>
      </p:sp>
      <p:sp>
        <p:nvSpPr>
          <p:cNvPr id="12" name="Recto 2 (doublon)"/>
          <p:cNvSpPr/>
          <p:nvPr/>
        </p:nvSpPr>
        <p:spPr>
          <a:xfrm>
            <a:off x="9814255" y="2651760"/>
            <a:ext cx="1417320" cy="914400"/>
          </a:xfrm>
          <a:prstGeom prst="rect">
            <a:avLst/>
          </a:prstGeom>
          <a:solidFill>
            <a:schemeClr val="bg1"/>
          </a:solidFill>
          <a:ln w="31750">
            <a:solidFill>
              <a:schemeClr val="accent1"/>
            </a:solidFill>
          </a:ln>
        </p:spPr>
        <p:txBody>
          <a:bodyPr wrap="square" rtlCol="0" anchor="ctr"/>
          <a:lstStyle/>
          <a:p>
            <a:pPr algn="ctr" indent="0" marL="0">
              <a:buNone/>
            </a:pPr>
            <a:r>
              <a:rPr lang="en-US" sz="1800" dirty="0">
                <a:solidFill>
                  <a:schemeClr val="tx1"/>
                </a:solidFill>
              </a:rPr>
              <a:t>recto</a:t>
            </a:r>
            <a:endParaRPr lang="en-US" sz="1800" dirty="0"/>
          </a:p>
        </p:txBody>
      </p:sp>
      <p:sp>
        <p:nvSpPr>
          <p:cNvPr id="13" name="Étiquette 1"/>
          <p:cNvSpPr txBox="1"/>
          <p:nvPr/>
        </p:nvSpPr>
        <p:spPr>
          <a:xfrm>
            <a:off x="548640" y="3886200"/>
            <a:ext cx="3520440" cy="411480"/>
          </a:xfrm>
          <a:prstGeom prst="rect">
            <a:avLst/>
          </a:prstGeom>
          <a:noFill/>
          <a:ln/>
        </p:spPr>
        <p:txBody>
          <a:bodyPr wrap="square" lIns="0" tIns="0" rIns="0" bIns="0" rtlCol="0" anchor="ctr"/>
          <a:lstStyle/>
          <a:p>
            <a:pPr algn="ctr" indent="0" marL="0">
              <a:buNone/>
            </a:pPr>
            <a:r>
              <a:rPr lang="en-US" sz="2000" b="1" dirty="0">
                <a:solidFill>
                  <a:schemeClr val="tx1"/>
                </a:solidFill>
              </a:rPr>
              <a:t>Floue</a:t>
            </a:r>
            <a:endParaRPr lang="en-US" sz="2000" dirty="0"/>
          </a:p>
        </p:txBody>
      </p:sp>
      <p:sp>
        <p:nvSpPr>
          <p:cNvPr id="14" name="Étiquette 2"/>
          <p:cNvSpPr txBox="1"/>
          <p:nvPr/>
        </p:nvSpPr>
        <p:spPr>
          <a:xfrm>
            <a:off x="4335628" y="3886200"/>
            <a:ext cx="3520440" cy="411480"/>
          </a:xfrm>
          <a:prstGeom prst="rect">
            <a:avLst/>
          </a:prstGeom>
          <a:noFill/>
          <a:ln/>
        </p:spPr>
        <p:txBody>
          <a:bodyPr wrap="square" lIns="0" tIns="0" rIns="0" bIns="0" rtlCol="0" anchor="ctr"/>
          <a:lstStyle/>
          <a:p>
            <a:pPr algn="ctr" indent="0" marL="0">
              <a:buNone/>
            </a:pPr>
            <a:r>
              <a:rPr lang="en-US" sz="2000" b="1" dirty="0">
                <a:solidFill>
                  <a:schemeClr val="tx1"/>
                </a:solidFill>
              </a:rPr>
              <a:t>De travers</a:t>
            </a:r>
            <a:endParaRPr lang="en-US" sz="2000" dirty="0"/>
          </a:p>
        </p:txBody>
      </p:sp>
      <p:sp>
        <p:nvSpPr>
          <p:cNvPr id="15" name="Étiquette 3"/>
          <p:cNvSpPr txBox="1"/>
          <p:nvPr/>
        </p:nvSpPr>
        <p:spPr>
          <a:xfrm>
            <a:off x="8122615" y="3886200"/>
            <a:ext cx="3520440" cy="411480"/>
          </a:xfrm>
          <a:prstGeom prst="rect">
            <a:avLst/>
          </a:prstGeom>
          <a:noFill/>
          <a:ln/>
        </p:spPr>
        <p:txBody>
          <a:bodyPr wrap="square" lIns="0" tIns="0" rIns="0" bIns="0" rtlCol="0" anchor="ctr"/>
          <a:lstStyle/>
          <a:p>
            <a:pPr algn="ctr" indent="0" marL="0">
              <a:buNone/>
            </a:pPr>
            <a:r>
              <a:rPr lang="en-US" sz="2000" b="1" dirty="0">
                <a:solidFill>
                  <a:schemeClr val="tx1"/>
                </a:solidFill>
              </a:rPr>
              <a:t>Recto deux fois</a:t>
            </a:r>
            <a:endParaRPr lang="en-US" sz="2000" dirty="0"/>
          </a:p>
        </p:txBody>
      </p:sp>
      <p:sp>
        <p:nvSpPr>
          <p:cNvPr id="16" name="Texte"/>
          <p:cNvSpPr txBox="1"/>
          <p:nvPr/>
        </p:nvSpPr>
        <p:spPr>
          <a:xfrm>
            <a:off x="548640" y="4754880"/>
            <a:ext cx="11094415" cy="822960"/>
          </a:xfrm>
          <a:prstGeom prst="rect">
            <a:avLst/>
          </a:prstGeom>
          <a:noFill/>
          <a:ln/>
        </p:spPr>
        <p:txBody>
          <a:bodyPr wrap="square" lIns="0" tIns="0" rIns="0" bIns="0" rtlCol="0" anchor="t"/>
          <a:lstStyle/>
          <a:p>
            <a:pPr indent="0" marL="0">
              <a:buNone/>
            </a:pPr>
            <a:r>
              <a:rPr lang="en-US" sz="2000" dirty="0">
                <a:solidFill>
                  <a:schemeClr val="tx1"/>
                </a:solidFill>
              </a:rPr>
              <a:t>Le module ne doit enregistrer qu’une image nette, bien cadrée, une seule fois par face.</a:t>
            </a:r>
            <a:endParaRPr lang="en-US" sz="20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400">
                <a:solidFill>
                  <a:schemeClr val="tx2"/>
                </a:solidFill>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88720"/>
          </a:xfrm>
          <a:prstGeom prst="rect">
            <a:avLst/>
          </a:prstGeom>
          <a:noFill/>
          <a:ln/>
        </p:spPr>
        <p:txBody>
          <a:bodyPr wrap="square" lIns="0" tIns="0" rIns="0" bIns="0" rtlCol="0" anchor="t"/>
          <a:lstStyle/>
          <a:p>
            <a:pPr algn="l" indent="0" marL="0">
              <a:buNone/>
            </a:pPr>
            <a:r>
              <a:rPr lang="en-US" sz="3200" b="1" dirty="0">
                <a:solidFill>
                  <a:schemeClr val="tx1"/>
                </a:solidFill>
              </a:rPr>
              <a:t>Trois cibles chiffrées : 100 ms, 90 %, 2 secondes</a:t>
            </a:r>
            <a:endParaRPr lang="en-US" sz="3200" dirty="0"/>
          </a:p>
        </p:txBody>
      </p:sp>
      <p:sp>
        <p:nvSpPr>
          <p:cNvPr id="3" name="Ligne 1"/>
          <p:cNvSpPr/>
          <p:nvPr/>
        </p:nvSpPr>
        <p:spPr>
          <a:xfrm>
            <a:off x="548640" y="1783080"/>
            <a:ext cx="7040880" cy="1097280"/>
          </a:xfrm>
          <a:prstGeom prst="rect">
            <a:avLst/>
          </a:prstGeom>
          <a:solidFill>
            <a:schemeClr val="bg2"/>
          </a:solidFill>
          <a:ln w="9525">
            <a:solidFill>
              <a:schemeClr val="bg2"/>
            </a:solidFill>
            <a:prstDash val="solid"/>
          </a:ln>
        </p:spPr>
      </p:sp>
      <p:sp>
        <p:nvSpPr>
          <p:cNvPr id="4" name="Cible chiffre 1"/>
          <p:cNvSpPr txBox="1"/>
          <p:nvPr/>
        </p:nvSpPr>
        <p:spPr>
          <a:xfrm>
            <a:off x="777240" y="1783080"/>
            <a:ext cx="2834640" cy="109728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&lt; 100 ms</a:t>
            </a:r>
            <a:endParaRPr lang="en-US" sz="3600" dirty="0"/>
          </a:p>
        </p:txBody>
      </p:sp>
      <p:sp>
        <p:nvSpPr>
          <p:cNvPr id="5" name="Cible texte 1"/>
          <p:cNvSpPr txBox="1"/>
          <p:nvPr/>
        </p:nvSpPr>
        <p:spPr>
          <a:xfrm>
            <a:off x="3611880" y="1783080"/>
            <a:ext cx="3840480" cy="1097280"/>
          </a:xfrm>
          <a:prstGeom prst="rect">
            <a:avLst/>
          </a:prstGeom>
          <a:noFill/>
          <a:ln/>
        </p:spPr>
        <p:txBody>
          <a:bodyPr wrap="square" lIns="0" tIns="0" rIns="0" bIns="0" rtlCol="0" anchor="ctr"/>
          <a:lstStyle/>
          <a:p>
            <a:pPr indent="0" marL="0">
              <a:buNone/>
            </a:pPr>
            <a:r>
              <a:rPr lang="en-US" sz="2000" dirty="0">
                <a:solidFill>
                  <a:schemeClr val="tx1"/>
                </a:solidFill>
              </a:rPr>
              <a:t>par frame</a:t>
            </a:r>
            <a:endParaRPr lang="en-US" sz="2000" dirty="0"/>
          </a:p>
          <a:p>
            <a:pPr indent="0" marL="0">
              <a:buNone/>
            </a:pPr>
            <a:r>
              <a:rPr lang="en-US" sz="1400" dirty="0">
                <a:solidFill>
                  <a:schemeClr val="tx2"/>
                </a:solidFill>
              </a:rPr>
              <a:t>cible idéale</a:t>
            </a:r>
            <a:endParaRPr lang="en-US" sz="2000" dirty="0"/>
          </a:p>
        </p:txBody>
      </p:sp>
      <p:sp>
        <p:nvSpPr>
          <p:cNvPr id="6" name="Ligne 2"/>
          <p:cNvSpPr/>
          <p:nvPr/>
        </p:nvSpPr>
        <p:spPr>
          <a:xfrm>
            <a:off x="548640" y="3063240"/>
            <a:ext cx="7040880" cy="1097280"/>
          </a:xfrm>
          <a:prstGeom prst="rect">
            <a:avLst/>
          </a:prstGeom>
          <a:solidFill>
            <a:schemeClr val="bg2"/>
          </a:solidFill>
          <a:ln w="9525">
            <a:solidFill>
              <a:schemeClr val="bg2"/>
            </a:solidFill>
            <a:prstDash val="solid"/>
          </a:ln>
        </p:spPr>
      </p:sp>
      <p:sp>
        <p:nvSpPr>
          <p:cNvPr id="7" name="Cible chiffre 2"/>
          <p:cNvSpPr txBox="1"/>
          <p:nvPr/>
        </p:nvSpPr>
        <p:spPr>
          <a:xfrm>
            <a:off x="777240" y="3063240"/>
            <a:ext cx="2834640" cy="109728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 90 %</a:t>
            </a:r>
            <a:endParaRPr lang="en-US" sz="3600" dirty="0"/>
          </a:p>
        </p:txBody>
      </p:sp>
      <p:sp>
        <p:nvSpPr>
          <p:cNvPr id="8" name="Cible texte 2"/>
          <p:cNvSpPr txBox="1"/>
          <p:nvPr/>
        </p:nvSpPr>
        <p:spPr>
          <a:xfrm>
            <a:off x="3611880" y="3063240"/>
            <a:ext cx="3840480" cy="1097280"/>
          </a:xfrm>
          <a:prstGeom prst="rect">
            <a:avLst/>
          </a:prstGeom>
          <a:noFill/>
          <a:ln/>
        </p:spPr>
        <p:txBody>
          <a:bodyPr wrap="square" lIns="0" tIns="0" rIns="0" bIns="0" rtlCol="0" anchor="ctr"/>
          <a:lstStyle/>
          <a:p>
            <a:pPr indent="0" marL="0">
              <a:buNone/>
            </a:pPr>
            <a:r>
              <a:rPr lang="en-US" sz="2000" dirty="0">
                <a:solidFill>
                  <a:schemeClr val="tx1"/>
                </a:solidFill>
              </a:rPr>
              <a:t>recto / verso reconnus</a:t>
            </a:r>
            <a:endParaRPr lang="en-US" sz="2000" dirty="0"/>
          </a:p>
          <a:p>
            <a:pPr indent="0" marL="0">
              <a:buNone/>
            </a:pPr>
            <a:r>
              <a:rPr lang="en-US" sz="1400" dirty="0">
                <a:solidFill>
                  <a:schemeClr val="tx2"/>
                </a:solidFill>
              </a:rPr>
              <a:t>en conditions normales</a:t>
            </a:r>
            <a:endParaRPr lang="en-US" sz="2000" dirty="0"/>
          </a:p>
        </p:txBody>
      </p:sp>
      <p:sp>
        <p:nvSpPr>
          <p:cNvPr id="9" name="Ligne 3"/>
          <p:cNvSpPr/>
          <p:nvPr/>
        </p:nvSpPr>
        <p:spPr>
          <a:xfrm>
            <a:off x="548640" y="4343400"/>
            <a:ext cx="7040880" cy="1097280"/>
          </a:xfrm>
          <a:prstGeom prst="rect">
            <a:avLst/>
          </a:prstGeom>
          <a:solidFill>
            <a:schemeClr val="bg2"/>
          </a:solidFill>
          <a:ln w="9525">
            <a:solidFill>
              <a:schemeClr val="bg2"/>
            </a:solidFill>
            <a:prstDash val="solid"/>
          </a:ln>
        </p:spPr>
      </p:sp>
      <p:sp>
        <p:nvSpPr>
          <p:cNvPr id="10" name="Cible chiffre 3"/>
          <p:cNvSpPr txBox="1"/>
          <p:nvPr/>
        </p:nvSpPr>
        <p:spPr>
          <a:xfrm>
            <a:off x="777240" y="4343400"/>
            <a:ext cx="2834640" cy="109728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 2 s</a:t>
            </a:r>
            <a:endParaRPr lang="en-US" sz="3600" dirty="0"/>
          </a:p>
        </p:txBody>
      </p:sp>
      <p:sp>
        <p:nvSpPr>
          <p:cNvPr id="11" name="Cible texte 3"/>
          <p:cNvSpPr txBox="1"/>
          <p:nvPr/>
        </p:nvSpPr>
        <p:spPr>
          <a:xfrm>
            <a:off x="3611880" y="4343400"/>
            <a:ext cx="3840480" cy="1097280"/>
          </a:xfrm>
          <a:prstGeom prst="rect">
            <a:avLst/>
          </a:prstGeom>
          <a:noFill/>
          <a:ln/>
        </p:spPr>
        <p:txBody>
          <a:bodyPr wrap="square" lIns="0" tIns="0" rIns="0" bIns="0" rtlCol="0" anchor="ctr"/>
          <a:lstStyle/>
          <a:p>
            <a:pPr indent="0" marL="0">
              <a:buNone/>
            </a:pPr>
            <a:r>
              <a:rPr lang="en-US" sz="2000" dirty="0">
                <a:solidFill>
                  <a:schemeClr val="tx1"/>
                </a:solidFill>
              </a:rPr>
              <a:t>au maximum</a:t>
            </a:r>
            <a:endParaRPr lang="en-US" sz="2000" dirty="0"/>
          </a:p>
          <a:p>
            <a:pPr indent="0" marL="0">
              <a:buNone/>
            </a:pPr>
            <a:r>
              <a:rPr lang="en-US" sz="1400" dirty="0">
                <a:solidFill>
                  <a:schemeClr val="tx2"/>
                </a:solidFill>
              </a:rPr>
              <a:t>de la pose de la carte à la capture</a:t>
            </a:r>
            <a:endParaRPr lang="en-US" sz="2000" dirty="0"/>
          </a:p>
        </p:txBody>
      </p:sp>
      <p:sp>
        <p:nvSpPr>
          <p:cNvPr id="12" name="Contrainte plateforme"/>
          <p:cNvSpPr/>
          <p:nvPr/>
        </p:nvSpPr>
        <p:spPr>
          <a:xfrm>
            <a:off x="8001000" y="1783080"/>
            <a:ext cx="3639312" cy="2377440"/>
          </a:xfrm>
          <a:prstGeom prst="rect">
            <a:avLst/>
          </a:prstGeom>
          <a:solidFill>
            <a:schemeClr val="bg1"/>
          </a:solidFill>
          <a:ln w="38100">
            <a:solidFill>
              <a:schemeClr val="accent1"/>
            </a:solidFill>
            <a:prstDash val="solid"/>
          </a:ln>
        </p:spPr>
      </p:sp>
      <p:sp>
        <p:nvSpPr>
          <p:cNvPr id="13" name="Contrainte texte"/>
          <p:cNvSpPr txBox="1"/>
          <p:nvPr/>
        </p:nvSpPr>
        <p:spPr>
          <a:xfrm>
            <a:off x="8229600" y="1783080"/>
            <a:ext cx="3200400" cy="2377440"/>
          </a:xfrm>
          <a:prstGeom prst="rect">
            <a:avLst/>
          </a:prstGeom>
          <a:noFill/>
          <a:ln/>
        </p:spPr>
        <p:txBody>
          <a:bodyPr wrap="square" lIns="0" tIns="0" rIns="0" bIns="0" rtlCol="0" anchor="ctr"/>
          <a:lstStyle/>
          <a:p>
            <a:pPr indent="0" marL="0">
              <a:spcAft>
                <a:spcPts val="800"/>
              </a:spcAft>
              <a:buNone/>
            </a:pPr>
            <a:r>
              <a:rPr lang="en-US" sz="2000" b="1" dirty="0">
                <a:solidFill>
                  <a:schemeClr val="tx1"/>
                </a:solidFill>
              </a:rPr>
              <a:t>Android et iOS exigés</a:t>
            </a:r>
            <a:endParaRPr lang="en-US" sz="20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400">
                <a:solidFill>
                  <a:schemeClr val="tx2"/>
                </a:solidFill>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88720"/>
          </a:xfrm>
          <a:prstGeom prst="rect">
            <a:avLst/>
          </a:prstGeom>
          <a:noFill/>
          <a:ln/>
        </p:spPr>
        <p:txBody>
          <a:bodyPr wrap="square" lIns="0" tIns="0" rIns="0" bIns="0" rtlCol="0" anchor="t"/>
          <a:lstStyle/>
          <a:p>
            <a:pPr algn="l" indent="0" marL="0">
              <a:buNone/>
            </a:pPr>
            <a:r>
              <a:rPr lang="en-US" sz="3200" b="1" dirty="0">
                <a:solidFill>
                  <a:schemeClr val="tx1"/>
                </a:solidFill>
              </a:rPr>
              <a:t>OpenCV retenu : ML Kit exclut iOS,</a:t>
            </a:r>
            <a:endParaRPr lang="en-US" sz="3200" dirty="0"/>
          </a:p>
          <a:p>
            <a:pPr algn="l" indent="0" marL="0">
              <a:buNone/>
            </a:pPr>
            <a:r>
              <a:rPr lang="en-US" sz="3200" b="1" dirty="0">
                <a:solidFill>
                  <a:schemeClr val="tx1"/>
                </a:solidFill>
              </a:rPr>
              <a:t>un modèle exige temps et données</a:t>
            </a:r>
            <a:endParaRPr lang="en-US" sz="3200" dirty="0"/>
          </a:p>
        </p:txBody>
      </p:sp>
      <p:graphicFrame>
        <p:nvGraphicFramePr>
          <p:cNvPr id="5" name="Tableau comparatif"/>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926080"/>
                <a:gridCol w="2011680"/>
                <a:gridCol w="3566160"/>
                <a:gridCol w="2590495"/>
              </a:tblGrid>
              <a:tr h="502920">
                <a:tc>
                  <a:txBody>
                    <a:bodyPr/>
                    <a:lstStyle/>
                    <a:p>
                      <a:pPr indent="0" marL="0">
                        <a:buNone/>
                      </a:pPr>
                      <a:r>
                        <a:rPr lang="en-US" sz="2000" b="1" dirty="0">
                          <a:solidFill>
                            <a:srgbClr val="14202B"/>
                          </a:solidFill>
                          <a:latin typeface="Calibri" pitchFamily="34" charset="0"/>
                          <a:ea typeface="Calibri" pitchFamily="34" charset="-122"/>
                          <a:cs typeface="Calibri" pitchFamily="34" charset="-120"/>
                        </a:rPr>
                        <a:t>Critère</a:t>
                      </a:r>
                      <a:endParaRPr lang="en-US" sz="2000" dirty="0">
                        <a:latin typeface="Calibri" charset="0"/>
                        <a:ea typeface="Calibri" charset="0"/>
                        <a:cs typeface="Calibri"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E3E9"/>
                    </a:solidFill>
                  </a:tcPr>
                </a:tc>
                <a:tc>
                  <a:txBody>
                    <a:bodyPr/>
                    <a:lstStyle/>
                    <a:p>
                      <a:pPr indent="0" marL="0">
                        <a:buNone/>
                      </a:pPr>
                      <a:r>
                        <a:rPr lang="en-US" sz="2000" b="1" dirty="0">
                          <a:solidFill>
                            <a:srgbClr val="14202B"/>
                          </a:solidFill>
                          <a:latin typeface="Calibri" pitchFamily="34" charset="0"/>
                          <a:ea typeface="Calibri" pitchFamily="34" charset="-122"/>
                          <a:cs typeface="Calibri" pitchFamily="34" charset="-120"/>
                        </a:rPr>
                        <a:t>ML Kit</a:t>
                      </a:r>
                      <a:endParaRPr lang="en-US" sz="2000" dirty="0">
                        <a:latin typeface="Calibri" charset="0"/>
                        <a:ea typeface="Calibri" charset="0"/>
                        <a:cs typeface="Calibri"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E3E9"/>
                    </a:solidFill>
                  </a:tcPr>
                </a:tc>
                <a:tc>
                  <a:txBody>
                    <a:bodyPr/>
                    <a:lstStyle/>
                    <a:p>
                      <a:pPr indent="0" marL="0">
                        <a:buNone/>
                      </a:pPr>
                      <a:r>
                        <a:rPr lang="en-US" sz="2000" b="1" dirty="0">
                          <a:solidFill>
                            <a:srgbClr val="14202B"/>
                          </a:solidFill>
                          <a:latin typeface="Calibri" pitchFamily="34" charset="0"/>
                          <a:ea typeface="Calibri" pitchFamily="34" charset="-122"/>
                          <a:cs typeface="Calibri" pitchFamily="34" charset="-120"/>
                        </a:rPr>
                        <a:t>Modèle sur mesure</a:t>
                      </a:r>
                      <a:endParaRPr lang="en-US" sz="2000" dirty="0">
                        <a:latin typeface="Calibri" charset="0"/>
                        <a:ea typeface="Calibri" charset="0"/>
                        <a:cs typeface="Calibri"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E3E9"/>
                    </a:solidFill>
                  </a:tcPr>
                </a:tc>
                <a:tc>
                  <a:txBody>
                    <a:bodyPr/>
                    <a:lstStyle/>
                    <a:p>
                      <a:pPr indent="0" marL="0">
                        <a:buNone/>
                      </a:pPr>
                      <a:r>
                        <a:rPr lang="en-US" sz="2000" b="1" dirty="0">
                          <a:solidFill>
                            <a:srgbClr val="C2410C"/>
                          </a:solidFill>
                          <a:latin typeface="Calibri" pitchFamily="34" charset="0"/>
                          <a:ea typeface="Calibri" pitchFamily="34" charset="-122"/>
                          <a:cs typeface="Calibri" pitchFamily="34" charset="-120"/>
                        </a:rPr>
                        <a:t>OpenCV (retenu)</a:t>
                      </a:r>
                      <a:endParaRPr lang="en-US" sz="2000" dirty="0">
                        <a:latin typeface="Calibri" charset="0"/>
                        <a:ea typeface="Calibri" charset="0"/>
                        <a:cs typeface="Calibri"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E3E9"/>
                    </a:solidFill>
                  </a:tcPr>
                </a:tc>
              </a:tr>
              <a:tr h="640080">
                <a:tc>
                  <a:txBody>
                    <a:bodyPr/>
                    <a:lstStyle/>
                    <a:p>
                      <a:pPr indent="0" marL="0">
                        <a:buNone/>
                      </a:pPr>
                      <a:r>
                        <a:rPr lang="en-US" sz="2000" b="1" dirty="0">
                          <a:solidFill>
                            <a:srgbClr val="14202B"/>
                          </a:solidFill>
                          <a:latin typeface="Calibri" pitchFamily="34" charset="0"/>
                          <a:ea typeface="Calibri" pitchFamily="34" charset="-122"/>
                          <a:cs typeface="Calibri" pitchFamily="34" charset="-120"/>
                        </a:rPr>
                        <a:t>Support iOS</a:t>
                      </a:r>
                      <a:endParaRPr lang="en-US" sz="2000" dirty="0">
                        <a:latin typeface="Calibri" charset="0"/>
                        <a:ea typeface="Calibri" charset="0"/>
                        <a:cs typeface="Calibri"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2000" b="1" dirty="0">
                          <a:solidFill>
                            <a:srgbClr val="B42318"/>
                          </a:solidFill>
                          <a:latin typeface="Calibri" pitchFamily="34" charset="0"/>
                          <a:ea typeface="Calibri" pitchFamily="34" charset="-122"/>
                          <a:cs typeface="Calibri" pitchFamily="34" charset="-120"/>
                        </a:rPr>
                        <a:t>Non</a:t>
                      </a:r>
                      <a:endParaRPr lang="en-US" sz="2000" dirty="0">
                        <a:latin typeface="Calibri" charset="0"/>
                        <a:ea typeface="Calibri" charset="0"/>
                        <a:cs typeface="Calibri"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2000" dirty="0">
                          <a:solidFill>
                            <a:srgbClr val="14202B"/>
                          </a:solidFill>
                          <a:latin typeface="Calibri" pitchFamily="34" charset="0"/>
                          <a:ea typeface="Calibri" pitchFamily="34" charset="-122"/>
                          <a:cs typeface="Calibri" pitchFamily="34" charset="-120"/>
                        </a:rPr>
                        <a:t>Oui, si entraîné</a:t>
                      </a:r>
                      <a:endParaRPr lang="en-US" sz="2000" dirty="0">
                        <a:latin typeface="Calibri" charset="0"/>
                        <a:ea typeface="Calibri" charset="0"/>
                        <a:cs typeface="Calibri"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2000" b="1" dirty="0">
                          <a:solidFill>
                            <a:srgbClr val="14202B"/>
                          </a:solidFill>
                          <a:latin typeface="Calibri" pitchFamily="34" charset="0"/>
                          <a:ea typeface="Calibri" pitchFamily="34" charset="-122"/>
                          <a:cs typeface="Calibri" pitchFamily="34" charset="-120"/>
                        </a:rPr>
                        <a:t>Oui</a:t>
                      </a:r>
                      <a:endParaRPr lang="en-US" sz="2000" dirty="0">
                        <a:latin typeface="Calibri" charset="0"/>
                        <a:ea typeface="Calibri" charset="0"/>
                        <a:cs typeface="Calibri"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r>
              <a:tr h="914400">
                <a:tc>
                  <a:txBody>
                    <a:bodyPr/>
                    <a:lstStyle/>
                    <a:p>
                      <a:pPr indent="0" marL="0">
                        <a:buNone/>
                      </a:pPr>
                      <a:r>
                        <a:rPr lang="en-US" sz="2000" b="1" dirty="0">
                          <a:solidFill>
                            <a:srgbClr val="14202B"/>
                          </a:solidFill>
                          <a:latin typeface="Calibri" pitchFamily="34" charset="0"/>
                          <a:ea typeface="Calibri" pitchFamily="34" charset="-122"/>
                          <a:cs typeface="Calibri" pitchFamily="34" charset="-120"/>
                        </a:rPr>
                        <a:t>Jeu de données</a:t>
                      </a:r>
                      <a:endParaRPr lang="en-US" sz="2000" dirty="0">
                        <a:latin typeface="Calibri" charset="0"/>
                        <a:ea typeface="Calibri" charset="0"/>
                        <a:cs typeface="Calibri"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2000" dirty="0">
                          <a:solidFill>
                            <a:srgbClr val="14202B"/>
                          </a:solidFill>
                          <a:latin typeface="Calibri" pitchFamily="34" charset="0"/>
                          <a:ea typeface="Calibri" pitchFamily="34" charset="-122"/>
                          <a:cs typeface="Calibri" pitchFamily="34" charset="-120"/>
                        </a:rPr>
                        <a:t>Aucun</a:t>
                      </a:r>
                      <a:endParaRPr lang="en-US" sz="2000" dirty="0">
                        <a:latin typeface="Calibri" charset="0"/>
                        <a:ea typeface="Calibri" charset="0"/>
                        <a:cs typeface="Calibri"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2000" dirty="0">
                          <a:solidFill>
                            <a:srgbClr val="14202B"/>
                          </a:solidFill>
                          <a:latin typeface="Calibri" pitchFamily="34" charset="0"/>
                          <a:ea typeface="Calibri" pitchFamily="34" charset="-122"/>
                          <a:cs typeface="Calibri" pitchFamily="34" charset="-120"/>
                        </a:rPr>
                        <a:t>Plusieurs centaines d’images annotées</a:t>
                      </a:r>
                      <a:endParaRPr lang="en-US" sz="2000" dirty="0">
                        <a:latin typeface="Calibri" charset="0"/>
                        <a:ea typeface="Calibri" charset="0"/>
                        <a:cs typeface="Calibri"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2000" b="1" dirty="0">
                          <a:solidFill>
                            <a:srgbClr val="14202B"/>
                          </a:solidFill>
                          <a:latin typeface="Calibri" pitchFamily="34" charset="0"/>
                          <a:ea typeface="Calibri" pitchFamily="34" charset="-122"/>
                          <a:cs typeface="Calibri" pitchFamily="34" charset="-120"/>
                        </a:rPr>
                        <a:t>Aucun</a:t>
                      </a:r>
                      <a:endParaRPr lang="en-US" sz="2000" dirty="0">
                        <a:latin typeface="Calibri" charset="0"/>
                        <a:ea typeface="Calibri" charset="0"/>
                        <a:cs typeface="Calibri"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r>
              <a:tr h="640080">
                <a:tc>
                  <a:txBody>
                    <a:bodyPr/>
                    <a:lstStyle/>
                    <a:p>
                      <a:pPr indent="0" marL="0">
                        <a:buNone/>
                      </a:pPr>
                      <a:r>
                        <a:rPr lang="en-US" sz="2000" b="1" dirty="0">
                          <a:solidFill>
                            <a:srgbClr val="14202B"/>
                          </a:solidFill>
                          <a:latin typeface="Calibri" pitchFamily="34" charset="0"/>
                          <a:ea typeface="Calibri" pitchFamily="34" charset="-122"/>
                          <a:cs typeface="Calibri" pitchFamily="34" charset="-120"/>
                        </a:rPr>
                        <a:t>Délai de 6 semaines</a:t>
                      </a:r>
                      <a:endParaRPr lang="en-US" sz="2000" dirty="0">
                        <a:latin typeface="Calibri" charset="0"/>
                        <a:ea typeface="Calibri" charset="0"/>
                        <a:cs typeface="Calibri"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2000" dirty="0">
                          <a:solidFill>
                            <a:srgbClr val="14202B"/>
                          </a:solidFill>
                          <a:latin typeface="Calibri" pitchFamily="34" charset="0"/>
                          <a:ea typeface="Calibri" pitchFamily="34" charset="-122"/>
                          <a:cs typeface="Calibri" pitchFamily="34" charset="-120"/>
                        </a:rPr>
                        <a:t>Compatible</a:t>
                      </a:r>
                      <a:endParaRPr lang="en-US" sz="2000" dirty="0">
                        <a:latin typeface="Calibri" charset="0"/>
                        <a:ea typeface="Calibri" charset="0"/>
                        <a:cs typeface="Calibri"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2000" b="1" dirty="0">
                          <a:solidFill>
                            <a:srgbClr val="B42318"/>
                          </a:solidFill>
                          <a:latin typeface="Calibri" pitchFamily="34" charset="0"/>
                          <a:ea typeface="Calibri" pitchFamily="34" charset="-122"/>
                          <a:cs typeface="Calibri" pitchFamily="34" charset="-120"/>
                        </a:rPr>
                        <a:t>Non</a:t>
                      </a:r>
                      <a:endParaRPr lang="en-US" sz="2000" dirty="0">
                        <a:latin typeface="Calibri" charset="0"/>
                        <a:ea typeface="Calibri" charset="0"/>
                        <a:cs typeface="Calibri"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2000" b="1" dirty="0">
                          <a:solidFill>
                            <a:srgbClr val="14202B"/>
                          </a:solidFill>
                          <a:latin typeface="Calibri" pitchFamily="34" charset="0"/>
                          <a:ea typeface="Calibri" pitchFamily="34" charset="-122"/>
                          <a:cs typeface="Calibri" pitchFamily="34" charset="-120"/>
                        </a:rPr>
                        <a:t>Compatible</a:t>
                      </a:r>
                      <a:endParaRPr lang="en-US" sz="2000" dirty="0">
                        <a:latin typeface="Calibri" charset="0"/>
                        <a:ea typeface="Calibri" charset="0"/>
                        <a:cs typeface="Calibri"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r>
            </a:tbl>
          </a:graphicData>
        </a:graphic>
      </p:graphicFrame>
      <p:sp>
        <p:nvSpPr>
          <p:cNvPr id="4" name="Texte"/>
          <p:cNvSpPr txBox="1"/>
          <p:nvPr/>
        </p:nvSpPr>
        <p:spPr>
          <a:xfrm>
            <a:off x="548640" y="4754880"/>
            <a:ext cx="11094415" cy="822960"/>
          </a:xfrm>
          <a:prstGeom prst="rect">
            <a:avLst/>
          </a:prstGeom>
          <a:noFill/>
          <a:ln/>
        </p:spPr>
        <p:txBody>
          <a:bodyPr wrap="square" lIns="0" tIns="0" rIns="0" bIns="0" rtlCol="0" anchor="t"/>
          <a:lstStyle/>
          <a:p>
            <a:pPr indent="0" marL="0">
              <a:buNone/>
            </a:pPr>
            <a:r>
              <a:rPr lang="en-US" sz="2000" dirty="0">
                <a:solidFill>
                  <a:schemeClr val="tx1"/>
                </a:solidFill>
              </a:rPr>
              <a:t>Aucun entraînement : un réglage empirique de seuils suffit, compatible avec les six semaines.</a:t>
            </a:r>
            <a:endParaRPr lang="en-US" sz="20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400">
                <a:solidFill>
                  <a:schemeClr val="tx2"/>
                </a:solidFill>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88720"/>
          </a:xfrm>
          <a:prstGeom prst="rect">
            <a:avLst/>
          </a:prstGeom>
          <a:noFill/>
          <a:ln/>
        </p:spPr>
        <p:txBody>
          <a:bodyPr wrap="square" lIns="0" tIns="0" rIns="0" bIns="0" rtlCol="0" anchor="t"/>
          <a:lstStyle/>
          <a:p>
            <a:pPr algn="l" indent="0" marL="0">
              <a:buNone/>
            </a:pPr>
            <a:r>
              <a:rPr lang="en-US" sz="3200" b="1" dirty="0">
                <a:solidFill>
                  <a:schemeClr val="tx1"/>
                </a:solidFill>
              </a:rPr>
              <a:t>Sept modules feature-first isolent</a:t>
            </a:r>
            <a:endParaRPr lang="en-US" sz="3200" dirty="0"/>
          </a:p>
          <a:p>
            <a:pPr algn="l" indent="0" marL="0">
              <a:buNone/>
            </a:pPr>
            <a:r>
              <a:rPr lang="en-US" sz="3200" b="1" dirty="0">
                <a:solidFill>
                  <a:schemeClr val="tx1"/>
                </a:solidFill>
              </a:rPr>
              <a:t>la logique pure d’OpenCV et de la caméra</a:t>
            </a:r>
            <a:endParaRPr lang="en-US" sz="3200" dirty="0"/>
          </a:p>
        </p:txBody>
      </p:sp>
      <p:sp>
        <p:nvSpPr>
          <p:cNvPr id="3" name="Module camera_capture"/>
          <p:cNvSpPr/>
          <p:nvPr/>
        </p:nvSpPr>
        <p:spPr>
          <a:xfrm>
            <a:off x="548640" y="1828800"/>
            <a:ext cx="2331720" cy="731520"/>
          </a:xfrm>
          <a:prstGeom prst="rect">
            <a:avLst/>
          </a:prstGeom>
          <a:solidFill>
            <a:schemeClr val="bg2"/>
          </a:solidFill>
          <a:ln w="9525">
            <a:solidFill>
              <a:schemeClr val="bg2"/>
            </a:solidFill>
          </a:ln>
        </p:spPr>
        <p:txBody>
          <a:bodyPr wrap="square" lIns="50800" tIns="25400" rIns="25400" bIns="5080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camera_capture</a:t>
            </a:r>
            <a:endParaRPr lang="en-US" sz="1400" dirty="0"/>
          </a:p>
        </p:txBody>
      </p:sp>
      <p:sp>
        <p:nvSpPr>
          <p:cNvPr id="4" name="Module document_detection"/>
          <p:cNvSpPr/>
          <p:nvPr/>
        </p:nvSpPr>
        <p:spPr>
          <a:xfrm>
            <a:off x="2990088" y="1828800"/>
            <a:ext cx="2331720" cy="731520"/>
          </a:xfrm>
          <a:prstGeom prst="rect">
            <a:avLst/>
          </a:prstGeom>
          <a:solidFill>
            <a:schemeClr val="bg2"/>
          </a:solidFill>
          <a:ln w="9525">
            <a:solidFill>
              <a:schemeClr val="bg2"/>
            </a:solidFill>
          </a:ln>
        </p:spPr>
        <p:txBody>
          <a:bodyPr wrap="square" lIns="50800" tIns="25400" rIns="25400" bIns="5080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document_detection</a:t>
            </a:r>
            <a:endParaRPr lang="en-US" sz="1400" dirty="0"/>
          </a:p>
        </p:txBody>
      </p:sp>
      <p:sp>
        <p:nvSpPr>
          <p:cNvPr id="5" name="Module image_quality"/>
          <p:cNvSpPr/>
          <p:nvPr/>
        </p:nvSpPr>
        <p:spPr>
          <a:xfrm>
            <a:off x="5431536" y="1828800"/>
            <a:ext cx="2331720" cy="731520"/>
          </a:xfrm>
          <a:prstGeom prst="rect">
            <a:avLst/>
          </a:prstGeom>
          <a:solidFill>
            <a:schemeClr val="bg2"/>
          </a:solidFill>
          <a:ln w="9525">
            <a:solidFill>
              <a:schemeClr val="bg2"/>
            </a:solidFill>
          </a:ln>
        </p:spPr>
        <p:txBody>
          <a:bodyPr wrap="square" lIns="50800" tIns="25400" rIns="25400" bIns="5080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image_quality</a:t>
            </a:r>
            <a:endParaRPr lang="en-US" sz="1400" dirty="0"/>
          </a:p>
        </p:txBody>
      </p:sp>
      <p:sp>
        <p:nvSpPr>
          <p:cNvPr id="6" name="Module autocapture"/>
          <p:cNvSpPr/>
          <p:nvPr/>
        </p:nvSpPr>
        <p:spPr>
          <a:xfrm>
            <a:off x="548640" y="2697480"/>
            <a:ext cx="2331720" cy="731520"/>
          </a:xfrm>
          <a:prstGeom prst="rect">
            <a:avLst/>
          </a:prstGeom>
          <a:solidFill>
            <a:schemeClr val="bg2"/>
          </a:solidFill>
          <a:ln w="9525">
            <a:solidFill>
              <a:schemeClr val="bg2"/>
            </a:solidFill>
          </a:ln>
        </p:spPr>
        <p:txBody>
          <a:bodyPr wrap="square" lIns="50800" tIns="25400" rIns="25400" bIns="5080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autocapture</a:t>
            </a:r>
            <a:endParaRPr lang="en-US" sz="1400" dirty="0"/>
          </a:p>
        </p:txBody>
      </p:sp>
      <p:sp>
        <p:nvSpPr>
          <p:cNvPr id="7" name="Module image_postprocessing"/>
          <p:cNvSpPr/>
          <p:nvPr/>
        </p:nvSpPr>
        <p:spPr>
          <a:xfrm>
            <a:off x="2990088" y="2697480"/>
            <a:ext cx="2331720" cy="731520"/>
          </a:xfrm>
          <a:prstGeom prst="rect">
            <a:avLst/>
          </a:prstGeom>
          <a:solidFill>
            <a:schemeClr val="bg2"/>
          </a:solidFill>
          <a:ln w="9525">
            <a:solidFill>
              <a:schemeClr val="bg2"/>
            </a:solidFill>
          </a:ln>
        </p:spPr>
        <p:txBody>
          <a:bodyPr wrap="square" lIns="50800" tIns="25400" rIns="25400" bIns="5080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image_postprocessing</a:t>
            </a:r>
            <a:endParaRPr lang="en-US" sz="1400" dirty="0"/>
          </a:p>
        </p:txBody>
      </p:sp>
      <p:sp>
        <p:nvSpPr>
          <p:cNvPr id="8" name="Module result_preview"/>
          <p:cNvSpPr/>
          <p:nvPr/>
        </p:nvSpPr>
        <p:spPr>
          <a:xfrm>
            <a:off x="5431536" y="2697480"/>
            <a:ext cx="2331720" cy="731520"/>
          </a:xfrm>
          <a:prstGeom prst="rect">
            <a:avLst/>
          </a:prstGeom>
          <a:solidFill>
            <a:schemeClr val="bg2"/>
          </a:solidFill>
          <a:ln w="9525">
            <a:solidFill>
              <a:schemeClr val="bg2"/>
            </a:solidFill>
          </a:ln>
        </p:spPr>
        <p:txBody>
          <a:bodyPr wrap="square" lIns="50800" tIns="25400" rIns="25400" bIns="5080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result_preview</a:t>
            </a:r>
            <a:endParaRPr lang="en-US" sz="1400" dirty="0"/>
          </a:p>
        </p:txBody>
      </p:sp>
      <p:sp>
        <p:nvSpPr>
          <p:cNvPr id="9" name="Module capture_history"/>
          <p:cNvSpPr/>
          <p:nvPr/>
        </p:nvSpPr>
        <p:spPr>
          <a:xfrm>
            <a:off x="548640" y="3566160"/>
            <a:ext cx="2331720" cy="731520"/>
          </a:xfrm>
          <a:prstGeom prst="rect">
            <a:avLst/>
          </a:prstGeom>
          <a:solidFill>
            <a:schemeClr val="bg2"/>
          </a:solidFill>
          <a:ln w="9525">
            <a:solidFill>
              <a:schemeClr val="bg2"/>
            </a:solidFill>
          </a:ln>
        </p:spPr>
        <p:txBody>
          <a:bodyPr wrap="square" lIns="50800" tIns="25400" rIns="25400" bIns="5080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capture_history</a:t>
            </a:r>
            <a:endParaRPr lang="en-US" sz="1400" dirty="0"/>
          </a:p>
        </p:txBody>
      </p:sp>
      <p:sp>
        <p:nvSpPr>
          <p:cNvPr id="10" name="Module shared/utils"/>
          <p:cNvSpPr/>
          <p:nvPr/>
        </p:nvSpPr>
        <p:spPr>
          <a:xfrm>
            <a:off x="2990088" y="3566160"/>
            <a:ext cx="2331720" cy="731520"/>
          </a:xfrm>
          <a:prstGeom prst="rect">
            <a:avLst/>
          </a:prstGeom>
          <a:solidFill>
            <a:schemeClr val="bg1"/>
          </a:solidFill>
          <a:ln w="15875">
            <a:solidFill>
              <a:schemeClr val="accent4"/>
            </a:solidFill>
            <a:prstDash val="dash"/>
          </a:ln>
        </p:spPr>
        <p:txBody>
          <a:bodyPr wrap="square" lIns="50800" tIns="25400" rIns="25400" bIns="5080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shared/utils</a:t>
            </a:r>
            <a:endParaRPr lang="en-US" sz="1400" dirty="0"/>
          </a:p>
        </p:txBody>
      </p:sp>
      <p:sp>
        <p:nvSpPr>
          <p:cNvPr id="11" name="Module core/services"/>
          <p:cNvSpPr/>
          <p:nvPr/>
        </p:nvSpPr>
        <p:spPr>
          <a:xfrm>
            <a:off x="5431536" y="3566160"/>
            <a:ext cx="2331720" cy="731520"/>
          </a:xfrm>
          <a:prstGeom prst="rect">
            <a:avLst/>
          </a:prstGeom>
          <a:solidFill>
            <a:schemeClr val="bg1"/>
          </a:solidFill>
          <a:ln w="15875">
            <a:solidFill>
              <a:schemeClr val="accent4"/>
            </a:solidFill>
            <a:prstDash val="dash"/>
          </a:ln>
        </p:spPr>
        <p:txBody>
          <a:bodyPr wrap="square" lIns="50800" tIns="25400" rIns="25400" bIns="5080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core/services</a:t>
            </a:r>
            <a:endParaRPr lang="en-US" sz="1400" dirty="0"/>
          </a:p>
        </p:txBody>
      </p:sp>
      <p:sp>
        <p:nvSpPr>
          <p:cNvPr id="12" name="Couche présentation"/>
          <p:cNvSpPr/>
          <p:nvPr/>
        </p:nvSpPr>
        <p:spPr>
          <a:xfrm>
            <a:off x="8046720" y="1828800"/>
            <a:ext cx="1737360" cy="822960"/>
          </a:xfrm>
          <a:prstGeom prst="rect">
            <a:avLst/>
          </a:prstGeom>
          <a:solidFill>
            <a:schemeClr val="bg2"/>
          </a:solidFill>
          <a:ln w="9525">
            <a:solidFill>
              <a:schemeClr val="bg2"/>
            </a:solidFill>
          </a:ln>
        </p:spPr>
        <p:txBody>
          <a:bodyPr wrap="square" lIns="76200" tIns="127000" rIns="127000" bIns="76200" rtlCol="0" anchor="ctr"/>
          <a:lstStyle/>
          <a:p>
            <a:pPr algn="l" indent="0" marL="0">
              <a:buNone/>
            </a:pPr>
            <a:r>
              <a:rPr lang="en-US" sz="1800" b="1" dirty="0">
                <a:solidFill>
                  <a:schemeClr val="tx1"/>
                </a:solidFill>
              </a:rPr>
              <a:t>Présentation</a:t>
            </a:r>
            <a:endParaRPr lang="en-US" sz="1800" dirty="0"/>
          </a:p>
          <a:p>
            <a:pPr algn="l" indent="0" marL="0">
              <a:buNone/>
            </a:pPr>
            <a:r>
              <a:rPr lang="en-US" sz="1400" dirty="0">
                <a:solidFill>
                  <a:schemeClr val="tx1"/>
                </a:solidFill>
              </a:rPr>
              <a:t>écrans, view-models</a:t>
            </a:r>
            <a:endParaRPr lang="en-US" sz="1800" dirty="0"/>
          </a:p>
        </p:txBody>
      </p:sp>
      <p:sp>
        <p:nvSpPr>
          <p:cNvPr id="13" name="Couche données"/>
          <p:cNvSpPr/>
          <p:nvPr/>
        </p:nvSpPr>
        <p:spPr>
          <a:xfrm>
            <a:off x="9902952" y="1828800"/>
            <a:ext cx="1737360" cy="822960"/>
          </a:xfrm>
          <a:prstGeom prst="rect">
            <a:avLst/>
          </a:prstGeom>
          <a:solidFill>
            <a:schemeClr val="bg2"/>
          </a:solidFill>
          <a:ln w="9525">
            <a:solidFill>
              <a:schemeClr val="bg2"/>
            </a:solidFill>
          </a:ln>
        </p:spPr>
        <p:txBody>
          <a:bodyPr wrap="square" lIns="76200" tIns="127000" rIns="127000" bIns="76200" rtlCol="0" anchor="ctr"/>
          <a:lstStyle/>
          <a:p>
            <a:pPr algn="l" indent="0" marL="0">
              <a:buNone/>
            </a:pPr>
            <a:r>
              <a:rPr lang="en-US" sz="1800" b="1" dirty="0">
                <a:solidFill>
                  <a:schemeClr val="tx1"/>
                </a:solidFill>
              </a:rPr>
              <a:t>Données</a:t>
            </a:r>
            <a:endParaRPr lang="en-US" sz="1800" dirty="0"/>
          </a:p>
          <a:p>
            <a:pPr algn="l" indent="0" marL="0">
              <a:buNone/>
            </a:pPr>
            <a:r>
              <a:rPr lang="en-US" sz="1400" dirty="0">
                <a:solidFill>
                  <a:schemeClr val="tx1"/>
                </a:solidFill>
              </a:rPr>
              <a:t>OpenCV, caméra</a:t>
            </a:r>
            <a:endParaRPr lang="en-US" sz="1800" dirty="0"/>
          </a:p>
        </p:txBody>
      </p:sp>
      <p:sp>
        <p:nvSpPr>
          <p:cNvPr id="14" name="Couche domaine"/>
          <p:cNvSpPr/>
          <p:nvPr/>
        </p:nvSpPr>
        <p:spPr>
          <a:xfrm>
            <a:off x="8046720" y="3566160"/>
            <a:ext cx="3593592" cy="822960"/>
          </a:xfrm>
          <a:prstGeom prst="rect">
            <a:avLst/>
          </a:prstGeom>
          <a:solidFill>
            <a:schemeClr val="bg1"/>
          </a:solidFill>
          <a:ln w="38100">
            <a:solidFill>
              <a:schemeClr val="accent1"/>
            </a:solidFill>
          </a:ln>
        </p:spPr>
        <p:txBody>
          <a:bodyPr wrap="square" lIns="76200" tIns="127000" rIns="127000" bIns="76200" rtlCol="0" anchor="ctr"/>
          <a:lstStyle/>
          <a:p>
            <a:pPr algn="l" indent="0" marL="0">
              <a:buNone/>
            </a:pPr>
            <a:r>
              <a:rPr lang="en-US" sz="1800" b="1" dirty="0">
                <a:solidFill>
                  <a:schemeClr val="tx1"/>
                </a:solidFill>
              </a:rPr>
              <a:t>Domaine</a:t>
            </a:r>
            <a:endParaRPr lang="en-US" sz="1800" dirty="0"/>
          </a:p>
          <a:p>
            <a:pPr algn="l" indent="0" marL="0">
              <a:buNone/>
            </a:pPr>
            <a:r>
              <a:rPr lang="en-US" sz="1400" dirty="0">
                <a:solidFill>
                  <a:schemeClr val="tx1"/>
                </a:solidFill>
              </a:rPr>
              <a:t>entités, use cases, sans OpenCV</a:t>
            </a:r>
            <a:endParaRPr lang="en-US" sz="1800" dirty="0"/>
          </a:p>
        </p:txBody>
      </p:sp>
      <p:sp>
        <p:nvSpPr>
          <p:cNvPr id="15" name="Flèche présentation vers domaine"/>
          <p:cNvSpPr/>
          <p:nvPr/>
        </p:nvSpPr>
        <p:spPr>
          <a:xfrm>
            <a:off x="8915400" y="2697480"/>
            <a:ext cx="0" cy="822960"/>
          </a:xfrm>
          <a:prstGeom prst="line">
            <a:avLst/>
          </a:prstGeom>
          <a:noFill/>
          <a:ln w="19050">
            <a:solidFill>
              <a:schemeClr val="tx2"/>
            </a:solidFill>
            <a:prstDash val="solid"/>
            <a:tailEnd type="triangle"/>
          </a:ln>
        </p:spPr>
      </p:sp>
      <p:sp>
        <p:nvSpPr>
          <p:cNvPr id="16" name="Flèche données vers domaine"/>
          <p:cNvSpPr/>
          <p:nvPr/>
        </p:nvSpPr>
        <p:spPr>
          <a:xfrm>
            <a:off x="10771632" y="2697480"/>
            <a:ext cx="0" cy="822960"/>
          </a:xfrm>
          <a:prstGeom prst="line">
            <a:avLst/>
          </a:prstGeom>
          <a:noFill/>
          <a:ln w="19050">
            <a:solidFill>
              <a:schemeClr val="tx2"/>
            </a:solidFill>
            <a:prstDash val="solid"/>
            <a:tailEnd type="triangle"/>
          </a:ln>
        </p:spPr>
      </p:sp>
      <p:sp>
        <p:nvSpPr>
          <p:cNvPr id="17" name="Texte"/>
          <p:cNvSpPr txBox="1"/>
          <p:nvPr/>
        </p:nvSpPr>
        <p:spPr>
          <a:xfrm>
            <a:off x="548640" y="4754880"/>
            <a:ext cx="11094415" cy="822960"/>
          </a:xfrm>
          <a:prstGeom prst="rect">
            <a:avLst/>
          </a:prstGeom>
          <a:noFill/>
          <a:ln/>
        </p:spPr>
        <p:txBody>
          <a:bodyPr wrap="square" lIns="0" tIns="0" rIns="0" bIns="0" rtlCol="0" anchor="t"/>
          <a:lstStyle/>
          <a:p>
            <a:pPr indent="0" marL="0">
              <a:buNone/>
            </a:pPr>
            <a:r>
              <a:rPr lang="en-US" sz="2000" dirty="0">
                <a:solidFill>
                  <a:schemeClr val="tx1"/>
                </a:solidFill>
              </a:rPr>
              <a:t>Le domaine pur ne dépend ni de Flutter ni d’OpenCV : il se teste sans caméra ni émulateur.</a:t>
            </a:r>
            <a:endParaRPr lang="en-US" sz="20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400">
                <a:solidFill>
                  <a:schemeClr val="tx2"/>
                </a:solidFill>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88720"/>
          </a:xfrm>
          <a:prstGeom prst="rect">
            <a:avLst/>
          </a:prstGeom>
          <a:noFill/>
          <a:ln/>
        </p:spPr>
        <p:txBody>
          <a:bodyPr wrap="square" lIns="0" tIns="0" rIns="0" bIns="0" rtlCol="0" anchor="t"/>
          <a:lstStyle/>
          <a:p>
            <a:pPr algn="l" indent="0" marL="0">
              <a:buNone/>
            </a:pPr>
            <a:r>
              <a:rPr lang="en-US" sz="3200" b="1" dirty="0">
                <a:solidFill>
                  <a:schemeClr val="tx1"/>
                </a:solidFill>
              </a:rPr>
              <a:t>Quatre passes produisent des masques,</a:t>
            </a:r>
            <a:endParaRPr lang="en-US" sz="3200" dirty="0"/>
          </a:p>
          <a:p>
            <a:pPr algn="l" indent="0" marL="0">
              <a:buNone/>
            </a:pPr>
            <a:r>
              <a:rPr lang="en-US" sz="3200" b="1" dirty="0">
                <a:solidFill>
                  <a:schemeClr val="tx1"/>
                </a:solidFill>
              </a:rPr>
              <a:t>un score retient le quadrilatère</a:t>
            </a:r>
            <a:endParaRPr lang="en-US" sz="3200" dirty="0"/>
          </a:p>
        </p:txBody>
      </p:sp>
      <p:sp>
        <p:nvSpPr>
          <p:cNvPr id="3" name="Étape 1"/>
          <p:cNvSpPr/>
          <p:nvPr/>
        </p:nvSpPr>
        <p:spPr>
          <a:xfrm>
            <a:off x="548640" y="2103120"/>
            <a:ext cx="1828800" cy="1554480"/>
          </a:xfrm>
          <a:prstGeom prst="rect">
            <a:avLst/>
          </a:prstGeom>
          <a:solidFill>
            <a:schemeClr val="bg2"/>
          </a:solidFill>
          <a:ln w="9525">
            <a:solidFill>
              <a:schemeClr val="bg2"/>
            </a:solidFill>
          </a:ln>
        </p:spPr>
        <p:txBody>
          <a:bodyPr wrap="square" lIns="76200" tIns="127000" rIns="127000" bIns="76200" rtlCol="0" anchor="ctr"/>
          <a:lstStyle/>
          <a:p>
            <a:pPr algn="l" indent="0" marL="0">
              <a:buNone/>
            </a:pPr>
            <a:r>
              <a:rPr lang="en-US" sz="1800" b="1" dirty="0">
                <a:solidFill>
                  <a:schemeClr val="tx1"/>
                </a:solidFill>
              </a:rPr>
              <a:t>1  Frame</a:t>
            </a:r>
            <a:endParaRPr lang="en-US" sz="1800" dirty="0"/>
          </a:p>
          <a:p>
            <a:pPr algn="l" indent="0" marL="0">
              <a:buNone/>
            </a:pPr>
            <a:r>
              <a:rPr lang="en-US" sz="1400" dirty="0">
                <a:solidFill>
                  <a:schemeClr val="tx1"/>
                </a:solidFill>
              </a:rPr>
              <a:t>YUV420 / BGRA</a:t>
            </a:r>
            <a:endParaRPr lang="en-US" sz="1800" dirty="0"/>
          </a:p>
          <a:p>
            <a:pPr algn="l" indent="0" marL="0">
              <a:buNone/>
            </a:pPr>
            <a:r>
              <a:rPr lang="en-US" sz="1400" dirty="0">
                <a:solidFill>
                  <a:schemeClr val="tx1"/>
                </a:solidFill>
              </a:rPr>
              <a:t>→ Mat OpenCV</a:t>
            </a:r>
            <a:endParaRPr lang="en-US" sz="1800" dirty="0"/>
          </a:p>
        </p:txBody>
      </p:sp>
      <p:sp>
        <p:nvSpPr>
          <p:cNvPr id="4" name="Flèche 1"/>
          <p:cNvSpPr/>
          <p:nvPr/>
        </p:nvSpPr>
        <p:spPr>
          <a:xfrm>
            <a:off x="2468880" y="2880360"/>
            <a:ext cx="304724" cy="0"/>
          </a:xfrm>
          <a:prstGeom prst="line">
            <a:avLst/>
          </a:prstGeom>
          <a:noFill/>
          <a:ln w="19050">
            <a:solidFill>
              <a:schemeClr val="tx2"/>
            </a:solidFill>
            <a:prstDash val="solid"/>
            <a:tailEnd type="triangle"/>
          </a:ln>
        </p:spPr>
      </p:sp>
      <p:sp>
        <p:nvSpPr>
          <p:cNvPr id="5" name="Étape 2"/>
          <p:cNvSpPr/>
          <p:nvPr/>
        </p:nvSpPr>
        <p:spPr>
          <a:xfrm>
            <a:off x="2865044" y="2103120"/>
            <a:ext cx="1828800" cy="1554480"/>
          </a:xfrm>
          <a:prstGeom prst="rect">
            <a:avLst/>
          </a:prstGeom>
          <a:solidFill>
            <a:schemeClr val="bg2"/>
          </a:solidFill>
          <a:ln w="9525">
            <a:solidFill>
              <a:schemeClr val="bg2"/>
            </a:solidFill>
          </a:ln>
        </p:spPr>
        <p:txBody>
          <a:bodyPr wrap="square" lIns="76200" tIns="127000" rIns="127000" bIns="76200" rtlCol="0" anchor="ctr"/>
          <a:lstStyle/>
          <a:p>
            <a:pPr algn="l" indent="0" marL="0">
              <a:buNone/>
            </a:pPr>
            <a:r>
              <a:rPr lang="en-US" sz="1800" b="1" dirty="0">
                <a:solidFill>
                  <a:schemeClr val="tx1"/>
                </a:solidFill>
              </a:rPr>
              <a:t>2  CLAHE</a:t>
            </a:r>
            <a:endParaRPr lang="en-US" sz="1800" dirty="0"/>
          </a:p>
          <a:p>
            <a:pPr algn="l" indent="0" marL="0">
              <a:buNone/>
            </a:pPr>
            <a:r>
              <a:rPr lang="en-US" sz="1400" dirty="0">
                <a:solidFill>
                  <a:schemeClr val="tx1"/>
                </a:solidFill>
              </a:rPr>
              <a:t>contraste local</a:t>
            </a:r>
            <a:endParaRPr lang="en-US" sz="1800" dirty="0"/>
          </a:p>
          <a:p>
            <a:pPr algn="l" indent="0" marL="0">
              <a:buNone/>
            </a:pPr>
            <a:r>
              <a:rPr lang="en-US" sz="1400" dirty="0">
                <a:solidFill>
                  <a:schemeClr val="tx1"/>
                </a:solidFill>
              </a:rPr>
              <a:t>avant détection</a:t>
            </a:r>
            <a:endParaRPr lang="en-US" sz="1800" dirty="0"/>
          </a:p>
        </p:txBody>
      </p:sp>
      <p:sp>
        <p:nvSpPr>
          <p:cNvPr id="6" name="Flèche 2"/>
          <p:cNvSpPr/>
          <p:nvPr/>
        </p:nvSpPr>
        <p:spPr>
          <a:xfrm>
            <a:off x="4785284" y="2880360"/>
            <a:ext cx="304724" cy="0"/>
          </a:xfrm>
          <a:prstGeom prst="line">
            <a:avLst/>
          </a:prstGeom>
          <a:noFill/>
          <a:ln w="19050">
            <a:solidFill>
              <a:schemeClr val="tx2"/>
            </a:solidFill>
            <a:prstDash val="solid"/>
            <a:tailEnd type="triangle"/>
          </a:ln>
        </p:spPr>
      </p:sp>
      <p:sp>
        <p:nvSpPr>
          <p:cNvPr id="7" name="Étape 3"/>
          <p:cNvSpPr/>
          <p:nvPr/>
        </p:nvSpPr>
        <p:spPr>
          <a:xfrm>
            <a:off x="5181448" y="2103120"/>
            <a:ext cx="1828800" cy="1554480"/>
          </a:xfrm>
          <a:prstGeom prst="rect">
            <a:avLst/>
          </a:prstGeom>
          <a:solidFill>
            <a:schemeClr val="bg1"/>
          </a:solidFill>
          <a:ln w="38100">
            <a:solidFill>
              <a:schemeClr val="accent1"/>
            </a:solidFill>
          </a:ln>
        </p:spPr>
        <p:txBody>
          <a:bodyPr wrap="square" lIns="76200" tIns="127000" rIns="127000" bIns="76200" rtlCol="0" anchor="ctr"/>
          <a:lstStyle/>
          <a:p>
            <a:pPr algn="l" indent="0" marL="0">
              <a:buNone/>
            </a:pPr>
            <a:r>
              <a:rPr lang="en-US" sz="1800" b="1" dirty="0">
                <a:solidFill>
                  <a:schemeClr val="tx1"/>
                </a:solidFill>
              </a:rPr>
              <a:t>3  Quatre passes</a:t>
            </a:r>
            <a:endParaRPr lang="en-US" sz="1800" dirty="0"/>
          </a:p>
          <a:p>
            <a:pPr algn="l" indent="0" marL="0">
              <a:buNone/>
            </a:pPr>
            <a:r>
              <a:rPr lang="en-US" sz="1400" dirty="0">
                <a:solidFill>
                  <a:schemeClr val="tx1"/>
                </a:solidFill>
              </a:rPr>
              <a:t>Canny · adaptatif</a:t>
            </a:r>
            <a:endParaRPr lang="en-US" sz="1800" dirty="0"/>
          </a:p>
          <a:p>
            <a:pPr algn="l" indent="0" marL="0">
              <a:buNone/>
            </a:pPr>
            <a:r>
              <a:rPr lang="en-US" sz="1400" dirty="0">
                <a:solidFill>
                  <a:schemeClr val="tx1"/>
                </a:solidFill>
              </a:rPr>
              <a:t>HSV + Otsu · gradient</a:t>
            </a:r>
            <a:endParaRPr lang="en-US" sz="1800" dirty="0"/>
          </a:p>
        </p:txBody>
      </p:sp>
      <p:sp>
        <p:nvSpPr>
          <p:cNvPr id="8" name="Flèche 3"/>
          <p:cNvSpPr/>
          <p:nvPr/>
        </p:nvSpPr>
        <p:spPr>
          <a:xfrm>
            <a:off x="7101688" y="2880360"/>
            <a:ext cx="304724" cy="0"/>
          </a:xfrm>
          <a:prstGeom prst="line">
            <a:avLst/>
          </a:prstGeom>
          <a:noFill/>
          <a:ln w="19050">
            <a:solidFill>
              <a:schemeClr val="tx2"/>
            </a:solidFill>
            <a:prstDash val="solid"/>
            <a:tailEnd type="triangle"/>
          </a:ln>
        </p:spPr>
      </p:sp>
      <p:sp>
        <p:nvSpPr>
          <p:cNvPr id="9" name="Étape 4"/>
          <p:cNvSpPr/>
          <p:nvPr/>
        </p:nvSpPr>
        <p:spPr>
          <a:xfrm>
            <a:off x="7497851" y="2103120"/>
            <a:ext cx="1828800" cy="1554480"/>
          </a:xfrm>
          <a:prstGeom prst="rect">
            <a:avLst/>
          </a:prstGeom>
          <a:solidFill>
            <a:schemeClr val="bg2"/>
          </a:solidFill>
          <a:ln w="9525">
            <a:solidFill>
              <a:schemeClr val="bg2"/>
            </a:solidFill>
          </a:ln>
        </p:spPr>
        <p:txBody>
          <a:bodyPr wrap="square" lIns="76200" tIns="127000" rIns="127000" bIns="76200" rtlCol="0" anchor="ctr"/>
          <a:lstStyle/>
          <a:p>
            <a:pPr algn="l" indent="0" marL="0">
              <a:buNone/>
            </a:pPr>
            <a:r>
              <a:rPr lang="en-US" sz="1800" b="1" dirty="0">
                <a:solidFill>
                  <a:schemeClr val="tx1"/>
                </a:solidFill>
              </a:rPr>
              <a:t>4  Quadrilatère</a:t>
            </a:r>
            <a:endParaRPr lang="en-US" sz="1800" dirty="0"/>
          </a:p>
          <a:p>
            <a:pPr algn="l" indent="0" marL="0">
              <a:buNone/>
            </a:pPr>
            <a:r>
              <a:rPr lang="en-US" sz="1400" dirty="0">
                <a:solidFill>
                  <a:schemeClr val="tx1"/>
                </a:solidFill>
              </a:rPr>
              <a:t>contours + score</a:t>
            </a:r>
            <a:endParaRPr lang="en-US" sz="1800" dirty="0"/>
          </a:p>
          <a:p>
            <a:pPr algn="l" indent="0" marL="0">
              <a:buNone/>
            </a:pPr>
            <a:r>
              <a:rPr lang="en-US" sz="1400" dirty="0">
                <a:solidFill>
                  <a:schemeClr val="tx1"/>
                </a:solidFill>
              </a:rPr>
              <a:t>retenu si ≥ 0,30</a:t>
            </a:r>
            <a:endParaRPr lang="en-US" sz="1800" dirty="0"/>
          </a:p>
        </p:txBody>
      </p:sp>
      <p:sp>
        <p:nvSpPr>
          <p:cNvPr id="10" name="Flèche 4"/>
          <p:cNvSpPr/>
          <p:nvPr/>
        </p:nvSpPr>
        <p:spPr>
          <a:xfrm>
            <a:off x="9418091" y="2880360"/>
            <a:ext cx="304724" cy="0"/>
          </a:xfrm>
          <a:prstGeom prst="line">
            <a:avLst/>
          </a:prstGeom>
          <a:noFill/>
          <a:ln w="19050">
            <a:solidFill>
              <a:schemeClr val="tx2"/>
            </a:solidFill>
            <a:prstDash val="solid"/>
            <a:tailEnd type="triangle"/>
          </a:ln>
        </p:spPr>
      </p:sp>
      <p:sp>
        <p:nvSpPr>
          <p:cNvPr id="11" name="Étape 5"/>
          <p:cNvSpPr/>
          <p:nvPr/>
        </p:nvSpPr>
        <p:spPr>
          <a:xfrm>
            <a:off x="9814255" y="2103120"/>
            <a:ext cx="1828800" cy="1554480"/>
          </a:xfrm>
          <a:prstGeom prst="rect">
            <a:avLst/>
          </a:prstGeom>
          <a:solidFill>
            <a:schemeClr val="bg2"/>
          </a:solidFill>
          <a:ln w="9525">
            <a:solidFill>
              <a:schemeClr val="bg2"/>
            </a:solidFill>
          </a:ln>
        </p:spPr>
        <p:txBody>
          <a:bodyPr wrap="square" lIns="76200" tIns="127000" rIns="127000" bIns="76200" rtlCol="0" anchor="ctr"/>
          <a:lstStyle/>
          <a:p>
            <a:pPr algn="l" indent="0" marL="0">
              <a:buNone/>
            </a:pPr>
            <a:r>
              <a:rPr lang="en-US" sz="1800" b="1" dirty="0">
                <a:solidFill>
                  <a:schemeClr val="tx1"/>
                </a:solidFill>
              </a:rPr>
              <a:t>5  Warp</a:t>
            </a:r>
            <a:endParaRPr lang="en-US" sz="1800" dirty="0"/>
          </a:p>
          <a:p>
            <a:pPr algn="l" indent="0" marL="0">
              <a:buNone/>
            </a:pPr>
            <a:r>
              <a:rPr lang="en-US" sz="1400" dirty="0">
                <a:solidFill>
                  <a:schemeClr val="tx1"/>
                </a:solidFill>
              </a:rPr>
              <a:t>carte à plat</a:t>
            </a:r>
            <a:endParaRPr lang="en-US" sz="1800" dirty="0"/>
          </a:p>
          <a:p>
            <a:pPr algn="l" indent="0" marL="0">
              <a:buNone/>
            </a:pPr>
            <a:r>
              <a:rPr lang="en-US" sz="1400" dirty="0">
                <a:solidFill>
                  <a:schemeClr val="tx1"/>
                </a:solidFill>
              </a:rPr>
              <a:t>856 × 540 px</a:t>
            </a:r>
            <a:endParaRPr lang="en-US" sz="1800" dirty="0"/>
          </a:p>
        </p:txBody>
      </p:sp>
      <p:sp>
        <p:nvSpPr>
          <p:cNvPr id="12" name="Texte"/>
          <p:cNvSpPr txBox="1"/>
          <p:nvPr/>
        </p:nvSpPr>
        <p:spPr>
          <a:xfrm>
            <a:off x="548640" y="4114800"/>
            <a:ext cx="11094415" cy="1463040"/>
          </a:xfrm>
          <a:prstGeom prst="rect">
            <a:avLst/>
          </a:prstGeom>
          <a:noFill/>
          <a:ln/>
        </p:spPr>
        <p:txBody>
          <a:bodyPr wrap="square" lIns="0" tIns="0" rIns="0" bIns="0" rtlCol="0" anchor="t"/>
          <a:lstStyle/>
          <a:p>
            <a:pPr indent="0" marL="0">
              <a:spcAft>
                <a:spcPts val="800"/>
              </a:spcAft>
              <a:buNone/>
            </a:pPr>
            <a:r>
              <a:rPr lang="en-US" sz="2000" dirty="0">
                <a:solidFill>
                  <a:schemeClr val="tx1"/>
                </a:solidFill>
              </a:rPr>
              <a:t>Dernier recours, le gradient morphologique n’agit que si aucun candidat n’atteint 0,65.</a:t>
            </a:r>
            <a:endParaRPr lang="en-US" sz="2000" dirty="0"/>
          </a:p>
          <a:p>
            <a:pPr indent="0" marL="0">
              <a:spcAft>
                <a:spcPts val="800"/>
              </a:spcAft>
              <a:buNone/>
            </a:pPr>
            <a:r>
              <a:rPr lang="en-US" sz="2000" dirty="0">
                <a:solidFill>
                  <a:schemeClr val="tx1"/>
                </a:solidFill>
              </a:rPr>
              <a:t>Tout tourne dans un Isolate Dart persistant ; les frames en excès sont abandonnées.</a:t>
            </a:r>
            <a:endParaRPr lang="en-US" sz="20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400">
                <a:solidFill>
                  <a:schemeClr val="tx2"/>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88720"/>
          </a:xfrm>
          <a:prstGeom prst="rect">
            <a:avLst/>
          </a:prstGeom>
          <a:noFill/>
          <a:ln/>
        </p:spPr>
        <p:txBody>
          <a:bodyPr wrap="square" lIns="0" tIns="0" rIns="0" bIns="0" rtlCol="0" anchor="t"/>
          <a:lstStyle/>
          <a:p>
            <a:pPr algn="l" indent="0" marL="0">
              <a:buNone/>
            </a:pPr>
            <a:r>
              <a:rPr lang="en-US" sz="3200" b="1" dirty="0">
                <a:solidFill>
                  <a:schemeClr val="tx1"/>
                </a:solidFill>
              </a:rPr>
              <a:t>Les seuils de Canny dérivaient de la moyenne,</a:t>
            </a:r>
            <a:endParaRPr lang="en-US" sz="3200" dirty="0"/>
          </a:p>
          <a:p>
            <a:pPr algn="l" indent="0" marL="0">
              <a:buNone/>
            </a:pPr>
            <a:r>
              <a:rPr lang="en-US" sz="3200" b="1" dirty="0">
                <a:solidFill>
                  <a:schemeClr val="tx1"/>
                </a:solidFill>
              </a:rPr>
              <a:t>pas de la médiane</a:t>
            </a:r>
            <a:endParaRPr lang="en-US" sz="32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400">
                <a:solidFill>
                  <a:schemeClr val="tx2"/>
                </a:solidFill>
              </a:defRPr>
            </a:lvl1pPr>
          </a:lstStyle>
          <a:p>
            <a:pPr algn="r"/>
            <a:fld id="{F7021451-1387-4CA6-816F-3879F97B5CBC}" type="slidenum">
              <a:rPr b="0" lang="en-US"/>
              <a:t>7</a:t>
            </a:fld>
            <a:endParaRPr lang="en-US"/>
          </a:p>
        </p:txBody>
      </p:sp>
      <p:sp>
        <p:nvSpPr>
          <p:cNvPr id="26" name="Étape 1 Symptôme"/>
          <p:cNvSpPr/>
          <p:nvPr/>
        </p:nvSpPr>
        <p:spPr>
          <a:xfrm>
            <a:off x="548640" y="1783080"/>
            <a:ext cx="2377440" cy="2651760"/>
          </a:xfrm>
          <a:prstGeom prst="rect">
            <a:avLst/>
          </a:prstGeom>
          <a:solidFill>
            <a:schemeClr val="bg2"/>
          </a:solidFill>
          <a:ln w="9525">
            <a:solidFill>
              <a:schemeClr val="bg2"/>
            </a:solidFill>
          </a:ln>
        </p:spPr>
        <p:txBody>
          <a:bodyPr wrap="square" lIns="76200" tIns="127000" rIns="127000" bIns="76200" rtlCol="0" anchor="ctr"/>
          <a:lstStyle/>
          <a:p>
            <a:pPr algn="l" indent="0" marL="0">
              <a:buNone/>
            </a:pPr>
            <a:r>
              <a:rPr lang="en-US" sz="1800" b="1" dirty="0">
                <a:solidFill>
                  <a:schemeClr val="tx1"/>
                </a:solidFill>
              </a:rPr>
              <a:t>1  Symptôme</a:t>
            </a:r>
            <a:endParaRPr lang="en-US" sz="1800" dirty="0"/>
          </a:p>
          <a:p>
            <a:pPr algn="l" indent="0" marL="0">
              <a:buNone/>
            </a:pPr>
            <a:r>
              <a:rPr lang="en-US" sz="1600" dirty="0">
                <a:solidFill>
                  <a:schemeClr val="tx1"/>
                </a:solidFill>
              </a:rPr>
              <a:t>Carte claire sur fond clair</a:t>
            </a:r>
            <a:endParaRPr lang="en-US" sz="1800" dirty="0"/>
          </a:p>
          <a:p>
            <a:pPr algn="l" indent="0" marL="0">
              <a:buNone/>
            </a:pPr>
            <a:r>
              <a:rPr lang="en-US" sz="1600" dirty="0">
                <a:solidFill>
                  <a:schemeClr val="tx1"/>
                </a:solidFill>
              </a:rPr>
              <a:t>Détection en échec très fréquent</a:t>
            </a:r>
            <a:endParaRPr lang="en-US" sz="1800" dirty="0"/>
          </a:p>
        </p:txBody>
      </p:sp>
      <p:sp>
        <p:nvSpPr>
          <p:cNvPr id="27" name="Flèche 1"/>
          <p:cNvSpPr/>
          <p:nvPr/>
        </p:nvSpPr>
        <p:spPr>
          <a:xfrm>
            <a:off x="3040380" y="3108960"/>
            <a:ext cx="304724" cy="0"/>
          </a:xfrm>
          <a:prstGeom prst="line">
            <a:avLst/>
          </a:prstGeom>
          <a:noFill/>
          <a:ln w="19050">
            <a:solidFill>
              <a:schemeClr val="tx2"/>
            </a:solidFill>
            <a:prstDash val="solid"/>
            <a:tailEnd type="triangle"/>
          </a:ln>
        </p:spPr>
      </p:sp>
      <p:sp>
        <p:nvSpPr>
          <p:cNvPr id="28" name="Étape 2 Causes"/>
          <p:cNvSpPr/>
          <p:nvPr/>
        </p:nvSpPr>
        <p:spPr>
          <a:xfrm>
            <a:off x="3456432" y="1783080"/>
            <a:ext cx="2377440" cy="2651760"/>
          </a:xfrm>
          <a:prstGeom prst="rect">
            <a:avLst/>
          </a:prstGeom>
          <a:solidFill>
            <a:schemeClr val="bg1"/>
          </a:solidFill>
          <a:ln w="38100">
            <a:solidFill>
              <a:schemeClr val="accent1"/>
            </a:solidFill>
          </a:ln>
        </p:spPr>
        <p:txBody>
          <a:bodyPr wrap="square" lIns="76200" tIns="127000" rIns="127000" bIns="76200" rtlCol="0" anchor="ctr"/>
          <a:lstStyle/>
          <a:p>
            <a:pPr algn="l" indent="0" marL="0">
              <a:buNone/>
            </a:pPr>
            <a:r>
              <a:rPr lang="en-US" sz="1800" b="1" dirty="0">
                <a:solidFill>
                  <a:schemeClr val="tx1"/>
                </a:solidFill>
              </a:rPr>
              <a:t>2  Causes</a:t>
            </a:r>
            <a:endParaRPr lang="en-US" sz="1800" dirty="0"/>
          </a:p>
          <a:p>
            <a:pPr algn="l" indent="0" marL="0">
              <a:buNone/>
            </a:pPr>
            <a:r>
              <a:rPr lang="en-US" sz="1600" dirty="0">
                <a:solidFill>
                  <a:schemeClr val="tx1"/>
                </a:solidFill>
              </a:rPr>
              <a:t>Seuils de Canny dérivés de la moyenne, pas de la médiane</a:t>
            </a:r>
            <a:endParaRPr lang="en-US" sz="1800" dirty="0"/>
          </a:p>
          <a:p>
            <a:pPr algn="l" indent="0" marL="0">
              <a:buNone/>
            </a:pPr>
            <a:r>
              <a:rPr lang="en-US" sz="1600" dirty="0">
                <a:solidFill>
                  <a:schemeClr val="tx1"/>
                </a:solidFill>
              </a:rPr>
              <a:t>Contraste local insuffisant</a:t>
            </a:r>
            <a:endParaRPr lang="en-US" sz="1800" dirty="0"/>
          </a:p>
        </p:txBody>
      </p:sp>
      <p:sp>
        <p:nvSpPr>
          <p:cNvPr id="29" name="Flèche 2"/>
          <p:cNvSpPr/>
          <p:nvPr/>
        </p:nvSpPr>
        <p:spPr>
          <a:xfrm>
            <a:off x="5948172" y="3108960"/>
            <a:ext cx="304724" cy="0"/>
          </a:xfrm>
          <a:prstGeom prst="line">
            <a:avLst/>
          </a:prstGeom>
          <a:noFill/>
          <a:ln w="19050">
            <a:solidFill>
              <a:schemeClr val="tx2"/>
            </a:solidFill>
            <a:prstDash val="solid"/>
            <a:tailEnd type="triangle"/>
          </a:ln>
        </p:spPr>
      </p:sp>
      <p:sp>
        <p:nvSpPr>
          <p:cNvPr id="30" name="Étape 3 Correctifs"/>
          <p:cNvSpPr/>
          <p:nvPr/>
        </p:nvSpPr>
        <p:spPr>
          <a:xfrm>
            <a:off x="6364224" y="1783080"/>
            <a:ext cx="2377440" cy="2651760"/>
          </a:xfrm>
          <a:prstGeom prst="rect">
            <a:avLst/>
          </a:prstGeom>
          <a:solidFill>
            <a:schemeClr val="bg2"/>
          </a:solidFill>
          <a:ln w="9525">
            <a:solidFill>
              <a:schemeClr val="bg2"/>
            </a:solidFill>
          </a:ln>
        </p:spPr>
        <p:txBody>
          <a:bodyPr wrap="square" lIns="76200" tIns="127000" rIns="127000" bIns="76200" rtlCol="0" anchor="ctr"/>
          <a:lstStyle/>
          <a:p>
            <a:pPr algn="l" indent="0" marL="0">
              <a:buNone/>
            </a:pPr>
            <a:r>
              <a:rPr lang="en-US" sz="1800" b="1" dirty="0">
                <a:solidFill>
                  <a:schemeClr val="tx1"/>
                </a:solidFill>
              </a:rPr>
              <a:t>3  Correctifs</a:t>
            </a:r>
            <a:endParaRPr lang="en-US" sz="1800" dirty="0"/>
          </a:p>
          <a:p>
            <a:pPr algn="l" indent="0" marL="0">
              <a:buNone/>
            </a:pPr>
            <a:r>
              <a:rPr lang="en-US" sz="1600" dirty="0">
                <a:solidFill>
                  <a:schemeClr val="tx1"/>
                </a:solidFill>
              </a:rPr>
              <a:t>Seuils × 0,66 et × 1,33 la médiane</a:t>
            </a:r>
            <a:endParaRPr lang="en-US" sz="1800" dirty="0"/>
          </a:p>
          <a:p>
            <a:pPr algn="l" indent="0" marL="0">
              <a:buNone/>
            </a:pPr>
            <a:r>
              <a:rPr lang="en-US" sz="1600" dirty="0">
                <a:solidFill>
                  <a:schemeClr val="tx1"/>
                </a:solidFill>
              </a:rPr>
              <a:t>Passe CLAHE avant la détection</a:t>
            </a:r>
            <a:endParaRPr lang="en-US" sz="1800" dirty="0"/>
          </a:p>
        </p:txBody>
      </p:sp>
      <p:sp>
        <p:nvSpPr>
          <p:cNvPr id="31" name="Flèche 3"/>
          <p:cNvSpPr/>
          <p:nvPr/>
        </p:nvSpPr>
        <p:spPr>
          <a:xfrm>
            <a:off x="8855964" y="3108960"/>
            <a:ext cx="304724" cy="0"/>
          </a:xfrm>
          <a:prstGeom prst="line">
            <a:avLst/>
          </a:prstGeom>
          <a:noFill/>
          <a:ln w="19050">
            <a:solidFill>
              <a:schemeClr val="tx2"/>
            </a:solidFill>
            <a:prstDash val="solid"/>
            <a:tailEnd type="triangle"/>
          </a:ln>
        </p:spPr>
      </p:sp>
      <p:sp>
        <p:nvSpPr>
          <p:cNvPr id="32" name="Étape 4 Résultat"/>
          <p:cNvSpPr/>
          <p:nvPr/>
        </p:nvSpPr>
        <p:spPr>
          <a:xfrm>
            <a:off x="9272016" y="1783080"/>
            <a:ext cx="2377440" cy="2651760"/>
          </a:xfrm>
          <a:prstGeom prst="rect">
            <a:avLst/>
          </a:prstGeom>
          <a:solidFill>
            <a:schemeClr val="bg2"/>
          </a:solidFill>
          <a:ln w="9525">
            <a:solidFill>
              <a:schemeClr val="bg2"/>
            </a:solidFill>
          </a:ln>
        </p:spPr>
        <p:txBody>
          <a:bodyPr wrap="square" lIns="76200" tIns="127000" rIns="127000" bIns="76200" rtlCol="0" anchor="ctr"/>
          <a:lstStyle/>
          <a:p>
            <a:pPr algn="l" indent="0" marL="0">
              <a:buNone/>
            </a:pPr>
            <a:r>
              <a:rPr lang="en-US" sz="1800" b="1" dirty="0">
                <a:solidFill>
                  <a:schemeClr val="tx1"/>
                </a:solidFill>
              </a:rPr>
              <a:t>4  Résultat</a:t>
            </a:r>
            <a:endParaRPr lang="en-US" sz="1800" dirty="0"/>
          </a:p>
          <a:p>
            <a:pPr algn="l" indent="0" marL="0">
              <a:buNone/>
            </a:pPr>
            <a:r>
              <a:rPr lang="en-US" sz="1600" dirty="0">
                <a:solidFill>
                  <a:schemeClr val="tx1"/>
                </a:solidFill>
              </a:rPr>
              <a:t>Taux de détection comparable, fond clair et fond sombre</a:t>
            </a:r>
            <a:endParaRPr lang="en-US" sz="1800" dirty="0"/>
          </a:p>
        </p:txBody>
      </p:sp>
      <p:sp>
        <p:nvSpPr>
          <p:cNvPr id="33" name="Texte contexte"/>
          <p:cNvSpPr txBox="1"/>
          <p:nvPr/>
        </p:nvSpPr>
        <p:spPr>
          <a:xfrm>
            <a:off x="548640" y="4846320"/>
            <a:ext cx="11094415" cy="731520"/>
          </a:xfrm>
          <a:prstGeom prst="rect">
            <a:avLst/>
          </a:prstGeom>
          <a:noFill/>
          <a:ln/>
        </p:spPr>
        <p:txBody>
          <a:bodyPr wrap="square" lIns="0" tIns="0" rIns="0" bIns="0" rtlCol="0" anchor="t"/>
          <a:lstStyle/>
          <a:p>
            <a:pPr indent="0" marL="0">
              <a:spcAft>
                <a:spcPts val="800"/>
              </a:spcAft>
              <a:buNone/>
            </a:pPr>
            <a:r>
              <a:rPr lang="en-US" sz="2000" dirty="0">
                <a:solidFill>
                  <a:schemeClr val="tx1"/>
                </a:solidFill>
              </a:rPr>
              <a:t>Cas courant en usage réel : table blanche, feuille de papier.</a:t>
            </a:r>
            <a:endParaRPr lang="en-US" sz="20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88720"/>
          </a:xfrm>
          <a:prstGeom prst="rect">
            <a:avLst/>
          </a:prstGeom>
          <a:noFill/>
          <a:ln/>
        </p:spPr>
        <p:txBody>
          <a:bodyPr wrap="square" lIns="0" tIns="0" rIns="0" bIns="0" rtlCol="0" anchor="t"/>
          <a:lstStyle/>
          <a:p>
            <a:pPr algn="l" indent="0" marL="0">
              <a:buNone/>
            </a:pPr>
            <a:r>
              <a:rPr lang="en-US" sz="3200" b="1" dirty="0">
                <a:solidFill>
                  <a:schemeClr val="tx1"/>
                </a:solidFill>
              </a:rPr>
              <a:t>Netteté, luminosité, stabilité :</a:t>
            </a:r>
            <a:endParaRPr lang="en-US" sz="3200" dirty="0"/>
          </a:p>
          <a:p>
            <a:pPr algn="l" indent="0" marL="0">
              <a:buNone/>
            </a:pPr>
            <a:r>
              <a:rPr lang="en-US" sz="3200" b="1" dirty="0">
                <a:solidFill>
                  <a:schemeClr val="tx1"/>
                </a:solidFill>
              </a:rPr>
              <a:t>deux frames bonnes d’affilée déclenchent la capture</a:t>
            </a:r>
            <a:endParaRPr lang="en-US" sz="3200" dirty="0"/>
          </a:p>
        </p:txBody>
      </p:sp>
      <p:sp>
        <p:nvSpPr>
          <p:cNvPr id="3" name="État searching"/>
          <p:cNvSpPr/>
          <p:nvPr/>
        </p:nvSpPr>
        <p:spPr>
          <a:xfrm>
            <a:off x="548640" y="1783080"/>
            <a:ext cx="1920240" cy="777240"/>
          </a:xfrm>
          <a:prstGeom prst="rect">
            <a:avLst/>
          </a:prstGeom>
          <a:solidFill>
            <a:schemeClr val="bg2"/>
          </a:solidFill>
          <a:ln w="9525">
            <a:solidFill>
              <a:schemeClr val="bg2"/>
            </a:solidFill>
          </a:ln>
        </p:spPr>
        <p:txBody>
          <a:bodyPr wrap="square" lIns="76200" tIns="127000" rIns="127000" bIns="7620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searching</a:t>
            </a:r>
            <a:endParaRPr lang="en-US" sz="1600" dirty="0"/>
          </a:p>
        </p:txBody>
      </p:sp>
      <p:sp>
        <p:nvSpPr>
          <p:cNvPr id="4" name="Transition 1"/>
          <p:cNvSpPr/>
          <p:nvPr/>
        </p:nvSpPr>
        <p:spPr>
          <a:xfrm>
            <a:off x="2514600" y="2171700"/>
            <a:ext cx="281864" cy="0"/>
          </a:xfrm>
          <a:prstGeom prst="line">
            <a:avLst/>
          </a:prstGeom>
          <a:noFill/>
          <a:ln w="19050">
            <a:solidFill>
              <a:schemeClr val="tx2"/>
            </a:solidFill>
            <a:prstDash val="solid"/>
            <a:tailEnd type="triangle"/>
          </a:ln>
        </p:spPr>
      </p:sp>
      <p:sp>
        <p:nvSpPr>
          <p:cNvPr id="5" name="État poorQuality"/>
          <p:cNvSpPr/>
          <p:nvPr/>
        </p:nvSpPr>
        <p:spPr>
          <a:xfrm>
            <a:off x="2842184" y="1783080"/>
            <a:ext cx="1920240" cy="777240"/>
          </a:xfrm>
          <a:prstGeom prst="rect">
            <a:avLst/>
          </a:prstGeom>
          <a:solidFill>
            <a:schemeClr val="bg2"/>
          </a:solidFill>
          <a:ln w="9525">
            <a:solidFill>
              <a:schemeClr val="bg2"/>
            </a:solidFill>
          </a:ln>
        </p:spPr>
        <p:txBody>
          <a:bodyPr wrap="square" lIns="76200" tIns="127000" rIns="127000" bIns="7620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poorQuality</a:t>
            </a:r>
            <a:endParaRPr lang="en-US" sz="1600" dirty="0"/>
          </a:p>
        </p:txBody>
      </p:sp>
      <p:sp>
        <p:nvSpPr>
          <p:cNvPr id="6" name="Transition 2"/>
          <p:cNvSpPr/>
          <p:nvPr/>
        </p:nvSpPr>
        <p:spPr>
          <a:xfrm>
            <a:off x="4808144" y="2171700"/>
            <a:ext cx="281864" cy="0"/>
          </a:xfrm>
          <a:prstGeom prst="line">
            <a:avLst/>
          </a:prstGeom>
          <a:noFill/>
          <a:ln w="19050">
            <a:solidFill>
              <a:schemeClr val="tx2"/>
            </a:solidFill>
            <a:prstDash val="solid"/>
            <a:tailEnd type="triangle"/>
          </a:ln>
        </p:spPr>
      </p:sp>
      <p:sp>
        <p:nvSpPr>
          <p:cNvPr id="7" name="État holding"/>
          <p:cNvSpPr/>
          <p:nvPr/>
        </p:nvSpPr>
        <p:spPr>
          <a:xfrm>
            <a:off x="5135728" y="1783080"/>
            <a:ext cx="1920240" cy="777240"/>
          </a:xfrm>
          <a:prstGeom prst="rect">
            <a:avLst/>
          </a:prstGeom>
          <a:solidFill>
            <a:schemeClr val="bg1"/>
          </a:solidFill>
          <a:ln w="38100">
            <a:solidFill>
              <a:schemeClr val="accent1"/>
            </a:solidFill>
          </a:ln>
        </p:spPr>
        <p:txBody>
          <a:bodyPr wrap="square" lIns="76200" tIns="127000" rIns="127000" bIns="7620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holding</a:t>
            </a:r>
            <a:endParaRPr lang="en-US" sz="1600" dirty="0"/>
          </a:p>
        </p:txBody>
      </p:sp>
      <p:sp>
        <p:nvSpPr>
          <p:cNvPr id="8" name="Transition 3"/>
          <p:cNvSpPr/>
          <p:nvPr/>
        </p:nvSpPr>
        <p:spPr>
          <a:xfrm>
            <a:off x="7101688" y="2171700"/>
            <a:ext cx="281864" cy="0"/>
          </a:xfrm>
          <a:prstGeom prst="line">
            <a:avLst/>
          </a:prstGeom>
          <a:noFill/>
          <a:ln w="19050">
            <a:solidFill>
              <a:schemeClr val="tx2"/>
            </a:solidFill>
            <a:prstDash val="solid"/>
            <a:tailEnd type="triangle"/>
          </a:ln>
        </p:spPr>
      </p:sp>
      <p:sp>
        <p:nvSpPr>
          <p:cNvPr id="9" name="État triggerCapture"/>
          <p:cNvSpPr/>
          <p:nvPr/>
        </p:nvSpPr>
        <p:spPr>
          <a:xfrm>
            <a:off x="7429271" y="1783080"/>
            <a:ext cx="1920240" cy="777240"/>
          </a:xfrm>
          <a:prstGeom prst="rect">
            <a:avLst/>
          </a:prstGeom>
          <a:solidFill>
            <a:schemeClr val="bg2"/>
          </a:solidFill>
          <a:ln w="9525">
            <a:solidFill>
              <a:schemeClr val="bg2"/>
            </a:solidFill>
          </a:ln>
        </p:spPr>
        <p:txBody>
          <a:bodyPr wrap="square" lIns="76200" tIns="127000" rIns="127000" bIns="7620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triggerCapture</a:t>
            </a:r>
            <a:endParaRPr lang="en-US" sz="1600" dirty="0"/>
          </a:p>
        </p:txBody>
      </p:sp>
      <p:sp>
        <p:nvSpPr>
          <p:cNvPr id="10" name="Transition 4"/>
          <p:cNvSpPr/>
          <p:nvPr/>
        </p:nvSpPr>
        <p:spPr>
          <a:xfrm>
            <a:off x="9395231" y="2171700"/>
            <a:ext cx="281864" cy="0"/>
          </a:xfrm>
          <a:prstGeom prst="line">
            <a:avLst/>
          </a:prstGeom>
          <a:noFill/>
          <a:ln w="19050">
            <a:solidFill>
              <a:schemeClr val="tx2"/>
            </a:solidFill>
            <a:prstDash val="solid"/>
            <a:tailEnd type="triangle"/>
          </a:ln>
        </p:spPr>
      </p:sp>
      <p:sp>
        <p:nvSpPr>
          <p:cNvPr id="11" name="État captured"/>
          <p:cNvSpPr/>
          <p:nvPr/>
        </p:nvSpPr>
        <p:spPr>
          <a:xfrm>
            <a:off x="9722815" y="1783080"/>
            <a:ext cx="1920240" cy="777240"/>
          </a:xfrm>
          <a:prstGeom prst="rect">
            <a:avLst/>
          </a:prstGeom>
          <a:solidFill>
            <a:schemeClr val="bg2"/>
          </a:solidFill>
          <a:ln w="9525">
            <a:solidFill>
              <a:schemeClr val="bg2"/>
            </a:solidFill>
          </a:ln>
        </p:spPr>
        <p:txBody>
          <a:bodyPr wrap="square" lIns="76200" tIns="127000" rIns="127000" bIns="7620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captured</a:t>
            </a:r>
            <a:endParaRPr lang="en-US" sz="1600" dirty="0"/>
          </a:p>
        </p:txBody>
      </p:sp>
      <p:sp>
        <p:nvSpPr>
          <p:cNvPr id="12" name="Seuils"/>
          <p:cNvSpPr txBox="1"/>
          <p:nvPr/>
        </p:nvSpPr>
        <p:spPr>
          <a:xfrm>
            <a:off x="548640" y="3017520"/>
            <a:ext cx="7680960" cy="2560320"/>
          </a:xfrm>
          <a:prstGeom prst="rect">
            <a:avLst/>
          </a:prstGeom>
          <a:noFill/>
          <a:ln/>
        </p:spPr>
        <p:txBody>
          <a:bodyPr wrap="square" lIns="0" tIns="0" rIns="0" bIns="0" rtlCol="0" anchor="t"/>
          <a:lstStyle/>
          <a:p>
            <a:pPr indent="0" marL="0">
              <a:spcAft>
                <a:spcPts val="1000"/>
              </a:spcAft>
              <a:buNone/>
            </a:pPr>
            <a:r>
              <a:rPr lang="en-US" sz="2000" b="1" dirty="0">
                <a:solidFill>
                  <a:schemeClr val="tx1"/>
                </a:solidFill>
              </a:rPr>
              <a:t>Netteté </a:t>
            </a:r>
            <a:pPr indent="0" marL="0">
              <a:spcAft>
                <a:spcPts val="1000"/>
              </a:spcAft>
              <a:buNone/>
            </a:pPr>
            <a:r>
              <a:rPr lang="en-US" sz="2000" dirty="0">
                <a:solidFill>
                  <a:schemeClr val="tx1"/>
                </a:solidFill>
              </a:rPr>
              <a:t>≥ 120 (Laplacien, à 856 × 540)</a:t>
            </a:r>
            <a:endParaRPr lang="en-US" sz="2000" dirty="0"/>
          </a:p>
          <a:p>
            <a:pPr indent="0" marL="0">
              <a:spcAft>
                <a:spcPts val="1000"/>
              </a:spcAft>
              <a:buNone/>
            </a:pPr>
            <a:r>
              <a:rPr lang="en-US" sz="2000" b="1" dirty="0">
                <a:solidFill>
                  <a:schemeClr val="tx1"/>
                </a:solidFill>
              </a:rPr>
              <a:t>Luminosité </a:t>
            </a:r>
            <a:pPr indent="0" marL="0">
              <a:spcAft>
                <a:spcPts val="1000"/>
              </a:spcAft>
              <a:buNone/>
            </a:pPr>
            <a:r>
              <a:rPr lang="en-US" sz="2000" dirty="0">
                <a:solidFill>
                  <a:schemeClr val="tx1"/>
                </a:solidFill>
              </a:rPr>
              <a:t>60–225, ≤ 12 % saturés</a:t>
            </a:r>
            <a:endParaRPr lang="en-US" sz="2000" dirty="0"/>
          </a:p>
          <a:p>
            <a:pPr indent="0" marL="0">
              <a:spcAft>
                <a:spcPts val="1000"/>
              </a:spcAft>
              <a:buNone/>
            </a:pPr>
            <a:r>
              <a:rPr lang="en-US" sz="2000" b="1" dirty="0">
                <a:solidFill>
                  <a:schemeClr val="tx1"/>
                </a:solidFill>
              </a:rPr>
              <a:t>Stabilité </a:t>
            </a:r>
            <a:pPr indent="0" marL="0">
              <a:spcAft>
                <a:spcPts val="1000"/>
              </a:spcAft>
              <a:buNone/>
            </a:pPr>
            <a:r>
              <a:rPr lang="en-US" sz="2000" dirty="0">
                <a:solidFill>
                  <a:schemeClr val="tx1"/>
                </a:solidFill>
              </a:rPr>
              <a:t>≤ 2,5 % de la diagonale, 3 frames</a:t>
            </a:r>
            <a:endParaRPr lang="en-US" sz="2000" dirty="0"/>
          </a:p>
          <a:p>
            <a:pPr indent="0" marL="0">
              <a:spcAft>
                <a:spcPts val="1000"/>
              </a:spcAft>
              <a:buNone/>
            </a:pPr>
            <a:r>
              <a:rPr lang="en-US" sz="2000" b="1" dirty="0">
                <a:solidFill>
                  <a:schemeClr val="tx1"/>
                </a:solidFill>
              </a:rPr>
              <a:t>Maintien </a:t>
            </a:r>
            <a:pPr indent="0" marL="0">
              <a:spcAft>
                <a:spcPts val="1000"/>
              </a:spcAft>
              <a:buNone/>
            </a:pPr>
            <a:r>
              <a:rPr lang="en-US" sz="2000" dirty="0">
                <a:solidFill>
                  <a:schemeClr val="tx1"/>
                </a:solidFill>
              </a:rPr>
              <a:t>2 frames bonnes de suite</a:t>
            </a:r>
            <a:endParaRPr lang="en-US" sz="2000" dirty="0"/>
          </a:p>
        </p:txBody>
      </p:sp>
      <p:pic>
        <p:nvPicPr>
          <p:cNvPr id="13" name="Capture guidage recto" descr="Capture d’écran de l’application : silhouette de guidage du recto">    </p:cNvPr>
          <p:cNvPicPr>
            <a:picLocks noChangeAspect="1"/>
          </p:cNvPicPr>
          <p:nvPr/>
        </p:nvPicPr>
        <p:blipFill>
          <a:blip r:embed="rId1"/>
          <a:stretch>
            <a:fillRect/>
          </a:stretch>
        </p:blipFill>
        <p:spPr>
          <a:xfrm>
            <a:off x="8778240" y="2743200"/>
            <a:ext cx="1608951" cy="2880360"/>
          </a:xfrm>
          <a:prstGeom prst="rect">
            <a:avLst/>
          </a:prstGeom>
        </p:spPr>
      </p:pic>
      <p:sp>
        <p:nvSpPr>
          <p:cNvPr id="14" name="Cadre Capture guidage recto"/>
          <p:cNvSpPr/>
          <p:nvPr/>
        </p:nvSpPr>
        <p:spPr>
          <a:xfrm>
            <a:off x="8778240" y="2743200"/>
            <a:ext cx="1608951" cy="2880360"/>
          </a:xfrm>
          <a:prstGeom prst="rect">
            <a:avLst/>
          </a:prstGeom>
          <a:ln w="9525">
            <a:solidFill>
              <a:schemeClr val="accent4"/>
            </a:solidFill>
            <a:prstDash val="solid"/>
          </a:ln>
        </p:spPr>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400">
                <a:solidFill>
                  <a:schemeClr val="tx2"/>
                </a:solidFill>
              </a:defRPr>
            </a:lvl1pPr>
          </a:lstStyle>
          <a:p>
            <a:pPr algn="r"/>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88720"/>
          </a:xfrm>
          <a:prstGeom prst="rect">
            <a:avLst/>
          </a:prstGeom>
          <a:noFill/>
          <a:ln/>
        </p:spPr>
        <p:txBody>
          <a:bodyPr wrap="square" lIns="0" tIns="0" rIns="0" bIns="0" rtlCol="0" anchor="t"/>
          <a:lstStyle/>
          <a:p>
            <a:pPr algn="l" indent="0" marL="0">
              <a:buNone/>
            </a:pPr>
            <a:r>
              <a:rPr lang="en-US" sz="3200" b="1" dirty="0">
                <a:solidFill>
                  <a:schemeClr val="tx1"/>
                </a:solidFill>
              </a:rPr>
              <a:t>Visage et gabarits identifient le recto,</a:t>
            </a:r>
            <a:endParaRPr lang="en-US" sz="3200" dirty="0"/>
          </a:p>
          <a:p>
            <a:pPr algn="l" indent="0" marL="0">
              <a:buNone/>
            </a:pPr>
            <a:r>
              <a:rPr lang="en-US" sz="3200" b="1" dirty="0">
                <a:solidFill>
                  <a:schemeClr val="tx1"/>
                </a:solidFill>
              </a:rPr>
              <a:t>trois indices le verso</a:t>
            </a:r>
            <a:endParaRPr lang="en-US" sz="3200" dirty="0"/>
          </a:p>
        </p:txBody>
      </p:sp>
      <p:pic>
        <p:nvPicPr>
          <p:cNvPr id="3" name="Guidage recto" descr="Silhouette de guidage du recto">    </p:cNvPr>
          <p:cNvPicPr>
            <a:picLocks noChangeAspect="1"/>
          </p:cNvPicPr>
          <p:nvPr/>
        </p:nvPicPr>
        <p:blipFill>
          <a:blip r:embed="rId1"/>
          <a:stretch>
            <a:fillRect/>
          </a:stretch>
        </p:blipFill>
        <p:spPr>
          <a:xfrm>
            <a:off x="548640" y="1783080"/>
            <a:ext cx="2017574" cy="3611880"/>
          </a:xfrm>
          <a:prstGeom prst="rect">
            <a:avLst/>
          </a:prstGeom>
        </p:spPr>
      </p:pic>
      <p:sp>
        <p:nvSpPr>
          <p:cNvPr id="4" name="Cadre Guidage recto"/>
          <p:cNvSpPr/>
          <p:nvPr/>
        </p:nvSpPr>
        <p:spPr>
          <a:xfrm>
            <a:off x="548640" y="1783080"/>
            <a:ext cx="2017574" cy="3611880"/>
          </a:xfrm>
          <a:prstGeom prst="rect">
            <a:avLst/>
          </a:prstGeom>
          <a:ln w="9525">
            <a:solidFill>
              <a:schemeClr val="accent4"/>
            </a:solidFill>
            <a:prstDash val="solid"/>
          </a:ln>
        </p:spPr>
      </p:sp>
      <p:pic>
        <p:nvPicPr>
          <p:cNvPr id="5" name="Guidage verso" descr="Silhouette de guidage du verso">    </p:cNvPr>
          <p:cNvPicPr>
            <a:picLocks noChangeAspect="1"/>
          </p:cNvPicPr>
          <p:nvPr/>
        </p:nvPicPr>
        <p:blipFill>
          <a:blip r:embed="rId2"/>
          <a:stretch>
            <a:fillRect/>
          </a:stretch>
        </p:blipFill>
        <p:spPr>
          <a:xfrm>
            <a:off x="2749094" y="1783080"/>
            <a:ext cx="2017574" cy="3611880"/>
          </a:xfrm>
          <a:prstGeom prst="rect">
            <a:avLst/>
          </a:prstGeom>
        </p:spPr>
      </p:pic>
      <p:sp>
        <p:nvSpPr>
          <p:cNvPr id="6" name="Cadre Guidage verso"/>
          <p:cNvSpPr/>
          <p:nvPr/>
        </p:nvSpPr>
        <p:spPr>
          <a:xfrm>
            <a:off x="2749094" y="1783080"/>
            <a:ext cx="2017574" cy="3611880"/>
          </a:xfrm>
          <a:prstGeom prst="rect">
            <a:avLst/>
          </a:prstGeom>
          <a:ln w="9525">
            <a:solidFill>
              <a:schemeClr val="accent4"/>
            </a:solidFill>
            <a:prstDash val="solid"/>
          </a:ln>
        </p:spPr>
      </p:sp>
      <p:sp>
        <p:nvSpPr>
          <p:cNvPr id="7" name="Légende recto"/>
          <p:cNvSpPr txBox="1"/>
          <p:nvPr/>
        </p:nvSpPr>
        <p:spPr>
          <a:xfrm>
            <a:off x="548640" y="5440680"/>
            <a:ext cx="2017574" cy="274320"/>
          </a:xfrm>
          <a:prstGeom prst="rect">
            <a:avLst/>
          </a:prstGeom>
          <a:noFill/>
          <a:ln/>
        </p:spPr>
        <p:txBody>
          <a:bodyPr wrap="square" lIns="0" tIns="0" rIns="0" bIns="0" rtlCol="0" anchor="t"/>
          <a:lstStyle/>
          <a:p>
            <a:pPr indent="0" marL="0">
              <a:buNone/>
            </a:pPr>
            <a:r>
              <a:rPr lang="en-US" sz="1400" dirty="0">
                <a:solidFill>
                  <a:schemeClr val="tx2"/>
                </a:solidFill>
              </a:rPr>
              <a:t>Recto : guidage</a:t>
            </a:r>
            <a:endParaRPr lang="en-US" sz="1400" dirty="0"/>
          </a:p>
        </p:txBody>
      </p:sp>
      <p:sp>
        <p:nvSpPr>
          <p:cNvPr id="8" name="Légende verso"/>
          <p:cNvSpPr txBox="1"/>
          <p:nvPr/>
        </p:nvSpPr>
        <p:spPr>
          <a:xfrm>
            <a:off x="2749094" y="5440680"/>
            <a:ext cx="2017574" cy="274320"/>
          </a:xfrm>
          <a:prstGeom prst="rect">
            <a:avLst/>
          </a:prstGeom>
          <a:noFill/>
          <a:ln/>
        </p:spPr>
        <p:txBody>
          <a:bodyPr wrap="square" lIns="0" tIns="0" rIns="0" bIns="0" rtlCol="0" anchor="t"/>
          <a:lstStyle/>
          <a:p>
            <a:pPr indent="0" marL="0">
              <a:buNone/>
            </a:pPr>
            <a:r>
              <a:rPr lang="en-US" sz="1400" dirty="0">
                <a:solidFill>
                  <a:schemeClr val="tx2"/>
                </a:solidFill>
              </a:rPr>
              <a:t>Verso : guidage</a:t>
            </a:r>
            <a:endParaRPr lang="en-US" sz="1400" dirty="0"/>
          </a:p>
        </p:txBody>
      </p:sp>
      <p:sp>
        <p:nvSpPr>
          <p:cNvPr id="9" name="Recto"/>
          <p:cNvSpPr txBox="1"/>
          <p:nvPr/>
        </p:nvSpPr>
        <p:spPr>
          <a:xfrm>
            <a:off x="5315307" y="1783080"/>
            <a:ext cx="6327748" cy="1554480"/>
          </a:xfrm>
          <a:prstGeom prst="rect">
            <a:avLst/>
          </a:prstGeom>
          <a:noFill/>
          <a:ln/>
        </p:spPr>
        <p:txBody>
          <a:bodyPr wrap="square" lIns="0" tIns="0" rIns="0" bIns="0" rtlCol="0" anchor="t"/>
          <a:lstStyle/>
          <a:p>
            <a:pPr indent="0" marL="0">
              <a:buNone/>
            </a:pPr>
            <a:r>
              <a:rPr lang="en-US" sz="1400" b="1" spc="200" kern="0" dirty="0">
                <a:solidFill>
                  <a:schemeClr val="tx2"/>
                </a:solidFill>
              </a:rPr>
              <a:t>RECTO</a:t>
            </a:r>
            <a:endParaRPr lang="en-US" sz="2000" dirty="0"/>
          </a:p>
          <a:p>
            <a:pPr indent="0" marL="0">
              <a:buNone/>
            </a:pPr>
            <a:r>
              <a:rPr lang="en-US" sz="2000" dirty="0">
                <a:solidFill>
                  <a:schemeClr val="tx1"/>
                </a:solidFill>
              </a:rPr>
              <a:t>Visage (Haar), 4 rotations ; gabarits logo et drapeau ≥ 0,6.</a:t>
            </a:r>
            <a:endParaRPr lang="en-US" sz="2000" dirty="0"/>
          </a:p>
        </p:txBody>
      </p:sp>
      <p:sp>
        <p:nvSpPr>
          <p:cNvPr id="10" name="Verso"/>
          <p:cNvSpPr txBox="1"/>
          <p:nvPr/>
        </p:nvSpPr>
        <p:spPr>
          <a:xfrm>
            <a:off x="5315307" y="3611880"/>
            <a:ext cx="6327748" cy="1737360"/>
          </a:xfrm>
          <a:prstGeom prst="rect">
            <a:avLst/>
          </a:prstGeom>
          <a:noFill/>
          <a:ln/>
        </p:spPr>
        <p:txBody>
          <a:bodyPr wrap="square" lIns="0" tIns="0" rIns="0" bIns="0" rtlCol="0" anchor="t"/>
          <a:lstStyle/>
          <a:p>
            <a:pPr indent="0" marL="0">
              <a:buNone/>
            </a:pPr>
            <a:r>
              <a:rPr lang="en-US" sz="1400" b="1" spc="200" kern="0" dirty="0">
                <a:solidFill>
                  <a:schemeClr val="tx2"/>
                </a:solidFill>
              </a:rPr>
              <a:t>VERSO</a:t>
            </a:r>
            <a:endParaRPr lang="en-US" sz="2000" dirty="0"/>
          </a:p>
          <a:p>
            <a:pPr indent="0" marL="0">
              <a:buNone/>
            </a:pPr>
            <a:r>
              <a:rPr lang="en-US" sz="2000" dirty="0">
                <a:solidFill>
                  <a:schemeClr val="tx1"/>
                </a:solidFill>
              </a:rPr>
              <a:t>Code-barres (localisation), texture d’empreinte, ligne de séparation ; vote sur 4 rotations.</a:t>
            </a:r>
            <a:endParaRPr lang="en-US" sz="20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400">
                <a:solidFill>
                  <a:schemeClr val="tx2"/>
                </a:solidFill>
              </a:defRPr>
            </a:lvl1pPr>
          </a:lstStyle>
          <a:p>
            <a:pPr algn="r"/>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88720"/>
          </a:xfrm>
          <a:prstGeom prst="rect">
            <a:avLst/>
          </a:prstGeom>
          <a:noFill/>
          <a:ln/>
        </p:spPr>
        <p:txBody>
          <a:bodyPr wrap="square" lIns="0" tIns="0" rIns="0" bIns="0" rtlCol="0" anchor="t"/>
          <a:lstStyle/>
          <a:p>
            <a:pPr algn="l" indent="0" marL="0">
              <a:buNone/>
            </a:pPr>
            <a:r>
              <a:rPr lang="en-US" sz="3200" b="1" dirty="0">
                <a:solidFill>
                  <a:schemeClr val="tx1"/>
                </a:solidFill>
              </a:rPr>
              <a:t>Aperçu, recadrage et page A4 :</a:t>
            </a:r>
            <a:endParaRPr lang="en-US" sz="3200" dirty="0"/>
          </a:p>
          <a:p>
            <a:pPr algn="l" indent="0" marL="0">
              <a:buNone/>
            </a:pPr>
            <a:r>
              <a:rPr lang="en-US" sz="3200" b="1" dirty="0">
                <a:solidFill>
                  <a:schemeClr val="tx1"/>
                </a:solidFill>
              </a:rPr>
              <a:t>l’utilisateur valide ou reprend chaque face</a:t>
            </a:r>
            <a:endParaRPr lang="en-US" sz="3200" dirty="0"/>
          </a:p>
        </p:txBody>
      </p:sp>
      <p:pic>
        <p:nvPicPr>
          <p:cNvPr id="3" name="Aperçu" descr="Écran d’aperçu : recto, verso et page A4">    </p:cNvPr>
          <p:cNvPicPr>
            <a:picLocks noChangeAspect="1"/>
          </p:cNvPicPr>
          <p:nvPr/>
        </p:nvPicPr>
        <p:blipFill>
          <a:blip r:embed="rId1"/>
          <a:stretch>
            <a:fillRect/>
          </a:stretch>
        </p:blipFill>
        <p:spPr>
          <a:xfrm>
            <a:off x="548640" y="1783080"/>
            <a:ext cx="1777508" cy="3977640"/>
          </a:xfrm>
          <a:prstGeom prst="rect">
            <a:avLst/>
          </a:prstGeom>
        </p:spPr>
      </p:pic>
      <p:sp>
        <p:nvSpPr>
          <p:cNvPr id="4" name="Cadre Aperçu"/>
          <p:cNvSpPr/>
          <p:nvPr/>
        </p:nvSpPr>
        <p:spPr>
          <a:xfrm>
            <a:off x="548640" y="1783080"/>
            <a:ext cx="1777508" cy="3977640"/>
          </a:xfrm>
          <a:prstGeom prst="rect">
            <a:avLst/>
          </a:prstGeom>
          <a:ln w="9525">
            <a:solidFill>
              <a:schemeClr val="accent4"/>
            </a:solidFill>
            <a:prstDash val="solid"/>
          </a:ln>
        </p:spPr>
      </p:sp>
      <p:pic>
        <p:nvPicPr>
          <p:cNvPr id="5" name="Recadrage" descr="Écran de recadrage du verso">    </p:cNvPr>
          <p:cNvPicPr>
            <a:picLocks noChangeAspect="1"/>
          </p:cNvPicPr>
          <p:nvPr/>
        </p:nvPicPr>
        <p:blipFill>
          <a:blip r:embed="rId2"/>
          <a:stretch>
            <a:fillRect/>
          </a:stretch>
        </p:blipFill>
        <p:spPr>
          <a:xfrm>
            <a:off x="2554748" y="1783080"/>
            <a:ext cx="1778820" cy="3977640"/>
          </a:xfrm>
          <a:prstGeom prst="rect">
            <a:avLst/>
          </a:prstGeom>
        </p:spPr>
      </p:pic>
      <p:sp>
        <p:nvSpPr>
          <p:cNvPr id="6" name="Cadre Recadrage"/>
          <p:cNvSpPr/>
          <p:nvPr/>
        </p:nvSpPr>
        <p:spPr>
          <a:xfrm>
            <a:off x="2554748" y="1783080"/>
            <a:ext cx="1778820" cy="3977640"/>
          </a:xfrm>
          <a:prstGeom prst="rect">
            <a:avLst/>
          </a:prstGeom>
          <a:ln w="9525">
            <a:solidFill>
              <a:schemeClr val="accent4"/>
            </a:solidFill>
            <a:prstDash val="solid"/>
          </a:ln>
        </p:spPr>
      </p:sp>
      <p:sp>
        <p:nvSpPr>
          <p:cNvPr id="7" name="Texte"/>
          <p:cNvSpPr txBox="1"/>
          <p:nvPr/>
        </p:nvSpPr>
        <p:spPr>
          <a:xfrm>
            <a:off x="4973648" y="1783080"/>
            <a:ext cx="6669407" cy="1371600"/>
          </a:xfrm>
          <a:prstGeom prst="rect">
            <a:avLst/>
          </a:prstGeom>
          <a:noFill/>
          <a:ln/>
        </p:spPr>
        <p:txBody>
          <a:bodyPr wrap="square" lIns="0" tIns="0" rIns="0" bIns="0" rtlCol="0" anchor="t"/>
          <a:lstStyle/>
          <a:p>
            <a:pPr indent="0" marL="0">
              <a:buNone/>
            </a:pPr>
            <a:r>
              <a:rPr lang="en-US" sz="2000" dirty="0">
                <a:solidFill>
                  <a:schemeClr val="tx1"/>
                </a:solidFill>
              </a:rPr>
              <a:t>Chaque face s’affiche en aperçu, avec recadrage, pivot et amélioration.</a:t>
            </a:r>
            <a:endParaRPr lang="en-US" sz="2000" dirty="0"/>
          </a:p>
          <a:p>
            <a:pPr indent="0" marL="0">
              <a:spcBef>
                <a:spcPts val="1200"/>
              </a:spcBef>
              <a:buNone/>
            </a:pPr>
            <a:r>
              <a:rPr lang="en-US" sz="2000" dirty="0">
                <a:solidFill>
                  <a:schemeClr val="tx1"/>
                </a:solidFill>
              </a:rPr>
              <a:t>La page à imprimer compose recto et verso sur un A4 portrait de 2480 × 3508 px (300 dpi).</a:t>
            </a:r>
            <a:endParaRPr lang="en-US" sz="20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400">
                <a:solidFill>
                  <a:schemeClr val="tx2"/>
                </a:solidFill>
              </a:defRPr>
            </a:lvl1pPr>
          </a:lstStyle>
          <a:p>
            <a:pPr algn="r"/>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88720"/>
          </a:xfrm>
          <a:prstGeom prst="rect">
            <a:avLst/>
          </a:prstGeom>
          <a:noFill/>
          <a:ln/>
        </p:spPr>
        <p:txBody>
          <a:bodyPr wrap="square" lIns="0" tIns="0" rIns="0" bIns="0" rtlCol="0" anchor="t"/>
          <a:lstStyle/>
          <a:p>
            <a:pPr algn="l" indent="0" marL="0">
              <a:buNone/>
            </a:pPr>
            <a:r>
              <a:rPr lang="en-US" sz="3200" b="1" dirty="0">
                <a:solidFill>
                  <a:schemeClr val="tx1"/>
                </a:solidFill>
              </a:rPr>
              <a:t>Démonstration : sept écrans,</a:t>
            </a:r>
            <a:br/>
            <a:r>
              <a:rPr lang="en-US" sz="3200" b="1" dirty="0">
                <a:solidFill>
                  <a:schemeClr val="tx1"/>
                </a:solidFill>
              </a:rPr>
              <a:t>du recto à l’historique</a:t>
            </a:r>
            <a:endParaRPr lang="en-US" sz="3200" dirty="0"/>
          </a:p>
        </p:txBody>
      </p:sp>
      <p:pic>
        <p:nvPicPr>
          <p:cNvPr id="3" name="Capture Recto" descr="Capture d’écran : Recto">    </p:cNvPr>
          <p:cNvPicPr>
            <a:picLocks noChangeAspect="1"/>
          </p:cNvPicPr>
          <p:nvPr/>
        </p:nvPicPr>
        <p:blipFill>
          <a:blip r:embed="rId1"/>
          <a:stretch>
            <a:fillRect/>
          </a:stretch>
        </p:blipFill>
        <p:spPr>
          <a:xfrm>
            <a:off x="548640" y="1783080"/>
            <a:ext cx="1736646" cy="3108960"/>
          </a:xfrm>
          <a:prstGeom prst="rect">
            <a:avLst/>
          </a:prstGeom>
        </p:spPr>
      </p:pic>
      <p:sp>
        <p:nvSpPr>
          <p:cNvPr id="4" name="Cadre Capture Recto"/>
          <p:cNvSpPr/>
          <p:nvPr/>
        </p:nvSpPr>
        <p:spPr>
          <a:xfrm>
            <a:off x="548640" y="1783080"/>
            <a:ext cx="1736646" cy="3108960"/>
          </a:xfrm>
          <a:prstGeom prst="rect">
            <a:avLst/>
          </a:prstGeom>
          <a:ln w="9525">
            <a:solidFill>
              <a:schemeClr val="accent4"/>
            </a:solidFill>
            <a:prstDash val="solid"/>
          </a:ln>
        </p:spPr>
      </p:sp>
      <p:sp>
        <p:nvSpPr>
          <p:cNvPr id="5" name="Étiquette Recto"/>
          <p:cNvSpPr txBox="1"/>
          <p:nvPr/>
        </p:nvSpPr>
        <p:spPr>
          <a:xfrm>
            <a:off x="457200" y="4983480"/>
            <a:ext cx="1919526" cy="365760"/>
          </a:xfrm>
          <a:prstGeom prst="rect">
            <a:avLst/>
          </a:prstGeom>
          <a:noFill/>
          <a:ln/>
        </p:spPr>
        <p:txBody>
          <a:bodyPr wrap="square" lIns="0" tIns="0" rIns="0" bIns="0" rtlCol="0" anchor="t"/>
          <a:lstStyle/>
          <a:p>
            <a:pPr algn="ctr" indent="0" marL="0">
              <a:buNone/>
            </a:pPr>
            <a:r>
              <a:rPr lang="en-US" sz="2000" dirty="0">
                <a:solidFill>
                  <a:schemeClr val="tx1"/>
                </a:solidFill>
              </a:rPr>
              <a:t>1  Recto</a:t>
            </a:r>
            <a:endParaRPr lang="en-US" sz="2000" dirty="0"/>
          </a:p>
        </p:txBody>
      </p:sp>
      <p:pic>
        <p:nvPicPr>
          <p:cNvPr id="6" name="Capture Verso" descr="Capture d’écran : Verso">    </p:cNvPr>
          <p:cNvPicPr>
            <a:picLocks noChangeAspect="1"/>
          </p:cNvPicPr>
          <p:nvPr/>
        </p:nvPicPr>
        <p:blipFill>
          <a:blip r:embed="rId2"/>
          <a:stretch>
            <a:fillRect/>
          </a:stretch>
        </p:blipFill>
        <p:spPr>
          <a:xfrm>
            <a:off x="2397025" y="1783080"/>
            <a:ext cx="1736646" cy="3108960"/>
          </a:xfrm>
          <a:prstGeom prst="rect">
            <a:avLst/>
          </a:prstGeom>
        </p:spPr>
      </p:pic>
      <p:sp>
        <p:nvSpPr>
          <p:cNvPr id="7" name="Cadre Capture Verso"/>
          <p:cNvSpPr/>
          <p:nvPr/>
        </p:nvSpPr>
        <p:spPr>
          <a:xfrm>
            <a:off x="2397025" y="1783080"/>
            <a:ext cx="1736646" cy="3108960"/>
          </a:xfrm>
          <a:prstGeom prst="rect">
            <a:avLst/>
          </a:prstGeom>
          <a:ln w="9525">
            <a:solidFill>
              <a:schemeClr val="accent4"/>
            </a:solidFill>
            <a:prstDash val="solid"/>
          </a:ln>
        </p:spPr>
      </p:sp>
      <p:sp>
        <p:nvSpPr>
          <p:cNvPr id="8" name="Étiquette Verso"/>
          <p:cNvSpPr txBox="1"/>
          <p:nvPr/>
        </p:nvSpPr>
        <p:spPr>
          <a:xfrm>
            <a:off x="2305585" y="4983480"/>
            <a:ext cx="1919526" cy="365760"/>
          </a:xfrm>
          <a:prstGeom prst="rect">
            <a:avLst/>
          </a:prstGeom>
          <a:noFill/>
          <a:ln/>
        </p:spPr>
        <p:txBody>
          <a:bodyPr wrap="square" lIns="0" tIns="0" rIns="0" bIns="0" rtlCol="0" anchor="t"/>
          <a:lstStyle/>
          <a:p>
            <a:pPr algn="ctr" indent="0" marL="0">
              <a:buNone/>
            </a:pPr>
            <a:r>
              <a:rPr lang="en-US" sz="2000" dirty="0">
                <a:solidFill>
                  <a:schemeClr val="tx1"/>
                </a:solidFill>
              </a:rPr>
              <a:t>2  Verso</a:t>
            </a:r>
            <a:endParaRPr lang="en-US" sz="2000" dirty="0"/>
          </a:p>
        </p:txBody>
      </p:sp>
      <p:pic>
        <p:nvPicPr>
          <p:cNvPr id="9" name="Capture Aperçu" descr="Capture d’écran : Aperçu">    </p:cNvPr>
          <p:cNvPicPr>
            <a:picLocks noChangeAspect="1"/>
          </p:cNvPicPr>
          <p:nvPr/>
        </p:nvPicPr>
        <p:blipFill>
          <a:blip r:embed="rId3"/>
          <a:stretch>
            <a:fillRect/>
          </a:stretch>
        </p:blipFill>
        <p:spPr>
          <a:xfrm>
            <a:off x="4245411" y="1783080"/>
            <a:ext cx="1389317" cy="3108960"/>
          </a:xfrm>
          <a:prstGeom prst="rect">
            <a:avLst/>
          </a:prstGeom>
        </p:spPr>
      </p:pic>
      <p:sp>
        <p:nvSpPr>
          <p:cNvPr id="10" name="Cadre Capture Aperçu"/>
          <p:cNvSpPr/>
          <p:nvPr/>
        </p:nvSpPr>
        <p:spPr>
          <a:xfrm>
            <a:off x="4245411" y="1783080"/>
            <a:ext cx="1389317" cy="3108960"/>
          </a:xfrm>
          <a:prstGeom prst="rect">
            <a:avLst/>
          </a:prstGeom>
          <a:ln w="9525">
            <a:solidFill>
              <a:schemeClr val="accent4"/>
            </a:solidFill>
            <a:prstDash val="solid"/>
          </a:ln>
        </p:spPr>
      </p:sp>
      <p:sp>
        <p:nvSpPr>
          <p:cNvPr id="11" name="Étiquette Aperçu"/>
          <p:cNvSpPr txBox="1"/>
          <p:nvPr/>
        </p:nvSpPr>
        <p:spPr>
          <a:xfrm>
            <a:off x="4153971" y="4983480"/>
            <a:ext cx="1572197" cy="365760"/>
          </a:xfrm>
          <a:prstGeom prst="rect">
            <a:avLst/>
          </a:prstGeom>
          <a:noFill/>
          <a:ln/>
        </p:spPr>
        <p:txBody>
          <a:bodyPr wrap="square" lIns="0" tIns="0" rIns="0" bIns="0" rtlCol="0" anchor="t"/>
          <a:lstStyle/>
          <a:p>
            <a:pPr algn="ctr" indent="0" marL="0">
              <a:buNone/>
            </a:pPr>
            <a:r>
              <a:rPr lang="en-US" sz="2000" dirty="0">
                <a:solidFill>
                  <a:schemeClr val="tx1"/>
                </a:solidFill>
              </a:rPr>
              <a:t>3  Aperçu</a:t>
            </a:r>
            <a:endParaRPr lang="en-US" sz="2000" dirty="0"/>
          </a:p>
        </p:txBody>
      </p:sp>
      <p:pic>
        <p:nvPicPr>
          <p:cNvPr id="12" name="Capture Recadrer" descr="Capture d’écran : Recadrer">    </p:cNvPr>
          <p:cNvPicPr>
            <a:picLocks noChangeAspect="1"/>
          </p:cNvPicPr>
          <p:nvPr/>
        </p:nvPicPr>
        <p:blipFill>
          <a:blip r:embed="rId4"/>
          <a:stretch>
            <a:fillRect/>
          </a:stretch>
        </p:blipFill>
        <p:spPr>
          <a:xfrm>
            <a:off x="5746467" y="1783080"/>
            <a:ext cx="1390342" cy="3108960"/>
          </a:xfrm>
          <a:prstGeom prst="rect">
            <a:avLst/>
          </a:prstGeom>
        </p:spPr>
      </p:pic>
      <p:sp>
        <p:nvSpPr>
          <p:cNvPr id="13" name="Cadre Capture Recadrer"/>
          <p:cNvSpPr/>
          <p:nvPr/>
        </p:nvSpPr>
        <p:spPr>
          <a:xfrm>
            <a:off x="5746467" y="1783080"/>
            <a:ext cx="1390342" cy="3108960"/>
          </a:xfrm>
          <a:prstGeom prst="rect">
            <a:avLst/>
          </a:prstGeom>
          <a:ln w="9525">
            <a:solidFill>
              <a:schemeClr val="accent4"/>
            </a:solidFill>
            <a:prstDash val="solid"/>
          </a:ln>
        </p:spPr>
      </p:sp>
      <p:sp>
        <p:nvSpPr>
          <p:cNvPr id="14" name="Étiquette Recadrer"/>
          <p:cNvSpPr txBox="1"/>
          <p:nvPr/>
        </p:nvSpPr>
        <p:spPr>
          <a:xfrm>
            <a:off x="5655027" y="4983480"/>
            <a:ext cx="1573222" cy="365760"/>
          </a:xfrm>
          <a:prstGeom prst="rect">
            <a:avLst/>
          </a:prstGeom>
          <a:noFill/>
          <a:ln/>
        </p:spPr>
        <p:txBody>
          <a:bodyPr wrap="square" lIns="0" tIns="0" rIns="0" bIns="0" rtlCol="0" anchor="t"/>
          <a:lstStyle/>
          <a:p>
            <a:pPr algn="ctr" indent="0" marL="0">
              <a:buNone/>
            </a:pPr>
            <a:r>
              <a:rPr lang="en-US" sz="2000" dirty="0">
                <a:solidFill>
                  <a:schemeClr val="tx1"/>
                </a:solidFill>
              </a:rPr>
              <a:t>4  Recadrer</a:t>
            </a:r>
            <a:endParaRPr lang="en-US" sz="2000" dirty="0"/>
          </a:p>
        </p:txBody>
      </p:sp>
      <p:pic>
        <p:nvPicPr>
          <p:cNvPr id="15" name="Capture Pivoter" descr="Capture d’écran : Pivoter">    </p:cNvPr>
          <p:cNvPicPr>
            <a:picLocks noChangeAspect="1"/>
          </p:cNvPicPr>
          <p:nvPr/>
        </p:nvPicPr>
        <p:blipFill>
          <a:blip r:embed="rId5"/>
          <a:stretch>
            <a:fillRect/>
          </a:stretch>
        </p:blipFill>
        <p:spPr>
          <a:xfrm>
            <a:off x="7248549" y="1783080"/>
            <a:ext cx="1390342" cy="3108960"/>
          </a:xfrm>
          <a:prstGeom prst="rect">
            <a:avLst/>
          </a:prstGeom>
        </p:spPr>
      </p:pic>
      <p:sp>
        <p:nvSpPr>
          <p:cNvPr id="16" name="Cadre Capture Pivoter"/>
          <p:cNvSpPr/>
          <p:nvPr/>
        </p:nvSpPr>
        <p:spPr>
          <a:xfrm>
            <a:off x="7248549" y="1783080"/>
            <a:ext cx="1390342" cy="3108960"/>
          </a:xfrm>
          <a:prstGeom prst="rect">
            <a:avLst/>
          </a:prstGeom>
          <a:ln w="9525">
            <a:solidFill>
              <a:schemeClr val="accent4"/>
            </a:solidFill>
            <a:prstDash val="solid"/>
          </a:ln>
        </p:spPr>
      </p:sp>
      <p:sp>
        <p:nvSpPr>
          <p:cNvPr id="17" name="Étiquette Pivoter"/>
          <p:cNvSpPr txBox="1"/>
          <p:nvPr/>
        </p:nvSpPr>
        <p:spPr>
          <a:xfrm>
            <a:off x="7157109" y="4983480"/>
            <a:ext cx="1573222" cy="365760"/>
          </a:xfrm>
          <a:prstGeom prst="rect">
            <a:avLst/>
          </a:prstGeom>
          <a:noFill/>
          <a:ln/>
        </p:spPr>
        <p:txBody>
          <a:bodyPr wrap="square" lIns="0" tIns="0" rIns="0" bIns="0" rtlCol="0" anchor="t"/>
          <a:lstStyle/>
          <a:p>
            <a:pPr algn="ctr" indent="0" marL="0">
              <a:buNone/>
            </a:pPr>
            <a:r>
              <a:rPr lang="en-US" sz="2000" dirty="0">
                <a:solidFill>
                  <a:schemeClr val="tx1"/>
                </a:solidFill>
              </a:rPr>
              <a:t>5  Pivoter</a:t>
            </a:r>
            <a:endParaRPr lang="en-US" sz="2000" dirty="0"/>
          </a:p>
        </p:txBody>
      </p:sp>
      <p:pic>
        <p:nvPicPr>
          <p:cNvPr id="18" name="Capture Améliorer" descr="Capture d’écran : Améliorer">    </p:cNvPr>
          <p:cNvPicPr>
            <a:picLocks noChangeAspect="1"/>
          </p:cNvPicPr>
          <p:nvPr/>
        </p:nvPicPr>
        <p:blipFill>
          <a:blip r:embed="rId6"/>
          <a:stretch>
            <a:fillRect/>
          </a:stretch>
        </p:blipFill>
        <p:spPr>
          <a:xfrm>
            <a:off x="8750631" y="1783080"/>
            <a:ext cx="1390342" cy="3108960"/>
          </a:xfrm>
          <a:prstGeom prst="rect">
            <a:avLst/>
          </a:prstGeom>
        </p:spPr>
      </p:pic>
      <p:sp>
        <p:nvSpPr>
          <p:cNvPr id="19" name="Cadre Capture Améliorer"/>
          <p:cNvSpPr/>
          <p:nvPr/>
        </p:nvSpPr>
        <p:spPr>
          <a:xfrm>
            <a:off x="8750631" y="1783080"/>
            <a:ext cx="1390342" cy="3108960"/>
          </a:xfrm>
          <a:prstGeom prst="rect">
            <a:avLst/>
          </a:prstGeom>
          <a:ln w="9525">
            <a:solidFill>
              <a:schemeClr val="accent4"/>
            </a:solidFill>
            <a:prstDash val="solid"/>
          </a:ln>
        </p:spPr>
      </p:sp>
      <p:sp>
        <p:nvSpPr>
          <p:cNvPr id="20" name="Étiquette Améliorer"/>
          <p:cNvSpPr txBox="1"/>
          <p:nvPr/>
        </p:nvSpPr>
        <p:spPr>
          <a:xfrm>
            <a:off x="8659191" y="4983480"/>
            <a:ext cx="1573222" cy="365760"/>
          </a:xfrm>
          <a:prstGeom prst="rect">
            <a:avLst/>
          </a:prstGeom>
          <a:noFill/>
          <a:ln/>
        </p:spPr>
        <p:txBody>
          <a:bodyPr wrap="square" lIns="0" tIns="0" rIns="0" bIns="0" rtlCol="0" anchor="t"/>
          <a:lstStyle/>
          <a:p>
            <a:pPr algn="ctr" indent="0" marL="0">
              <a:buNone/>
            </a:pPr>
            <a:r>
              <a:rPr lang="en-US" sz="2000" dirty="0">
                <a:solidFill>
                  <a:schemeClr val="tx1"/>
                </a:solidFill>
              </a:rPr>
              <a:t>6  Améliorer</a:t>
            </a:r>
            <a:endParaRPr lang="en-US" sz="2000" dirty="0"/>
          </a:p>
        </p:txBody>
      </p:sp>
      <p:pic>
        <p:nvPicPr>
          <p:cNvPr id="21" name="Capture Historique" descr="Capture d’écran : Historique">    </p:cNvPr>
          <p:cNvPicPr>
            <a:picLocks noChangeAspect="1"/>
          </p:cNvPicPr>
          <p:nvPr/>
        </p:nvPicPr>
        <p:blipFill>
          <a:blip r:embed="rId7"/>
          <a:stretch>
            <a:fillRect/>
          </a:stretch>
        </p:blipFill>
        <p:spPr>
          <a:xfrm>
            <a:off x="10252713" y="1783080"/>
            <a:ext cx="1390342" cy="3108960"/>
          </a:xfrm>
          <a:prstGeom prst="rect">
            <a:avLst/>
          </a:prstGeom>
        </p:spPr>
      </p:pic>
      <p:sp>
        <p:nvSpPr>
          <p:cNvPr id="22" name="Cadre Capture Historique"/>
          <p:cNvSpPr/>
          <p:nvPr/>
        </p:nvSpPr>
        <p:spPr>
          <a:xfrm>
            <a:off x="10252713" y="1783080"/>
            <a:ext cx="1390342" cy="3108960"/>
          </a:xfrm>
          <a:prstGeom prst="rect">
            <a:avLst/>
          </a:prstGeom>
          <a:ln w="9525">
            <a:solidFill>
              <a:schemeClr val="accent4"/>
            </a:solidFill>
            <a:prstDash val="solid"/>
          </a:ln>
        </p:spPr>
      </p:sp>
      <p:sp>
        <p:nvSpPr>
          <p:cNvPr id="23" name="Étiquette Historique"/>
          <p:cNvSpPr txBox="1"/>
          <p:nvPr/>
        </p:nvSpPr>
        <p:spPr>
          <a:xfrm>
            <a:off x="10161273" y="4983480"/>
            <a:ext cx="1573222" cy="365760"/>
          </a:xfrm>
          <a:prstGeom prst="rect">
            <a:avLst/>
          </a:prstGeom>
          <a:noFill/>
          <a:ln/>
        </p:spPr>
        <p:txBody>
          <a:bodyPr wrap="square" lIns="0" tIns="0" rIns="0" bIns="0" rtlCol="0" anchor="t"/>
          <a:lstStyle/>
          <a:p>
            <a:pPr algn="ctr" indent="0" marL="0">
              <a:buNone/>
            </a:pPr>
            <a:r>
              <a:rPr lang="en-US" sz="2000" dirty="0">
                <a:solidFill>
                  <a:schemeClr val="tx1"/>
                </a:solidFill>
              </a:rPr>
              <a:t>7  Historique</a:t>
            </a:r>
            <a:endParaRPr lang="en-US" sz="20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400">
                <a:solidFill>
                  <a:schemeClr val="tx2"/>
                </a:solidFill>
              </a:defRPr>
            </a:lvl1pPr>
          </a:lstStyle>
          <a:p>
            <a:pPr algn="r"/>
            <a:fld id="{F7021451-1387-4CA6-816F-3879F97B5CBC}" type="slidenum">
              <a:rPr b="0" lang="en-US"/>
              <a:t>19</a:t>
            </a:fld>
            <a:endParaRPr lang="en-US"/>
          </a:p>
        </p:txBody>
      </p:sp>
      <p:sp>
        <p:nvSpPr>
          <p:cNvPr id="26" name="Annotation Recto"/>
          <p:cNvSpPr txBox="1"/>
          <p:nvPr/>
        </p:nvSpPr>
        <p:spPr>
          <a:xfrm>
            <a:off x="548640" y="5349240"/>
            <a:ext cx="1736646" cy="731520"/>
          </a:xfrm>
          <a:prstGeom prst="rect">
            <a:avLst/>
          </a:prstGeom>
          <a:noFill/>
          <a:ln/>
        </p:spPr>
        <p:txBody>
          <a:bodyPr wrap="square" lIns="45720" tIns="0" rIns="45720" bIns="0" rtlCol="0" anchor="t"/>
          <a:lstStyle/>
          <a:p>
            <a:pPr algn="ctr" indent="0" marL="0">
              <a:buNone/>
            </a:pPr>
            <a:r>
              <a:rPr lang="en-US" sz="1400" dirty="0">
                <a:solidFill>
                  <a:schemeClr val="tx2"/>
                </a:solidFill>
              </a:rPr>
              <a:t>Cadre rouge/vert selon la détection</a:t>
            </a:r>
            <a:endParaRPr lang="en-US" sz="2000" dirty="0"/>
          </a:p>
        </p:txBody>
      </p:sp>
      <p:sp>
        <p:nvSpPr>
          <p:cNvPr id="27" name="Annotation Verso"/>
          <p:cNvSpPr txBox="1"/>
          <p:nvPr/>
        </p:nvSpPr>
        <p:spPr>
          <a:xfrm>
            <a:off x="2397025" y="5349240"/>
            <a:ext cx="1736646" cy="731520"/>
          </a:xfrm>
          <a:prstGeom prst="rect">
            <a:avLst/>
          </a:prstGeom>
          <a:noFill/>
          <a:ln/>
        </p:spPr>
        <p:txBody>
          <a:bodyPr wrap="square" lIns="45720" tIns="0" rIns="45720" bIns="0" rtlCol="0" anchor="t"/>
          <a:lstStyle/>
          <a:p>
            <a:pPr algn="ctr" indent="0" marL="0">
              <a:buNone/>
            </a:pPr>
            <a:r>
              <a:rPr lang="en-US" sz="1400" dirty="0">
                <a:solidFill>
                  <a:schemeClr val="tx2"/>
                </a:solidFill>
              </a:rPr>
              <a:t>« Placez la carte dans le cadre »</a:t>
            </a:r>
            <a:endParaRPr lang="en-US" sz="2000" dirty="0"/>
          </a:p>
        </p:txBody>
      </p:sp>
      <p:sp>
        <p:nvSpPr>
          <p:cNvPr id="28" name="Annotation Aperçu"/>
          <p:cNvSpPr txBox="1"/>
          <p:nvPr/>
        </p:nvSpPr>
        <p:spPr>
          <a:xfrm>
            <a:off x="4245411" y="5349240"/>
            <a:ext cx="1389317" cy="731520"/>
          </a:xfrm>
          <a:prstGeom prst="rect">
            <a:avLst/>
          </a:prstGeom>
          <a:noFill/>
          <a:ln/>
        </p:spPr>
        <p:txBody>
          <a:bodyPr wrap="square" lIns="45720" tIns="0" rIns="45720" bIns="0" rtlCol="0" anchor="t"/>
          <a:lstStyle/>
          <a:p>
            <a:pPr algn="ctr" indent="0" marL="0">
              <a:buNone/>
            </a:pPr>
            <a:r>
              <a:rPr lang="en-US" sz="1400" dirty="0">
                <a:solidFill>
                  <a:schemeClr val="tx2"/>
                </a:solidFill>
              </a:rPr>
              <a:t>Recto, verso et page à imprimer</a:t>
            </a:r>
            <a:endParaRPr lang="en-US" sz="2000" dirty="0"/>
          </a:p>
        </p:txBody>
      </p:sp>
      <p:sp>
        <p:nvSpPr>
          <p:cNvPr id="29" name="Annotation Recadrer"/>
          <p:cNvSpPr txBox="1"/>
          <p:nvPr/>
        </p:nvSpPr>
        <p:spPr>
          <a:xfrm>
            <a:off x="5746467" y="5349240"/>
            <a:ext cx="1390342" cy="731520"/>
          </a:xfrm>
          <a:prstGeom prst="rect">
            <a:avLst/>
          </a:prstGeom>
          <a:noFill/>
          <a:ln/>
        </p:spPr>
        <p:txBody>
          <a:bodyPr wrap="square" lIns="45720" tIns="0" rIns="45720" bIns="0" rtlCol="0" anchor="t"/>
          <a:lstStyle/>
          <a:p>
            <a:pPr algn="ctr" indent="0" marL="0">
              <a:buNone/>
            </a:pPr>
            <a:r>
              <a:rPr lang="en-US" sz="1400" dirty="0">
                <a:solidFill>
                  <a:schemeClr val="tx2"/>
                </a:solidFill>
              </a:rPr>
              <a:t>Glisser les coins du cadre</a:t>
            </a:r>
            <a:endParaRPr lang="en-US" sz="2000" dirty="0"/>
          </a:p>
        </p:txBody>
      </p:sp>
      <p:sp>
        <p:nvSpPr>
          <p:cNvPr id="30" name="Annotation Pivoter"/>
          <p:cNvSpPr txBox="1"/>
          <p:nvPr/>
        </p:nvSpPr>
        <p:spPr>
          <a:xfrm>
            <a:off x="7248549" y="5349240"/>
            <a:ext cx="1390342" cy="731520"/>
          </a:xfrm>
          <a:prstGeom prst="rect">
            <a:avLst/>
          </a:prstGeom>
          <a:noFill/>
          <a:ln/>
        </p:spPr>
        <p:txBody>
          <a:bodyPr wrap="square" lIns="45720" tIns="0" rIns="45720" bIns="0" rtlCol="0" anchor="t"/>
          <a:lstStyle/>
          <a:p>
            <a:pPr algn="ctr" indent="0" marL="0">
              <a:buNone/>
            </a:pPr>
            <a:r>
              <a:rPr lang="en-US" sz="1400" dirty="0">
                <a:solidFill>
                  <a:schemeClr val="tx2"/>
                </a:solidFill>
              </a:rPr>
              <a:t>Quart de tour</a:t>
            </a:r>
            <a:endParaRPr lang="en-US" sz="2000" dirty="0"/>
          </a:p>
        </p:txBody>
      </p:sp>
      <p:sp>
        <p:nvSpPr>
          <p:cNvPr id="31" name="Annotation Améliorer"/>
          <p:cNvSpPr txBox="1"/>
          <p:nvPr/>
        </p:nvSpPr>
        <p:spPr>
          <a:xfrm>
            <a:off x="8750631" y="5349240"/>
            <a:ext cx="1390342" cy="731520"/>
          </a:xfrm>
          <a:prstGeom prst="rect">
            <a:avLst/>
          </a:prstGeom>
          <a:noFill/>
          <a:ln/>
        </p:spPr>
        <p:txBody>
          <a:bodyPr wrap="square" lIns="45720" tIns="0" rIns="45720" bIns="0" rtlCol="0" anchor="t"/>
          <a:lstStyle/>
          <a:p>
            <a:pPr algn="ctr" indent="0" marL="0">
              <a:buNone/>
            </a:pPr>
            <a:r>
              <a:rPr lang="en-US" sz="1400" dirty="0">
                <a:solidFill>
                  <a:schemeClr val="tx2"/>
                </a:solidFill>
              </a:rPr>
              <a:t>Contraste, netteté, mode scan</a:t>
            </a:r>
            <a:endParaRPr lang="en-US" sz="2000" dirty="0"/>
          </a:p>
        </p:txBody>
      </p:sp>
      <p:sp>
        <p:nvSpPr>
          <p:cNvPr id="32" name="Annotation Historique"/>
          <p:cNvSpPr txBox="1"/>
          <p:nvPr/>
        </p:nvSpPr>
        <p:spPr>
          <a:xfrm>
            <a:off x="10252713" y="5349240"/>
            <a:ext cx="1390342" cy="731520"/>
          </a:xfrm>
          <a:prstGeom prst="rect">
            <a:avLst/>
          </a:prstGeom>
          <a:noFill/>
          <a:ln/>
        </p:spPr>
        <p:txBody>
          <a:bodyPr wrap="square" lIns="45720" tIns="0" rIns="45720" bIns="0" rtlCol="0" anchor="t"/>
          <a:lstStyle/>
          <a:p>
            <a:pPr algn="ctr" indent="0" marL="0">
              <a:buNone/>
            </a:pPr>
            <a:r>
              <a:rPr lang="en-US" sz="1400" dirty="0">
                <a:solidFill>
                  <a:schemeClr val="tx2"/>
                </a:solidFill>
              </a:rPr>
              <a:t>Captures de la session</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fade">
                                      <p:cBhvr>
                                        <p:cTn id="30" dur="500"/>
                                        <p:tgtEl>
                                          <p:spTgt spid="2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fade">
                                      <p:cBhvr>
                                        <p:cTn id="44" dur="500"/>
                                        <p:tgtEl>
                                          <p:spTgt spid="28"/>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500"/>
                                        <p:tgtEl>
                                          <p:spTgt spid="12"/>
                                        </p:tgtEl>
                                      </p:cBhvr>
                                    </p:animEffect>
                                  </p:childTnLst>
                                </p:cTn>
                              </p:par>
                              <p:par>
                                <p:cTn id="50" presetID="10" presetClass="entr" presetSubtype="0" fill="hold"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500"/>
                                        <p:tgtEl>
                                          <p:spTgt spid="29"/>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500"/>
                                        <p:tgtEl>
                                          <p:spTgt spid="15"/>
                                        </p:tgtEl>
                                      </p:cBhvr>
                                    </p:animEffect>
                                  </p:childTnLst>
                                </p:cTn>
                              </p:par>
                              <p:par>
                                <p:cTn id="64" presetID="10" presetClass="entr" presetSubtype="0" fill="hold" nodeType="with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500"/>
                                        <p:tgtEl>
                                          <p:spTgt spid="16"/>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fade">
                                      <p:cBhvr>
                                        <p:cTn id="69" dur="500"/>
                                        <p:tgtEl>
                                          <p:spTgt spid="1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500"/>
                                        <p:tgtEl>
                                          <p:spTgt spid="30"/>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00"/>
                                        <p:tgtEl>
                                          <p:spTgt spid="18"/>
                                        </p:tgtEl>
                                      </p:cBhvr>
                                    </p:animEffect>
                                  </p:childTnLst>
                                </p:cTn>
                              </p:par>
                              <p:par>
                                <p:cTn id="78" presetID="10" presetClass="entr" presetSubtype="0" fill="hold" nodeType="withEffect">
                                  <p:stCondLst>
                                    <p:cond delay="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500"/>
                                        <p:tgtEl>
                                          <p:spTgt spid="1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500"/>
                                        <p:tgtEl>
                                          <p:spTgt spid="2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500"/>
                                        <p:tgtEl>
                                          <p:spTgt spid="31"/>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21"/>
                                        </p:tgtEl>
                                        <p:attrNameLst>
                                          <p:attrName>style.visibility</p:attrName>
                                        </p:attrNameLst>
                                      </p:cBhvr>
                                      <p:to>
                                        <p:strVal val="visible"/>
                                      </p:to>
                                    </p:set>
                                    <p:animEffect transition="in" filter="fade">
                                      <p:cBhvr>
                                        <p:cTn id="91" dur="500"/>
                                        <p:tgtEl>
                                          <p:spTgt spid="21"/>
                                        </p:tgtEl>
                                      </p:cBhvr>
                                    </p:animEffect>
                                  </p:childTnLst>
                                </p:cTn>
                              </p:par>
                              <p:par>
                                <p:cTn id="92" presetID="10" presetClass="entr" presetSubtype="0" fill="hold" nodeType="withEffect">
                                  <p:stCondLst>
                                    <p:cond delay="0"/>
                                  </p:stCondLst>
                                  <p:childTnLst>
                                    <p:set>
                                      <p:cBhvr>
                                        <p:cTn id="93" dur="1" fill="hold">
                                          <p:stCondLst>
                                            <p:cond delay="0"/>
                                          </p:stCondLst>
                                        </p:cTn>
                                        <p:tgtEl>
                                          <p:spTgt spid="22"/>
                                        </p:tgtEl>
                                        <p:attrNameLst>
                                          <p:attrName>style.visibility</p:attrName>
                                        </p:attrNameLst>
                                      </p:cBhvr>
                                      <p:to>
                                        <p:strVal val="visible"/>
                                      </p:to>
                                    </p:set>
                                    <p:animEffect transition="in" filter="fade">
                                      <p:cBhvr>
                                        <p:cTn id="94" dur="500"/>
                                        <p:tgtEl>
                                          <p:spTgt spid="2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3"/>
                                        </p:tgtEl>
                                        <p:attrNameLst>
                                          <p:attrName>style.visibility</p:attrName>
                                        </p:attrNameLst>
                                      </p:cBhvr>
                                      <p:to>
                                        <p:strVal val="visible"/>
                                      </p:to>
                                    </p:set>
                                    <p:animEffect transition="in" filter="fade">
                                      <p:cBhvr>
                                        <p:cTn id="97" dur="500"/>
                                        <p:tgtEl>
                                          <p:spTgt spid="2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2"/>
                                        </p:tgtEl>
                                        <p:attrNameLst>
                                          <p:attrName>style.visibility</p:attrName>
                                        </p:attrNameLst>
                                      </p:cBhvr>
                                      <p:to>
                                        <p:strVal val="visible"/>
                                      </p:to>
                                    </p:set>
                                    <p:animEffect transition="in" filter="fade">
                                      <p:cBhvr>
                                        <p:cTn id="10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6" grpId="0" animBg="1"/>
      <p:bldP spid="8" grpId="0" animBg="1"/>
      <p:bldP spid="27" grpId="0" animBg="1"/>
      <p:bldP spid="11" grpId="0" animBg="1"/>
      <p:bldP spid="28" grpId="0" animBg="1"/>
      <p:bldP spid="14" grpId="0" animBg="1"/>
      <p:bldP spid="29" grpId="0" animBg="1"/>
      <p:bldP spid="17" grpId="0" animBg="1"/>
      <p:bldP spid="30" grpId="0" animBg="1"/>
      <p:bldP spid="20" grpId="0" animBg="1"/>
      <p:bldP spid="31" grpId="0" animBg="1"/>
      <p:bldP spid="23" grpId="0" animBg="1"/>
      <p:bldP spid="3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88720"/>
          </a:xfrm>
          <a:prstGeom prst="rect">
            <a:avLst/>
          </a:prstGeom>
          <a:noFill/>
          <a:ln/>
        </p:spPr>
        <p:txBody>
          <a:bodyPr wrap="square" lIns="0" tIns="0" rIns="0" bIns="0" rtlCol="0" anchor="t"/>
          <a:lstStyle/>
          <a:p>
            <a:pPr algn="l" indent="0" marL="0">
              <a:buNone/>
            </a:pPr>
            <a:r>
              <a:rPr lang="en-US" sz="3200" b="1" dirty="0">
                <a:solidFill>
                  <a:schemeClr val="tx1"/>
                </a:solidFill>
              </a:rPr>
              <a:t>177/177 cas réussis, sur 21 des 28 fichiers de test</a:t>
            </a:r>
            <a:endParaRPr lang="en-US" sz="3200" dirty="0"/>
          </a:p>
        </p:txBody>
      </p:sp>
      <p:sp>
        <p:nvSpPr>
          <p:cNvPr id="3" name="Grand chiffre"/>
          <p:cNvSpPr txBox="1"/>
          <p:nvPr/>
        </p:nvSpPr>
        <p:spPr>
          <a:xfrm>
            <a:off x="548640" y="1783080"/>
            <a:ext cx="4389120" cy="1005840"/>
          </a:xfrm>
          <a:prstGeom prst="rect">
            <a:avLst/>
          </a:prstGeom>
          <a:noFill/>
          <a:ln/>
        </p:spPr>
        <p:txBody>
          <a:bodyPr wrap="square" lIns="0" tIns="0" rIns="0" bIns="0" rtlCol="0" anchor="ctr"/>
          <a:lstStyle/>
          <a:p>
            <a:pPr indent="0" marL="0">
              <a:buNone/>
            </a:pPr>
            <a:r>
              <a:rPr lang="en-US" sz="5400" b="1" dirty="0">
                <a:solidFill>
                  <a:schemeClr val="accent2"/>
                </a:solidFill>
                <a:latin typeface="Arial" pitchFamily="34" charset="0"/>
                <a:ea typeface="Arial" pitchFamily="34" charset="-122"/>
                <a:cs typeface="Arial" pitchFamily="34" charset="-120"/>
              </a:rPr>
              <a:t>177 / 177</a:t>
            </a:r>
            <a:endParaRPr lang="en-US" sz="5400" dirty="0"/>
          </a:p>
        </p:txBody>
      </p:sp>
      <p:sp>
        <p:nvSpPr>
          <p:cNvPr id="4" name="Légende chiffre"/>
          <p:cNvSpPr txBox="1"/>
          <p:nvPr/>
        </p:nvSpPr>
        <p:spPr>
          <a:xfrm>
            <a:off x="548640" y="2788920"/>
            <a:ext cx="4389120" cy="457200"/>
          </a:xfrm>
          <a:prstGeom prst="rect">
            <a:avLst/>
          </a:prstGeom>
          <a:noFill/>
          <a:ln/>
        </p:spPr>
        <p:txBody>
          <a:bodyPr wrap="square" lIns="0" tIns="0" rIns="0" bIns="0" rtlCol="0" anchor="t"/>
          <a:lstStyle/>
          <a:p>
            <a:pPr indent="0" marL="0">
              <a:buNone/>
            </a:pPr>
            <a:r>
              <a:rPr lang="en-US" sz="2000" dirty="0">
                <a:solidFill>
                  <a:schemeClr val="tx1"/>
                </a:solidFill>
              </a:rPr>
              <a:t>cas exécutés, 0 échec</a:t>
            </a:r>
            <a:endParaRPr lang="en-US" sz="2000" dirty="0"/>
          </a:p>
        </p:txBody>
      </p:sp>
      <p:sp>
        <p:nvSpPr>
          <p:cNvPr id="5" name="Fichiers exécutés"/>
          <p:cNvSpPr txBox="1"/>
          <p:nvPr/>
        </p:nvSpPr>
        <p:spPr>
          <a:xfrm>
            <a:off x="548640" y="3566160"/>
            <a:ext cx="4389120" cy="73152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21 fichiers sur 28</a:t>
            </a:r>
            <a:endParaRPr lang="en-US" sz="3600" dirty="0"/>
          </a:p>
        </p:txBody>
      </p:sp>
      <p:sp>
        <p:nvSpPr>
          <p:cNvPr id="7" name="Fond terminal"/>
          <p:cNvSpPr/>
          <p:nvPr/>
        </p:nvSpPr>
        <p:spPr>
          <a:xfrm>
            <a:off x="5394960" y="1783080"/>
            <a:ext cx="6245352" cy="594360"/>
          </a:xfrm>
          <a:prstGeom prst="rect">
            <a:avLst/>
          </a:prstGeom>
          <a:solidFill>
            <a:srgbClr val="F1F4F7"/>
          </a:solidFill>
          <a:ln w="9525">
            <a:solidFill>
              <a:schemeClr val="bg2"/>
            </a:solidFill>
            <a:prstDash val="solid"/>
          </a:ln>
        </p:spPr>
      </p:sp>
      <p:sp>
        <p:nvSpPr>
          <p:cNvPr id="8" name="Sortie terminal (transcrite)"/>
          <p:cNvSpPr txBox="1"/>
          <p:nvPr/>
        </p:nvSpPr>
        <p:spPr>
          <a:xfrm>
            <a:off x="5577840" y="1783080"/>
            <a:ext cx="5852160" cy="594360"/>
          </a:xfrm>
          <a:prstGeom prst="rect">
            <a:avLst/>
          </a:prstGeom>
          <a:noFill/>
          <a:ln/>
        </p:spPr>
        <p:txBody>
          <a:bodyPr wrap="square" lIns="0" tIns="0" rIns="0" bIns="0" rtlCol="0" anchor="ctr"/>
          <a:lstStyle/>
          <a:p>
            <a:pPr indent="0" marL="0">
              <a:buNone/>
            </a:pPr>
            <a:r>
              <a:rPr lang="en-US" sz="2000" dirty="0">
                <a:solidFill>
                  <a:schemeClr val="tx1"/>
                </a:solidFill>
                <a:latin typeface="Courier New" pitchFamily="34" charset="0"/>
                <a:ea typeface="Courier New" pitchFamily="34" charset="-122"/>
                <a:cs typeface="Courier New" pitchFamily="34" charset="-120"/>
              </a:rPr>
              <a:t>00:16 +177: All tests passed!</a:t>
            </a:r>
            <a:endParaRPr lang="en-US" sz="2000" dirty="0"/>
          </a:p>
        </p:txBody>
      </p:sp>
      <p:sp>
        <p:nvSpPr>
          <p:cNvPr id="9" name="Intitulé"/>
          <p:cNvSpPr txBox="1"/>
          <p:nvPr/>
        </p:nvSpPr>
        <p:spPr>
          <a:xfrm>
            <a:off x="5394960" y="2606040"/>
            <a:ext cx="6245352" cy="365760"/>
          </a:xfrm>
          <a:prstGeom prst="rect">
            <a:avLst/>
          </a:prstGeom>
          <a:noFill/>
          <a:ln/>
        </p:spPr>
        <p:txBody>
          <a:bodyPr wrap="square" lIns="0" tIns="0" rIns="0" bIns="0" rtlCol="0" anchor="t"/>
          <a:lstStyle/>
          <a:p>
            <a:pPr indent="0" marL="0">
              <a:buNone/>
            </a:pPr>
            <a:r>
              <a:rPr lang="en-US" sz="2000" b="1" dirty="0">
                <a:solidFill>
                  <a:schemeClr val="tx1"/>
                </a:solidFill>
              </a:rPr>
              <a:t>Quatre paliers de test :</a:t>
            </a:r>
            <a:endParaRPr lang="en-US" sz="2000" dirty="0"/>
          </a:p>
        </p:txBody>
      </p:sp>
      <p:sp>
        <p:nvSpPr>
          <p:cNvPr id="10" name="Paliers de test"/>
          <p:cNvSpPr txBox="1"/>
          <p:nvPr/>
        </p:nvSpPr>
        <p:spPr>
          <a:xfrm>
            <a:off x="5394960" y="3017520"/>
            <a:ext cx="6245352" cy="2011680"/>
          </a:xfrm>
          <a:prstGeom prst="rect">
            <a:avLst/>
          </a:prstGeom>
          <a:noFill/>
          <a:ln/>
        </p:spPr>
        <p:txBody>
          <a:bodyPr wrap="square" lIns="0" tIns="0" rIns="0" bIns="0" rtlCol="0" anchor="t"/>
          <a:lstStyle/>
          <a:p>
            <a:pPr indent="0" marL="0">
              <a:spcAft>
                <a:spcPts val="300"/>
              </a:spcAft>
              <a:buNone/>
            </a:pPr>
            <a:r>
              <a:rPr lang="en-US" sz="1800" dirty="0">
                <a:solidFill>
                  <a:schemeClr val="tx1"/>
                </a:solidFill>
              </a:rPr>
              <a:t>A  logique pure Dart, sans plateforme</a:t>
            </a:r>
            <a:endParaRPr lang="en-US" sz="2000" dirty="0"/>
          </a:p>
          <a:p>
            <a:pPr indent="0" marL="0">
              <a:spcAft>
                <a:spcPts val="300"/>
              </a:spcAft>
              <a:buNone/>
            </a:pPr>
            <a:r>
              <a:rPr lang="en-US" sz="1800" dirty="0">
                <a:solidFill>
                  <a:schemeClr val="tx1"/>
                </a:solidFill>
              </a:rPr>
              <a:t>B  plateforme simulée (mocks)</a:t>
            </a:r>
            <a:endParaRPr lang="en-US" sz="2000" dirty="0"/>
          </a:p>
          <a:p>
            <a:pPr indent="0" marL="0">
              <a:spcAft>
                <a:spcPts val="300"/>
              </a:spcAft>
              <a:buNone/>
            </a:pPr>
            <a:r>
              <a:rPr lang="en-US" sz="1800" dirty="0">
                <a:solidFill>
                  <a:schemeClr val="tx1"/>
                </a:solidFill>
              </a:rPr>
              <a:t>C  OpenCV réel, images synthétiques</a:t>
            </a:r>
            <a:endParaRPr lang="en-US" sz="2000" dirty="0"/>
          </a:p>
          <a:p>
            <a:pPr indent="0" marL="0">
              <a:spcAft>
                <a:spcPts val="300"/>
              </a:spcAft>
              <a:buNone/>
            </a:pPr>
            <a:r>
              <a:rPr lang="en-US" sz="1800" dirty="0">
                <a:solidFill>
                  <a:schemeClr val="tx1"/>
                </a:solidFill>
              </a:rPr>
              <a:t>D  cartes réelles, appareil : manuel</a:t>
            </a:r>
            <a:endParaRPr lang="en-US" sz="20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400">
                <a:solidFill>
                  <a:schemeClr val="tx2"/>
                </a:solidFill>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88720"/>
          </a:xfrm>
          <a:prstGeom prst="rect">
            <a:avLst/>
          </a:prstGeom>
          <a:noFill/>
          <a:ln/>
        </p:spPr>
        <p:txBody>
          <a:bodyPr wrap="square" lIns="0" tIns="0" rIns="0" bIns="0" rtlCol="0" anchor="t"/>
          <a:lstStyle/>
          <a:p>
            <a:pPr algn="l" indent="0" marL="0">
              <a:buNone/>
            </a:pPr>
            <a:r>
              <a:rPr lang="en-US" sz="3200" b="1" dirty="0">
                <a:solidFill>
                  <a:schemeClr val="tx1"/>
                </a:solidFill>
              </a:rPr>
              <a:t>Trois mesures manuelles, à la limite de leur cible</a:t>
            </a:r>
            <a:endParaRPr lang="en-US" sz="3200" dirty="0"/>
          </a:p>
        </p:txBody>
      </p:sp>
      <p:sp>
        <p:nvSpPr>
          <p:cNvPr id="3" name="Ligne 1"/>
          <p:cNvSpPr/>
          <p:nvPr/>
        </p:nvSpPr>
        <p:spPr>
          <a:xfrm>
            <a:off x="548640" y="1783080"/>
            <a:ext cx="11094415" cy="1143000"/>
          </a:xfrm>
          <a:prstGeom prst="rect">
            <a:avLst/>
          </a:prstGeom>
          <a:solidFill>
            <a:schemeClr val="bg2"/>
          </a:solidFill>
          <a:ln w="9525">
            <a:solidFill>
              <a:schemeClr val="bg2"/>
            </a:solidFill>
            <a:prstDash val="solid"/>
          </a:ln>
        </p:spPr>
      </p:sp>
      <p:sp>
        <p:nvSpPr>
          <p:cNvPr id="4" name="Chiffre 1"/>
          <p:cNvSpPr txBox="1"/>
          <p:nvPr/>
        </p:nvSpPr>
        <p:spPr>
          <a:xfrm>
            <a:off x="777240" y="1783080"/>
            <a:ext cx="3108960" cy="1143000"/>
          </a:xfrm>
          <a:prstGeom prst="rect">
            <a:avLst/>
          </a:prstGeom>
          <a:noFill/>
          <a:ln/>
        </p:spPr>
        <p:txBody>
          <a:bodyPr wrap="square" lIns="0" tIns="0" rIns="0" bIns="0" rtlCol="0" anchor="ctr"/>
          <a:lstStyle/>
          <a:p>
            <a:pPr indent="0" marL="0">
              <a:buNone/>
            </a:pPr>
            <a:r>
              <a:rPr lang="en-US" sz="4000" b="1" dirty="0">
                <a:solidFill>
                  <a:schemeClr val="tx1"/>
                </a:solidFill>
                <a:latin typeface="Arial" pitchFamily="34" charset="0"/>
                <a:ea typeface="Arial" pitchFamily="34" charset="-122"/>
                <a:cs typeface="Arial" pitchFamily="34" charset="-120"/>
              </a:rPr>
              <a:t>92–100 ms</a:t>
            </a:r>
            <a:endParaRPr lang="en-US" sz="4000" dirty="0"/>
          </a:p>
        </p:txBody>
      </p:sp>
      <p:sp>
        <p:nvSpPr>
          <p:cNvPr id="5" name="Quoi 1"/>
          <p:cNvSpPr txBox="1"/>
          <p:nvPr/>
        </p:nvSpPr>
        <p:spPr>
          <a:xfrm>
            <a:off x="4023360" y="1783080"/>
            <a:ext cx="2926080" cy="1143000"/>
          </a:xfrm>
          <a:prstGeom prst="rect">
            <a:avLst/>
          </a:prstGeom>
          <a:noFill/>
          <a:ln/>
        </p:spPr>
        <p:txBody>
          <a:bodyPr wrap="square" lIns="0" tIns="0" rIns="0" bIns="0" rtlCol="0" anchor="ctr"/>
          <a:lstStyle/>
          <a:p>
            <a:pPr indent="0" marL="0">
              <a:buNone/>
            </a:pPr>
            <a:r>
              <a:rPr lang="en-US" sz="2000" dirty="0">
                <a:solidFill>
                  <a:schemeClr val="tx1"/>
                </a:solidFill>
              </a:rPr>
              <a:t>par frame</a:t>
            </a:r>
            <a:endParaRPr lang="en-US" sz="2000" dirty="0"/>
          </a:p>
          <a:p>
            <a:pPr indent="0" marL="0">
              <a:buNone/>
            </a:pPr>
            <a:r>
              <a:rPr lang="en-US" sz="1400" dirty="0">
                <a:solidFill>
                  <a:schemeClr val="tx2"/>
                </a:solidFill>
              </a:rPr>
              <a:t>chronométrage dans l’isolate</a:t>
            </a:r>
            <a:endParaRPr lang="en-US" sz="2000" dirty="0"/>
          </a:p>
        </p:txBody>
      </p:sp>
      <p:sp>
        <p:nvSpPr>
          <p:cNvPr id="6" name="Cible 1"/>
          <p:cNvSpPr txBox="1"/>
          <p:nvPr/>
        </p:nvSpPr>
        <p:spPr>
          <a:xfrm>
            <a:off x="7086600" y="1783080"/>
            <a:ext cx="1920240" cy="1143000"/>
          </a:xfrm>
          <a:prstGeom prst="rect">
            <a:avLst/>
          </a:prstGeom>
          <a:noFill/>
          <a:ln/>
        </p:spPr>
        <p:txBody>
          <a:bodyPr wrap="square" lIns="0" tIns="0" rIns="0" bIns="0" rtlCol="0" anchor="ctr"/>
          <a:lstStyle/>
          <a:p>
            <a:pPr indent="0" marL="0">
              <a:buNone/>
            </a:pPr>
            <a:r>
              <a:rPr lang="en-US" sz="1400" dirty="0">
                <a:solidFill>
                  <a:schemeClr val="tx2"/>
                </a:solidFill>
              </a:rPr>
              <a:t>cible (idéale)</a:t>
            </a:r>
            <a:endParaRPr lang="en-US" sz="1400" dirty="0"/>
          </a:p>
          <a:p>
            <a:pPr indent="0" marL="0">
              <a:buNone/>
            </a:pPr>
            <a:r>
              <a:rPr lang="en-US" sz="2000" dirty="0">
                <a:solidFill>
                  <a:schemeClr val="tx1"/>
                </a:solidFill>
              </a:rPr>
              <a:t>&lt; 100 ms</a:t>
            </a:r>
            <a:endParaRPr lang="en-US" sz="1400" dirty="0"/>
          </a:p>
        </p:txBody>
      </p:sp>
      <p:sp>
        <p:nvSpPr>
          <p:cNvPr id="7" name="Limite 1"/>
          <p:cNvSpPr txBox="1"/>
          <p:nvPr/>
        </p:nvSpPr>
        <p:spPr>
          <a:xfrm>
            <a:off x="9144000" y="1783080"/>
            <a:ext cx="2331720" cy="1143000"/>
          </a:xfrm>
          <a:prstGeom prst="rect">
            <a:avLst/>
          </a:prstGeom>
          <a:noFill/>
          <a:ln/>
        </p:spPr>
        <p:txBody>
          <a:bodyPr wrap="square" lIns="0" tIns="0" rIns="0" bIns="0" rtlCol="0" anchor="ctr"/>
          <a:lstStyle/>
          <a:p>
            <a:pPr indent="0" marL="0">
              <a:buNone/>
            </a:pPr>
            <a:r>
              <a:rPr lang="en-US" sz="1400" dirty="0">
                <a:solidFill>
                  <a:schemeClr val="tx2"/>
                </a:solidFill>
              </a:rPr>
              <a:t>limite</a:t>
            </a:r>
            <a:endParaRPr lang="en-US" sz="1400" dirty="0"/>
          </a:p>
          <a:p>
            <a:pPr indent="0" marL="0">
              <a:buNone/>
            </a:pPr>
            <a:r>
              <a:rPr lang="en-US" sz="1400" b="1" dirty="0">
                <a:solidFill>
                  <a:schemeClr val="accent1"/>
                </a:solidFill>
              </a:rPr>
              <a:t>Appareil et nombre de frames non documentés</a:t>
            </a:r>
            <a:endParaRPr lang="en-US" sz="1400" dirty="0"/>
          </a:p>
        </p:txBody>
      </p:sp>
      <p:sp>
        <p:nvSpPr>
          <p:cNvPr id="8" name="Ligne 2"/>
          <p:cNvSpPr/>
          <p:nvPr/>
        </p:nvSpPr>
        <p:spPr>
          <a:xfrm>
            <a:off x="548640" y="3108960"/>
            <a:ext cx="11094415" cy="1143000"/>
          </a:xfrm>
          <a:prstGeom prst="rect">
            <a:avLst/>
          </a:prstGeom>
          <a:solidFill>
            <a:schemeClr val="bg2"/>
          </a:solidFill>
          <a:ln w="9525">
            <a:solidFill>
              <a:schemeClr val="bg2"/>
            </a:solidFill>
            <a:prstDash val="solid"/>
          </a:ln>
        </p:spPr>
      </p:sp>
      <p:sp>
        <p:nvSpPr>
          <p:cNvPr id="9" name="Chiffre 2"/>
          <p:cNvSpPr txBox="1"/>
          <p:nvPr/>
        </p:nvSpPr>
        <p:spPr>
          <a:xfrm>
            <a:off x="777240" y="3108960"/>
            <a:ext cx="3108960" cy="1143000"/>
          </a:xfrm>
          <a:prstGeom prst="rect">
            <a:avLst/>
          </a:prstGeom>
          <a:noFill/>
          <a:ln/>
        </p:spPr>
        <p:txBody>
          <a:bodyPr wrap="square" lIns="0" tIns="0" rIns="0" bIns="0" rtlCol="0" anchor="ctr"/>
          <a:lstStyle/>
          <a:p>
            <a:pPr indent="0" marL="0">
              <a:buNone/>
            </a:pPr>
            <a:r>
              <a:rPr lang="en-US" sz="4000" b="1" dirty="0">
                <a:solidFill>
                  <a:schemeClr val="tx1"/>
                </a:solidFill>
                <a:latin typeface="Arial" pitchFamily="34" charset="0"/>
                <a:ea typeface="Arial" pitchFamily="34" charset="-122"/>
                <a:cs typeface="Arial" pitchFamily="34" charset="-120"/>
              </a:rPr>
              <a:t>92 %</a:t>
            </a:r>
            <a:endParaRPr lang="en-US" sz="4000" dirty="0"/>
          </a:p>
        </p:txBody>
      </p:sp>
      <p:sp>
        <p:nvSpPr>
          <p:cNvPr id="10" name="Quoi 2"/>
          <p:cNvSpPr txBox="1"/>
          <p:nvPr/>
        </p:nvSpPr>
        <p:spPr>
          <a:xfrm>
            <a:off x="4023360" y="3108960"/>
            <a:ext cx="2926080" cy="1143000"/>
          </a:xfrm>
          <a:prstGeom prst="rect">
            <a:avLst/>
          </a:prstGeom>
          <a:noFill/>
          <a:ln/>
        </p:spPr>
        <p:txBody>
          <a:bodyPr wrap="square" lIns="0" tIns="0" rIns="0" bIns="0" rtlCol="0" anchor="ctr"/>
          <a:lstStyle/>
          <a:p>
            <a:pPr indent="0" marL="0">
              <a:buNone/>
            </a:pPr>
            <a:r>
              <a:rPr lang="en-US" sz="2000" dirty="0">
                <a:solidFill>
                  <a:schemeClr val="tx1"/>
                </a:solidFill>
              </a:rPr>
              <a:t>recto / verso reconnus</a:t>
            </a:r>
            <a:endParaRPr lang="en-US" sz="2000" dirty="0"/>
          </a:p>
          <a:p>
            <a:pPr indent="0" marL="0">
              <a:buNone/>
            </a:pPr>
            <a:r>
              <a:rPr lang="en-US" sz="1400" dirty="0">
                <a:solidFill>
                  <a:schemeClr val="tx2"/>
                </a:solidFill>
              </a:rPr>
              <a:t>protocole manuel, cartes réelles</a:t>
            </a:r>
            <a:endParaRPr lang="en-US" sz="2000" dirty="0"/>
          </a:p>
        </p:txBody>
      </p:sp>
      <p:sp>
        <p:nvSpPr>
          <p:cNvPr id="11" name="Cible 2"/>
          <p:cNvSpPr txBox="1"/>
          <p:nvPr/>
        </p:nvSpPr>
        <p:spPr>
          <a:xfrm>
            <a:off x="7086600" y="3108960"/>
            <a:ext cx="1920240" cy="1143000"/>
          </a:xfrm>
          <a:prstGeom prst="rect">
            <a:avLst/>
          </a:prstGeom>
          <a:noFill/>
          <a:ln/>
        </p:spPr>
        <p:txBody>
          <a:bodyPr wrap="square" lIns="0" tIns="0" rIns="0" bIns="0" rtlCol="0" anchor="ctr"/>
          <a:lstStyle/>
          <a:p>
            <a:pPr indent="0" marL="0">
              <a:buNone/>
            </a:pPr>
            <a:r>
              <a:rPr lang="en-US" sz="1400" dirty="0">
                <a:solidFill>
                  <a:schemeClr val="tx2"/>
                </a:solidFill>
              </a:rPr>
              <a:t>cible</a:t>
            </a:r>
            <a:endParaRPr lang="en-US" sz="1400" dirty="0"/>
          </a:p>
          <a:p>
            <a:pPr indent="0" marL="0">
              <a:buNone/>
            </a:pPr>
            <a:r>
              <a:rPr lang="en-US" sz="2000" dirty="0">
                <a:solidFill>
                  <a:schemeClr val="tx1"/>
                </a:solidFill>
              </a:rPr>
              <a:t>≥ 90 %</a:t>
            </a:r>
            <a:endParaRPr lang="en-US" sz="1400" dirty="0"/>
          </a:p>
          <a:p>
            <a:pPr indent="0" marL="0">
              <a:buNone/>
            </a:pPr>
            <a:r>
              <a:rPr lang="en-US" sz="1400" dirty="0">
                <a:solidFill>
                  <a:schemeClr val="tx2"/>
                </a:solidFill>
              </a:rPr>
              <a:t>en conditions normales</a:t>
            </a:r>
            <a:endParaRPr lang="en-US" sz="1400" dirty="0"/>
          </a:p>
        </p:txBody>
      </p:sp>
      <p:sp>
        <p:nvSpPr>
          <p:cNvPr id="12" name="Limite 2"/>
          <p:cNvSpPr txBox="1"/>
          <p:nvPr/>
        </p:nvSpPr>
        <p:spPr>
          <a:xfrm>
            <a:off x="9144000" y="3108960"/>
            <a:ext cx="2331720" cy="1143000"/>
          </a:xfrm>
          <a:prstGeom prst="rect">
            <a:avLst/>
          </a:prstGeom>
          <a:noFill/>
          <a:ln/>
        </p:spPr>
        <p:txBody>
          <a:bodyPr wrap="square" lIns="0" tIns="0" rIns="0" bIns="0" rtlCol="0" anchor="ctr"/>
          <a:lstStyle/>
          <a:p>
            <a:pPr indent="0" marL="0">
              <a:buNone/>
            </a:pPr>
            <a:r>
              <a:rPr lang="en-US" sz="1400" dirty="0">
                <a:solidFill>
                  <a:schemeClr val="tx2"/>
                </a:solidFill>
              </a:rPr>
              <a:t>limite</a:t>
            </a:r>
            <a:endParaRPr lang="en-US" sz="1400" dirty="0"/>
          </a:p>
          <a:p>
            <a:pPr indent="0" marL="0">
              <a:buNone/>
            </a:pPr>
            <a:r>
              <a:rPr lang="en-US" sz="1400" b="1" dirty="0">
                <a:solidFill>
                  <a:schemeClr val="accent1"/>
                </a:solidFill>
              </a:rPr>
              <a:t>Conditions du test et taille de l’échantillon non documentées</a:t>
            </a:r>
            <a:endParaRPr lang="en-US" sz="1400" dirty="0"/>
          </a:p>
        </p:txBody>
      </p:sp>
      <p:sp>
        <p:nvSpPr>
          <p:cNvPr id="13" name="Ligne 3"/>
          <p:cNvSpPr/>
          <p:nvPr/>
        </p:nvSpPr>
        <p:spPr>
          <a:xfrm>
            <a:off x="548640" y="4434840"/>
            <a:ext cx="11094415" cy="1143000"/>
          </a:xfrm>
          <a:prstGeom prst="rect">
            <a:avLst/>
          </a:prstGeom>
          <a:solidFill>
            <a:schemeClr val="bg2"/>
          </a:solidFill>
          <a:ln w="9525">
            <a:solidFill>
              <a:schemeClr val="bg2"/>
            </a:solidFill>
            <a:prstDash val="solid"/>
          </a:ln>
        </p:spPr>
      </p:sp>
      <p:sp>
        <p:nvSpPr>
          <p:cNvPr id="14" name="Chiffre 3"/>
          <p:cNvSpPr txBox="1"/>
          <p:nvPr/>
        </p:nvSpPr>
        <p:spPr>
          <a:xfrm>
            <a:off x="777240" y="4434840"/>
            <a:ext cx="3108960" cy="1143000"/>
          </a:xfrm>
          <a:prstGeom prst="rect">
            <a:avLst/>
          </a:prstGeom>
          <a:noFill/>
          <a:ln/>
        </p:spPr>
        <p:txBody>
          <a:bodyPr wrap="square" lIns="0" tIns="0" rIns="0" bIns="0" rtlCol="0" anchor="ctr"/>
          <a:lstStyle/>
          <a:p>
            <a:pPr indent="0" marL="0">
              <a:buNone/>
            </a:pPr>
            <a:r>
              <a:rPr lang="en-US" sz="4000" b="1" dirty="0">
                <a:solidFill>
                  <a:schemeClr val="tx1"/>
                </a:solidFill>
                <a:latin typeface="Arial" pitchFamily="34" charset="0"/>
                <a:ea typeface="Arial" pitchFamily="34" charset="-122"/>
                <a:cs typeface="Arial" pitchFamily="34" charset="-120"/>
              </a:rPr>
              <a:t>≈ 2 s</a:t>
            </a:r>
            <a:endParaRPr lang="en-US" sz="4000" dirty="0"/>
          </a:p>
        </p:txBody>
      </p:sp>
      <p:sp>
        <p:nvSpPr>
          <p:cNvPr id="15" name="Quoi 3"/>
          <p:cNvSpPr txBox="1"/>
          <p:nvPr/>
        </p:nvSpPr>
        <p:spPr>
          <a:xfrm>
            <a:off x="4023360" y="4434840"/>
            <a:ext cx="2926080" cy="1143000"/>
          </a:xfrm>
          <a:prstGeom prst="rect">
            <a:avLst/>
          </a:prstGeom>
          <a:noFill/>
          <a:ln/>
        </p:spPr>
        <p:txBody>
          <a:bodyPr wrap="square" lIns="0" tIns="0" rIns="0" bIns="0" rtlCol="0" anchor="ctr"/>
          <a:lstStyle/>
          <a:p>
            <a:pPr indent="0" marL="0">
              <a:buNone/>
            </a:pPr>
            <a:r>
              <a:rPr lang="en-US" sz="2000" dirty="0">
                <a:solidFill>
                  <a:schemeClr val="tx1"/>
                </a:solidFill>
              </a:rPr>
              <a:t>stabilisation → capture</a:t>
            </a:r>
            <a:endParaRPr lang="en-US" sz="2000" dirty="0"/>
          </a:p>
          <a:p>
            <a:pPr indent="0" marL="0">
              <a:buNone/>
            </a:pPr>
            <a:r>
              <a:rPr lang="en-US" sz="1400" dirty="0">
                <a:solidFill>
                  <a:schemeClr val="tx2"/>
                </a:solidFill>
              </a:rPr>
              <a:t>chronométrage manuel</a:t>
            </a:r>
            <a:endParaRPr lang="en-US" sz="2000" dirty="0"/>
          </a:p>
        </p:txBody>
      </p:sp>
      <p:sp>
        <p:nvSpPr>
          <p:cNvPr id="16" name="Cible 3"/>
          <p:cNvSpPr txBox="1"/>
          <p:nvPr/>
        </p:nvSpPr>
        <p:spPr>
          <a:xfrm>
            <a:off x="7086600" y="4434840"/>
            <a:ext cx="1920240" cy="1143000"/>
          </a:xfrm>
          <a:prstGeom prst="rect">
            <a:avLst/>
          </a:prstGeom>
          <a:noFill/>
          <a:ln/>
        </p:spPr>
        <p:txBody>
          <a:bodyPr wrap="square" lIns="0" tIns="0" rIns="0" bIns="0" rtlCol="0" anchor="ctr"/>
          <a:lstStyle/>
          <a:p>
            <a:pPr indent="0" marL="0">
              <a:buNone/>
            </a:pPr>
            <a:r>
              <a:rPr lang="en-US" sz="1400" dirty="0">
                <a:solidFill>
                  <a:schemeClr val="tx2"/>
                </a:solidFill>
              </a:rPr>
              <a:t>cible</a:t>
            </a:r>
            <a:endParaRPr lang="en-US" sz="1400" dirty="0"/>
          </a:p>
          <a:p>
            <a:pPr indent="0" marL="0">
              <a:buNone/>
            </a:pPr>
            <a:r>
              <a:rPr lang="en-US" sz="2000" dirty="0">
                <a:solidFill>
                  <a:schemeClr val="tx1"/>
                </a:solidFill>
              </a:rPr>
              <a:t>≈ 2 s maximum</a:t>
            </a:r>
            <a:endParaRPr lang="en-US" sz="1400" dirty="0"/>
          </a:p>
        </p:txBody>
      </p:sp>
      <p:sp>
        <p:nvSpPr>
          <p:cNvPr id="17" name="Limite 3"/>
          <p:cNvSpPr txBox="1"/>
          <p:nvPr/>
        </p:nvSpPr>
        <p:spPr>
          <a:xfrm>
            <a:off x="9144000" y="4434840"/>
            <a:ext cx="2331720" cy="1143000"/>
          </a:xfrm>
          <a:prstGeom prst="rect">
            <a:avLst/>
          </a:prstGeom>
          <a:noFill/>
          <a:ln/>
        </p:spPr>
        <p:txBody>
          <a:bodyPr wrap="square" lIns="0" tIns="0" rIns="0" bIns="0" rtlCol="0" anchor="ctr"/>
          <a:lstStyle/>
          <a:p>
            <a:pPr indent="0" marL="0">
              <a:buNone/>
            </a:pPr>
            <a:r>
              <a:rPr lang="en-US" sz="1400" dirty="0">
                <a:solidFill>
                  <a:schemeClr val="tx2"/>
                </a:solidFill>
              </a:rPr>
              <a:t>limite</a:t>
            </a:r>
            <a:endParaRPr lang="en-US" sz="1400" dirty="0"/>
          </a:p>
          <a:p>
            <a:pPr indent="0" marL="0">
              <a:buNone/>
            </a:pPr>
            <a:r>
              <a:rPr lang="en-US" sz="1400" b="1" dirty="0">
                <a:solidFill>
                  <a:schemeClr val="accent1"/>
                </a:solidFill>
              </a:rPr>
              <a:t>Départ à la stabilisation du quadrilatère, pas à la pose</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400">
                <a:solidFill>
                  <a:schemeClr val="tx2"/>
                </a:solidFill>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88720"/>
          </a:xfrm>
          <a:prstGeom prst="rect">
            <a:avLst/>
          </a:prstGeom>
          <a:noFill/>
          <a:ln/>
        </p:spPr>
        <p:txBody>
          <a:bodyPr wrap="square" lIns="0" tIns="0" rIns="0" bIns="0" rtlCol="0" anchor="t"/>
          <a:lstStyle/>
          <a:p>
            <a:pPr algn="l" indent="0" marL="0">
              <a:buNone/>
            </a:pPr>
            <a:r>
              <a:rPr lang="en-US" sz="3200" b="1" dirty="0">
                <a:solidFill>
                  <a:schemeClr val="tx1"/>
                </a:solidFill>
              </a:rPr>
              <a:t>Limites assumées : ce qui n’est ni implémenté ni prouvé</a:t>
            </a:r>
            <a:endParaRPr lang="en-US" sz="3200" dirty="0"/>
          </a:p>
        </p:txBody>
      </p:sp>
      <p:sp>
        <p:nvSpPr>
          <p:cNvPr id="3" name="Marqueur 1"/>
          <p:cNvSpPr/>
          <p:nvPr/>
        </p:nvSpPr>
        <p:spPr>
          <a:xfrm>
            <a:off x="548640" y="2258568"/>
            <a:ext cx="256032" cy="256032"/>
          </a:xfrm>
          <a:prstGeom prst="rect">
            <a:avLst/>
          </a:prstGeom>
          <a:solidFill>
            <a:srgbClr val="B42318"/>
          </a:solidFill>
          <a:ln w="9525">
            <a:solidFill>
              <a:srgbClr val="B42318"/>
            </a:solidFill>
            <a:prstDash val="solid"/>
          </a:ln>
        </p:spPr>
      </p:sp>
      <p:sp>
        <p:nvSpPr>
          <p:cNvPr id="4" name="Limite 1"/>
          <p:cNvSpPr txBox="1"/>
          <p:nvPr/>
        </p:nvSpPr>
        <p:spPr>
          <a:xfrm>
            <a:off x="1051560" y="2148840"/>
            <a:ext cx="10591495" cy="475488"/>
          </a:xfrm>
          <a:prstGeom prst="rect">
            <a:avLst/>
          </a:prstGeom>
          <a:noFill/>
          <a:ln/>
        </p:spPr>
        <p:txBody>
          <a:bodyPr wrap="square" lIns="0" tIns="0" rIns="0" bIns="0" rtlCol="0" anchor="ctr"/>
          <a:lstStyle/>
          <a:p>
            <a:pPr indent="0" marL="0">
              <a:buNone/>
            </a:pPr>
            <a:r>
              <a:rPr lang="en-US" sz="2000" b="1" dirty="0">
                <a:solidFill>
                  <a:schemeClr val="tx1"/>
                </a:solidFill>
              </a:rPr>
              <a:t>Message de timeout : non implémenté</a:t>
            </a:r>
            <a:endParaRPr lang="en-US" sz="2000" dirty="0"/>
          </a:p>
        </p:txBody>
      </p:sp>
      <p:sp>
        <p:nvSpPr>
          <p:cNvPr id="7" name="Marqueur 3"/>
          <p:cNvSpPr/>
          <p:nvPr/>
        </p:nvSpPr>
        <p:spPr>
          <a:xfrm>
            <a:off x="548640" y="3447288"/>
            <a:ext cx="256032" cy="256032"/>
          </a:xfrm>
          <a:prstGeom prst="rect">
            <a:avLst/>
          </a:prstGeom>
          <a:solidFill>
            <a:srgbClr val="C2410C"/>
          </a:solidFill>
          <a:ln w="9525">
            <a:solidFill>
              <a:srgbClr val="C2410C"/>
            </a:solidFill>
            <a:prstDash val="solid"/>
          </a:ln>
        </p:spPr>
      </p:sp>
      <p:sp>
        <p:nvSpPr>
          <p:cNvPr id="8" name="Limite 3"/>
          <p:cNvSpPr txBox="1"/>
          <p:nvPr/>
        </p:nvSpPr>
        <p:spPr>
          <a:xfrm>
            <a:off x="1051560" y="3337560"/>
            <a:ext cx="10591495" cy="475488"/>
          </a:xfrm>
          <a:prstGeom prst="rect">
            <a:avLst/>
          </a:prstGeom>
          <a:noFill/>
          <a:ln/>
        </p:spPr>
        <p:txBody>
          <a:bodyPr wrap="square" lIns="0" tIns="0" rIns="0" bIns="0" rtlCol="0" anchor="ctr"/>
          <a:lstStyle/>
          <a:p>
            <a:pPr indent="0" marL="0">
              <a:buNone/>
            </a:pPr>
            <a:r>
              <a:rPr lang="en-US" sz="2000" dirty="0">
                <a:solidFill>
                  <a:schemeClr val="tx1"/>
                </a:solidFill>
              </a:rPr>
              <a:t>Anti-fraude, vivacité : hors périmètre</a:t>
            </a:r>
            <a:endParaRPr lang="en-US" sz="2000" dirty="0"/>
          </a:p>
        </p:txBody>
      </p:sp>
      <p:sp>
        <p:nvSpPr>
          <p:cNvPr id="13" name="Marqueur 6"/>
          <p:cNvSpPr/>
          <p:nvPr/>
        </p:nvSpPr>
        <p:spPr>
          <a:xfrm>
            <a:off x="548640" y="4636008"/>
            <a:ext cx="256032" cy="256032"/>
          </a:xfrm>
          <a:prstGeom prst="rect">
            <a:avLst/>
          </a:prstGeom>
          <a:solidFill>
            <a:srgbClr val="C2410C"/>
          </a:solidFill>
          <a:ln w="9525">
            <a:solidFill>
              <a:srgbClr val="C2410C"/>
            </a:solidFill>
            <a:prstDash val="solid"/>
          </a:ln>
        </p:spPr>
      </p:sp>
      <p:sp>
        <p:nvSpPr>
          <p:cNvPr id="14" name="Limite 6"/>
          <p:cNvSpPr txBox="1"/>
          <p:nvPr/>
        </p:nvSpPr>
        <p:spPr>
          <a:xfrm>
            <a:off x="1051560" y="4526280"/>
            <a:ext cx="10591495" cy="475488"/>
          </a:xfrm>
          <a:prstGeom prst="rect">
            <a:avLst/>
          </a:prstGeom>
          <a:noFill/>
          <a:ln/>
        </p:spPr>
        <p:txBody>
          <a:bodyPr wrap="square" lIns="0" tIns="0" rIns="0" bIns="0" rtlCol="0" anchor="ctr"/>
          <a:lstStyle/>
          <a:p>
            <a:pPr indent="0" marL="0">
              <a:buNone/>
            </a:pPr>
            <a:r>
              <a:rPr lang="en-US" sz="2000" dirty="0">
                <a:solidFill>
                  <a:schemeClr val="tx1"/>
                </a:solidFill>
              </a:rPr>
              <a:t>Mesures : appareil, échantillon inconnus</a:t>
            </a:r>
            <a:endParaRPr lang="en-US" sz="20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400">
                <a:solidFill>
                  <a:schemeClr val="tx2"/>
                </a:solidFill>
              </a:defRPr>
            </a:lvl1pPr>
          </a:lstStyle>
          <a:p>
            <a:pPr algn="r"/>
            <a:fld id="{F7021451-1387-4CA6-816F-3879F97B5CBC}" type="slidenum">
              <a:rPr b="0" lang="en-US"/>
              <a:t>14</a:t>
            </a:fld>
            <a:endParaRPr lang="en-US"/>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88720"/>
          </a:xfrm>
          <a:prstGeom prst="rect">
            <a:avLst/>
          </a:prstGeom>
          <a:noFill/>
          <a:ln/>
        </p:spPr>
        <p:txBody>
          <a:bodyPr wrap="square" lIns="0" tIns="0" rIns="0" bIns="0" rtlCol="0" anchor="t"/>
          <a:lstStyle/>
          <a:p>
            <a:pPr algn="l" indent="0" marL="0">
              <a:buNone/>
            </a:pPr>
            <a:r>
              <a:rPr lang="en-US" sz="3200" b="1" dirty="0">
                <a:solidFill>
                  <a:schemeClr val="tx1"/>
                </a:solidFill>
              </a:rPr>
              <a:t>Capture recto/verso autonome en six semaines,</a:t>
            </a:r>
            <a:endParaRPr lang="en-US" sz="3200" dirty="0"/>
          </a:p>
          <a:p>
            <a:pPr algn="l" indent="0" marL="0">
              <a:buNone/>
            </a:pPr>
            <a:r>
              <a:rPr lang="en-US" sz="3200" b="1" dirty="0">
                <a:solidFill>
                  <a:schemeClr val="tx1"/>
                </a:solidFill>
              </a:rPr>
              <a:t>validation encore à étendre</a:t>
            </a:r>
            <a:endParaRPr lang="en-US" sz="3200" dirty="0"/>
          </a:p>
        </p:txBody>
      </p:sp>
      <p:sp>
        <p:nvSpPr>
          <p:cNvPr id="3" name="Livré"/>
          <p:cNvSpPr txBox="1"/>
          <p:nvPr/>
        </p:nvSpPr>
        <p:spPr>
          <a:xfrm>
            <a:off x="548640" y="1783080"/>
            <a:ext cx="5943600" cy="1188720"/>
          </a:xfrm>
          <a:prstGeom prst="rect">
            <a:avLst/>
          </a:prstGeom>
          <a:noFill/>
          <a:ln/>
        </p:spPr>
        <p:txBody>
          <a:bodyPr wrap="square" lIns="0" tIns="0" rIns="0" bIns="0" rtlCol="0" anchor="t"/>
          <a:lstStyle/>
          <a:p>
            <a:pPr indent="0" marL="0">
              <a:buNone/>
            </a:pPr>
            <a:r>
              <a:rPr lang="en-US" sz="1400" b="1" spc="200" kern="0" dirty="0">
                <a:solidFill>
                  <a:schemeClr val="tx2"/>
                </a:solidFill>
              </a:rPr>
              <a:t>LIVRÉ</a:t>
            </a:r>
            <a:endParaRPr lang="en-US" sz="2000" dirty="0"/>
          </a:p>
          <a:p>
            <a:pPr indent="0" marL="0">
              <a:buNone/>
            </a:pPr>
            <a:r>
              <a:rPr lang="en-US" sz="2000" dirty="0">
                <a:solidFill>
                  <a:schemeClr val="tx1"/>
                </a:solidFill>
              </a:rPr>
              <a:t>Autocapture recto/verso, aperçu, recadrage, page A4, historique</a:t>
            </a:r>
            <a:endParaRPr lang="en-US" sz="2000" dirty="0"/>
          </a:p>
        </p:txBody>
      </p:sp>
      <p:sp>
        <p:nvSpPr>
          <p:cNvPr id="4" name="Mesuré"/>
          <p:cNvSpPr txBox="1"/>
          <p:nvPr/>
        </p:nvSpPr>
        <p:spPr>
          <a:xfrm>
            <a:off x="548640" y="3108960"/>
            <a:ext cx="5943600" cy="1188720"/>
          </a:xfrm>
          <a:prstGeom prst="rect">
            <a:avLst/>
          </a:prstGeom>
          <a:noFill/>
          <a:ln/>
        </p:spPr>
        <p:txBody>
          <a:bodyPr wrap="square" lIns="0" tIns="0" rIns="0" bIns="0" rtlCol="0" anchor="t"/>
          <a:lstStyle/>
          <a:p>
            <a:pPr indent="0" marL="0">
              <a:buNone/>
            </a:pPr>
            <a:r>
              <a:rPr lang="en-US" sz="1400" b="1" spc="200" kern="0" dirty="0">
                <a:solidFill>
                  <a:schemeClr val="tx2"/>
                </a:solidFill>
              </a:rPr>
              <a:t>MESURÉ</a:t>
            </a:r>
            <a:endParaRPr lang="en-US" sz="2000" dirty="0"/>
          </a:p>
          <a:p>
            <a:pPr indent="0" marL="0">
              <a:buNone/>
            </a:pPr>
            <a:r>
              <a:rPr lang="en-US" sz="2000" dirty="0">
                <a:solidFill>
                  <a:schemeClr val="tx1"/>
                </a:solidFill>
              </a:rPr>
              <a:t>92–100 ms, 92 %, ≈ 2 s ; 177 cas sur 21 fichiers</a:t>
            </a:r>
            <a:endParaRPr lang="en-US" sz="2000" dirty="0"/>
          </a:p>
        </p:txBody>
      </p:sp>
      <p:sp>
        <p:nvSpPr>
          <p:cNvPr id="5" name="Non fait"/>
          <p:cNvSpPr txBox="1"/>
          <p:nvPr/>
        </p:nvSpPr>
        <p:spPr>
          <a:xfrm>
            <a:off x="548640" y="4434840"/>
            <a:ext cx="5943600" cy="1188720"/>
          </a:xfrm>
          <a:prstGeom prst="rect">
            <a:avLst/>
          </a:prstGeom>
          <a:noFill/>
          <a:ln/>
        </p:spPr>
        <p:txBody>
          <a:bodyPr wrap="square" lIns="0" tIns="0" rIns="0" bIns="0" rtlCol="0" anchor="t"/>
          <a:lstStyle/>
          <a:p>
            <a:pPr indent="0" marL="0">
              <a:buNone/>
            </a:pPr>
            <a:r>
              <a:rPr lang="en-US" sz="1400" b="1" spc="200" kern="0" dirty="0">
                <a:solidFill>
                  <a:schemeClr val="accent1"/>
                </a:solidFill>
              </a:rPr>
              <a:t>NON FAIT</a:t>
            </a:r>
            <a:endParaRPr lang="en-US" sz="2000" dirty="0"/>
          </a:p>
          <a:p>
            <a:pPr indent="0" marL="0">
              <a:buNone/>
            </a:pPr>
            <a:r>
              <a:rPr lang="en-US" sz="2000" dirty="0">
                <a:solidFill>
                  <a:schemeClr val="tx1"/>
                </a:solidFill>
              </a:rPr>
              <a:t>Message de timeout, échantillon de mesures élargi</a:t>
            </a:r>
            <a:endParaRPr lang="en-US" sz="2000" dirty="0"/>
          </a:p>
        </p:txBody>
      </p:sp>
      <p:sp>
        <p:nvSpPr>
          <p:cNvPr id="6" name="Titre graphique"/>
          <p:cNvSpPr txBox="1"/>
          <p:nvPr/>
        </p:nvSpPr>
        <p:spPr>
          <a:xfrm>
            <a:off x="6949440" y="1783080"/>
            <a:ext cx="4690872" cy="320040"/>
          </a:xfrm>
          <a:prstGeom prst="rect">
            <a:avLst/>
          </a:prstGeom>
          <a:noFill/>
          <a:ln/>
        </p:spPr>
        <p:txBody>
          <a:bodyPr wrap="square" lIns="0" tIns="0" rIns="0" bIns="0" rtlCol="0" anchor="t"/>
          <a:lstStyle/>
          <a:p>
            <a:pPr indent="0" marL="0">
              <a:buNone/>
            </a:pPr>
            <a:r>
              <a:rPr lang="en-US" sz="1400" b="1" dirty="0">
                <a:solidFill>
                  <a:schemeClr val="tx2"/>
                </a:solidFill>
              </a:rPr>
              <a:t>Jours par étape (25,5 sur 30)</a:t>
            </a:r>
            <a:endParaRPr lang="en-US" sz="1400" dirty="0"/>
          </a:p>
        </p:txBody>
      </p:sp>
      <p:graphicFrame>
        <p:nvGraphicFramePr>
          <p:cNvPr id="7" name="Durée par étape" descr=""/>
          <p:cNvGraphicFramePr/>
          <p:nvPr/>
        </p:nvGraphicFramePr>
        <p:xfrm>
          <a:off x="6949440" y="2103120"/>
          <a:ext cx="4690872" cy="35661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400">
                <a:solidFill>
                  <a:schemeClr val="tx2"/>
                </a:solidFill>
              </a:defRPr>
            </a:lvl1pPr>
          </a:lstStyle>
          <a:p>
            <a:pPr algn="r"/>
            <a:fld id="{F7021451-1387-4CA6-816F-3879F97B5CBC}" type="slidenum">
              <a:rPr b="0" lang="en-US"/>
              <a:t>15</a:t>
            </a:fld>
            <a:endParaRPr lang="en-US"/>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88720"/>
          </a:xfrm>
          <a:prstGeom prst="rect">
            <a:avLst/>
          </a:prstGeom>
          <a:noFill/>
          <a:ln/>
        </p:spPr>
        <p:txBody>
          <a:bodyPr wrap="square" lIns="0" tIns="0" rIns="0" bIns="0" rtlCol="0" anchor="t"/>
          <a:lstStyle/>
          <a:p>
            <a:pPr algn="l" indent="0" marL="0">
              <a:buNone/>
            </a:pPr>
            <a:r>
              <a:rPr lang="en-US" sz="3200" b="1" dirty="0">
                <a:solidFill>
                  <a:schemeClr val="tx1"/>
                </a:solidFill>
              </a:rPr>
              <a:t>Les seuils sont empiriques ; 120 n’a de sens</a:t>
            </a:r>
            <a:endParaRPr lang="en-US" sz="3200" dirty="0"/>
          </a:p>
          <a:p>
            <a:pPr algn="l" indent="0" marL="0">
              <a:buNone/>
            </a:pPr>
            <a:r>
              <a:rPr lang="en-US" sz="3200" b="1" dirty="0">
                <a:solidFill>
                  <a:schemeClr val="tx1"/>
                </a:solidFill>
              </a:rPr>
              <a:t>qu’à 856 × 540 px</a:t>
            </a:r>
            <a:endParaRPr lang="en-US" sz="3200" dirty="0"/>
          </a:p>
        </p:txBody>
      </p:sp>
      <p:graphicFrame>
        <p:nvGraphicFramePr>
          <p:cNvPr id="17" name="Tableau des seuil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3840480"/>
                <a:gridCol w="2651760"/>
                <a:gridCol w="4602175"/>
              </a:tblGrid>
              <a:tr h="402336">
                <a:tc>
                  <a:txBody>
                    <a:bodyPr/>
                    <a:lstStyle/>
                    <a:p>
                      <a:pPr indent="0" marL="0">
                        <a:buNone/>
                      </a:pPr>
                      <a:r>
                        <a:rPr lang="en-US" sz="2000" b="1" dirty="0">
                          <a:solidFill>
                            <a:srgbClr val="14202B"/>
                          </a:solidFill>
                          <a:latin typeface="Calibri" pitchFamily="34" charset="0"/>
                          <a:ea typeface="Calibri" pitchFamily="34" charset="-122"/>
                          <a:cs typeface="Calibri" pitchFamily="34" charset="-120"/>
                        </a:rPr>
                        <a:t>Paramètre</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E3E9"/>
                    </a:solidFill>
                  </a:tcPr>
                </a:tc>
                <a:tc>
                  <a:txBody>
                    <a:bodyPr/>
                    <a:lstStyle/>
                    <a:p>
                      <a:pPr indent="0" marL="0">
                        <a:buNone/>
                      </a:pPr>
                      <a:r>
                        <a:rPr lang="en-US" sz="2000" b="1" dirty="0">
                          <a:solidFill>
                            <a:srgbClr val="14202B"/>
                          </a:solidFill>
                          <a:latin typeface="Calibri" pitchFamily="34" charset="0"/>
                          <a:ea typeface="Calibri" pitchFamily="34" charset="-122"/>
                          <a:cs typeface="Calibri" pitchFamily="34" charset="-120"/>
                        </a:rPr>
                        <a:t>Valeur</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E3E9"/>
                    </a:solidFill>
                  </a:tcPr>
                </a:tc>
                <a:tc>
                  <a:txBody>
                    <a:bodyPr/>
                    <a:lstStyle/>
                    <a:p>
                      <a:pPr indent="0" marL="0">
                        <a:buNone/>
                      </a:pPr>
                      <a:r>
                        <a:rPr lang="en-US" sz="2000" b="1" dirty="0">
                          <a:solidFill>
                            <a:srgbClr val="14202B"/>
                          </a:solidFill>
                          <a:latin typeface="Calibri" pitchFamily="34" charset="0"/>
                          <a:ea typeface="Calibri" pitchFamily="34" charset="-122"/>
                          <a:cs typeface="Calibri" pitchFamily="34" charset="-120"/>
                        </a:rPr>
                        <a:t>Fichier source</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E3E9"/>
                    </a:solidFill>
                  </a:tcPr>
                </a:tc>
              </a:tr>
              <a:tr h="402336">
                <a:tc>
                  <a:txBody>
                    <a:bodyPr/>
                    <a:lstStyle/>
                    <a:p>
                      <a:pPr indent="0" marL="0">
                        <a:buNone/>
                      </a:pPr>
                      <a:r>
                        <a:rPr lang="en-US" sz="2000" dirty="0">
                          <a:solidFill>
                            <a:srgbClr val="14202B"/>
                          </a:solidFill>
                          <a:latin typeface="Calibri" pitchFamily="34" charset="0"/>
                          <a:ea typeface="Calibri" pitchFamily="34" charset="-122"/>
                          <a:cs typeface="Calibri" pitchFamily="34" charset="-120"/>
                        </a:rPr>
                        <a:t>Score de détection minimal</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2000" b="1" dirty="0">
                          <a:solidFill>
                            <a:srgbClr val="14202B"/>
                          </a:solidFill>
                          <a:latin typeface="Calibri" pitchFamily="34" charset="0"/>
                          <a:ea typeface="Calibri" pitchFamily="34" charset="-122"/>
                          <a:cs typeface="Calibri" pitchFamily="34" charset="-120"/>
                        </a:rPr>
                        <a:t>0,30</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1600" dirty="0">
                          <a:solidFill>
                            <a:srgbClr val="14202B"/>
                          </a:solidFill>
                          <a:latin typeface="Courier New" pitchFamily="34" charset="0"/>
                          <a:ea typeface="Courier New" pitchFamily="34" charset="-122"/>
                          <a:cs typeface="Courier New" pitchFamily="34" charset="-120"/>
                        </a:rPr>
                        <a:t>document_contour_detector.dart</a:t>
                      </a:r>
                      <a:endParaRPr lang="en-US" sz="1600" dirty="0">
                        <a:latin typeface="Courier New" charset="0"/>
                        <a:ea typeface="Courier New" charset="0"/>
                        <a:cs typeface="Courier New"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r>
              <a:tr h="402336">
                <a:tc>
                  <a:txBody>
                    <a:bodyPr/>
                    <a:lstStyle/>
                    <a:p>
                      <a:pPr indent="0" marL="0">
                        <a:buNone/>
                      </a:pPr>
                      <a:r>
                        <a:rPr lang="en-US" sz="2000" dirty="0">
                          <a:solidFill>
                            <a:srgbClr val="14202B"/>
                          </a:solidFill>
                          <a:latin typeface="Calibri" pitchFamily="34" charset="0"/>
                          <a:ea typeface="Calibri" pitchFamily="34" charset="-122"/>
                          <a:cs typeface="Calibri" pitchFamily="34" charset="-120"/>
                        </a:rPr>
                        <a:t>Sortie anticipée</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2000" b="1" dirty="0">
                          <a:solidFill>
                            <a:srgbClr val="14202B"/>
                          </a:solidFill>
                          <a:latin typeface="Calibri" pitchFamily="34" charset="0"/>
                          <a:ea typeface="Calibri" pitchFamily="34" charset="-122"/>
                          <a:cs typeface="Calibri" pitchFamily="34" charset="-120"/>
                        </a:rPr>
                        <a:t>0,65</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1600" dirty="0">
                          <a:solidFill>
                            <a:srgbClr val="14202B"/>
                          </a:solidFill>
                          <a:latin typeface="Courier New" pitchFamily="34" charset="0"/>
                          <a:ea typeface="Courier New" pitchFamily="34" charset="-122"/>
                          <a:cs typeface="Courier New" pitchFamily="34" charset="-120"/>
                        </a:rPr>
                        <a:t>document_contour_detector.dart</a:t>
                      </a:r>
                      <a:endParaRPr lang="en-US" sz="1600" dirty="0">
                        <a:latin typeface="Courier New" charset="0"/>
                        <a:ea typeface="Courier New" charset="0"/>
                        <a:cs typeface="Courier New"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r>
              <a:tr h="402336">
                <a:tc>
                  <a:txBody>
                    <a:bodyPr/>
                    <a:lstStyle/>
                    <a:p>
                      <a:pPr indent="0" marL="0">
                        <a:buNone/>
                      </a:pPr>
                      <a:r>
                        <a:rPr lang="en-US" sz="2000" dirty="0">
                          <a:solidFill>
                            <a:srgbClr val="14202B"/>
                          </a:solidFill>
                          <a:latin typeface="Calibri" pitchFamily="34" charset="0"/>
                          <a:ea typeface="Calibri" pitchFamily="34" charset="-122"/>
                          <a:cs typeface="Calibri" pitchFamily="34" charset="-120"/>
                        </a:rPr>
                        <a:t>Échelle de recherche grossière</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2000" b="1" dirty="0">
                          <a:solidFill>
                            <a:srgbClr val="14202B"/>
                          </a:solidFill>
                          <a:latin typeface="Calibri" pitchFamily="34" charset="0"/>
                          <a:ea typeface="Calibri" pitchFamily="34" charset="-122"/>
                          <a:cs typeface="Calibri" pitchFamily="34" charset="-120"/>
                        </a:rPr>
                        <a:t>0,45</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1600" dirty="0">
                          <a:solidFill>
                            <a:srgbClr val="14202B"/>
                          </a:solidFill>
                          <a:latin typeface="Courier New" pitchFamily="34" charset="0"/>
                          <a:ea typeface="Courier New" pitchFamily="34" charset="-122"/>
                          <a:cs typeface="Courier New" pitchFamily="34" charset="-120"/>
                        </a:rPr>
                        <a:t>document_contour_detector.dart</a:t>
                      </a:r>
                      <a:endParaRPr lang="en-US" sz="1600" dirty="0">
                        <a:latin typeface="Courier New" charset="0"/>
                        <a:ea typeface="Courier New" charset="0"/>
                        <a:cs typeface="Courier New"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r>
              <a:tr h="402336">
                <a:tc>
                  <a:txBody>
                    <a:bodyPr/>
                    <a:lstStyle/>
                    <a:p>
                      <a:pPr indent="0" marL="0">
                        <a:buNone/>
                      </a:pPr>
                      <a:r>
                        <a:rPr lang="en-US" sz="2000" dirty="0">
                          <a:solidFill>
                            <a:srgbClr val="14202B"/>
                          </a:solidFill>
                          <a:latin typeface="Calibri" pitchFamily="34" charset="0"/>
                          <a:ea typeface="Calibri" pitchFamily="34" charset="-122"/>
                          <a:cs typeface="Calibri" pitchFamily="34" charset="-120"/>
                        </a:rPr>
                        <a:t>Canny bas / haut (× médiane)</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2000" b="1" dirty="0">
                          <a:solidFill>
                            <a:srgbClr val="14202B"/>
                          </a:solidFill>
                          <a:latin typeface="Calibri" pitchFamily="34" charset="0"/>
                          <a:ea typeface="Calibri" pitchFamily="34" charset="-122"/>
                          <a:cs typeface="Calibri" pitchFamily="34" charset="-120"/>
                        </a:rPr>
                        <a:t>0,66 / 1,33</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1600" dirty="0">
                          <a:solidFill>
                            <a:srgbClr val="14202B"/>
                          </a:solidFill>
                          <a:latin typeface="Courier New" pitchFamily="34" charset="0"/>
                          <a:ea typeface="Courier New" pitchFamily="34" charset="-122"/>
                          <a:cs typeface="Courier New" pitchFamily="34" charset="-120"/>
                        </a:rPr>
                        <a:t>document_contour_detector.dart</a:t>
                      </a:r>
                      <a:endParaRPr lang="en-US" sz="1600" dirty="0">
                        <a:latin typeface="Courier New" charset="0"/>
                        <a:ea typeface="Courier New" charset="0"/>
                        <a:cs typeface="Courier New"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r>
              <a:tr h="402336">
                <a:tc>
                  <a:txBody>
                    <a:bodyPr/>
                    <a:lstStyle/>
                    <a:p>
                      <a:pPr indent="0" marL="0">
                        <a:buNone/>
                      </a:pPr>
                      <a:r>
                        <a:rPr lang="en-US" sz="2000" dirty="0">
                          <a:solidFill>
                            <a:srgbClr val="14202B"/>
                          </a:solidFill>
                          <a:latin typeface="Calibri" pitchFamily="34" charset="0"/>
                          <a:ea typeface="Calibri" pitchFamily="34" charset="-122"/>
                          <a:cs typeface="Calibri" pitchFamily="34" charset="-120"/>
                        </a:rPr>
                        <a:t>Netteté minimale (Laplacien)</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2000" b="1" dirty="0">
                          <a:solidFill>
                            <a:srgbClr val="14202B"/>
                          </a:solidFill>
                          <a:latin typeface="Calibri" pitchFamily="34" charset="0"/>
                          <a:ea typeface="Calibri" pitchFamily="34" charset="-122"/>
                          <a:cs typeface="Calibri" pitchFamily="34" charset="-120"/>
                        </a:rPr>
                        <a:t>120</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1600" dirty="0">
                          <a:solidFill>
                            <a:srgbClr val="14202B"/>
                          </a:solidFill>
                          <a:latin typeface="Courier New" pitchFamily="34" charset="0"/>
                          <a:ea typeface="Courier New" pitchFamily="34" charset="-122"/>
                          <a:cs typeface="Courier New" pitchFamily="34" charset="-120"/>
                        </a:rPr>
                        <a:t>blur_detector.dart</a:t>
                      </a:r>
                      <a:endParaRPr lang="en-US" sz="1600" dirty="0">
                        <a:latin typeface="Courier New" charset="0"/>
                        <a:ea typeface="Courier New" charset="0"/>
                        <a:cs typeface="Courier New"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r>
              <a:tr h="402336">
                <a:tc>
                  <a:txBody>
                    <a:bodyPr/>
                    <a:lstStyle/>
                    <a:p>
                      <a:pPr indent="0" marL="0">
                        <a:buNone/>
                      </a:pPr>
                      <a:r>
                        <a:rPr lang="en-US" sz="2000" dirty="0">
                          <a:solidFill>
                            <a:srgbClr val="14202B"/>
                          </a:solidFill>
                          <a:latin typeface="Calibri" pitchFamily="34" charset="0"/>
                          <a:ea typeface="Calibri" pitchFamily="34" charset="-122"/>
                          <a:cs typeface="Calibri" pitchFamily="34" charset="-120"/>
                        </a:rPr>
                        <a:t>Luminosité moyenne</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2000" b="1" dirty="0">
                          <a:solidFill>
                            <a:srgbClr val="14202B"/>
                          </a:solidFill>
                          <a:latin typeface="Calibri" pitchFamily="34" charset="0"/>
                          <a:ea typeface="Calibri" pitchFamily="34" charset="-122"/>
                          <a:cs typeface="Calibri" pitchFamily="34" charset="-120"/>
                        </a:rPr>
                        <a:t>[60 ; 225]</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1600" dirty="0">
                          <a:solidFill>
                            <a:srgbClr val="14202B"/>
                          </a:solidFill>
                          <a:latin typeface="Courier New" pitchFamily="34" charset="0"/>
                          <a:ea typeface="Courier New" pitchFamily="34" charset="-122"/>
                          <a:cs typeface="Courier New" pitchFamily="34" charset="-120"/>
                        </a:rPr>
                        <a:t>brightness_detector.dart</a:t>
                      </a:r>
                      <a:endParaRPr lang="en-US" sz="1600" dirty="0">
                        <a:latin typeface="Courier New" charset="0"/>
                        <a:ea typeface="Courier New" charset="0"/>
                        <a:cs typeface="Courier New"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r>
              <a:tr h="402336">
                <a:tc>
                  <a:txBody>
                    <a:bodyPr/>
                    <a:lstStyle/>
                    <a:p>
                      <a:pPr indent="0" marL="0">
                        <a:buNone/>
                      </a:pPr>
                      <a:r>
                        <a:rPr lang="en-US" sz="2000" dirty="0">
                          <a:solidFill>
                            <a:srgbClr val="14202B"/>
                          </a:solidFill>
                          <a:latin typeface="Calibri" pitchFamily="34" charset="0"/>
                          <a:ea typeface="Calibri" pitchFamily="34" charset="-122"/>
                          <a:cs typeface="Calibri" pitchFamily="34" charset="-120"/>
                        </a:rPr>
                        <a:t>Pixels saturés tolérés</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2000" b="1" dirty="0">
                          <a:solidFill>
                            <a:srgbClr val="14202B"/>
                          </a:solidFill>
                          <a:latin typeface="Calibri" pitchFamily="34" charset="0"/>
                          <a:ea typeface="Calibri" pitchFamily="34" charset="-122"/>
                          <a:cs typeface="Calibri" pitchFamily="34" charset="-120"/>
                        </a:rPr>
                        <a:t>12 %</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1600" dirty="0">
                          <a:solidFill>
                            <a:srgbClr val="14202B"/>
                          </a:solidFill>
                          <a:latin typeface="Courier New" pitchFamily="34" charset="0"/>
                          <a:ea typeface="Courier New" pitchFamily="34" charset="-122"/>
                          <a:cs typeface="Courier New" pitchFamily="34" charset="-120"/>
                        </a:rPr>
                        <a:t>brightness_detector.dart</a:t>
                      </a:r>
                      <a:endParaRPr lang="en-US" sz="1600" dirty="0">
                        <a:latin typeface="Courier New" charset="0"/>
                        <a:ea typeface="Courier New" charset="0"/>
                        <a:cs typeface="Courier New"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r>
              <a:tr h="402336">
                <a:tc>
                  <a:txBody>
                    <a:bodyPr/>
                    <a:lstStyle/>
                    <a:p>
                      <a:pPr indent="0" marL="0">
                        <a:buNone/>
                      </a:pPr>
                      <a:r>
                        <a:rPr lang="en-US" sz="2000" dirty="0">
                          <a:solidFill>
                            <a:srgbClr val="14202B"/>
                          </a:solidFill>
                          <a:latin typeface="Calibri" pitchFamily="34" charset="0"/>
                          <a:ea typeface="Calibri" pitchFamily="34" charset="-122"/>
                          <a:cs typeface="Calibri" pitchFamily="34" charset="-120"/>
                        </a:rPr>
                        <a:t>Dérive de coin maximale</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2000" b="1" dirty="0">
                          <a:solidFill>
                            <a:srgbClr val="14202B"/>
                          </a:solidFill>
                          <a:latin typeface="Calibri" pitchFamily="34" charset="0"/>
                          <a:ea typeface="Calibri" pitchFamily="34" charset="-122"/>
                          <a:cs typeface="Calibri" pitchFamily="34" charset="-120"/>
                        </a:rPr>
                        <a:t>2,5 % de la diagonale</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indent="0" marL="0">
                        <a:buNone/>
                      </a:pPr>
                      <a:r>
                        <a:rPr lang="en-US" sz="1600" dirty="0">
                          <a:solidFill>
                            <a:srgbClr val="14202B"/>
                          </a:solidFill>
                          <a:latin typeface="Courier New" pitchFamily="34" charset="0"/>
                          <a:ea typeface="Courier New" pitchFamily="34" charset="-122"/>
                          <a:cs typeface="Courier New" pitchFamily="34" charset="-120"/>
                        </a:rPr>
                        <a:t>stability_tracker.dart</a:t>
                      </a:r>
                      <a:endParaRPr lang="en-US" sz="1600" dirty="0">
                        <a:latin typeface="Courier New" charset="0"/>
                        <a:ea typeface="Courier New" charset="0"/>
                        <a:cs typeface="Courier New"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r>
            </a:tbl>
          </a:graphicData>
        </a:graphic>
      </p:graphicFrame>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400">
                <a:solidFill>
                  <a:schemeClr val="tx2"/>
                </a:solidFill>
              </a:defRPr>
            </a:lvl1pPr>
          </a:lstStyle>
          <a:p>
            <a:pPr algn="r"/>
            <a:fld id="{F7021451-1387-4CA6-816F-3879F97B5CBC}" type="slidenum">
              <a:rPr b="0" lang="en-US"/>
              <a:t>16</a:t>
            </a:fld>
            <a:endParaRPr lang="en-US"/>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88720"/>
          </a:xfrm>
          <a:prstGeom prst="rect">
            <a:avLst/>
          </a:prstGeom>
          <a:noFill/>
          <a:ln/>
        </p:spPr>
        <p:txBody>
          <a:bodyPr wrap="square" lIns="0" tIns="0" rIns="0" bIns="0" rtlCol="0" anchor="t"/>
          <a:lstStyle/>
          <a:p>
            <a:pPr algn="l" indent="0" marL="0">
              <a:buNone/>
            </a:pPr>
            <a:r>
              <a:rPr lang="en-US" sz="3200" b="1" dirty="0">
                <a:solidFill>
                  <a:schemeClr val="tx1"/>
                </a:solidFill>
              </a:rPr>
              <a:t>177 cas exécutés ne prouvent ni couverture</a:t>
            </a:r>
            <a:endParaRPr lang="en-US" sz="3200" dirty="0"/>
          </a:p>
          <a:p>
            <a:pPr algn="l" indent="0" marL="0">
              <a:buNone/>
            </a:pPr>
            <a:r>
              <a:rPr lang="en-US" sz="3200" b="1" dirty="0">
                <a:solidFill>
                  <a:schemeClr val="tx1"/>
                </a:solidFill>
              </a:rPr>
              <a:t>ni validité sur cartes réelles</a:t>
            </a:r>
            <a:endParaRPr lang="en-US" sz="3200" dirty="0"/>
          </a:p>
        </p:txBody>
      </p:sp>
      <p:graphicFrame>
        <p:nvGraphicFramePr>
          <p:cNvPr id="18" name="Tableau des tests"/>
          <p:cNvGraphicFramePr>
            <a:graphicFrameLocks noGrp="1"/>
          </p:cNvGraphicFramePr>
          <p:nvPr>
            <p:extLst>
              <p:ext uri="{D42A27DB-BD31-4B8C-83A1-F6EECF244321}">
                <p14:modId xmlns:p14="http://schemas.microsoft.com/office/powerpoint/2010/main" val="1579011935"/>
              </p:ext>
            </p:extLst>
          </p:nvPr>
        </p:nvGraphicFramePr>
        <p:xfrm>
          <a:off x="548640" y="1783080"/>
          <a:ext cx="7589520" cy="914400"/>
        </p:xfrm>
        <a:graphic>
          <a:graphicData uri="http://schemas.openxmlformats.org/drawingml/2006/table">
            <a:tbl>
              <a:tblPr/>
              <a:tblGrid>
                <a:gridCol w="3200400"/>
                <a:gridCol w="1188720"/>
                <a:gridCol w="1371600"/>
                <a:gridCol w="1828800"/>
              </a:tblGrid>
              <a:tr h="365760">
                <a:tc>
                  <a:txBody>
                    <a:bodyPr/>
                    <a:lstStyle/>
                    <a:p>
                      <a:pPr algn="l" indent="0" marL="0">
                        <a:buNone/>
                      </a:pPr>
                      <a:r>
                        <a:rPr lang="en-US" sz="2000" b="1" dirty="0">
                          <a:solidFill>
                            <a:srgbClr val="14202B"/>
                          </a:solidFill>
                          <a:latin typeface="Calibri" pitchFamily="34" charset="0"/>
                          <a:ea typeface="Calibri" pitchFamily="34" charset="-122"/>
                          <a:cs typeface="Calibri" pitchFamily="34" charset="-120"/>
                        </a:rPr>
                        <a:t>Module</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E3E9"/>
                    </a:solidFill>
                  </a:tcPr>
                </a:tc>
                <a:tc>
                  <a:txBody>
                    <a:bodyPr/>
                    <a:lstStyle/>
                    <a:p>
                      <a:pPr algn="l" indent="0" marL="0">
                        <a:buNone/>
                      </a:pPr>
                      <a:r>
                        <a:rPr lang="en-US" sz="2000" b="1" dirty="0">
                          <a:solidFill>
                            <a:srgbClr val="14202B"/>
                          </a:solidFill>
                          <a:latin typeface="Calibri" pitchFamily="34" charset="0"/>
                          <a:ea typeface="Calibri" pitchFamily="34" charset="-122"/>
                          <a:cs typeface="Calibri" pitchFamily="34" charset="-120"/>
                        </a:rPr>
                        <a:t>Fichiers</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E3E9"/>
                    </a:solidFill>
                  </a:tcPr>
                </a:tc>
                <a:tc>
                  <a:txBody>
                    <a:bodyPr/>
                    <a:lstStyle/>
                    <a:p>
                      <a:pPr algn="l" indent="0" marL="0">
                        <a:buNone/>
                      </a:pPr>
                      <a:r>
                        <a:rPr lang="en-US" sz="2000" b="1" dirty="0">
                          <a:solidFill>
                            <a:srgbClr val="14202B"/>
                          </a:solidFill>
                          <a:latin typeface="Calibri" pitchFamily="34" charset="0"/>
                          <a:ea typeface="Calibri" pitchFamily="34" charset="-122"/>
                          <a:cs typeface="Calibri" pitchFamily="34" charset="-120"/>
                        </a:rPr>
                        <a:t>Exécutés</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E3E9"/>
                    </a:solidFill>
                  </a:tcPr>
                </a:tc>
                <a:tc>
                  <a:txBody>
                    <a:bodyPr/>
                    <a:lstStyle/>
                    <a:p>
                      <a:pPr algn="l" indent="0" marL="0">
                        <a:buNone/>
                      </a:pPr>
                      <a:r>
                        <a:rPr lang="en-US" sz="2000" b="1" dirty="0">
                          <a:solidFill>
                            <a:srgbClr val="14202B"/>
                          </a:solidFill>
                          <a:latin typeface="Calibri" pitchFamily="34" charset="0"/>
                          <a:ea typeface="Calibri" pitchFamily="34" charset="-122"/>
                          <a:cs typeface="Calibri" pitchFamily="34" charset="-120"/>
                        </a:rPr>
                        <a:t>Cas exécutés</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E3E9"/>
                    </a:solidFill>
                  </a:tcPr>
                </a:tc>
              </a:tr>
              <a:tr h="365760">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document_detection</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7</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59</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r>
              <a:tr h="365760">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image_postprocessing</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7</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24</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r>
              <a:tr h="365760">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image_quality</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17</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r>
              <a:tr h="365760">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autocapture</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26</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r>
              <a:tr h="365760">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result_preview</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10</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r>
              <a:tr h="365760">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camera_capture</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8</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r>
              <a:tr h="365760">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core/services</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20</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r>
              <a:tr h="365760">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shared/utils</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c>
                  <a:txBody>
                    <a:bodyPr/>
                    <a:lstStyle/>
                    <a:p>
                      <a:pPr algn="l" indent="0" marL="0">
                        <a:buNone/>
                      </a:pPr>
                      <a:r>
                        <a:rPr lang="en-US" sz="2000" dirty="0">
                          <a:solidFill>
                            <a:srgbClr val="14202B"/>
                          </a:solidFill>
                          <a:latin typeface="Calibri" pitchFamily="34" charset="0"/>
                          <a:ea typeface="Calibri" pitchFamily="34" charset="-122"/>
                          <a:cs typeface="Calibri" pitchFamily="34" charset="-120"/>
                        </a:rPr>
                        <a:t>13</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7"/>
                    </a:solidFill>
                  </a:tcPr>
                </a:tc>
              </a:tr>
              <a:tr h="365760">
                <a:tc>
                  <a:txBody>
                    <a:bodyPr/>
                    <a:lstStyle/>
                    <a:p>
                      <a:pPr algn="l" indent="0" marL="0">
                        <a:buNone/>
                      </a:pPr>
                      <a:r>
                        <a:rPr lang="en-US" sz="2000" b="1" dirty="0">
                          <a:solidFill>
                            <a:srgbClr val="14202B"/>
                          </a:solidFill>
                          <a:latin typeface="Calibri" pitchFamily="34" charset="0"/>
                          <a:ea typeface="Calibri" pitchFamily="34" charset="-122"/>
                          <a:cs typeface="Calibri" pitchFamily="34" charset="-120"/>
                        </a:rPr>
                        <a:t>Total</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E3E9"/>
                    </a:solidFill>
                  </a:tcPr>
                </a:tc>
                <a:tc>
                  <a:txBody>
                    <a:bodyPr/>
                    <a:lstStyle/>
                    <a:p>
                      <a:pPr algn="l" indent="0" marL="0">
                        <a:buNone/>
                      </a:pPr>
                      <a:r>
                        <a:rPr lang="en-US" sz="2000" b="1" dirty="0">
                          <a:solidFill>
                            <a:srgbClr val="14202B"/>
                          </a:solidFill>
                          <a:latin typeface="Calibri" pitchFamily="34" charset="0"/>
                          <a:ea typeface="Calibri" pitchFamily="34" charset="-122"/>
                          <a:cs typeface="Calibri" pitchFamily="34" charset="-120"/>
                        </a:rPr>
                        <a:t>28</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E3E9"/>
                    </a:solidFill>
                  </a:tcPr>
                </a:tc>
                <a:tc>
                  <a:txBody>
                    <a:bodyPr/>
                    <a:lstStyle/>
                    <a:p>
                      <a:pPr algn="l" indent="0" marL="0">
                        <a:buNone/>
                      </a:pPr>
                      <a:r>
                        <a:rPr lang="en-US" sz="2000" b="1" dirty="0">
                          <a:solidFill>
                            <a:srgbClr val="14202B"/>
                          </a:solidFill>
                          <a:latin typeface="Calibri" pitchFamily="34" charset="0"/>
                          <a:ea typeface="Calibri" pitchFamily="34" charset="-122"/>
                          <a:cs typeface="Calibri" pitchFamily="34" charset="-120"/>
                        </a:rPr>
                        <a:t>21</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E3E9"/>
                    </a:solidFill>
                  </a:tcPr>
                </a:tc>
                <a:tc>
                  <a:txBody>
                    <a:bodyPr/>
                    <a:lstStyle/>
                    <a:p>
                      <a:pPr algn="l" indent="0" marL="0">
                        <a:buNone/>
                      </a:pPr>
                      <a:r>
                        <a:rPr lang="en-US" sz="2000" b="1" dirty="0">
                          <a:solidFill>
                            <a:srgbClr val="14202B"/>
                          </a:solidFill>
                          <a:latin typeface="Calibri" pitchFamily="34" charset="0"/>
                          <a:ea typeface="Calibri" pitchFamily="34" charset="-122"/>
                          <a:cs typeface="Calibri" pitchFamily="34" charset="-120"/>
                        </a:rPr>
                        <a:t>177</a:t>
                      </a:r>
                      <a:endParaRPr lang="en-US" sz="2000" dirty="0">
                        <a:latin typeface="Calibri" charset="0"/>
                        <a:ea typeface="Calibri" charset="0"/>
                        <a:cs typeface="Calibri" charset="0"/>
                      </a:endParaRPr>
                    </a:p>
                  </a:txBody>
                  <a:tcPr marL="127000" marR="127000" marT="25400" marB="254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E3E9"/>
                    </a:solidFill>
                  </a:tcPr>
                </a:tc>
              </a:tr>
            </a:tbl>
          </a:graphicData>
        </a:graphic>
      </p:graphicFrame>
      <p:sp>
        <p:nvSpPr>
          <p:cNvPr id="4" name="Paliers"/>
          <p:cNvSpPr txBox="1"/>
          <p:nvPr/>
        </p:nvSpPr>
        <p:spPr>
          <a:xfrm>
            <a:off x="8412480" y="1783080"/>
            <a:ext cx="3227832" cy="2743200"/>
          </a:xfrm>
          <a:prstGeom prst="rect">
            <a:avLst/>
          </a:prstGeom>
          <a:noFill/>
          <a:ln/>
        </p:spPr>
        <p:txBody>
          <a:bodyPr wrap="square" lIns="0" tIns="0" rIns="0" bIns="0" rtlCol="0" anchor="t"/>
          <a:lstStyle/>
          <a:p>
            <a:pPr indent="0" marL="0">
              <a:spcAft>
                <a:spcPts val="1000"/>
              </a:spcAft>
              <a:buNone/>
            </a:pPr>
            <a:r>
              <a:rPr lang="en-US" sz="2000" dirty="0">
                <a:solidFill>
                  <a:schemeClr val="tx1"/>
                </a:solidFill>
              </a:rPr>
              <a:t>Paliers : 15 fichiers A, 6 B, 7 C.</a:t>
            </a:r>
            <a:endParaRPr lang="en-US" sz="2000" dirty="0"/>
          </a:p>
          <a:p>
            <a:pPr indent="0" marL="0">
              <a:spcAft>
                <a:spcPts val="1000"/>
              </a:spcAft>
              <a:buNone/>
            </a:pPr>
            <a:r>
              <a:rPr lang="en-US" sz="2000" dirty="0">
                <a:solidFill>
                  <a:schemeClr val="tx1"/>
                </a:solidFill>
              </a:rPr>
              <a:t>Palier D (cartes réelles) : manuel.</a:t>
            </a:r>
            <a:endParaRPr lang="en-US" sz="2000" dirty="0"/>
          </a:p>
          <a:p>
            <a:pPr indent="0" marL="0">
              <a:spcAft>
                <a:spcPts val="1000"/>
              </a:spcAft>
              <a:buNone/>
            </a:pPr>
            <a:r>
              <a:rPr lang="en-US" sz="2000" b="1" dirty="0">
                <a:solidFill>
                  <a:schemeClr val="accent1"/>
                </a:solidFill>
              </a:rPr>
              <a:t>Couverture : non mesurée.</a:t>
            </a:r>
            <a:endParaRPr lang="en-US" sz="20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400">
                <a:solidFill>
                  <a:schemeClr val="tx2"/>
                </a:solidFill>
              </a:defRPr>
            </a:lvl1pPr>
          </a:lstStyle>
          <a:p>
            <a:pPr algn="r"/>
            <a:fld id="{F7021451-1387-4CA6-816F-3879F97B5CBC}" type="slidenum">
              <a:rPr b="0" lang="en-US"/>
              <a:t>17</a:t>
            </a:fld>
            <a:endParaRPr lang="en-US"/>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88720"/>
          </a:xfrm>
          <a:prstGeom prst="rect">
            <a:avLst/>
          </a:prstGeom>
          <a:noFill/>
          <a:ln/>
        </p:spPr>
        <p:txBody>
          <a:bodyPr wrap="square" lIns="0" tIns="0" rIns="0" bIns="0" rtlCol="0" anchor="t"/>
          <a:lstStyle/>
          <a:p>
            <a:pPr algn="l" indent="0" marL="0">
              <a:buNone/>
            </a:pPr>
            <a:r>
              <a:rPr lang="en-US" sz="3200" b="1" dirty="0">
                <a:solidFill>
                  <a:schemeClr val="tx1"/>
                </a:solidFill>
              </a:rPr>
              <a:t>Aucune garantie de confidentialité</a:t>
            </a:r>
            <a:endParaRPr lang="en-US" sz="3200" dirty="0"/>
          </a:p>
          <a:p>
            <a:pPr algn="l" indent="0" marL="0">
              <a:buNone/>
            </a:pPr>
            <a:r>
              <a:rPr lang="en-US" sz="3200" b="1" dirty="0">
                <a:solidFill>
                  <a:schemeClr val="tx1"/>
                </a:solidFill>
              </a:rPr>
              <a:t>ou d’anti-fraude n’est démontrée</a:t>
            </a:r>
            <a:endParaRPr lang="en-US" sz="3200" dirty="0"/>
          </a:p>
        </p:txBody>
      </p:sp>
      <p:sp>
        <p:nvSpPr>
          <p:cNvPr id="3" name="Marqueur 1"/>
          <p:cNvSpPr/>
          <p:nvPr/>
        </p:nvSpPr>
        <p:spPr>
          <a:xfrm>
            <a:off x="548640" y="1911096"/>
            <a:ext cx="256032" cy="256032"/>
          </a:xfrm>
          <a:prstGeom prst="rect">
            <a:avLst/>
          </a:prstGeom>
          <a:solidFill>
            <a:srgbClr val="C2410C"/>
          </a:solidFill>
          <a:ln w="9525">
            <a:solidFill>
              <a:srgbClr val="C2410C"/>
            </a:solidFill>
            <a:prstDash val="solid"/>
          </a:ln>
        </p:spPr>
      </p:sp>
      <p:sp>
        <p:nvSpPr>
          <p:cNvPr id="4" name="Point 1"/>
          <p:cNvSpPr txBox="1"/>
          <p:nvPr/>
        </p:nvSpPr>
        <p:spPr>
          <a:xfrm>
            <a:off x="1051560" y="1783080"/>
            <a:ext cx="10591495" cy="640080"/>
          </a:xfrm>
          <a:prstGeom prst="rect">
            <a:avLst/>
          </a:prstGeom>
          <a:noFill/>
          <a:ln/>
        </p:spPr>
        <p:txBody>
          <a:bodyPr wrap="square" lIns="0" tIns="0" rIns="0" bIns="0" rtlCol="0" anchor="ctr"/>
          <a:lstStyle/>
          <a:p>
            <a:pPr indent="0" marL="0">
              <a:buNone/>
            </a:pPr>
            <a:r>
              <a:rPr lang="en-US" sz="2000" dirty="0">
                <a:solidFill>
                  <a:schemeClr val="tx1"/>
                </a:solidFill>
              </a:rPr>
              <a:t>Pas de détection de vivacité ni d’analyse anti-fraude</a:t>
            </a:r>
            <a:endParaRPr lang="en-US" sz="2000" dirty="0"/>
          </a:p>
        </p:txBody>
      </p:sp>
      <p:sp>
        <p:nvSpPr>
          <p:cNvPr id="5" name="Marqueur 2"/>
          <p:cNvSpPr/>
          <p:nvPr/>
        </p:nvSpPr>
        <p:spPr>
          <a:xfrm>
            <a:off x="548640" y="2734056"/>
            <a:ext cx="256032" cy="256032"/>
          </a:xfrm>
          <a:prstGeom prst="rect">
            <a:avLst/>
          </a:prstGeom>
          <a:solidFill>
            <a:srgbClr val="C2410C"/>
          </a:solidFill>
          <a:ln w="9525">
            <a:solidFill>
              <a:srgbClr val="C2410C"/>
            </a:solidFill>
            <a:prstDash val="solid"/>
          </a:ln>
        </p:spPr>
      </p:sp>
      <p:sp>
        <p:nvSpPr>
          <p:cNvPr id="6" name="Point 2"/>
          <p:cNvSpPr txBox="1"/>
          <p:nvPr/>
        </p:nvSpPr>
        <p:spPr>
          <a:xfrm>
            <a:off x="1051560" y="2606040"/>
            <a:ext cx="10591495" cy="640080"/>
          </a:xfrm>
          <a:prstGeom prst="rect">
            <a:avLst/>
          </a:prstGeom>
          <a:noFill/>
          <a:ln/>
        </p:spPr>
        <p:txBody>
          <a:bodyPr wrap="square" lIns="0" tIns="0" rIns="0" bIns="0" rtlCol="0" anchor="ctr"/>
          <a:lstStyle/>
          <a:p>
            <a:pPr indent="0" marL="0">
              <a:buNone/>
            </a:pPr>
            <a:r>
              <a:rPr lang="en-US" sz="2000" dirty="0">
                <a:solidFill>
                  <a:schemeClr val="tx1"/>
                </a:solidFill>
              </a:rPr>
              <a:t>Export galerie : les images échappent au contrôle de l’application</a:t>
            </a:r>
            <a:endParaRPr lang="en-US" sz="2000" dirty="0"/>
          </a:p>
        </p:txBody>
      </p:sp>
      <p:sp>
        <p:nvSpPr>
          <p:cNvPr id="7" name="Marqueur 3"/>
          <p:cNvSpPr/>
          <p:nvPr/>
        </p:nvSpPr>
        <p:spPr>
          <a:xfrm>
            <a:off x="548640" y="3557016"/>
            <a:ext cx="256032" cy="256032"/>
          </a:xfrm>
          <a:prstGeom prst="rect">
            <a:avLst/>
          </a:prstGeom>
          <a:solidFill>
            <a:srgbClr val="C2410C"/>
          </a:solidFill>
          <a:ln w="9525">
            <a:solidFill>
              <a:srgbClr val="C2410C"/>
            </a:solidFill>
            <a:prstDash val="solid"/>
          </a:ln>
        </p:spPr>
      </p:sp>
      <p:sp>
        <p:nvSpPr>
          <p:cNvPr id="8" name="Point 3"/>
          <p:cNvSpPr txBox="1"/>
          <p:nvPr/>
        </p:nvSpPr>
        <p:spPr>
          <a:xfrm>
            <a:off x="1051560" y="3429000"/>
            <a:ext cx="10591495" cy="640080"/>
          </a:xfrm>
          <a:prstGeom prst="rect">
            <a:avLst/>
          </a:prstGeom>
          <a:noFill/>
          <a:ln/>
        </p:spPr>
        <p:txBody>
          <a:bodyPr wrap="square" lIns="0" tIns="0" rIns="0" bIns="0" rtlCol="0" anchor="ctr"/>
          <a:lstStyle/>
          <a:p>
            <a:pPr indent="0" marL="0">
              <a:buNone/>
            </a:pPr>
            <a:r>
              <a:rPr lang="en-US" sz="2000" dirty="0">
                <a:solidFill>
                  <a:schemeClr val="tx1"/>
                </a:solidFill>
              </a:rPr>
              <a:t>Historique : captures de la session conservées pour consultation</a:t>
            </a:r>
            <a:endParaRPr lang="en-US" sz="2000" dirty="0"/>
          </a:p>
        </p:txBody>
      </p:sp>
      <p:sp>
        <p:nvSpPr>
          <p:cNvPr id="9" name="Marqueur 4"/>
          <p:cNvSpPr/>
          <p:nvPr/>
        </p:nvSpPr>
        <p:spPr>
          <a:xfrm>
            <a:off x="548640" y="4379976"/>
            <a:ext cx="256032" cy="256032"/>
          </a:xfrm>
          <a:prstGeom prst="rect">
            <a:avLst/>
          </a:prstGeom>
          <a:solidFill>
            <a:srgbClr val="8A97A6"/>
          </a:solidFill>
          <a:ln w="9525">
            <a:solidFill>
              <a:srgbClr val="8A97A6"/>
            </a:solidFill>
            <a:prstDash val="solid"/>
          </a:ln>
        </p:spPr>
      </p:sp>
      <p:sp>
        <p:nvSpPr>
          <p:cNvPr id="10" name="Point 4"/>
          <p:cNvSpPr txBox="1"/>
          <p:nvPr/>
        </p:nvSpPr>
        <p:spPr>
          <a:xfrm>
            <a:off x="1051560" y="4251960"/>
            <a:ext cx="10591495" cy="640080"/>
          </a:xfrm>
          <a:prstGeom prst="rect">
            <a:avLst/>
          </a:prstGeom>
          <a:noFill/>
          <a:ln/>
        </p:spPr>
        <p:txBody>
          <a:bodyPr wrap="square" lIns="0" tIns="0" rIns="0" bIns="0" rtlCol="0" anchor="ctr"/>
          <a:lstStyle/>
          <a:p>
            <a:pPr indent="0" marL="0">
              <a:buNone/>
            </a:pPr>
            <a:r>
              <a:rPr lang="en-US" sz="2000" dirty="0">
                <a:solidFill>
                  <a:schemeClr val="tx1"/>
                </a:solidFill>
              </a:rPr>
              <a:t>Chiffrement, conformité : aucune preuve dans le rapport</a:t>
            </a:r>
            <a:endParaRPr lang="en-US" sz="20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400">
                <a:solidFill>
                  <a:schemeClr val="tx2"/>
                </a:solidFill>
              </a:defRPr>
            </a:lvl1pPr>
          </a:lstStyle>
          <a:p>
            <a:pPr algn="r"/>
            <a:fld id="{F7021451-1387-4CA6-816F-3879F97B5CBC}" type="slidenum">
              <a:rPr b="0" lang="en-US"/>
              <a:t>18</a:t>
            </a:fld>
            <a:endParaRPr lang="en-US"/>
          </a:p>
        </p:txBody>
      </p:sp>
    </p:spTree>
  </p:cSld>
  <p:clrMapOvr>
    <a:masterClrMapping/>
  </p:clrMapOvr>
  <p:transition spd="med">
    <p:fade/>
  </p:transition>
</p:sld>
</file>

<file path=ppt/theme/theme1.xml><?xml version="1.0" encoding="utf-8"?>
<a:theme xmlns:a="http://schemas.openxmlformats.org/drawingml/2006/main" name="Planche technique">
  <a:themeElements>
    <a:clrScheme name="Planche technique">
      <a:dk1>
        <a:srgbClr val="14202B"/>
      </a:dk1>
      <a:lt1>
        <a:srgbClr val="FFFFFF"/>
      </a:lt1>
      <a:dk2>
        <a:srgbClr val="4A5866"/>
      </a:dk2>
      <a:lt2>
        <a:srgbClr val="F1F4F7"/>
      </a:lt2>
      <a:accent1>
        <a:srgbClr val="C2410C"/>
      </a:accent1>
      <a:accent2>
        <a:srgbClr val="1A7F4B"/>
      </a:accent2>
      <a:accent3>
        <a:srgbClr val="B42318"/>
      </a:accent3>
      <a:accent4>
        <a:srgbClr val="8A97A6"/>
      </a:accent4>
      <a:accent5>
        <a:srgbClr val="DDE3E9"/>
      </a:accent5>
      <a:accent6>
        <a:srgbClr val="3B4A59"/>
      </a:accent6>
      <a:hlink>
        <a:srgbClr val="0B5CAD"/>
      </a:hlink>
      <a:folHlink>
        <a:srgbClr val="6B4FA0"/>
      </a:folHlink>
    </a:clrScheme>
    <a:fontScheme name="Planche techniqu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Détection automatique et autocapture de la CIN — module Avatar-ID</dc:title>
  <dc:subject>Soutenance de stage — Université de la Manouba / ENSI — 2025/2026</dc:subject>
  <dc:creator>Mohammed Amine Chaieb</dc:creator>
  <cp:lastModifiedBy>Mohammed Amine Chaieb</cp:lastModifiedBy>
  <cp:revision>1</cp:revision>
  <dcterms:created xsi:type="dcterms:W3CDTF">2026-10-20T17:39:40Z</dcterms:created>
  <dcterms:modified xsi:type="dcterms:W3CDTF">2026-10-20T17:39:40Z</dcterms:modified>
</cp:coreProperties>
</file>