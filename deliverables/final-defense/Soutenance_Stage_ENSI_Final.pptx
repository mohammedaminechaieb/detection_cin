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0:30 (cumul 0:30)</a:t>
            </a:r>
          </a:p>
          <a:p/>
          <a:p>
            <a:r>
              <a:t>TEXTE ORAL</a:t>
            </a:r>
          </a:p>
          <a:p>
            <a:r>
              <a:t>Madame, Monsieur les membres du jury, bonjour. Je vais vous présenter le travail de mon stage d'été de six semaines chez Codingaholic, à La Marsa, encadré par M. Jendoubi : un module mobile qui détecte et capture automatiquement le recto puis le verso de la carte d'identité nationale tunisienne, pour l'application Avatar-ID. Je vais suivre le fil problème, conception, résultats, puis bilan, en une quinzaine de minutes.</a:t>
            </a:r>
          </a:p>
          <a:p/>
          <a:p>
            <a:r>
              <a:t>TRANSITION — « Partons du problème qu'il fallait résoudre. »</a:t>
            </a:r>
          </a:p>
          <a:p/>
          <a:p>
            <a:r>
              <a:t>QUESTION PROBABLE</a:t>
            </a:r>
          </a:p>
          <a:p>
            <a:r>
              <a:t>– « Quel était votre périmètre exact ? » → la capture : détection, contrôle de qualité, recto/verso, recadrage, amélioration. Pas la vérification d'identité elle-même ni l'anti-fraude biométrique (rapport §7.2.4).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0:50 (cumul 1:20)</a:t>
            </a:r>
          </a:p>
          <a:p/>
          <a:p>
            <a:r>
              <a:t>TEXTE ORAL</a:t>
            </a:r>
          </a:p>
          <a:p>
            <a:r>
              <a:t>Avatar-ID est une application de vérification d'identité à distance, dans l'esprit du KYC des banques. L'utilisateur doit y fournir sa carte d'identité. Si on lui demande simplement une photo, on obtient trop souvent une image floue, une carte de travers, ou deux fois le recto à la place du verso. Chaque défaut coûte un contrôle humain ou une nouvelle saisie. La question que j'ai traitée est donc : comment détecter de manière fiable et en temps réel les contours de la carte dans le flux caméra, quel que soit l'éclairage ou l'arrière-plan, pour ne capturer que des images exploitables, une seule fois par face.</a:t>
            </a:r>
          </a:p>
          <a:p/>
          <a:p>
            <a:r>
              <a:t>TRANSITION — « Concrètement, voici ce que le module devait faire. »</a:t>
            </a:r>
          </a:p>
          <a:p/>
          <a:p>
            <a:r>
              <a:t>QUESTION PROBABLE</a:t>
            </a:r>
          </a:p>
          <a:p>
            <a:r>
              <a:t>– « Pourquoi ne pas utiliser une plateforme KYC existante (Onfido, Jumio…) ? » → données d'identité envoyées à un tiers, coût de licence, dépendance réseau au moment de la capture, peu de personnalisation pour la CIN tunisienne (rapport, tableau 1.1). Avatar-ID a choisi un module interne, sur l'appareil.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1:00 (cumul 2:20)</a:t>
            </a:r>
          </a:p>
          <a:p/>
          <a:p>
            <a:r>
              <a:t>TEXTE ORAL</a:t>
            </a:r>
          </a:p>
          <a:p>
            <a:r>
              <a:t>Le besoin se résume à cinq fonctions : détecter la carte et ses contours, vérifier que l'image est nette, bien exposée et stable, reconnaître le recto puis le verso, déclencher la capture sans bouton, et enfin recadrer et améliorer l'image. Le cahier des charges fixait aussi trois cibles : moins de 100 millisecondes de traitement par image, idéalement ; au moins 90 % de recto/verso bien reconnus en conditions normales, c'est-à-dire en intérieur éclairé, carte à plat, sans reflet ; et environ deux secondes entre le moment où la carte est bien placée et la capture. Le tout sur Android et sur iOS, en six semaines. J'insiste : ce sont des cibles ; je présenterai les mesures plus loin, avec leurs limites.</a:t>
            </a:r>
          </a:p>
          <a:p/>
          <a:p>
            <a:r>
              <a:t>TRANSITION — « La contrainte Android + iOS a directement décidé de la technologie. »</a:t>
            </a:r>
          </a:p>
          <a:p/>
          <a:p>
            <a:r>
              <a:t>QUESTION PROBABLE</a:t>
            </a:r>
          </a:p>
          <a:p>
            <a:r>
              <a:t>– « Les besoins secondaires ? » → reprise manuelle après capture (implémentée), anti-doublon (implémenté), alerte si aucune carte n'est détectée après un délai (non implémentée, voir limites).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0:55 (cumul 3:15)</a:t>
            </a:r>
          </a:p>
          <a:p/>
          <a:p>
            <a:r>
              <a:t>TEXTE ORAL</a:t>
            </a:r>
          </a:p>
          <a:p>
            <a:r>
              <a:t>Trois briques ont été évaluées. Le Document Scanner de Google ML Kit est simple à intégrer, mais il n'existe que sur Android : il aurait fallu une deuxième chaîne de détection pour iOS. Un modèle entraîné sur mesure aurait été le plus robuste, mais il demande plusieurs centaines d'images de CIN annotées ; pour une pièce d'identité, je ne pouvais ni les collecter ni les annoter en six semaines. Il restait OpenCV, multiplateforme, sans entraînement. Le prix à payer, je l'assume : tous les seuils sont réglés à la main, de façon empirique. C'est une élimination par contraintes, pas un benchmark chiffré.</a:t>
            </a:r>
          </a:p>
          <a:p/>
          <a:p>
            <a:r>
              <a:t>TRANSITION — « Voyons comment j'ai organisé le code autour de cette brique. »</a:t>
            </a:r>
          </a:p>
          <a:p/>
          <a:p>
            <a:r>
              <a:t>QUESTIONS PROBABLES</a:t>
            </a:r>
          </a:p>
          <a:p>
            <a:r>
              <a:t>– « Pourquoi pas du deep learning ? » → pas de jeu de données annoté possible, pas de jeu public pour des raisons de confidentialité, et six semaines pour toute la fonctionnalité (rapport p. 15).</a:t>
            </a:r>
          </a:p>
          <a:p>
            <a:r>
              <a:t>– « Utilisez-vous un modèle appris quelque part ? » → oui, un seul : la cascade de Haar de détection de visage, pré-entraînée et fournie par OpenCV. Je ne l'ai pas entraînée.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0:55 (cumul 4:10)</a:t>
            </a:r>
          </a:p>
          <a:p/>
          <a:p>
            <a:r>
              <a:t>TEXTE ORAL</a:t>
            </a:r>
          </a:p>
          <a:p>
            <a:r>
              <a:t>L'application suit la Clean Architecture, découpée par fonctionnalité : sept modules, plus deux modules transverses. À gauche, le motif d'un module : la présentation dépend du domaine, et la couche données implémente les interfaces du domaine. Le point clé est la couche domaine, en bleu : elle ne dépend ni de Flutter ni d'OpenCV. La machine à états, la décision de capture ou la géométrie du quadrilatère se testent donc sans caméra et sans émulateur. À droite, je montre honnêtement que chaque module ne prend que les couches dont il a besoin : seuls document_detection et image_postprocessing ont les trois.</a:t>
            </a:r>
          </a:p>
          <a:p/>
          <a:p>
            <a:r>
              <a:t>TRANSITION — « Entrons dans le cœur technique : la détection de la carte. »</a:t>
            </a:r>
          </a:p>
          <a:p/>
          <a:p>
            <a:r>
              <a:t>QUESTION PROBABLE</a:t>
            </a:r>
          </a:p>
          <a:p>
            <a:r>
              <a:t>– « Pourquoi feature-first ? » → l'arborescence suit le plan en six étapes, chaque étape livrant un ou deux modules ; et un module ne peut pas casser silencieusement un autre, puisqu'ils ne partagent que des interfaces de domaine explicites (rapport §2.6.1).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1:30 (cumul 5:40)</a:t>
            </a:r>
          </a:p>
          <a:p/>
          <a:p>
            <a:r>
              <a:t>TEXTE ORAL</a:t>
            </a:r>
          </a:p>
          <a:p>
            <a:r>
              <a:t>Voici le pipeline, appliqué à chaque image. Un : la frame caméra, en YUV420 sur Android ou BGRA sur iOS, est convertie en matrice OpenCV. Deux : un CLAHE renforce le contraste local. Trois : quatre passes indépendantes produisent chacune un masque de contours : Canny, avec des seuils calculés à partir de la médiane d'intensité ; un seuillage adaptatif gaussien ; une segmentation sur la saturation HSV avec Otsu ; et, en dernier recours, un gradient morphologique. Chaque contour est simplifié en polygone ; s'il a quatre sommets convexes, c'est un candidat. Quatre : un score que j'ai défini, 80 % sur la proportion par rapport au format ID-1 et 20 % sur la taille, retient le meilleur au-dessus de 0,30. Cinq : une homographie redresse la carte en 856 par 540 pixels.</a:t>
            </a:r>
          </a:p>
          <a:p>
            <a:r>
              <a:t>En bas, ce que j'ai conçu autour des primitives d'OpenCV : la sortie anticipée qui évite les passes coûteuses, le suivi qui ne cherche qu'autour de la position précédente, les garde-fous contre un faux quadrilatère qui « verrouillerait » le fond, et l'isolate Dart qui garde l'aperçu fluide : s'il est occupé, la frame suivante est simplement ignorée, sans file d'attente.</a:t>
            </a:r>
          </a:p>
          <a:p/>
          <a:p>
            <a:r>
              <a:t>TRANSITION — « Cette chaîne n'a pas marché du premier coup. »</a:t>
            </a:r>
          </a:p>
          <a:p/>
          <a:p>
            <a:r>
              <a:t>QUESTIONS PROBABLES</a:t>
            </a:r>
          </a:p>
          <a:p>
            <a:r>
              <a:t>– « Et si le polygone n'a pas quatre sommets ? » → rectangle englobant minimal, avec une pénalité de score ×0,85.</a:t>
            </a:r>
          </a:p>
          <a:p>
            <a:r>
              <a:t>– « Pourquoi le terme 1/r dans le score ? » → pour qu'une carte vue à 90° ne soit pas pénalisée.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1:05 (cumul 6:45)</a:t>
            </a:r>
          </a:p>
          <a:p/>
          <a:p>
            <a:r>
              <a:t>TEXTE ORAL</a:t>
            </a:r>
          </a:p>
          <a:p>
            <a:r>
              <a:t>La vraie difficulté du projet est apparue pendant les essais : la détection fonctionnait sur fond sombre, mais échouait très souvent avec une carte claire posée sur une table blanche, un cas pourtant courant. J'ai trouvé deux causes. D'abord un bug : les seuils de Canny étaient calculés à partir de la moyenne d'intensité de l'image, et pas de sa médiane ; sur une scène claire, la moyenne monte et les seuils deviennent trop stricts pour un bord faible. Ensuite, un contraste local insuffisant. J'ai appliqué trois correctifs ensemble : la vraie médiane, une passe CLAHE avant la détection, et un nouveau réglage des seuils de score et d'aire. Après ces correctifs, j'ai observé un taux de détection comparable sur les deux fonds. Je n'ai pas fait de mesure avant/après : je ne peux donc pas attribuer le gain à un correctif plutôt qu'à un autre.</a:t>
            </a:r>
          </a:p>
          <a:p/>
          <a:p>
            <a:r>
              <a:t>TRANSITION — « Une fois la carte trouvée, il faut décider quand capturer. »</a:t>
            </a:r>
          </a:p>
          <a:p/>
          <a:p>
            <a:r>
              <a:t>QUESTION PROBABLE</a:t>
            </a:r>
          </a:p>
          <a:p>
            <a:r>
              <a:t>– « Lequel des correctifs a le plus compté ? » → je ne l'ai pas isolé ; une étude d'ablation sur un jeu d'images fixe serait la bonne méthode. Le gradient morphologique a été ajouté pour le même cas extrême, en dernier recours.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1:15 (cumul 8:00)</a:t>
            </a:r>
          </a:p>
          <a:p/>
          <a:p>
            <a:r>
              <a:t>TEXTE ORAL</a:t>
            </a:r>
          </a:p>
          <a:p>
            <a:r>
              <a:t>L'autocapture est une machine à états. On part de searching. Dès que la carte est trouvée, on passe en poorQuality tant qu'un contrôle échoue. Les contrôles sont au nombre de quatre : la netteté, mesurée par la variance du Laplacien après CLAHE, au moins 120 sur l'image redressée ; la luminosité, avec une moyenne entre 60 et 225 et au plus 12 % de pixels saturés, pour détecter un reflet ; la stabilité, avec une dérive des coins inférieure à 2,5 % de la diagonale sur trois frames ; et enfin le contenu, c'est-à-dire la bonne face. Quand tout est bon, on entre en holding ; il faut tenir deux frames bonnes consécutives : c'est un compteur, pas une minuterie. Alors seulement la capture part. Si la carte est perdue, on revient à searching ; si la capture échoue, on réinitialise. À droite, l'écran réel : l'application dit à l'utilisateur ce qui bloque, ici « Ne bougez plus ».</a:t>
            </a:r>
          </a:p>
          <a:p/>
          <a:p>
            <a:r>
              <a:t>TRANSITION — « Le contrôle de contenu repose sur la reconnaissance du recto et du verso. »</a:t>
            </a:r>
          </a:p>
          <a:p/>
          <a:p>
            <a:r>
              <a:t>QUESTIONS PROBABLES</a:t>
            </a:r>
          </a:p>
          <a:p>
            <a:r>
              <a:t>– « Pourquoi 120 ? » → seuil empirique, valable seulement à la résolution de redressement 856 × 540 ; à une autre résolution la variance change (rapport §5.2.1).</a:t>
            </a:r>
          </a:p>
          <a:p>
            <a:r>
              <a:t>– « Pourquoi ≈ 2 s mesurées si deux frames suffisent ? » → à environ 10 analyses par seconde, les compteurs (3 frames de stabilité, 2 de maintien) ne représentent qu'une fraction de seconde ; le reste vient de la confirmation des signaux de contenu et du geste de l'utilisateur. Je ne l'ai pas décomposé finement : c'est un chronométrage manuel.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1:10 (cumul 9:10)</a:t>
            </a:r>
          </a:p>
          <a:p/>
          <a:p>
            <a:r>
              <a:t>TEXTE ORAL</a:t>
            </a:r>
          </a:p>
          <a:p>
            <a:r>
              <a:t>Pour savoir quelle face est présentée, j'exploite la mise en page de la CIN. Au recto, la photo est toujours dans le quart supérieur gauche. J'y cherche un visage avec la cascade de Haar standard d'OpenCV — pré-entraînée, je ne l'ai pas entraînée sur la CIN — en testant les quatre rotations : celle qui trouve le visage me donne en plus l'orientation de la carte. Je confirme ensuite avec le logo et le drapeau par template matching, avec une corrélation d'au moins 0,6 ; ce sont les gabarits que vous voyez, embarqués dans l'application. Le verso n'a pas de visage : trois indices votent sur les quatre rotations — la localisation du code-barres, la texture de l'empreinte mesurée par la variance du Laplacien, et la ligne de séparation trouvée par une transformée de Hough. Conséquence : après le recto, présenter à nouveau le recto ne déclenche rien. Les images montrent les silhouettes de guidage de l'application, pas des détections.</a:t>
            </a:r>
          </a:p>
          <a:p/>
          <a:p>
            <a:r>
              <a:t>TRANSITION — « Voyons maintenant ce que l'utilisateur obtient. »</a:t>
            </a:r>
          </a:p>
          <a:p/>
          <a:p>
            <a:r>
              <a:t>QUESTION PROBABLE</a:t>
            </a:r>
          </a:p>
          <a:p>
            <a:r>
              <a:t>– « Haar est-il robuste pour une photo d'identité ? » → c'est une cascade générique de visage de face ; elle suffit ici car la région est petite et fixe, mais je n'ai pas mesuré son rappel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1:15 (cumul 10:25) — si la démonstration en direct est prévue, la lancer ici (≈ 45 s) et raccourcir le commentaire.</a:t>
            </a:r>
          </a:p>
          <a:p/>
          <a:p>
            <a:r>
              <a:t>TEXTE ORAL</a:t>
            </a:r>
          </a:p>
          <a:p>
            <a:r>
              <a:t>Voici le parcours tel qu'il apparaît à l'écran, sur des captures de ma session de test où les données de la carte sont masquées. L'utilisateur présente le recto puis le verso : les deux captures partent seules. Il arrive ensuite sur l'écran de vérification : il peut régler le contraste, activer la netteté ou un mode scan noir et blanc. Il peut ajuster chaque face séparément, en glissant les coins du cadre ou en la faisant pivoter, sans perdre l'autre face. Enfin, il exporte vers la galerie le recto, le verso et une page A4 à 300 dpi qui compose les deux faces comme un scanner ; il retrouve ses captures dans l'historique. Pour Avatar-ID, le module restitue les deux images finales et, si besoin, la page A4.</a:t>
            </a:r>
          </a:p>
          <a:p/>
          <a:p>
            <a:r>
              <a:t>TRANSITION — « Comment ai-je vérifié que tout cela fonctionne ? »</a:t>
            </a:r>
          </a:p>
          <a:p/>
          <a:p>
            <a:r>
              <a:t>QUESTIONS PROBABLES</a:t>
            </a:r>
          </a:p>
          <a:p>
            <a:r>
              <a:t>– « Où vont les images exportées ? » → dans la galerie de l'appareil ; à partir de là, elles suivent la vie normale des photos (sauvegarde cloud, partage) : l'utilisateur doit en être informé (rapport §7.2.4).</a:t>
            </a:r>
          </a:p>
          <a:p>
            <a:r>
              <a:t>– « Qu'est-ce qu'Avatar-ID reçoit ? » → deux images (Uint8List) et, le cas échéant, la page d'impression : le module est une brique autonome (rapport §8.2.5).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0:50 (cumul 11:15)</a:t>
            </a:r>
          </a:p>
          <a:p/>
          <a:p>
            <a:r>
              <a:t>TEXTE ORAL</a:t>
            </a:r>
          </a:p>
          <a:p>
            <a:r>
              <a:t>Les tests suivent quatre paliers, selon ce dont ils ont besoin pour tourner : A, de la logique Dart pure ; B, des plugins simulés par des mocks ; C, le vrai binaire OpenCV sur des images synthétiques ; et D, de vraies cartes et un vrai téléphone. La suite compte 28 fichiers. Lors de ma dernière campagne, 21 fichiers se sont exécutés, soit 177 cas, tous réussis. Sept fichiers n'apparaissent pas dans le journal, dont trois touchent le cœur du pipeline. Je ne présente donc pas ce chiffre comme une couverture : la couverture n'a pas été mesurée, et le palier D reste un protocole manuel.</a:t>
            </a:r>
          </a:p>
          <a:p/>
          <a:p>
            <a:r>
              <a:t>TRANSITION — « Le palier D, justement, a produit trois mesures sur appareil. »</a:t>
            </a:r>
          </a:p>
          <a:p/>
          <a:p>
            <a:r>
              <a:t>QUESTIONS PROBABLES</a:t>
            </a:r>
          </a:p>
          <a:p>
            <a:r>
              <a:t>– « Pourquoi sept fichiers n'ont-ils pas tourné ? » → ils n'apparaissent pas dans le journal, sans message d'erreur. Ce n'est pas le binaire OpenCV : cinq des sept fichiers C se sont exécutés. La correction est simple : relancer flutter test --reporter expanded --coverage.</a:t>
            </a:r>
          </a:p>
          <a:p>
            <a:r>
              <a:t>– Détail par module : diapositive de secours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1:00 (cumul 12:15)</a:t>
            </a:r>
          </a:p>
          <a:p/>
          <a:p>
            <a:r>
              <a:t>TEXTE ORAL</a:t>
            </a:r>
          </a:p>
          <a:p>
            <a:r>
              <a:t>Sur appareil réel, j'ai relevé trois mesures. Le traitement d'une frame dans l'isolate prend entre 92 et 100 millisecondes : c'est dans la cible, mais la borne haute la touche, et ce n'est pas la latence de bout en bout, puisque le transfert et l'affichage ne sont pas comptés. Le recto/verso est bien reconnu dans 92 % des cas, pour une cible de 90 %, en conditions normales ; le nombre de cartes et d'essais n'est pas consigné dans le rapport, donc je ne revendique aucune marge statistique. Enfin, la capture part environ deux secondes après la stabilisation du cadre ; j'ai chronométré à la main, et à partir de la stabilisation, pas de la pose de la carte. Les trois cibles sont donc atteintes, de justesse.</a:t>
            </a:r>
          </a:p>
          <a:p/>
          <a:p>
            <a:r>
              <a:t>TRANSITION — « Ces réserves font partie d'un ensemble de limites que je préfère nommer moi-même. »</a:t>
            </a:r>
          </a:p>
          <a:p/>
          <a:p>
            <a:r>
              <a:t>QUESTIONS PROBABLES</a:t>
            </a:r>
          </a:p>
          <a:p>
            <a:r>
              <a:t>– « Sur quel téléphone ? Combien de cartes ? » → répondre avec vos notes d'essais ; si elles ne sont pas consignées, le dire : mesure indicative, protocole à formaliser.</a:t>
            </a:r>
          </a:p>
          <a:p>
            <a:r>
              <a:t>– « Les cartes de réglage et de test étaient-elles les mêmes ? » → les seuils ont été réglés sur les échantillons disponibles ; c'est précisément pourquoi un jeu d'images plus large et disjoint est la première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0:50 (cumul 13:05)</a:t>
            </a:r>
          </a:p>
          <a:p/>
          <a:p>
            <a:r>
              <a:t>TEXTE ORAL</a:t>
            </a:r>
          </a:p>
          <a:p>
            <a:r>
              <a:t>Je préfère nommer les limites moi-même. Un : iOS était exigé, et c'est ce qui a motivé le choix d'OpenCV, mais je n'ai pas documenté d'essai sur iOS. Deux : les seuils ont été réglés, et les mesures faites, sur un petit nombre de cartes. Trois : sept fichiers de test n'ont pas été exécutés et la couverture n'est pas mesurée. Quatre : le message qui prévient l'utilisateur quand aucune carte n'est détectée n'est pas implémenté. Cinq : le module rend une photo d'écran ou une image préparée beaucoup plus difficile à soumettre, mais ce n'est pas une détection de vivacité ou de rejeu : c'est hors du périmètre du stage.</a:t>
            </a:r>
          </a:p>
          <a:p/>
          <a:p>
            <a:r>
              <a:t>TRANSITION — « Pour conclure. »</a:t>
            </a:r>
          </a:p>
          <a:p/>
          <a:p>
            <a:r>
              <a:t>QUESTIONS PROBABLES</a:t>
            </a:r>
          </a:p>
          <a:p>
            <a:r>
              <a:t>– « Une photo d'écran passe-t-elle ? » → les contrôles réduisent fortement ce risque sans le garantir ; une garantie demanderait une analyse anti-spoofing dédiée (rapport §7.2.4).</a:t>
            </a:r>
          </a:p>
          <a:p>
            <a:r>
              <a:t>– « Est-ce prêt pour la production ? » → pas encore : il faut d'abord la validation iOS, un jeu d'images représentatif, la campagne de tests complète et le timeout.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0:50 (cumul 13:55) — Marge ≈ 1 min jusqu'à 15:00. Laisser cette diapositive affichée pendant les questions.</a:t>
            </a:r>
          </a:p>
          <a:p/>
          <a:p>
            <a:r>
              <a:t>TEXTE ORAL</a:t>
            </a:r>
          </a:p>
          <a:p>
            <a:r>
              <a:t>En six semaines, j'ai livré un module qui capture seul le recto puis le verso d'une CIN : détection par quatre passes et un score, autocapture sur quatre contrôles, reconnaissance recto/verso avec anti-doublon, puis vérification, page A4 et historique. Les trois mesures atteignent les cibles de justesse ; 177 tests passent sur 21 des 28 fichiers. Prochaine étape : valider sur iOS et constituer un jeu d'images représentatif. J'en retiens qu'un choix technique se défend par les contraintes réelles, et qu'une mesure vaut par son protocole. Merci de votre attention ; je suis à votre disposition pour vos questions.</a:t>
            </a:r>
          </a:p>
          <a:p/>
          <a:p>
            <a:r>
              <a:t>QUESTIONS PROBABLES (voir secours A à D)</a:t>
            </a:r>
          </a:p>
          <a:p>
            <a:r>
              <a:t>– Seuils → secours A · Tests → secours B · Sécurité / confidentialité → secours C · « Qu'avez-vous développé vous-même ? » et références → secours D.</a:t>
            </a:r>
          </a:p>
          <a:p>
            <a:r>
              <a:t>– « Quelle priorité d'abord ? » → la validation iOS, parce que c'est la raison même du choix d'OpenCV.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SECOURS A — à ouvrir seulement si le jury interroge les seuils.</a:t>
            </a:r>
          </a:p>
          <a:p>
            <a:r>
              <a:t>Tous ont été fixés par réglage empirique sur les échantillons de CIN disponibles (rapport §5.5). Le seuil de netteté 120 est calibré sur l'image redressée de 856 × 540 px : à une autre résolution, la variance du Laplacien change et le seuil n'est plus valable. Aucune analyse de sensibilité n'a été faite : c'est une perspective naturelle une fois un jeu d'images constitué.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SECOURS B — détail des tests.</a:t>
            </a:r>
          </a:p>
          <a:p>
            <a:r>
              <a:t>28 fichiers : 15 de palier A, 6 de B, 7 de C. La dernière campagne en a exécuté 21, soit 177 cas, tous réussis (00:16 +177: All tests passed!). Les sept fichiers listés n'apparaissent dans aucune ligne du journal, sans message d'erreur. Le palier D (visage réel, code-barres, empreinte, ligne, flux caméra de bout en bout) relève d'un protocole manuel.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SECOURS C — sécurité et confidentialité.</a:t>
            </a:r>
          </a:p>
          <a:p>
            <a:r>
              <a:t>Si le jury cite le §1.1.2 (« sans possibilité de soumettre une photo d'écran ») : c'est l'exigence d'Avatar-ID. Le module y contribue en réduisant fortement le risque, mais ne constitue pas une détection de rejeu ou de spoofing (§7.2.4). Chiffrement et conformité : non traités dans le stage — répondre « non évalué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SECOURS D — « Qu'avez-vous développé vous-même ? » et références.</a:t>
            </a:r>
          </a:p>
          <a:p>
            <a:r>
              <a:t>OpenCV fournit les opérateurs ; j'ai conçu leur enchaînement (quatre passes, sortie anticipée, suivi, garde-fous), le score géométrique, l'architecture en isolate, la stabilisation, la machine à états et la décision d'autocapture, le vote sur quatre rotations du verso, le post-traitement et la page A4, ainsi que les écrans. Les références sont celles de la bibliographie du rapport.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 manouba"/>
          <p:cNvPicPr>
            <a:picLocks noChangeAspect="1"/>
          </p:cNvPicPr>
          <p:nvPr/>
        </p:nvPicPr>
        <p:blipFill>
          <a:blip r:embed="rId2"/>
          <a:stretch>
            <a:fillRect/>
          </a:stretch>
        </p:blipFill>
        <p:spPr>
          <a:xfrm>
            <a:off x="548640" y="502920"/>
            <a:ext cx="541474" cy="713232"/>
          </a:xfrm>
          <a:prstGeom prst="rect">
            <a:avLst/>
          </a:prstGeom>
        </p:spPr>
      </p:pic>
      <p:pic>
        <p:nvPicPr>
          <p:cNvPr id="3" name="Picture 2" descr="Logo ensi"/>
          <p:cNvPicPr>
            <a:picLocks noChangeAspect="1"/>
          </p:cNvPicPr>
          <p:nvPr/>
        </p:nvPicPr>
        <p:blipFill>
          <a:blip r:embed="rId3"/>
          <a:stretch>
            <a:fillRect/>
          </a:stretch>
        </p:blipFill>
        <p:spPr>
          <a:xfrm>
            <a:off x="1410153" y="502920"/>
            <a:ext cx="594360" cy="713232"/>
          </a:xfrm>
          <a:prstGeom prst="rect">
            <a:avLst/>
          </a:prstGeom>
        </p:spPr>
      </p:pic>
      <p:pic>
        <p:nvPicPr>
          <p:cNvPr id="4" name="Picture 3" descr="Logo codingaholic"/>
          <p:cNvPicPr>
            <a:picLocks noChangeAspect="1"/>
          </p:cNvPicPr>
          <p:nvPr/>
        </p:nvPicPr>
        <p:blipFill>
          <a:blip r:embed="rId4"/>
          <a:stretch>
            <a:fillRect/>
          </a:stretch>
        </p:blipFill>
        <p:spPr>
          <a:xfrm>
            <a:off x="2324554" y="649224"/>
            <a:ext cx="1293721" cy="566928"/>
          </a:xfrm>
          <a:prstGeom prst="rect">
            <a:avLst/>
          </a:prstGeom>
        </p:spPr>
      </p:pic>
      <p:sp>
        <p:nvSpPr>
          <p:cNvPr id="5" name="TextBox 4"/>
          <p:cNvSpPr txBox="1"/>
          <p:nvPr/>
        </p:nvSpPr>
        <p:spPr>
          <a:xfrm>
            <a:off x="548640" y="1783080"/>
            <a:ext cx="6949440" cy="320040"/>
          </a:xfrm>
          <a:prstGeom prst="rect">
            <a:avLst/>
          </a:prstGeom>
          <a:noFill/>
        </p:spPr>
        <p:txBody>
          <a:bodyPr wrap="square" lIns="0" rIns="0" tIns="0" bIns="0" anchor="t">
            <a:spAutoFit/>
          </a:bodyPr>
          <a:lstStyle/>
          <a:p>
            <a:pPr algn="l"/>
            <a:r>
              <a:rPr sz="1400" b="1" i="0">
                <a:solidFill>
                  <a:srgbClr val="2E75B6"/>
                </a:solidFill>
                <a:latin typeface="Arial"/>
              </a:rPr>
              <a:t>SOUTENANCE DE STAGE D'ÉTÉ · 2025/2026</a:t>
            </a:r>
          </a:p>
        </p:txBody>
      </p:sp>
      <p:sp>
        <p:nvSpPr>
          <p:cNvPr id="6" name="Titre"/>
          <p:cNvSpPr txBox="1"/>
          <p:nvPr/>
        </p:nvSpPr>
        <p:spPr>
          <a:xfrm>
            <a:off x="548640" y="2148840"/>
            <a:ext cx="6949440" cy="1645920"/>
          </a:xfrm>
          <a:prstGeom prst="rect">
            <a:avLst/>
          </a:prstGeom>
          <a:noFill/>
        </p:spPr>
        <p:txBody>
          <a:bodyPr wrap="square" lIns="0" rIns="0" tIns="0" bIns="0" anchor="t">
            <a:spAutoFit/>
          </a:bodyPr>
          <a:lstStyle/>
          <a:p>
            <a:pPr algn="l"/>
            <a:r>
              <a:rPr sz="3600" b="1" i="0">
                <a:solidFill>
                  <a:srgbClr val="1F3A5F"/>
                </a:solidFill>
                <a:latin typeface="Arial"/>
              </a:rPr>
              <a:t>Détection automatique et autocapture de la CIN tunisienne</a:t>
            </a:r>
          </a:p>
        </p:txBody>
      </p:sp>
      <p:sp>
        <p:nvSpPr>
          <p:cNvPr id="7" name="TextBox 6"/>
          <p:cNvSpPr txBox="1"/>
          <p:nvPr/>
        </p:nvSpPr>
        <p:spPr>
          <a:xfrm>
            <a:off x="548640" y="3886200"/>
            <a:ext cx="6583680" cy="731520"/>
          </a:xfrm>
          <a:prstGeom prst="rect">
            <a:avLst/>
          </a:prstGeom>
          <a:noFill/>
        </p:spPr>
        <p:txBody>
          <a:bodyPr wrap="square" lIns="0" rIns="0" tIns="0" bIns="0" anchor="t">
            <a:spAutoFit/>
          </a:bodyPr>
          <a:lstStyle/>
          <a:p>
            <a:pPr algn="l"/>
            <a:r>
              <a:rPr sz="2000" b="0" i="0">
                <a:solidFill>
                  <a:srgbClr val="1B2530"/>
                </a:solidFill>
                <a:latin typeface="Arial"/>
              </a:rPr>
              <a:t>Module de capture recto/verso pour Avatar-ID, application Flutter de vérification d'identité à distance</a:t>
            </a:r>
          </a:p>
        </p:txBody>
      </p:sp>
      <p:sp>
        <p:nvSpPr>
          <p:cNvPr id="8" name="TextBox 7"/>
          <p:cNvSpPr txBox="1"/>
          <p:nvPr/>
        </p:nvSpPr>
        <p:spPr>
          <a:xfrm>
            <a:off x="548640" y="4846320"/>
            <a:ext cx="7086600" cy="1188720"/>
          </a:xfrm>
          <a:prstGeom prst="rect">
            <a:avLst/>
          </a:prstGeom>
          <a:noFill/>
        </p:spPr>
        <p:txBody>
          <a:bodyPr wrap="square" lIns="0" rIns="0" tIns="0" bIns="0" anchor="t">
            <a:spAutoFit/>
          </a:bodyPr>
          <a:lstStyle/>
          <a:p>
            <a:pPr algn="l">
              <a:spcAft>
                <a:spcPts val="400"/>
              </a:spcAft>
            </a:pPr>
            <a:r>
              <a:rPr sz="2000" b="1" i="0">
                <a:solidFill>
                  <a:srgbClr val="1F3A5F"/>
                </a:solidFill>
                <a:latin typeface="Arial"/>
              </a:rPr>
              <a:t>Mohammed Amine Chaieb</a:t>
            </a:r>
          </a:p>
          <a:p>
            <a:pPr algn="l">
              <a:spcAft>
                <a:spcPts val="400"/>
              </a:spcAft>
            </a:pPr>
            <a:r>
              <a:rPr sz="1600" b="0" i="0">
                <a:solidFill>
                  <a:srgbClr val="5B6B7A"/>
                </a:solidFill>
                <a:latin typeface="Arial"/>
              </a:rPr>
              <a:t>Codingaholic, La Marsa · encadrant : M. Jendoubi Mohamed Khalil</a:t>
            </a:r>
          </a:p>
          <a:p>
            <a:pPr algn="l">
              <a:spcAft>
                <a:spcPts val="400"/>
              </a:spcAft>
            </a:pPr>
            <a:r>
              <a:rPr sz="1600" b="0" i="0">
                <a:solidFill>
                  <a:srgbClr val="5B6B7A"/>
                </a:solidFill>
                <a:latin typeface="Arial"/>
              </a:rPr>
              <a:t>Université de la Manouba · École Nationale des Sciences de l'Informatique</a:t>
            </a:r>
          </a:p>
        </p:txBody>
      </p:sp>
      <p:sp>
        <p:nvSpPr>
          <p:cNvPr id="9" name="Rounded Rectangle 8"/>
          <p:cNvSpPr/>
          <p:nvPr/>
        </p:nvSpPr>
        <p:spPr>
          <a:xfrm>
            <a:off x="7818120" y="1874519"/>
            <a:ext cx="3794760" cy="2393890"/>
          </a:xfrm>
          <a:prstGeom prst="roundRect">
            <a:avLst>
              <a:gd name="adj" fmla="val 6000"/>
            </a:avLst>
          </a:prstGeom>
          <a:noFill/>
          <a:ln w="15875">
            <a:solidFill>
              <a:srgbClr val="1F3A5F"/>
            </a:solidFill>
          </a:ln>
        </p:spPr>
        <p:txBody>
          <a:bodyPr rtlCol="0" anchor="ctr"/>
          <a:lstStyle/>
          <a:p/>
        </p:txBody>
      </p:sp>
      <p:cxnSp>
        <p:nvCxnSpPr>
          <p:cNvPr id="10" name="Connector 9"/>
          <p:cNvCxnSpPr/>
          <p:nvPr/>
        </p:nvCxnSpPr>
        <p:spPr>
          <a:xfrm>
            <a:off x="7763256" y="1819655"/>
            <a:ext cx="320497" cy="0"/>
          </a:xfrm>
          <a:prstGeom prst="line">
            <a:avLst/>
          </a:prstGeom>
          <a:ln w="31750">
            <a:solidFill>
              <a:srgbClr val="2E75B6"/>
            </a:solidFill>
          </a:ln>
        </p:spPr>
      </p:cxnSp>
      <p:cxnSp>
        <p:nvCxnSpPr>
          <p:cNvPr id="11" name="Connector 10"/>
          <p:cNvCxnSpPr/>
          <p:nvPr/>
        </p:nvCxnSpPr>
        <p:spPr>
          <a:xfrm>
            <a:off x="7763256" y="1819655"/>
            <a:ext cx="0" cy="320498"/>
          </a:xfrm>
          <a:prstGeom prst="line">
            <a:avLst/>
          </a:prstGeom>
          <a:ln w="31750">
            <a:solidFill>
              <a:srgbClr val="2E75B6"/>
            </a:solidFill>
          </a:ln>
        </p:spPr>
      </p:cxnSp>
      <p:cxnSp>
        <p:nvCxnSpPr>
          <p:cNvPr id="12" name="Connector 11"/>
          <p:cNvCxnSpPr/>
          <p:nvPr/>
        </p:nvCxnSpPr>
        <p:spPr>
          <a:xfrm flipH="1">
            <a:off x="11347246" y="1819655"/>
            <a:ext cx="320498" cy="0"/>
          </a:xfrm>
          <a:prstGeom prst="line">
            <a:avLst/>
          </a:prstGeom>
          <a:ln w="31750">
            <a:solidFill>
              <a:srgbClr val="2E75B6"/>
            </a:solidFill>
          </a:ln>
        </p:spPr>
      </p:cxnSp>
      <p:cxnSp>
        <p:nvCxnSpPr>
          <p:cNvPr id="13" name="Connector 12"/>
          <p:cNvCxnSpPr/>
          <p:nvPr/>
        </p:nvCxnSpPr>
        <p:spPr>
          <a:xfrm>
            <a:off x="11667744" y="1819655"/>
            <a:ext cx="0" cy="320498"/>
          </a:xfrm>
          <a:prstGeom prst="line">
            <a:avLst/>
          </a:prstGeom>
          <a:ln w="31750">
            <a:solidFill>
              <a:srgbClr val="2E75B6"/>
            </a:solidFill>
          </a:ln>
        </p:spPr>
      </p:cxnSp>
      <p:cxnSp>
        <p:nvCxnSpPr>
          <p:cNvPr id="14" name="Connector 13"/>
          <p:cNvCxnSpPr/>
          <p:nvPr/>
        </p:nvCxnSpPr>
        <p:spPr>
          <a:xfrm flipH="1">
            <a:off x="11347246" y="4323274"/>
            <a:ext cx="320498" cy="0"/>
          </a:xfrm>
          <a:prstGeom prst="line">
            <a:avLst/>
          </a:prstGeom>
          <a:ln w="31750">
            <a:solidFill>
              <a:srgbClr val="2E75B6"/>
            </a:solidFill>
          </a:ln>
        </p:spPr>
      </p:cxnSp>
      <p:cxnSp>
        <p:nvCxnSpPr>
          <p:cNvPr id="15" name="Connector 14"/>
          <p:cNvCxnSpPr/>
          <p:nvPr/>
        </p:nvCxnSpPr>
        <p:spPr>
          <a:xfrm flipV="1">
            <a:off x="11667744" y="4002777"/>
            <a:ext cx="0" cy="320497"/>
          </a:xfrm>
          <a:prstGeom prst="line">
            <a:avLst/>
          </a:prstGeom>
          <a:ln w="31750">
            <a:solidFill>
              <a:srgbClr val="2E75B6"/>
            </a:solidFill>
          </a:ln>
        </p:spPr>
      </p:cxnSp>
      <p:cxnSp>
        <p:nvCxnSpPr>
          <p:cNvPr id="16" name="Connector 15"/>
          <p:cNvCxnSpPr/>
          <p:nvPr/>
        </p:nvCxnSpPr>
        <p:spPr>
          <a:xfrm>
            <a:off x="7763256" y="4323274"/>
            <a:ext cx="320497" cy="0"/>
          </a:xfrm>
          <a:prstGeom prst="line">
            <a:avLst/>
          </a:prstGeom>
          <a:ln w="31750">
            <a:solidFill>
              <a:srgbClr val="2E75B6"/>
            </a:solidFill>
          </a:ln>
        </p:spPr>
      </p:cxnSp>
      <p:cxnSp>
        <p:nvCxnSpPr>
          <p:cNvPr id="17" name="Connector 16"/>
          <p:cNvCxnSpPr/>
          <p:nvPr/>
        </p:nvCxnSpPr>
        <p:spPr>
          <a:xfrm flipV="1">
            <a:off x="7763256" y="4002777"/>
            <a:ext cx="0" cy="320497"/>
          </a:xfrm>
          <a:prstGeom prst="line">
            <a:avLst/>
          </a:prstGeom>
          <a:ln w="31750">
            <a:solidFill>
              <a:srgbClr val="2E75B6"/>
            </a:solidFill>
          </a:ln>
        </p:spPr>
      </p:cxnSp>
      <p:sp>
        <p:nvSpPr>
          <p:cNvPr id="18" name="TextBox 17"/>
          <p:cNvSpPr txBox="1"/>
          <p:nvPr/>
        </p:nvSpPr>
        <p:spPr>
          <a:xfrm>
            <a:off x="7818120" y="4469578"/>
            <a:ext cx="3794760" cy="548640"/>
          </a:xfrm>
          <a:prstGeom prst="rect">
            <a:avLst/>
          </a:prstGeom>
          <a:noFill/>
        </p:spPr>
        <p:txBody>
          <a:bodyPr wrap="square" lIns="0" rIns="0" tIns="0" bIns="0" anchor="t">
            <a:spAutoFit/>
          </a:bodyPr>
          <a:lstStyle/>
          <a:p>
            <a:pPr algn="ctr"/>
            <a:r>
              <a:rPr sz="1400" b="0" i="0">
                <a:solidFill>
                  <a:srgbClr val="5B6B7A"/>
                </a:solidFill>
                <a:latin typeface="Arial"/>
              </a:rPr>
              <a:t>Format ID-1 · 85,6 × 54 mm · </a:t>
            </a:r>
            <a:r>
              <a:rPr sz="1400" b="1" i="0">
                <a:solidFill>
                  <a:srgbClr val="1F3A5F"/>
                </a:solidFill>
                <a:latin typeface="Arial"/>
              </a:rPr>
              <a:t>r₀ = 1,586</a:t>
            </a:r>
          </a:p>
          <a:p>
            <a:pPr algn="ctr"/>
            <a:r>
              <a:rPr sz="1400" b="0" i="0">
                <a:solidFill>
                  <a:srgbClr val="5B6B7A"/>
                </a:solidFill>
                <a:latin typeface="Arial"/>
              </a:rPr>
              <a:t>les quatre coins que le module doit trouver, seul, dans le flux caméra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1" i="0">
                <a:solidFill>
                  <a:srgbClr val="2E75B6"/>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2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Une photo libre de CIN peut être floue, de travers ou envoyée deux fois</a:t>
            </a:r>
          </a:p>
        </p:txBody>
      </p:sp>
      <p:sp>
        <p:nvSpPr>
          <p:cNvPr id="7" name="Rectangle 6"/>
          <p:cNvSpPr/>
          <p:nvPr/>
        </p:nvSpPr>
        <p:spPr>
          <a:xfrm>
            <a:off x="548640" y="1874519"/>
            <a:ext cx="3520440" cy="2057400"/>
          </a:xfrm>
          <a:prstGeom prst="rect">
            <a:avLst/>
          </a:prstGeom>
          <a:solidFill>
            <a:srgbClr val="EEF2F6"/>
          </a:solidFill>
          <a:ln>
            <a:noFill/>
          </a:ln>
        </p:spPr>
        <p:txBody>
          <a:bodyPr rtlCol="0" anchor="ctr"/>
          <a:lstStyle/>
          <a:p/>
        </p:txBody>
      </p:sp>
      <p:sp>
        <p:nvSpPr>
          <p:cNvPr id="8" name="Rounded Rectangle 7"/>
          <p:cNvSpPr/>
          <p:nvPr/>
        </p:nvSpPr>
        <p:spPr>
          <a:xfrm>
            <a:off x="1563623" y="2328062"/>
            <a:ext cx="1783080" cy="1124840"/>
          </a:xfrm>
          <a:prstGeom prst="roundRect">
            <a:avLst>
              <a:gd name="adj" fmla="val 6000"/>
            </a:avLst>
          </a:prstGeom>
          <a:noFill/>
          <a:ln w="12700">
            <a:solidFill>
              <a:srgbClr val="CBD3DB"/>
            </a:solidFill>
          </a:ln>
        </p:spPr>
        <p:txBody>
          <a:bodyPr rtlCol="0" anchor="ctr"/>
          <a:lstStyle/>
          <a:p/>
        </p:txBody>
      </p:sp>
      <p:sp>
        <p:nvSpPr>
          <p:cNvPr id="9" name="Rounded Rectangle 8"/>
          <p:cNvSpPr/>
          <p:nvPr/>
        </p:nvSpPr>
        <p:spPr>
          <a:xfrm>
            <a:off x="1490472" y="2284171"/>
            <a:ext cx="1783080" cy="1124840"/>
          </a:xfrm>
          <a:prstGeom prst="roundRect">
            <a:avLst>
              <a:gd name="adj" fmla="val 6000"/>
            </a:avLst>
          </a:prstGeom>
          <a:noFill/>
          <a:ln w="12700">
            <a:solidFill>
              <a:srgbClr val="CBD3DB"/>
            </a:solidFill>
          </a:ln>
        </p:spPr>
        <p:txBody>
          <a:bodyPr rtlCol="0" anchor="ctr"/>
          <a:lstStyle/>
          <a:p/>
        </p:txBody>
      </p:sp>
      <p:sp>
        <p:nvSpPr>
          <p:cNvPr id="10" name="Rounded Rectangle 9"/>
          <p:cNvSpPr/>
          <p:nvPr/>
        </p:nvSpPr>
        <p:spPr>
          <a:xfrm>
            <a:off x="1417319" y="2240280"/>
            <a:ext cx="1783080" cy="1124840"/>
          </a:xfrm>
          <a:prstGeom prst="roundRect">
            <a:avLst>
              <a:gd name="adj" fmla="val 6000"/>
            </a:avLst>
          </a:prstGeom>
          <a:noFill/>
          <a:ln w="12700">
            <a:solidFill>
              <a:srgbClr val="1F3A5F"/>
            </a:solidFill>
          </a:ln>
        </p:spPr>
        <p:txBody>
          <a:bodyPr rtlCol="0" anchor="ctr"/>
          <a:lstStyle/>
          <a:p/>
        </p:txBody>
      </p:sp>
      <p:sp>
        <p:nvSpPr>
          <p:cNvPr id="11" name="TextBox 10"/>
          <p:cNvSpPr txBox="1"/>
          <p:nvPr/>
        </p:nvSpPr>
        <p:spPr>
          <a:xfrm>
            <a:off x="548640" y="4041648"/>
            <a:ext cx="3520440" cy="594360"/>
          </a:xfrm>
          <a:prstGeom prst="rect">
            <a:avLst/>
          </a:prstGeom>
          <a:noFill/>
        </p:spPr>
        <p:txBody>
          <a:bodyPr wrap="square" lIns="0" rIns="0" tIns="0" bIns="0" anchor="t">
            <a:spAutoFit/>
          </a:bodyPr>
          <a:lstStyle/>
          <a:p>
            <a:pPr algn="ctr"/>
            <a:r>
              <a:rPr sz="2000" b="1" i="0">
                <a:solidFill>
                  <a:srgbClr val="1F3A5F"/>
                </a:solidFill>
                <a:latin typeface="Arial"/>
              </a:rPr>
              <a:t>Floue</a:t>
            </a:r>
          </a:p>
          <a:p>
            <a:pPr algn="ctr"/>
            <a:r>
              <a:rPr sz="1600" b="0" i="0">
                <a:solidFill>
                  <a:srgbClr val="5B6B7A"/>
                </a:solidFill>
                <a:latin typeface="Arial"/>
              </a:rPr>
              <a:t>image inexploitable</a:t>
            </a:r>
          </a:p>
        </p:txBody>
      </p:sp>
      <p:sp>
        <p:nvSpPr>
          <p:cNvPr id="12" name="Rectangle 11"/>
          <p:cNvSpPr/>
          <p:nvPr/>
        </p:nvSpPr>
        <p:spPr>
          <a:xfrm>
            <a:off x="4306824" y="1874519"/>
            <a:ext cx="3520440" cy="2057400"/>
          </a:xfrm>
          <a:prstGeom prst="rect">
            <a:avLst/>
          </a:prstGeom>
          <a:solidFill>
            <a:srgbClr val="EEF2F6"/>
          </a:solidFill>
          <a:ln>
            <a:noFill/>
          </a:ln>
        </p:spPr>
        <p:txBody>
          <a:bodyPr rtlCol="0" anchor="ctr"/>
          <a:lstStyle/>
          <a:p/>
        </p:txBody>
      </p:sp>
      <p:sp>
        <p:nvSpPr>
          <p:cNvPr id="13" name="Rounded Rectangle 12"/>
          <p:cNvSpPr/>
          <p:nvPr/>
        </p:nvSpPr>
        <p:spPr>
          <a:xfrm rot="20760000">
            <a:off x="5221224" y="2286000"/>
            <a:ext cx="1783080" cy="1124712"/>
          </a:xfrm>
          <a:prstGeom prst="roundRect">
            <a:avLst>
              <a:gd name="adj" fmla="val 6000"/>
            </a:avLst>
          </a:prstGeom>
          <a:noFill/>
          <a:ln w="15875">
            <a:solidFill>
              <a:srgbClr val="1F3A5F"/>
            </a:solidFill>
          </a:ln>
        </p:spPr>
        <p:txBody>
          <a:bodyPr rtlCol="0" anchor="ctr"/>
          <a:lstStyle/>
          <a:p/>
        </p:txBody>
      </p:sp>
      <p:sp>
        <p:nvSpPr>
          <p:cNvPr id="14" name="TextBox 13"/>
          <p:cNvSpPr txBox="1"/>
          <p:nvPr/>
        </p:nvSpPr>
        <p:spPr>
          <a:xfrm>
            <a:off x="4306824" y="4041648"/>
            <a:ext cx="3520440" cy="594360"/>
          </a:xfrm>
          <a:prstGeom prst="rect">
            <a:avLst/>
          </a:prstGeom>
          <a:noFill/>
        </p:spPr>
        <p:txBody>
          <a:bodyPr wrap="square" lIns="0" rIns="0" tIns="0" bIns="0" anchor="t">
            <a:spAutoFit/>
          </a:bodyPr>
          <a:lstStyle/>
          <a:p>
            <a:pPr algn="ctr"/>
            <a:r>
              <a:rPr sz="2000" b="1" i="0">
                <a:solidFill>
                  <a:srgbClr val="1F3A5F"/>
                </a:solidFill>
                <a:latin typeface="Arial"/>
              </a:rPr>
              <a:t>De travers</a:t>
            </a:r>
          </a:p>
          <a:p>
            <a:pPr algn="ctr"/>
            <a:r>
              <a:rPr sz="1600" b="0" i="0">
                <a:solidFill>
                  <a:srgbClr val="5B6B7A"/>
                </a:solidFill>
                <a:latin typeface="Arial"/>
              </a:rPr>
              <a:t>carte mal cadrée</a:t>
            </a:r>
          </a:p>
        </p:txBody>
      </p:sp>
      <p:sp>
        <p:nvSpPr>
          <p:cNvPr id="15" name="Rectangle 14"/>
          <p:cNvSpPr/>
          <p:nvPr/>
        </p:nvSpPr>
        <p:spPr>
          <a:xfrm>
            <a:off x="8065008" y="1874519"/>
            <a:ext cx="3520440" cy="2057400"/>
          </a:xfrm>
          <a:prstGeom prst="rect">
            <a:avLst/>
          </a:prstGeom>
          <a:solidFill>
            <a:srgbClr val="EEF2F6"/>
          </a:solidFill>
          <a:ln>
            <a:noFill/>
          </a:ln>
        </p:spPr>
        <p:txBody>
          <a:bodyPr rtlCol="0" anchor="ctr"/>
          <a:lstStyle/>
          <a:p/>
        </p:txBody>
      </p:sp>
      <p:sp>
        <p:nvSpPr>
          <p:cNvPr id="16" name="Rounded Rectangle 15"/>
          <p:cNvSpPr/>
          <p:nvPr/>
        </p:nvSpPr>
        <p:spPr>
          <a:xfrm>
            <a:off x="8750808" y="2212848"/>
            <a:ext cx="1691640" cy="1069848"/>
          </a:xfrm>
          <a:prstGeom prst="roundRect">
            <a:avLst>
              <a:gd name="adj" fmla="val 6000"/>
            </a:avLst>
          </a:prstGeom>
          <a:solidFill>
            <a:srgbClr val="FFFFFF"/>
          </a:solidFill>
          <a:ln w="15875">
            <a:solidFill>
              <a:srgbClr val="1F3A5F"/>
            </a:solidFill>
          </a:ln>
        </p:spPr>
        <p:txBody>
          <a:bodyPr rtlCol="0" anchor="ctr"/>
          <a:lstStyle/>
          <a:p/>
        </p:txBody>
      </p:sp>
      <p:sp>
        <p:nvSpPr>
          <p:cNvPr id="17" name="TextBox 16"/>
          <p:cNvSpPr txBox="1"/>
          <p:nvPr/>
        </p:nvSpPr>
        <p:spPr>
          <a:xfrm>
            <a:off x="8750808" y="2532888"/>
            <a:ext cx="1691640" cy="365760"/>
          </a:xfrm>
          <a:prstGeom prst="rect">
            <a:avLst/>
          </a:prstGeom>
          <a:noFill/>
        </p:spPr>
        <p:txBody>
          <a:bodyPr wrap="square" lIns="0" rIns="0" tIns="0" bIns="0" anchor="t">
            <a:spAutoFit/>
          </a:bodyPr>
          <a:lstStyle/>
          <a:p>
            <a:pPr algn="ctr"/>
            <a:r>
              <a:rPr sz="1600" b="0" i="0">
                <a:solidFill>
                  <a:srgbClr val="1F3A5F"/>
                </a:solidFill>
                <a:latin typeface="Arial"/>
              </a:rPr>
              <a:t>recto</a:t>
            </a:r>
          </a:p>
        </p:txBody>
      </p:sp>
      <p:sp>
        <p:nvSpPr>
          <p:cNvPr id="18" name="Rounded Rectangle 17"/>
          <p:cNvSpPr/>
          <p:nvPr/>
        </p:nvSpPr>
        <p:spPr>
          <a:xfrm>
            <a:off x="9134856" y="2404872"/>
            <a:ext cx="1691640" cy="1069848"/>
          </a:xfrm>
          <a:prstGeom prst="roundRect">
            <a:avLst>
              <a:gd name="adj" fmla="val 6000"/>
            </a:avLst>
          </a:prstGeom>
          <a:solidFill>
            <a:srgbClr val="FFFFFF"/>
          </a:solidFill>
          <a:ln w="15875">
            <a:solidFill>
              <a:srgbClr val="1F3A5F"/>
            </a:solidFill>
          </a:ln>
        </p:spPr>
        <p:txBody>
          <a:bodyPr rtlCol="0" anchor="ctr"/>
          <a:lstStyle/>
          <a:p/>
        </p:txBody>
      </p:sp>
      <p:sp>
        <p:nvSpPr>
          <p:cNvPr id="19" name="TextBox 18"/>
          <p:cNvSpPr txBox="1"/>
          <p:nvPr/>
        </p:nvSpPr>
        <p:spPr>
          <a:xfrm>
            <a:off x="9134856" y="2724912"/>
            <a:ext cx="1691640" cy="365760"/>
          </a:xfrm>
          <a:prstGeom prst="rect">
            <a:avLst/>
          </a:prstGeom>
          <a:noFill/>
        </p:spPr>
        <p:txBody>
          <a:bodyPr wrap="square" lIns="0" rIns="0" tIns="0" bIns="0" anchor="t">
            <a:spAutoFit/>
          </a:bodyPr>
          <a:lstStyle/>
          <a:p>
            <a:pPr algn="ctr"/>
            <a:r>
              <a:rPr sz="1600" b="0" i="0">
                <a:solidFill>
                  <a:srgbClr val="1F3A5F"/>
                </a:solidFill>
                <a:latin typeface="Arial"/>
              </a:rPr>
              <a:t>recto</a:t>
            </a:r>
          </a:p>
        </p:txBody>
      </p:sp>
      <p:sp>
        <p:nvSpPr>
          <p:cNvPr id="20" name="TextBox 19"/>
          <p:cNvSpPr txBox="1"/>
          <p:nvPr/>
        </p:nvSpPr>
        <p:spPr>
          <a:xfrm>
            <a:off x="8065008" y="4041648"/>
            <a:ext cx="3520440" cy="594360"/>
          </a:xfrm>
          <a:prstGeom prst="rect">
            <a:avLst/>
          </a:prstGeom>
          <a:noFill/>
        </p:spPr>
        <p:txBody>
          <a:bodyPr wrap="square" lIns="0" rIns="0" tIns="0" bIns="0" anchor="t">
            <a:spAutoFit/>
          </a:bodyPr>
          <a:lstStyle/>
          <a:p>
            <a:pPr algn="ctr"/>
            <a:r>
              <a:rPr sz="2000" b="1" i="0">
                <a:solidFill>
                  <a:srgbClr val="1F3A5F"/>
                </a:solidFill>
                <a:latin typeface="Arial"/>
              </a:rPr>
              <a:t>Deux fois le recto</a:t>
            </a:r>
          </a:p>
          <a:p>
            <a:pPr algn="ctr"/>
            <a:r>
              <a:rPr sz="1600" b="0" i="0">
                <a:solidFill>
                  <a:srgbClr val="5B6B7A"/>
                </a:solidFill>
                <a:latin typeface="Arial"/>
              </a:rPr>
              <a:t>verso jamais fourni</a:t>
            </a:r>
          </a:p>
        </p:txBody>
      </p:sp>
      <p:sp>
        <p:nvSpPr>
          <p:cNvPr id="21" name="TextBox 20"/>
          <p:cNvSpPr txBox="1"/>
          <p:nvPr/>
        </p:nvSpPr>
        <p:spPr>
          <a:xfrm>
            <a:off x="548640" y="4846320"/>
            <a:ext cx="7589520" cy="1097280"/>
          </a:xfrm>
          <a:prstGeom prst="rect">
            <a:avLst/>
          </a:prstGeom>
          <a:noFill/>
        </p:spPr>
        <p:txBody>
          <a:bodyPr wrap="square" lIns="0" rIns="0" tIns="0" bIns="0" anchor="t">
            <a:spAutoFit/>
          </a:bodyPr>
          <a:lstStyle/>
          <a:p>
            <a:pPr algn="l"/>
            <a:r>
              <a:rPr sz="2000" b="1" i="0">
                <a:solidFill>
                  <a:srgbClr val="1F3A5F"/>
                </a:solidFill>
                <a:latin typeface="Arial"/>
              </a:rPr>
              <a:t>Problématique — </a:t>
            </a:r>
            <a:r>
              <a:rPr sz="2000" b="0" i="0">
                <a:solidFill>
                  <a:srgbClr val="1B2530"/>
                </a:solidFill>
                <a:latin typeface="Arial"/>
              </a:rPr>
              <a:t>comment détecter de façon fiable et en temps réel les contours d'une CIN dans un flux caméra mobile, quels que soient l'éclairage et l'arrière-plan ?</a:t>
            </a:r>
          </a:p>
        </p:txBody>
      </p:sp>
      <p:sp>
        <p:nvSpPr>
          <p:cNvPr id="22" name="TextBox 21"/>
          <p:cNvSpPr txBox="1"/>
          <p:nvPr/>
        </p:nvSpPr>
        <p:spPr>
          <a:xfrm>
            <a:off x="8503920" y="4846320"/>
            <a:ext cx="3139135" cy="1188720"/>
          </a:xfrm>
          <a:prstGeom prst="rect">
            <a:avLst/>
          </a:prstGeom>
          <a:noFill/>
        </p:spPr>
        <p:txBody>
          <a:bodyPr wrap="square" lIns="0" rIns="0" tIns="0" bIns="0" anchor="t">
            <a:spAutoFit/>
          </a:bodyPr>
          <a:lstStyle/>
          <a:p>
            <a:pPr algn="l">
              <a:spcAft>
                <a:spcPts val="600"/>
              </a:spcAft>
            </a:pPr>
            <a:r>
              <a:rPr sz="1600" b="1" i="0">
                <a:solidFill>
                  <a:srgbClr val="1F3A5F"/>
                </a:solidFill>
                <a:latin typeface="Arial"/>
              </a:rPr>
              <a:t>Avatar-ID</a:t>
            </a:r>
            <a:r>
              <a:rPr sz="1600" b="0" i="0">
                <a:solidFill>
                  <a:srgbClr val="5B6B7A"/>
                </a:solidFill>
                <a:latin typeface="Arial"/>
              </a:rPr>
              <a:t> : vérification d'identité à distance, type KYC.</a:t>
            </a:r>
          </a:p>
          <a:p>
            <a:pPr algn="l">
              <a:spcAft>
                <a:spcPts val="600"/>
              </a:spcAft>
            </a:pPr>
            <a:r>
              <a:rPr sz="1600" b="0" i="0">
                <a:solidFill>
                  <a:srgbClr val="5B6B7A"/>
                </a:solidFill>
                <a:latin typeface="Arial"/>
              </a:rPr>
              <a:t>Sans guidage : contrôle humain coûteux ou nouvelle saisie.</a:t>
            </a:r>
          </a:p>
        </p:txBody>
      </p:sp>
      <p:sp>
        <p:nvSpPr>
          <p:cNvPr id="23" name="TextBox 22"/>
          <p:cNvSpPr txBox="1"/>
          <p:nvPr/>
        </p:nvSpPr>
        <p:spPr>
          <a:xfrm>
            <a:off x="548640" y="6053328"/>
            <a:ext cx="5486400" cy="228600"/>
          </a:xfrm>
          <a:prstGeom prst="rect">
            <a:avLst/>
          </a:prstGeom>
          <a:noFill/>
        </p:spPr>
        <p:txBody>
          <a:bodyPr wrap="square" lIns="0" rIns="0" tIns="0" bIns="0" anchor="t">
            <a:spAutoFit/>
          </a:bodyPr>
          <a:lstStyle/>
          <a:p>
            <a:pPr algn="l"/>
            <a:r>
              <a:rPr sz="1200" b="0" i="0">
                <a:solidFill>
                  <a:srgbClr val="5B6B7A"/>
                </a:solidFill>
                <a:latin typeface="Arial"/>
              </a:rPr>
              <a:t>Schémas illustratifs, pas des mesures.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1" i="0">
                <a:solidFill>
                  <a:srgbClr val="2E75B6"/>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3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Cinq fonctions à automatiser, trois cibles chiffrées, deux plateformes</a:t>
            </a:r>
          </a:p>
        </p:txBody>
      </p:sp>
      <p:sp>
        <p:nvSpPr>
          <p:cNvPr id="7" name="TextBox 6"/>
          <p:cNvSpPr txBox="1"/>
          <p:nvPr/>
        </p:nvSpPr>
        <p:spPr>
          <a:xfrm>
            <a:off x="548640" y="1828800"/>
            <a:ext cx="5120640" cy="320040"/>
          </a:xfrm>
          <a:prstGeom prst="rect">
            <a:avLst/>
          </a:prstGeom>
          <a:noFill/>
        </p:spPr>
        <p:txBody>
          <a:bodyPr wrap="square" lIns="0" rIns="0" tIns="0" bIns="0" anchor="t">
            <a:spAutoFit/>
          </a:bodyPr>
          <a:lstStyle/>
          <a:p>
            <a:pPr algn="l"/>
            <a:r>
              <a:rPr sz="1300" b="1" i="0">
                <a:solidFill>
                  <a:srgbClr val="2E75B6"/>
                </a:solidFill>
                <a:latin typeface="Arial"/>
              </a:rPr>
              <a:t>CE QUE LE MODULE DOIT FAIRE</a:t>
            </a:r>
          </a:p>
        </p:txBody>
      </p:sp>
      <p:sp>
        <p:nvSpPr>
          <p:cNvPr id="8" name="TextBox 7"/>
          <p:cNvSpPr txBox="1"/>
          <p:nvPr/>
        </p:nvSpPr>
        <p:spPr>
          <a:xfrm>
            <a:off x="548640" y="2286000"/>
            <a:ext cx="457200" cy="457200"/>
          </a:xfrm>
          <a:prstGeom prst="rect">
            <a:avLst/>
          </a:prstGeom>
          <a:noFill/>
        </p:spPr>
        <p:txBody>
          <a:bodyPr wrap="square" lIns="0" rIns="0" tIns="0" bIns="0" anchor="t">
            <a:spAutoFit/>
          </a:bodyPr>
          <a:lstStyle/>
          <a:p>
            <a:pPr algn="l"/>
            <a:r>
              <a:rPr sz="2400" b="1" i="0">
                <a:solidFill>
                  <a:srgbClr val="2E75B6"/>
                </a:solidFill>
                <a:latin typeface="Arial"/>
              </a:rPr>
              <a:t>1</a:t>
            </a:r>
          </a:p>
        </p:txBody>
      </p:sp>
      <p:sp>
        <p:nvSpPr>
          <p:cNvPr id="9" name="TextBox 8"/>
          <p:cNvSpPr txBox="1"/>
          <p:nvPr/>
        </p:nvSpPr>
        <p:spPr>
          <a:xfrm>
            <a:off x="1051560" y="2322576"/>
            <a:ext cx="4754880" cy="457200"/>
          </a:xfrm>
          <a:prstGeom prst="rect">
            <a:avLst/>
          </a:prstGeom>
          <a:noFill/>
        </p:spPr>
        <p:txBody>
          <a:bodyPr wrap="square" lIns="0" rIns="0" tIns="0" bIns="0" anchor="t">
            <a:spAutoFit/>
          </a:bodyPr>
          <a:lstStyle/>
          <a:p>
            <a:pPr algn="l"/>
            <a:r>
              <a:rPr sz="2000" b="0" i="0">
                <a:solidFill>
                  <a:srgbClr val="1B2530"/>
                </a:solidFill>
                <a:latin typeface="Arial"/>
              </a:rPr>
              <a:t>Détecter la carte et ses contours</a:t>
            </a:r>
          </a:p>
        </p:txBody>
      </p:sp>
      <p:cxnSp>
        <p:nvCxnSpPr>
          <p:cNvPr id="10" name="Connector 9"/>
          <p:cNvCxnSpPr/>
          <p:nvPr/>
        </p:nvCxnSpPr>
        <p:spPr>
          <a:xfrm>
            <a:off x="548640" y="2852928"/>
            <a:ext cx="5120639" cy="0"/>
          </a:xfrm>
          <a:prstGeom prst="line">
            <a:avLst/>
          </a:prstGeom>
          <a:ln w="6350">
            <a:solidFill>
              <a:srgbClr val="CBD3DB"/>
            </a:solidFill>
          </a:ln>
        </p:spPr>
      </p:cxnSp>
      <p:sp>
        <p:nvSpPr>
          <p:cNvPr id="11" name="TextBox 10"/>
          <p:cNvSpPr txBox="1"/>
          <p:nvPr/>
        </p:nvSpPr>
        <p:spPr>
          <a:xfrm>
            <a:off x="548640" y="2944368"/>
            <a:ext cx="457200" cy="457200"/>
          </a:xfrm>
          <a:prstGeom prst="rect">
            <a:avLst/>
          </a:prstGeom>
          <a:noFill/>
        </p:spPr>
        <p:txBody>
          <a:bodyPr wrap="square" lIns="0" rIns="0" tIns="0" bIns="0" anchor="t">
            <a:spAutoFit/>
          </a:bodyPr>
          <a:lstStyle/>
          <a:p>
            <a:pPr algn="l"/>
            <a:r>
              <a:rPr sz="2400" b="1" i="0">
                <a:solidFill>
                  <a:srgbClr val="2E75B6"/>
                </a:solidFill>
                <a:latin typeface="Arial"/>
              </a:rPr>
              <a:t>2</a:t>
            </a:r>
          </a:p>
        </p:txBody>
      </p:sp>
      <p:sp>
        <p:nvSpPr>
          <p:cNvPr id="12" name="TextBox 11"/>
          <p:cNvSpPr txBox="1"/>
          <p:nvPr/>
        </p:nvSpPr>
        <p:spPr>
          <a:xfrm>
            <a:off x="1051560" y="2980944"/>
            <a:ext cx="4754880" cy="457200"/>
          </a:xfrm>
          <a:prstGeom prst="rect">
            <a:avLst/>
          </a:prstGeom>
          <a:noFill/>
        </p:spPr>
        <p:txBody>
          <a:bodyPr wrap="square" lIns="0" rIns="0" tIns="0" bIns="0" anchor="t">
            <a:spAutoFit/>
          </a:bodyPr>
          <a:lstStyle/>
          <a:p>
            <a:pPr algn="l"/>
            <a:r>
              <a:rPr sz="2000" b="0" i="0">
                <a:solidFill>
                  <a:srgbClr val="1B2530"/>
                </a:solidFill>
                <a:latin typeface="Arial"/>
              </a:rPr>
              <a:t>Contrôler netteté, luminosité, stabilité</a:t>
            </a:r>
          </a:p>
        </p:txBody>
      </p:sp>
      <p:cxnSp>
        <p:nvCxnSpPr>
          <p:cNvPr id="13" name="Connector 12"/>
          <p:cNvCxnSpPr/>
          <p:nvPr/>
        </p:nvCxnSpPr>
        <p:spPr>
          <a:xfrm>
            <a:off x="548640" y="3511296"/>
            <a:ext cx="5120639" cy="0"/>
          </a:xfrm>
          <a:prstGeom prst="line">
            <a:avLst/>
          </a:prstGeom>
          <a:ln w="6350">
            <a:solidFill>
              <a:srgbClr val="CBD3DB"/>
            </a:solidFill>
          </a:ln>
        </p:spPr>
      </p:cxnSp>
      <p:sp>
        <p:nvSpPr>
          <p:cNvPr id="14" name="TextBox 13"/>
          <p:cNvSpPr txBox="1"/>
          <p:nvPr/>
        </p:nvSpPr>
        <p:spPr>
          <a:xfrm>
            <a:off x="548640" y="3602736"/>
            <a:ext cx="457200" cy="457200"/>
          </a:xfrm>
          <a:prstGeom prst="rect">
            <a:avLst/>
          </a:prstGeom>
          <a:noFill/>
        </p:spPr>
        <p:txBody>
          <a:bodyPr wrap="square" lIns="0" rIns="0" tIns="0" bIns="0" anchor="t">
            <a:spAutoFit/>
          </a:bodyPr>
          <a:lstStyle/>
          <a:p>
            <a:pPr algn="l"/>
            <a:r>
              <a:rPr sz="2400" b="1" i="0">
                <a:solidFill>
                  <a:srgbClr val="2E75B6"/>
                </a:solidFill>
                <a:latin typeface="Arial"/>
              </a:rPr>
              <a:t>3</a:t>
            </a:r>
          </a:p>
        </p:txBody>
      </p:sp>
      <p:sp>
        <p:nvSpPr>
          <p:cNvPr id="15" name="TextBox 14"/>
          <p:cNvSpPr txBox="1"/>
          <p:nvPr/>
        </p:nvSpPr>
        <p:spPr>
          <a:xfrm>
            <a:off x="1051560" y="3639312"/>
            <a:ext cx="4754880" cy="457200"/>
          </a:xfrm>
          <a:prstGeom prst="rect">
            <a:avLst/>
          </a:prstGeom>
          <a:noFill/>
        </p:spPr>
        <p:txBody>
          <a:bodyPr wrap="square" lIns="0" rIns="0" tIns="0" bIns="0" anchor="t">
            <a:spAutoFit/>
          </a:bodyPr>
          <a:lstStyle/>
          <a:p>
            <a:pPr algn="l"/>
            <a:r>
              <a:rPr sz="2000" b="0" i="0">
                <a:solidFill>
                  <a:srgbClr val="1B2530"/>
                </a:solidFill>
                <a:latin typeface="Arial"/>
              </a:rPr>
              <a:t>Distinguer recto et verso, dans l'ordre</a:t>
            </a:r>
          </a:p>
        </p:txBody>
      </p:sp>
      <p:cxnSp>
        <p:nvCxnSpPr>
          <p:cNvPr id="16" name="Connector 15"/>
          <p:cNvCxnSpPr/>
          <p:nvPr/>
        </p:nvCxnSpPr>
        <p:spPr>
          <a:xfrm>
            <a:off x="548640" y="4169663"/>
            <a:ext cx="5120639" cy="0"/>
          </a:xfrm>
          <a:prstGeom prst="line">
            <a:avLst/>
          </a:prstGeom>
          <a:ln w="6350">
            <a:solidFill>
              <a:srgbClr val="CBD3DB"/>
            </a:solidFill>
          </a:ln>
        </p:spPr>
      </p:cxnSp>
      <p:sp>
        <p:nvSpPr>
          <p:cNvPr id="17" name="TextBox 16"/>
          <p:cNvSpPr txBox="1"/>
          <p:nvPr/>
        </p:nvSpPr>
        <p:spPr>
          <a:xfrm>
            <a:off x="548640" y="4261104"/>
            <a:ext cx="457200" cy="457200"/>
          </a:xfrm>
          <a:prstGeom prst="rect">
            <a:avLst/>
          </a:prstGeom>
          <a:noFill/>
        </p:spPr>
        <p:txBody>
          <a:bodyPr wrap="square" lIns="0" rIns="0" tIns="0" bIns="0" anchor="t">
            <a:spAutoFit/>
          </a:bodyPr>
          <a:lstStyle/>
          <a:p>
            <a:pPr algn="l"/>
            <a:r>
              <a:rPr sz="2400" b="1" i="0">
                <a:solidFill>
                  <a:srgbClr val="2E75B6"/>
                </a:solidFill>
                <a:latin typeface="Arial"/>
              </a:rPr>
              <a:t>4</a:t>
            </a:r>
          </a:p>
        </p:txBody>
      </p:sp>
      <p:sp>
        <p:nvSpPr>
          <p:cNvPr id="18" name="TextBox 17"/>
          <p:cNvSpPr txBox="1"/>
          <p:nvPr/>
        </p:nvSpPr>
        <p:spPr>
          <a:xfrm>
            <a:off x="1051560" y="4297680"/>
            <a:ext cx="4754880" cy="457200"/>
          </a:xfrm>
          <a:prstGeom prst="rect">
            <a:avLst/>
          </a:prstGeom>
          <a:noFill/>
        </p:spPr>
        <p:txBody>
          <a:bodyPr wrap="square" lIns="0" rIns="0" tIns="0" bIns="0" anchor="t">
            <a:spAutoFit/>
          </a:bodyPr>
          <a:lstStyle/>
          <a:p>
            <a:pPr algn="l"/>
            <a:r>
              <a:rPr sz="2000" b="0" i="0">
                <a:solidFill>
                  <a:srgbClr val="1B2530"/>
                </a:solidFill>
                <a:latin typeface="Arial"/>
              </a:rPr>
              <a:t>Capturer seul, sans bouton</a:t>
            </a:r>
          </a:p>
        </p:txBody>
      </p:sp>
      <p:cxnSp>
        <p:nvCxnSpPr>
          <p:cNvPr id="19" name="Connector 18"/>
          <p:cNvCxnSpPr/>
          <p:nvPr/>
        </p:nvCxnSpPr>
        <p:spPr>
          <a:xfrm>
            <a:off x="548640" y="4828032"/>
            <a:ext cx="5120639" cy="0"/>
          </a:xfrm>
          <a:prstGeom prst="line">
            <a:avLst/>
          </a:prstGeom>
          <a:ln w="6350">
            <a:solidFill>
              <a:srgbClr val="CBD3DB"/>
            </a:solidFill>
          </a:ln>
        </p:spPr>
      </p:cxnSp>
      <p:sp>
        <p:nvSpPr>
          <p:cNvPr id="20" name="TextBox 19"/>
          <p:cNvSpPr txBox="1"/>
          <p:nvPr/>
        </p:nvSpPr>
        <p:spPr>
          <a:xfrm>
            <a:off x="548640" y="4919472"/>
            <a:ext cx="457200" cy="457200"/>
          </a:xfrm>
          <a:prstGeom prst="rect">
            <a:avLst/>
          </a:prstGeom>
          <a:noFill/>
        </p:spPr>
        <p:txBody>
          <a:bodyPr wrap="square" lIns="0" rIns="0" tIns="0" bIns="0" anchor="t">
            <a:spAutoFit/>
          </a:bodyPr>
          <a:lstStyle/>
          <a:p>
            <a:pPr algn="l"/>
            <a:r>
              <a:rPr sz="2400" b="1" i="0">
                <a:solidFill>
                  <a:srgbClr val="2E75B6"/>
                </a:solidFill>
                <a:latin typeface="Arial"/>
              </a:rPr>
              <a:t>5</a:t>
            </a:r>
          </a:p>
        </p:txBody>
      </p:sp>
      <p:sp>
        <p:nvSpPr>
          <p:cNvPr id="21" name="TextBox 20"/>
          <p:cNvSpPr txBox="1"/>
          <p:nvPr/>
        </p:nvSpPr>
        <p:spPr>
          <a:xfrm>
            <a:off x="1051560" y="4956048"/>
            <a:ext cx="4754880" cy="457200"/>
          </a:xfrm>
          <a:prstGeom prst="rect">
            <a:avLst/>
          </a:prstGeom>
          <a:noFill/>
        </p:spPr>
        <p:txBody>
          <a:bodyPr wrap="square" lIns="0" rIns="0" tIns="0" bIns="0" anchor="t">
            <a:spAutoFit/>
          </a:bodyPr>
          <a:lstStyle/>
          <a:p>
            <a:pPr algn="l"/>
            <a:r>
              <a:rPr sz="2000" b="0" i="0">
                <a:solidFill>
                  <a:srgbClr val="1B2530"/>
                </a:solidFill>
                <a:latin typeface="Arial"/>
              </a:rPr>
              <a:t>Recadrer et améliorer l'image</a:t>
            </a:r>
          </a:p>
        </p:txBody>
      </p:sp>
      <p:sp>
        <p:nvSpPr>
          <p:cNvPr id="22" name="TextBox 21"/>
          <p:cNvSpPr txBox="1"/>
          <p:nvPr/>
        </p:nvSpPr>
        <p:spPr>
          <a:xfrm>
            <a:off x="6537960" y="1828800"/>
            <a:ext cx="5120640" cy="320040"/>
          </a:xfrm>
          <a:prstGeom prst="rect">
            <a:avLst/>
          </a:prstGeom>
          <a:noFill/>
        </p:spPr>
        <p:txBody>
          <a:bodyPr wrap="square" lIns="0" rIns="0" tIns="0" bIns="0" anchor="t">
            <a:spAutoFit/>
          </a:bodyPr>
          <a:lstStyle/>
          <a:p>
            <a:pPr algn="l"/>
            <a:r>
              <a:rPr sz="1300" b="1" i="0">
                <a:solidFill>
                  <a:srgbClr val="2E75B6"/>
                </a:solidFill>
                <a:latin typeface="Arial"/>
              </a:rPr>
              <a:t>CIBLES DU CAHIER DES CHARGES</a:t>
            </a:r>
          </a:p>
        </p:txBody>
      </p:sp>
      <p:sp>
        <p:nvSpPr>
          <p:cNvPr id="23" name="TextBox 22"/>
          <p:cNvSpPr txBox="1"/>
          <p:nvPr/>
        </p:nvSpPr>
        <p:spPr>
          <a:xfrm>
            <a:off x="6537960" y="2286000"/>
            <a:ext cx="2057400" cy="731520"/>
          </a:xfrm>
          <a:prstGeom prst="rect">
            <a:avLst/>
          </a:prstGeom>
          <a:noFill/>
        </p:spPr>
        <p:txBody>
          <a:bodyPr wrap="square" lIns="0" rIns="0" tIns="0" bIns="0" anchor="ctr">
            <a:spAutoFit/>
          </a:bodyPr>
          <a:lstStyle/>
          <a:p>
            <a:pPr algn="l"/>
            <a:r>
              <a:rPr sz="3600" b="1" i="0">
                <a:solidFill>
                  <a:srgbClr val="1F3A5F"/>
                </a:solidFill>
                <a:latin typeface="Arial"/>
              </a:rPr>
              <a:t>&lt; 100 ms</a:t>
            </a:r>
          </a:p>
        </p:txBody>
      </p:sp>
      <p:sp>
        <p:nvSpPr>
          <p:cNvPr id="24" name="TextBox 23"/>
          <p:cNvSpPr txBox="1"/>
          <p:nvPr/>
        </p:nvSpPr>
        <p:spPr>
          <a:xfrm>
            <a:off x="8686800" y="2286000"/>
            <a:ext cx="2971800" cy="731520"/>
          </a:xfrm>
          <a:prstGeom prst="rect">
            <a:avLst/>
          </a:prstGeom>
          <a:noFill/>
        </p:spPr>
        <p:txBody>
          <a:bodyPr wrap="square" lIns="0" rIns="0" tIns="0" bIns="0" anchor="ctr">
            <a:spAutoFit/>
          </a:bodyPr>
          <a:lstStyle/>
          <a:p>
            <a:pPr algn="l"/>
            <a:r>
              <a:rPr sz="1600" b="0" i="0">
                <a:solidFill>
                  <a:srgbClr val="1B2530"/>
                </a:solidFill>
                <a:latin typeface="Arial"/>
              </a:rPr>
              <a:t>de traitement par image, idéalement</a:t>
            </a:r>
          </a:p>
        </p:txBody>
      </p:sp>
      <p:sp>
        <p:nvSpPr>
          <p:cNvPr id="25" name="TextBox 24"/>
          <p:cNvSpPr txBox="1"/>
          <p:nvPr/>
        </p:nvSpPr>
        <p:spPr>
          <a:xfrm>
            <a:off x="6537960" y="3273552"/>
            <a:ext cx="2057400" cy="731520"/>
          </a:xfrm>
          <a:prstGeom prst="rect">
            <a:avLst/>
          </a:prstGeom>
          <a:noFill/>
        </p:spPr>
        <p:txBody>
          <a:bodyPr wrap="square" lIns="0" rIns="0" tIns="0" bIns="0" anchor="ctr">
            <a:spAutoFit/>
          </a:bodyPr>
          <a:lstStyle/>
          <a:p>
            <a:pPr algn="l"/>
            <a:r>
              <a:rPr sz="3600" b="1" i="0">
                <a:solidFill>
                  <a:srgbClr val="1F3A5F"/>
                </a:solidFill>
                <a:latin typeface="Arial"/>
              </a:rPr>
              <a:t>≥ 90 %</a:t>
            </a:r>
          </a:p>
        </p:txBody>
      </p:sp>
      <p:sp>
        <p:nvSpPr>
          <p:cNvPr id="26" name="TextBox 25"/>
          <p:cNvSpPr txBox="1"/>
          <p:nvPr/>
        </p:nvSpPr>
        <p:spPr>
          <a:xfrm>
            <a:off x="8686800" y="3273552"/>
            <a:ext cx="2971800" cy="731520"/>
          </a:xfrm>
          <a:prstGeom prst="rect">
            <a:avLst/>
          </a:prstGeom>
          <a:noFill/>
        </p:spPr>
        <p:txBody>
          <a:bodyPr wrap="square" lIns="0" rIns="0" tIns="0" bIns="0" anchor="ctr">
            <a:spAutoFit/>
          </a:bodyPr>
          <a:lstStyle/>
          <a:p>
            <a:pPr algn="l"/>
            <a:r>
              <a:rPr sz="1600" b="0" i="0">
                <a:solidFill>
                  <a:srgbClr val="1B2530"/>
                </a:solidFill>
                <a:latin typeface="Arial"/>
              </a:rPr>
              <a:t>de recto/verso bien reconnus, en conditions normales</a:t>
            </a:r>
          </a:p>
        </p:txBody>
      </p:sp>
      <p:sp>
        <p:nvSpPr>
          <p:cNvPr id="27" name="TextBox 26"/>
          <p:cNvSpPr txBox="1"/>
          <p:nvPr/>
        </p:nvSpPr>
        <p:spPr>
          <a:xfrm>
            <a:off x="6537960" y="4261104"/>
            <a:ext cx="2057400" cy="731520"/>
          </a:xfrm>
          <a:prstGeom prst="rect">
            <a:avLst/>
          </a:prstGeom>
          <a:noFill/>
        </p:spPr>
        <p:txBody>
          <a:bodyPr wrap="square" lIns="0" rIns="0" tIns="0" bIns="0" anchor="ctr">
            <a:spAutoFit/>
          </a:bodyPr>
          <a:lstStyle/>
          <a:p>
            <a:pPr algn="l"/>
            <a:r>
              <a:rPr sz="3600" b="1" i="0">
                <a:solidFill>
                  <a:srgbClr val="1F3A5F"/>
                </a:solidFill>
                <a:latin typeface="Arial"/>
              </a:rPr>
              <a:t>≈ 2 s</a:t>
            </a:r>
          </a:p>
        </p:txBody>
      </p:sp>
      <p:sp>
        <p:nvSpPr>
          <p:cNvPr id="28" name="TextBox 27"/>
          <p:cNvSpPr txBox="1"/>
          <p:nvPr/>
        </p:nvSpPr>
        <p:spPr>
          <a:xfrm>
            <a:off x="8686800" y="4261104"/>
            <a:ext cx="2971800" cy="731520"/>
          </a:xfrm>
          <a:prstGeom prst="rect">
            <a:avLst/>
          </a:prstGeom>
          <a:noFill/>
        </p:spPr>
        <p:txBody>
          <a:bodyPr wrap="square" lIns="0" rIns="0" tIns="0" bIns="0" anchor="ctr">
            <a:spAutoFit/>
          </a:bodyPr>
          <a:lstStyle/>
          <a:p>
            <a:pPr algn="l"/>
            <a:r>
              <a:rPr sz="1600" b="0" i="0">
                <a:solidFill>
                  <a:srgbClr val="1B2530"/>
                </a:solidFill>
                <a:latin typeface="Arial"/>
              </a:rPr>
              <a:t>entre carte bien positionnée et capture</a:t>
            </a:r>
          </a:p>
        </p:txBody>
      </p:sp>
      <p:sp>
        <p:nvSpPr>
          <p:cNvPr id="29" name="Rectangle 28"/>
          <p:cNvSpPr/>
          <p:nvPr/>
        </p:nvSpPr>
        <p:spPr>
          <a:xfrm>
            <a:off x="6537960" y="5349240"/>
            <a:ext cx="5105095" cy="566928"/>
          </a:xfrm>
          <a:prstGeom prst="rect">
            <a:avLst/>
          </a:prstGeom>
          <a:solidFill>
            <a:srgbClr val="EEF2F6"/>
          </a:solidFill>
          <a:ln>
            <a:noFill/>
          </a:ln>
        </p:spPr>
        <p:txBody>
          <a:bodyPr rtlCol="0" anchor="ctr"/>
          <a:lstStyle/>
          <a:p/>
        </p:txBody>
      </p:sp>
      <p:sp>
        <p:nvSpPr>
          <p:cNvPr id="30" name="TextBox 29"/>
          <p:cNvSpPr txBox="1"/>
          <p:nvPr/>
        </p:nvSpPr>
        <p:spPr>
          <a:xfrm>
            <a:off x="6720840" y="5349240"/>
            <a:ext cx="4739335" cy="566928"/>
          </a:xfrm>
          <a:prstGeom prst="rect">
            <a:avLst/>
          </a:prstGeom>
          <a:noFill/>
        </p:spPr>
        <p:txBody>
          <a:bodyPr wrap="square" lIns="0" rIns="0" tIns="0" bIns="0" anchor="ctr">
            <a:spAutoFit/>
          </a:bodyPr>
          <a:lstStyle/>
          <a:p>
            <a:pPr algn="l"/>
            <a:r>
              <a:rPr sz="1600" b="1" i="0">
                <a:solidFill>
                  <a:srgbClr val="1F3A5F"/>
                </a:solidFill>
                <a:latin typeface="Arial"/>
              </a:rPr>
              <a:t>Android et iOS</a:t>
            </a:r>
            <a:r>
              <a:rPr sz="1600" b="0" i="0">
                <a:solidFill>
                  <a:srgbClr val="1B2530"/>
                </a:solidFill>
                <a:latin typeface="Arial"/>
              </a:rPr>
              <a:t> · un seul code · six semaines</a:t>
            </a:r>
          </a:p>
        </p:txBody>
      </p:sp>
      <p:sp>
        <p:nvSpPr>
          <p:cNvPr id="31" name="TextBox 30"/>
          <p:cNvSpPr txBox="1"/>
          <p:nvPr/>
        </p:nvSpPr>
        <p:spPr>
          <a:xfrm>
            <a:off x="548640" y="5760720"/>
            <a:ext cx="5303520" cy="365760"/>
          </a:xfrm>
          <a:prstGeom prst="rect">
            <a:avLst/>
          </a:prstGeom>
          <a:noFill/>
        </p:spPr>
        <p:txBody>
          <a:bodyPr wrap="square" lIns="0" rIns="0" tIns="0" bIns="0" anchor="t">
            <a:spAutoFit/>
          </a:bodyPr>
          <a:lstStyle/>
          <a:p>
            <a:pPr algn="l"/>
            <a:r>
              <a:rPr sz="1400" b="0" i="0">
                <a:solidFill>
                  <a:srgbClr val="5B6B7A"/>
                </a:solidFill>
                <a:latin typeface="Arial"/>
              </a:rPr>
              <a:t>Cibles, pas résultats : les mesures sont en diapositive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1" i="0">
                <a:solidFill>
                  <a:srgbClr val="2E75B6"/>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4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Seul OpenCV tenait Android + iOS en six semaines, sans jeu de données annoté</a:t>
            </a:r>
          </a:p>
        </p:txBody>
      </p:sp>
      <p:graphicFrame>
        <p:nvGraphicFramePr>
          <p:cNvPr id="7" name="Table 6"/>
          <p:cNvGraphicFramePr>
            <a:graphicFrameLocks noGrp="1"/>
          </p:cNvGraphicFramePr>
          <p:nvPr/>
        </p:nvGraphicFramePr>
        <p:xfrm>
          <a:off x="548640" y="1874519"/>
          <a:ext cx="11094415" cy="3273552"/>
        </p:xfrm>
        <a:graphic>
          <a:graphicData uri="http://schemas.openxmlformats.org/drawingml/2006/table">
            <a:tbl>
              <a:tblPr firstRow="0" bandRow="0"/>
              <a:tblGrid>
                <a:gridCol w="2743200"/>
                <a:gridCol w="2743200"/>
                <a:gridCol w="2743200"/>
                <a:gridCol w="2864815"/>
              </a:tblGrid>
              <a:tr h="786384">
                <a:tc>
                  <a:txBody>
                    <a:bodyPr/>
                    <a:lstStyle/>
                    <a:p>
                      <a:r>
                        <a:rPr sz="1700" b="1">
                          <a:solidFill>
                            <a:srgbClr val="1F3A5F"/>
                          </a:solidFill>
                          <a:latin typeface="Arial"/>
                        </a:rPr>
                        <a:t>Critère</a:t>
                      </a:r>
                    </a:p>
                  </a:txBody>
                  <a:tcPr marL="128016" marR="128016" anchor="ctr">
                    <a:solidFill>
                      <a:srgbClr val="EEF2F6"/>
                    </a:solidFill>
                  </a:tcPr>
                </a:tc>
                <a:tc>
                  <a:txBody>
                    <a:bodyPr/>
                    <a:lstStyle/>
                    <a:p>
                      <a:r>
                        <a:rPr sz="1700" b="1">
                          <a:solidFill>
                            <a:srgbClr val="1F3A5F"/>
                          </a:solidFill>
                          <a:latin typeface="Arial"/>
                        </a:rPr>
                        <a:t>ML Kit</a:t>
                      </a:r>
                    </a:p>
                    <a:p>
                      <a:r>
                        <a:rPr sz="1700" b="1">
                          <a:solidFill>
                            <a:srgbClr val="1F3A5F"/>
                          </a:solidFill>
                          <a:latin typeface="Arial"/>
                        </a:rPr>
                        <a:t>Document Scanner</a:t>
                      </a:r>
                    </a:p>
                  </a:txBody>
                  <a:tcPr marL="128016" marR="128016" anchor="ctr">
                    <a:solidFill>
                      <a:srgbClr val="EEF2F6"/>
                    </a:solidFill>
                  </a:tcPr>
                </a:tc>
                <a:tc>
                  <a:txBody>
                    <a:bodyPr/>
                    <a:lstStyle/>
                    <a:p>
                      <a:r>
                        <a:rPr sz="1700" b="1">
                          <a:solidFill>
                            <a:srgbClr val="1F3A5F"/>
                          </a:solidFill>
                          <a:latin typeface="Arial"/>
                        </a:rPr>
                        <a:t>Modèle entraîné</a:t>
                      </a:r>
                    </a:p>
                    <a:p>
                      <a:r>
                        <a:rPr sz="1700" b="1">
                          <a:solidFill>
                            <a:srgbClr val="1F3A5F"/>
                          </a:solidFill>
                          <a:latin typeface="Arial"/>
                        </a:rPr>
                        <a:t>sur mesure</a:t>
                      </a:r>
                    </a:p>
                  </a:txBody>
                  <a:tcPr marL="128016" marR="128016" anchor="ctr">
                    <a:solidFill>
                      <a:srgbClr val="EEF2F6"/>
                    </a:solidFill>
                  </a:tcPr>
                </a:tc>
                <a:tc>
                  <a:txBody>
                    <a:bodyPr/>
                    <a:lstStyle/>
                    <a:p>
                      <a:r>
                        <a:rPr sz="1700" b="1">
                          <a:solidFill>
                            <a:srgbClr val="FFFFFF"/>
                          </a:solidFill>
                          <a:latin typeface="Arial"/>
                        </a:rPr>
                        <a:t>OpenCV</a:t>
                      </a:r>
                    </a:p>
                    <a:p>
                      <a:r>
                        <a:rPr sz="1700" b="1">
                          <a:solidFill>
                            <a:srgbClr val="FFFFFF"/>
                          </a:solidFill>
                          <a:latin typeface="Arial"/>
                        </a:rPr>
                        <a:t>(retenu)</a:t>
                      </a:r>
                    </a:p>
                  </a:txBody>
                  <a:tcPr marL="128016" marR="128016" anchor="ctr">
                    <a:solidFill>
                      <a:srgbClr val="1F3A5F"/>
                    </a:solidFill>
                  </a:tcPr>
                </a:tc>
              </a:tr>
              <a:tr h="621792">
                <a:tc>
                  <a:txBody>
                    <a:bodyPr/>
                    <a:lstStyle/>
                    <a:p>
                      <a:r>
                        <a:rPr sz="1800" b="1">
                          <a:solidFill>
                            <a:srgbClr val="1F3A5F"/>
                          </a:solidFill>
                          <a:latin typeface="Arial"/>
                        </a:rPr>
                        <a:t>Support iOS</a:t>
                      </a:r>
                    </a:p>
                  </a:txBody>
                  <a:tcPr marL="128016" marR="128016" anchor="ctr">
                    <a:solidFill>
                      <a:srgbClr val="FFFFFF"/>
                    </a:solidFill>
                  </a:tcPr>
                </a:tc>
                <a:tc>
                  <a:txBody>
                    <a:bodyPr/>
                    <a:lstStyle/>
                    <a:p>
                      <a:r>
                        <a:rPr sz="1800" b="1">
                          <a:solidFill>
                            <a:srgbClr val="B84A12"/>
                          </a:solidFill>
                          <a:latin typeface="Arial"/>
                        </a:rPr>
                        <a:t>Non</a:t>
                      </a:r>
                    </a:p>
                  </a:txBody>
                  <a:tcPr marL="128016" marR="128016" anchor="ctr">
                    <a:solidFill>
                      <a:srgbClr val="FFFFFF"/>
                    </a:solidFill>
                  </a:tcPr>
                </a:tc>
                <a:tc>
                  <a:txBody>
                    <a:bodyPr/>
                    <a:lstStyle/>
                    <a:p>
                      <a:r>
                        <a:rPr sz="1800" b="0">
                          <a:solidFill>
                            <a:srgbClr val="1B2530"/>
                          </a:solidFill>
                          <a:latin typeface="Arial"/>
                        </a:rPr>
                        <a:t>Oui, si entraîné</a:t>
                      </a:r>
                    </a:p>
                  </a:txBody>
                  <a:tcPr marL="128016" marR="128016" anchor="ctr">
                    <a:solidFill>
                      <a:srgbClr val="FFFFFF"/>
                    </a:solidFill>
                  </a:tcPr>
                </a:tc>
                <a:tc>
                  <a:txBody>
                    <a:bodyPr/>
                    <a:lstStyle/>
                    <a:p>
                      <a:r>
                        <a:rPr sz="1800" b="1">
                          <a:solidFill>
                            <a:srgbClr val="1F3A5F"/>
                          </a:solidFill>
                          <a:latin typeface="Arial"/>
                        </a:rPr>
                        <a:t>Oui</a:t>
                      </a:r>
                    </a:p>
                  </a:txBody>
                  <a:tcPr marL="128016" marR="128016" anchor="ctr">
                    <a:solidFill>
                      <a:srgbClr val="EEF2F6"/>
                    </a:solidFill>
                  </a:tcPr>
                </a:tc>
              </a:tr>
              <a:tr h="621792">
                <a:tc>
                  <a:txBody>
                    <a:bodyPr/>
                    <a:lstStyle/>
                    <a:p>
                      <a:r>
                        <a:rPr sz="1800" b="1">
                          <a:solidFill>
                            <a:srgbClr val="1F3A5F"/>
                          </a:solidFill>
                          <a:latin typeface="Arial"/>
                        </a:rPr>
                        <a:t>Jeu de données</a:t>
                      </a:r>
                    </a:p>
                  </a:txBody>
                  <a:tcPr marL="128016" marR="128016" anchor="ctr">
                    <a:solidFill>
                      <a:srgbClr val="FFFFFF"/>
                    </a:solidFill>
                  </a:tcPr>
                </a:tc>
                <a:tc>
                  <a:txBody>
                    <a:bodyPr/>
                    <a:lstStyle/>
                    <a:p>
                      <a:r>
                        <a:rPr sz="1800" b="0">
                          <a:solidFill>
                            <a:srgbClr val="1B2530"/>
                          </a:solidFill>
                          <a:latin typeface="Arial"/>
                        </a:rPr>
                        <a:t>Aucun</a:t>
                      </a:r>
                    </a:p>
                  </a:txBody>
                  <a:tcPr marL="128016" marR="128016" anchor="ctr">
                    <a:solidFill>
                      <a:srgbClr val="FFFFFF"/>
                    </a:solidFill>
                  </a:tcPr>
                </a:tc>
                <a:tc>
                  <a:txBody>
                    <a:bodyPr/>
                    <a:lstStyle/>
                    <a:p>
                      <a:r>
                        <a:rPr sz="1800" b="1">
                          <a:solidFill>
                            <a:srgbClr val="B84A12"/>
                          </a:solidFill>
                          <a:latin typeface="Arial"/>
                        </a:rPr>
                        <a:t>Plusieurs centaines</a:t>
                      </a:r>
                    </a:p>
                    <a:p>
                      <a:r>
                        <a:rPr sz="1800" b="1">
                          <a:solidFill>
                            <a:srgbClr val="B84A12"/>
                          </a:solidFill>
                          <a:latin typeface="Arial"/>
                        </a:rPr>
                        <a:t>d'images annotées</a:t>
                      </a:r>
                    </a:p>
                  </a:txBody>
                  <a:tcPr marL="128016" marR="128016" anchor="ctr">
                    <a:solidFill>
                      <a:srgbClr val="FFFFFF"/>
                    </a:solidFill>
                  </a:tcPr>
                </a:tc>
                <a:tc>
                  <a:txBody>
                    <a:bodyPr/>
                    <a:lstStyle/>
                    <a:p>
                      <a:r>
                        <a:rPr sz="1800" b="1">
                          <a:solidFill>
                            <a:srgbClr val="1F3A5F"/>
                          </a:solidFill>
                          <a:latin typeface="Arial"/>
                        </a:rPr>
                        <a:t>Aucun</a:t>
                      </a:r>
                    </a:p>
                  </a:txBody>
                  <a:tcPr marL="128016" marR="128016" anchor="ctr">
                    <a:solidFill>
                      <a:srgbClr val="EEF2F6"/>
                    </a:solidFill>
                  </a:tcPr>
                </a:tc>
              </a:tr>
              <a:tr h="621792">
                <a:tc>
                  <a:txBody>
                    <a:bodyPr/>
                    <a:lstStyle/>
                    <a:p>
                      <a:r>
                        <a:rPr sz="1800" b="1">
                          <a:solidFill>
                            <a:srgbClr val="1F3A5F"/>
                          </a:solidFill>
                          <a:latin typeface="Arial"/>
                        </a:rPr>
                        <a:t>Tenable en 6 semaines</a:t>
                      </a:r>
                    </a:p>
                  </a:txBody>
                  <a:tcPr marL="128016" marR="128016" anchor="ctr">
                    <a:solidFill>
                      <a:srgbClr val="FFFFFF"/>
                    </a:solidFill>
                  </a:tcPr>
                </a:tc>
                <a:tc>
                  <a:txBody>
                    <a:bodyPr/>
                    <a:lstStyle/>
                    <a:p>
                      <a:r>
                        <a:rPr sz="1800" b="0">
                          <a:solidFill>
                            <a:srgbClr val="1B2530"/>
                          </a:solidFill>
                          <a:latin typeface="Arial"/>
                        </a:rPr>
                        <a:t>Oui</a:t>
                      </a:r>
                    </a:p>
                  </a:txBody>
                  <a:tcPr marL="128016" marR="128016" anchor="ctr">
                    <a:solidFill>
                      <a:srgbClr val="FFFFFF"/>
                    </a:solidFill>
                  </a:tcPr>
                </a:tc>
                <a:tc>
                  <a:txBody>
                    <a:bodyPr/>
                    <a:lstStyle/>
                    <a:p>
                      <a:r>
                        <a:rPr sz="1800" b="1">
                          <a:solidFill>
                            <a:srgbClr val="B84A12"/>
                          </a:solidFill>
                          <a:latin typeface="Arial"/>
                        </a:rPr>
                        <a:t>Non</a:t>
                      </a:r>
                    </a:p>
                  </a:txBody>
                  <a:tcPr marL="128016" marR="128016" anchor="ctr">
                    <a:solidFill>
                      <a:srgbClr val="FFFFFF"/>
                    </a:solidFill>
                  </a:tcPr>
                </a:tc>
                <a:tc>
                  <a:txBody>
                    <a:bodyPr/>
                    <a:lstStyle/>
                    <a:p>
                      <a:r>
                        <a:rPr sz="1800" b="1">
                          <a:solidFill>
                            <a:srgbClr val="1F3A5F"/>
                          </a:solidFill>
                          <a:latin typeface="Arial"/>
                        </a:rPr>
                        <a:t>Oui</a:t>
                      </a:r>
                    </a:p>
                  </a:txBody>
                  <a:tcPr marL="128016" marR="128016" anchor="ctr">
                    <a:solidFill>
                      <a:srgbClr val="EEF2F6"/>
                    </a:solidFill>
                  </a:tcPr>
                </a:tc>
              </a:tr>
              <a:tr h="621792">
                <a:tc>
                  <a:txBody>
                    <a:bodyPr/>
                    <a:lstStyle/>
                    <a:p>
                      <a:r>
                        <a:rPr sz="1800" b="1">
                          <a:solidFill>
                            <a:srgbClr val="1F3A5F"/>
                          </a:solidFill>
                          <a:latin typeface="Arial"/>
                        </a:rPr>
                        <a:t>Effort de réglage</a:t>
                      </a:r>
                    </a:p>
                  </a:txBody>
                  <a:tcPr marL="128016" marR="128016" anchor="ctr">
                    <a:solidFill>
                      <a:srgbClr val="FFFFFF"/>
                    </a:solidFill>
                  </a:tcPr>
                </a:tc>
                <a:tc>
                  <a:txBody>
                    <a:bodyPr/>
                    <a:lstStyle/>
                    <a:p>
                      <a:r>
                        <a:rPr sz="1800" b="0">
                          <a:solidFill>
                            <a:srgbClr val="1B2530"/>
                          </a:solidFill>
                          <a:latin typeface="Arial"/>
                        </a:rPr>
                        <a:t>Faible</a:t>
                      </a:r>
                    </a:p>
                  </a:txBody>
                  <a:tcPr marL="128016" marR="128016" anchor="ctr">
                    <a:solidFill>
                      <a:srgbClr val="FFFFFF"/>
                    </a:solidFill>
                  </a:tcPr>
                </a:tc>
                <a:tc>
                  <a:txBody>
                    <a:bodyPr/>
                    <a:lstStyle/>
                    <a:p>
                      <a:r>
                        <a:rPr sz="1800" b="0">
                          <a:solidFill>
                            <a:srgbClr val="1B2530"/>
                          </a:solidFill>
                          <a:latin typeface="Arial"/>
                        </a:rPr>
                        <a:t>Élevé (entraînement)</a:t>
                      </a:r>
                    </a:p>
                  </a:txBody>
                  <a:tcPr marL="128016" marR="128016" anchor="ctr">
                    <a:solidFill>
                      <a:srgbClr val="FFFFFF"/>
                    </a:solidFill>
                  </a:tcPr>
                </a:tc>
                <a:tc>
                  <a:txBody>
                    <a:bodyPr/>
                    <a:lstStyle/>
                    <a:p>
                      <a:r>
                        <a:rPr sz="1800" b="1">
                          <a:solidFill>
                            <a:srgbClr val="1F3A5F"/>
                          </a:solidFill>
                          <a:latin typeface="Arial"/>
                        </a:rPr>
                        <a:t>Moyen (seuils empiriques)</a:t>
                      </a:r>
                    </a:p>
                  </a:txBody>
                  <a:tcPr marL="128016" marR="128016" anchor="ctr">
                    <a:solidFill>
                      <a:srgbClr val="EEF2F6"/>
                    </a:solidFill>
                  </a:tcPr>
                </a:tc>
              </a:tr>
            </a:tbl>
          </a:graphicData>
        </a:graphic>
      </p:graphicFrame>
      <p:sp>
        <p:nvSpPr>
          <p:cNvPr id="8" name="TextBox 7"/>
          <p:cNvSpPr txBox="1"/>
          <p:nvPr/>
        </p:nvSpPr>
        <p:spPr>
          <a:xfrm>
            <a:off x="548640" y="5349240"/>
            <a:ext cx="11094415" cy="731520"/>
          </a:xfrm>
          <a:prstGeom prst="rect">
            <a:avLst/>
          </a:prstGeom>
          <a:noFill/>
        </p:spPr>
        <p:txBody>
          <a:bodyPr wrap="square" lIns="0" rIns="0" tIns="0" bIns="0" anchor="t">
            <a:spAutoFit/>
          </a:bodyPr>
          <a:lstStyle/>
          <a:p>
            <a:pPr algn="l"/>
            <a:r>
              <a:rPr sz="1600" b="1" i="0">
                <a:solidFill>
                  <a:srgbClr val="B84A12"/>
                </a:solidFill>
                <a:latin typeface="Arial"/>
              </a:rPr>
              <a:t>En orange : le critère qui élimine l'option. </a:t>
            </a:r>
            <a:r>
              <a:rPr sz="1600" b="0" i="0">
                <a:solidFill>
                  <a:srgbClr val="5B6B7A"/>
                </a:solidFill>
                <a:latin typeface="Arial"/>
              </a:rPr>
              <a:t>Choix par élimination sur les contraintes, pas par benchmark ; Vision/VisionKit (iOS) écarté pour la même raison : deux chaînes de détection à maintenir.</a:t>
            </a:r>
          </a:p>
        </p:txBody>
      </p:sp>
      <p:sp>
        <p:nvSpPr>
          <p:cNvPr id="9" name="TextBox 8"/>
          <p:cNvSpPr txBox="1"/>
          <p:nvPr/>
        </p:nvSpPr>
        <p:spPr>
          <a:xfrm>
            <a:off x="548640" y="6053328"/>
            <a:ext cx="11094415" cy="228600"/>
          </a:xfrm>
          <a:prstGeom prst="rect">
            <a:avLst/>
          </a:prstGeom>
          <a:noFill/>
        </p:spPr>
        <p:txBody>
          <a:bodyPr wrap="square" lIns="0" rIns="0" tIns="0" bIns="0" anchor="t">
            <a:spAutoFit/>
          </a:bodyPr>
          <a:lstStyle/>
          <a:p>
            <a:pPr algn="l"/>
            <a:r>
              <a:rPr sz="1200" b="0" i="0">
                <a:solidFill>
                  <a:srgbClr val="5B6B7A"/>
                </a:solidFill>
                <a:latin typeface="Arial"/>
              </a:rPr>
              <a:t>Source : rapport §1.3, tableau 1.2 ; disponibilité de ML Kit Document Scanner : documentation Google ML Kit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1" i="0">
                <a:solidFill>
                  <a:srgbClr val="2E75B6"/>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5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Un domaine sans Flutter ni OpenCV rend la logique testable sans caméra</a:t>
            </a:r>
          </a:p>
        </p:txBody>
      </p:sp>
      <p:sp>
        <p:nvSpPr>
          <p:cNvPr id="7" name="TextBox 6"/>
          <p:cNvSpPr txBox="1"/>
          <p:nvPr/>
        </p:nvSpPr>
        <p:spPr>
          <a:xfrm>
            <a:off x="548640" y="1828800"/>
            <a:ext cx="5120640" cy="320040"/>
          </a:xfrm>
          <a:prstGeom prst="rect">
            <a:avLst/>
          </a:prstGeom>
          <a:noFill/>
        </p:spPr>
        <p:txBody>
          <a:bodyPr wrap="square" lIns="0" rIns="0" tIns="0" bIns="0" anchor="t">
            <a:spAutoFit/>
          </a:bodyPr>
          <a:lstStyle/>
          <a:p>
            <a:pPr algn="l"/>
            <a:r>
              <a:rPr sz="1300" b="1" i="0">
                <a:solidFill>
                  <a:srgbClr val="2E75B6"/>
                </a:solidFill>
                <a:latin typeface="Arial"/>
              </a:rPr>
              <a:t>UN MODULE TYPE (CLEAN ARCHITECTURE)</a:t>
            </a:r>
          </a:p>
        </p:txBody>
      </p:sp>
      <p:sp>
        <p:nvSpPr>
          <p:cNvPr id="8" name="Rectangle 7"/>
          <p:cNvSpPr/>
          <p:nvPr/>
        </p:nvSpPr>
        <p:spPr>
          <a:xfrm>
            <a:off x="548640" y="2286000"/>
            <a:ext cx="3840480" cy="868680"/>
          </a:xfrm>
          <a:prstGeom prst="rect">
            <a:avLst/>
          </a:prstGeom>
          <a:noFill/>
          <a:ln w="12700">
            <a:solidFill>
              <a:srgbClr val="CBD3DB"/>
            </a:solidFill>
          </a:ln>
        </p:spPr>
        <p:txBody>
          <a:bodyPr rtlCol="0" anchor="ctr"/>
          <a:lstStyle/>
          <a:p/>
        </p:txBody>
      </p:sp>
      <p:sp>
        <p:nvSpPr>
          <p:cNvPr id="9" name="TextBox 8"/>
          <p:cNvSpPr txBox="1"/>
          <p:nvPr/>
        </p:nvSpPr>
        <p:spPr>
          <a:xfrm>
            <a:off x="731520" y="2377440"/>
            <a:ext cx="3566160" cy="365760"/>
          </a:xfrm>
          <a:prstGeom prst="rect">
            <a:avLst/>
          </a:prstGeom>
          <a:noFill/>
        </p:spPr>
        <p:txBody>
          <a:bodyPr wrap="square" lIns="0" rIns="0" tIns="0" bIns="0" anchor="t">
            <a:spAutoFit/>
          </a:bodyPr>
          <a:lstStyle/>
          <a:p>
            <a:pPr algn="l"/>
            <a:r>
              <a:rPr sz="1800" b="1" i="0">
                <a:solidFill>
                  <a:srgbClr val="1F3A5F"/>
                </a:solidFill>
                <a:latin typeface="Courier New"/>
              </a:rPr>
              <a:t>presentation</a:t>
            </a:r>
          </a:p>
        </p:txBody>
      </p:sp>
      <p:sp>
        <p:nvSpPr>
          <p:cNvPr id="10" name="TextBox 9"/>
          <p:cNvSpPr txBox="1"/>
          <p:nvPr/>
        </p:nvSpPr>
        <p:spPr>
          <a:xfrm>
            <a:off x="731520" y="2743200"/>
            <a:ext cx="3566160" cy="365760"/>
          </a:xfrm>
          <a:prstGeom prst="rect">
            <a:avLst/>
          </a:prstGeom>
          <a:noFill/>
        </p:spPr>
        <p:txBody>
          <a:bodyPr wrap="square" lIns="0" rIns="0" tIns="0" bIns="0" anchor="t">
            <a:spAutoFit/>
          </a:bodyPr>
          <a:lstStyle/>
          <a:p>
            <a:pPr algn="l"/>
            <a:r>
              <a:rPr sz="1600" b="0" i="0">
                <a:solidFill>
                  <a:srgbClr val="1B2530"/>
                </a:solidFill>
                <a:latin typeface="Arial"/>
              </a:rPr>
              <a:t>écrans, view-models (ChangeNotifier)</a:t>
            </a:r>
          </a:p>
        </p:txBody>
      </p:sp>
      <p:sp>
        <p:nvSpPr>
          <p:cNvPr id="11" name="Rectangle 10"/>
          <p:cNvSpPr/>
          <p:nvPr/>
        </p:nvSpPr>
        <p:spPr>
          <a:xfrm>
            <a:off x="548640" y="3520440"/>
            <a:ext cx="3840480" cy="868680"/>
          </a:xfrm>
          <a:prstGeom prst="rect">
            <a:avLst/>
          </a:prstGeom>
          <a:solidFill>
            <a:srgbClr val="EEF2F6"/>
          </a:solidFill>
          <a:ln w="25400">
            <a:solidFill>
              <a:srgbClr val="2E75B6"/>
            </a:solidFill>
          </a:ln>
        </p:spPr>
        <p:txBody>
          <a:bodyPr rtlCol="0" anchor="ctr"/>
          <a:lstStyle/>
          <a:p/>
        </p:txBody>
      </p:sp>
      <p:sp>
        <p:nvSpPr>
          <p:cNvPr id="12" name="TextBox 11"/>
          <p:cNvSpPr txBox="1"/>
          <p:nvPr/>
        </p:nvSpPr>
        <p:spPr>
          <a:xfrm>
            <a:off x="731520" y="3611880"/>
            <a:ext cx="3566160" cy="365760"/>
          </a:xfrm>
          <a:prstGeom prst="rect">
            <a:avLst/>
          </a:prstGeom>
          <a:noFill/>
        </p:spPr>
        <p:txBody>
          <a:bodyPr wrap="square" lIns="0" rIns="0" tIns="0" bIns="0" anchor="t">
            <a:spAutoFit/>
          </a:bodyPr>
          <a:lstStyle/>
          <a:p>
            <a:pPr algn="l"/>
            <a:r>
              <a:rPr sz="1800" b="1" i="0">
                <a:solidFill>
                  <a:srgbClr val="1F3A5F"/>
                </a:solidFill>
                <a:latin typeface="Courier New"/>
              </a:rPr>
              <a:t>domain</a:t>
            </a:r>
          </a:p>
        </p:txBody>
      </p:sp>
      <p:sp>
        <p:nvSpPr>
          <p:cNvPr id="13" name="TextBox 12"/>
          <p:cNvSpPr txBox="1"/>
          <p:nvPr/>
        </p:nvSpPr>
        <p:spPr>
          <a:xfrm>
            <a:off x="731520" y="3977639"/>
            <a:ext cx="3566160" cy="365760"/>
          </a:xfrm>
          <a:prstGeom prst="rect">
            <a:avLst/>
          </a:prstGeom>
          <a:noFill/>
        </p:spPr>
        <p:txBody>
          <a:bodyPr wrap="square" lIns="0" rIns="0" tIns="0" bIns="0" anchor="t">
            <a:spAutoFit/>
          </a:bodyPr>
          <a:lstStyle/>
          <a:p>
            <a:pPr algn="l"/>
            <a:r>
              <a:rPr sz="1600" b="0" i="0">
                <a:solidFill>
                  <a:srgbClr val="1B2530"/>
                </a:solidFill>
                <a:latin typeface="Arial"/>
              </a:rPr>
              <a:t>entités et cas d'usage · Dart pur</a:t>
            </a:r>
          </a:p>
        </p:txBody>
      </p:sp>
      <p:sp>
        <p:nvSpPr>
          <p:cNvPr id="14" name="Rectangle 13"/>
          <p:cNvSpPr/>
          <p:nvPr/>
        </p:nvSpPr>
        <p:spPr>
          <a:xfrm>
            <a:off x="548640" y="4754880"/>
            <a:ext cx="3840480" cy="868680"/>
          </a:xfrm>
          <a:prstGeom prst="rect">
            <a:avLst/>
          </a:prstGeom>
          <a:noFill/>
          <a:ln w="12700">
            <a:solidFill>
              <a:srgbClr val="CBD3DB"/>
            </a:solidFill>
          </a:ln>
        </p:spPr>
        <p:txBody>
          <a:bodyPr rtlCol="0" anchor="ctr"/>
          <a:lstStyle/>
          <a:p/>
        </p:txBody>
      </p:sp>
      <p:sp>
        <p:nvSpPr>
          <p:cNvPr id="15" name="TextBox 14"/>
          <p:cNvSpPr txBox="1"/>
          <p:nvPr/>
        </p:nvSpPr>
        <p:spPr>
          <a:xfrm>
            <a:off x="731520" y="4846320"/>
            <a:ext cx="3566160" cy="365760"/>
          </a:xfrm>
          <a:prstGeom prst="rect">
            <a:avLst/>
          </a:prstGeom>
          <a:noFill/>
        </p:spPr>
        <p:txBody>
          <a:bodyPr wrap="square" lIns="0" rIns="0" tIns="0" bIns="0" anchor="t">
            <a:spAutoFit/>
          </a:bodyPr>
          <a:lstStyle/>
          <a:p>
            <a:pPr algn="l"/>
            <a:r>
              <a:rPr sz="1800" b="1" i="0">
                <a:solidFill>
                  <a:srgbClr val="1F3A5F"/>
                </a:solidFill>
                <a:latin typeface="Courier New"/>
              </a:rPr>
              <a:t>data</a:t>
            </a:r>
          </a:p>
        </p:txBody>
      </p:sp>
      <p:sp>
        <p:nvSpPr>
          <p:cNvPr id="16" name="TextBox 15"/>
          <p:cNvSpPr txBox="1"/>
          <p:nvPr/>
        </p:nvSpPr>
        <p:spPr>
          <a:xfrm>
            <a:off x="731520" y="5212080"/>
            <a:ext cx="3566160" cy="365760"/>
          </a:xfrm>
          <a:prstGeom prst="rect">
            <a:avLst/>
          </a:prstGeom>
          <a:noFill/>
        </p:spPr>
        <p:txBody>
          <a:bodyPr wrap="square" lIns="0" rIns="0" tIns="0" bIns="0" anchor="t">
            <a:spAutoFit/>
          </a:bodyPr>
          <a:lstStyle/>
          <a:p>
            <a:pPr algn="l"/>
            <a:r>
              <a:rPr sz="1600" b="0" i="0">
                <a:solidFill>
                  <a:srgbClr val="1B2530"/>
                </a:solidFill>
                <a:latin typeface="Arial"/>
              </a:rPr>
              <a:t>détecteurs OpenCV, services, dépôts</a:t>
            </a:r>
          </a:p>
        </p:txBody>
      </p:sp>
      <p:cxnSp>
        <p:nvCxnSpPr>
          <p:cNvPr id="17" name="Connector 16"/>
          <p:cNvCxnSpPr/>
          <p:nvPr/>
        </p:nvCxnSpPr>
        <p:spPr>
          <a:xfrm>
            <a:off x="2468880" y="3154680"/>
            <a:ext cx="0" cy="365760"/>
          </a:xfrm>
          <a:prstGeom prst="line">
            <a:avLst/>
          </a:prstGeom>
          <a:ln w="19050">
            <a:solidFill>
              <a:srgbClr val="1F3A5F"/>
            </a:solidFill>
            <a:tailEnd type="triangle" w="med" h="med"/>
          </a:ln>
        </p:spPr>
      </p:cxnSp>
      <p:sp>
        <p:nvSpPr>
          <p:cNvPr id="18" name="TextBox 17"/>
          <p:cNvSpPr txBox="1"/>
          <p:nvPr/>
        </p:nvSpPr>
        <p:spPr>
          <a:xfrm>
            <a:off x="2606040" y="3172968"/>
            <a:ext cx="1828800" cy="320040"/>
          </a:xfrm>
          <a:prstGeom prst="rect">
            <a:avLst/>
          </a:prstGeom>
          <a:noFill/>
        </p:spPr>
        <p:txBody>
          <a:bodyPr wrap="square" lIns="0" rIns="0" tIns="0" bIns="0" anchor="t">
            <a:spAutoFit/>
          </a:bodyPr>
          <a:lstStyle/>
          <a:p>
            <a:pPr algn="l"/>
            <a:r>
              <a:rPr sz="1400" b="0" i="0">
                <a:solidFill>
                  <a:srgbClr val="5B6B7A"/>
                </a:solidFill>
                <a:latin typeface="Arial"/>
              </a:rPr>
              <a:t>dépend de</a:t>
            </a:r>
          </a:p>
        </p:txBody>
      </p:sp>
      <p:cxnSp>
        <p:nvCxnSpPr>
          <p:cNvPr id="19" name="Connector 18"/>
          <p:cNvCxnSpPr/>
          <p:nvPr/>
        </p:nvCxnSpPr>
        <p:spPr>
          <a:xfrm flipV="1">
            <a:off x="2468880" y="4389120"/>
            <a:ext cx="0" cy="365760"/>
          </a:xfrm>
          <a:prstGeom prst="line">
            <a:avLst/>
          </a:prstGeom>
          <a:ln w="19050">
            <a:solidFill>
              <a:srgbClr val="1F3A5F"/>
            </a:solidFill>
            <a:tailEnd type="triangle" w="med" h="med"/>
          </a:ln>
        </p:spPr>
      </p:cxnSp>
      <p:sp>
        <p:nvSpPr>
          <p:cNvPr id="20" name="TextBox 19"/>
          <p:cNvSpPr txBox="1"/>
          <p:nvPr/>
        </p:nvSpPr>
        <p:spPr>
          <a:xfrm>
            <a:off x="2606040" y="4425696"/>
            <a:ext cx="1828800" cy="320040"/>
          </a:xfrm>
          <a:prstGeom prst="rect">
            <a:avLst/>
          </a:prstGeom>
          <a:noFill/>
        </p:spPr>
        <p:txBody>
          <a:bodyPr wrap="square" lIns="0" rIns="0" tIns="0" bIns="0" anchor="t">
            <a:spAutoFit/>
          </a:bodyPr>
          <a:lstStyle/>
          <a:p>
            <a:pPr algn="l"/>
            <a:r>
              <a:rPr sz="1400" b="0" i="0">
                <a:solidFill>
                  <a:srgbClr val="5B6B7A"/>
                </a:solidFill>
                <a:latin typeface="Arial"/>
              </a:rPr>
              <a:t>implémente</a:t>
            </a:r>
          </a:p>
        </p:txBody>
      </p:sp>
      <p:sp>
        <p:nvSpPr>
          <p:cNvPr id="21" name="TextBox 20"/>
          <p:cNvSpPr txBox="1"/>
          <p:nvPr/>
        </p:nvSpPr>
        <p:spPr>
          <a:xfrm>
            <a:off x="5257800" y="1828800"/>
            <a:ext cx="6400800" cy="320040"/>
          </a:xfrm>
          <a:prstGeom prst="rect">
            <a:avLst/>
          </a:prstGeom>
          <a:noFill/>
        </p:spPr>
        <p:txBody>
          <a:bodyPr wrap="square" lIns="0" rIns="0" tIns="0" bIns="0" anchor="t">
            <a:spAutoFit/>
          </a:bodyPr>
          <a:lstStyle/>
          <a:p>
            <a:pPr algn="l"/>
            <a:r>
              <a:rPr sz="1300" b="1" i="0">
                <a:solidFill>
                  <a:srgbClr val="2E75B6"/>
                </a:solidFill>
                <a:latin typeface="Arial"/>
              </a:rPr>
              <a:t>SEPT MODULES FEATURE-FIRST : COUCHES RÉELLEMENT PRÉSENTES</a:t>
            </a:r>
          </a:p>
        </p:txBody>
      </p:sp>
      <p:sp>
        <p:nvSpPr>
          <p:cNvPr id="22" name="TextBox 21"/>
          <p:cNvSpPr txBox="1"/>
          <p:nvPr/>
        </p:nvSpPr>
        <p:spPr>
          <a:xfrm>
            <a:off x="8119872" y="2240280"/>
            <a:ext cx="1133856" cy="274320"/>
          </a:xfrm>
          <a:prstGeom prst="rect">
            <a:avLst/>
          </a:prstGeom>
          <a:noFill/>
        </p:spPr>
        <p:txBody>
          <a:bodyPr wrap="square" lIns="0" rIns="0" tIns="0" bIns="0" anchor="t">
            <a:spAutoFit/>
          </a:bodyPr>
          <a:lstStyle/>
          <a:p>
            <a:pPr algn="ctr"/>
            <a:r>
              <a:rPr sz="1400" b="0" i="0">
                <a:solidFill>
                  <a:srgbClr val="5B6B7A"/>
                </a:solidFill>
                <a:latin typeface="Arial"/>
              </a:rPr>
              <a:t>présentation</a:t>
            </a:r>
          </a:p>
        </p:txBody>
      </p:sp>
      <p:sp>
        <p:nvSpPr>
          <p:cNvPr id="23" name="TextBox 22"/>
          <p:cNvSpPr txBox="1"/>
          <p:nvPr/>
        </p:nvSpPr>
        <p:spPr>
          <a:xfrm>
            <a:off x="9262872" y="2240280"/>
            <a:ext cx="1133856" cy="274320"/>
          </a:xfrm>
          <a:prstGeom prst="rect">
            <a:avLst/>
          </a:prstGeom>
          <a:noFill/>
        </p:spPr>
        <p:txBody>
          <a:bodyPr wrap="square" lIns="0" rIns="0" tIns="0" bIns="0" anchor="t">
            <a:spAutoFit/>
          </a:bodyPr>
          <a:lstStyle/>
          <a:p>
            <a:pPr algn="ctr"/>
            <a:r>
              <a:rPr sz="1400" b="0" i="0">
                <a:solidFill>
                  <a:srgbClr val="5B6B7A"/>
                </a:solidFill>
                <a:latin typeface="Arial"/>
              </a:rPr>
              <a:t>domaine</a:t>
            </a:r>
          </a:p>
        </p:txBody>
      </p:sp>
      <p:sp>
        <p:nvSpPr>
          <p:cNvPr id="24" name="TextBox 23"/>
          <p:cNvSpPr txBox="1"/>
          <p:nvPr/>
        </p:nvSpPr>
        <p:spPr>
          <a:xfrm>
            <a:off x="10314432" y="2240280"/>
            <a:ext cx="1133856" cy="274320"/>
          </a:xfrm>
          <a:prstGeom prst="rect">
            <a:avLst/>
          </a:prstGeom>
          <a:noFill/>
        </p:spPr>
        <p:txBody>
          <a:bodyPr wrap="square" lIns="0" rIns="0" tIns="0" bIns="0" anchor="t">
            <a:spAutoFit/>
          </a:bodyPr>
          <a:lstStyle/>
          <a:p>
            <a:pPr algn="ctr"/>
            <a:r>
              <a:rPr sz="1400" b="0" i="0">
                <a:solidFill>
                  <a:srgbClr val="5B6B7A"/>
                </a:solidFill>
                <a:latin typeface="Arial"/>
              </a:rPr>
              <a:t>données</a:t>
            </a:r>
          </a:p>
        </p:txBody>
      </p:sp>
      <p:sp>
        <p:nvSpPr>
          <p:cNvPr id="25" name="TextBox 24"/>
          <p:cNvSpPr txBox="1"/>
          <p:nvPr/>
        </p:nvSpPr>
        <p:spPr>
          <a:xfrm>
            <a:off x="5257800" y="2606040"/>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camera_capture</a:t>
            </a:r>
          </a:p>
        </p:txBody>
      </p:sp>
      <p:sp>
        <p:nvSpPr>
          <p:cNvPr id="26" name="Oval 25"/>
          <p:cNvSpPr/>
          <p:nvPr/>
        </p:nvSpPr>
        <p:spPr>
          <a:xfrm>
            <a:off x="8586216" y="2688336"/>
            <a:ext cx="201168" cy="201168"/>
          </a:xfrm>
          <a:prstGeom prst="ellipse">
            <a:avLst/>
          </a:prstGeom>
          <a:solidFill>
            <a:srgbClr val="1F3A5F"/>
          </a:solidFill>
          <a:ln>
            <a:noFill/>
          </a:ln>
        </p:spPr>
        <p:txBody>
          <a:bodyPr rtlCol="0" anchor="ctr"/>
          <a:lstStyle/>
          <a:p/>
        </p:txBody>
      </p:sp>
      <p:cxnSp>
        <p:nvCxnSpPr>
          <p:cNvPr id="27" name="Connector 26"/>
          <p:cNvCxnSpPr/>
          <p:nvPr/>
        </p:nvCxnSpPr>
        <p:spPr>
          <a:xfrm>
            <a:off x="9738360" y="2788920"/>
            <a:ext cx="182880" cy="0"/>
          </a:xfrm>
          <a:prstGeom prst="line">
            <a:avLst/>
          </a:prstGeom>
          <a:ln w="12700">
            <a:solidFill>
              <a:srgbClr val="CBD3DB"/>
            </a:solidFill>
          </a:ln>
        </p:spPr>
      </p:cxnSp>
      <p:cxnSp>
        <p:nvCxnSpPr>
          <p:cNvPr id="28" name="Connector 27"/>
          <p:cNvCxnSpPr/>
          <p:nvPr/>
        </p:nvCxnSpPr>
        <p:spPr>
          <a:xfrm>
            <a:off x="10789920" y="2788920"/>
            <a:ext cx="182880" cy="0"/>
          </a:xfrm>
          <a:prstGeom prst="line">
            <a:avLst/>
          </a:prstGeom>
          <a:ln w="12700">
            <a:solidFill>
              <a:srgbClr val="CBD3DB"/>
            </a:solidFill>
          </a:ln>
        </p:spPr>
      </p:cxnSp>
      <p:cxnSp>
        <p:nvCxnSpPr>
          <p:cNvPr id="29" name="Connector 28"/>
          <p:cNvCxnSpPr/>
          <p:nvPr/>
        </p:nvCxnSpPr>
        <p:spPr>
          <a:xfrm>
            <a:off x="5257800" y="3008376"/>
            <a:ext cx="6172200" cy="0"/>
          </a:xfrm>
          <a:prstGeom prst="line">
            <a:avLst/>
          </a:prstGeom>
          <a:ln w="6350">
            <a:solidFill>
              <a:srgbClr val="CBD3DB"/>
            </a:solidFill>
          </a:ln>
        </p:spPr>
      </p:cxnSp>
      <p:sp>
        <p:nvSpPr>
          <p:cNvPr id="30" name="TextBox 29"/>
          <p:cNvSpPr txBox="1"/>
          <p:nvPr/>
        </p:nvSpPr>
        <p:spPr>
          <a:xfrm>
            <a:off x="5257800" y="3035808"/>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document_detection</a:t>
            </a:r>
          </a:p>
        </p:txBody>
      </p:sp>
      <p:sp>
        <p:nvSpPr>
          <p:cNvPr id="31" name="Oval 30"/>
          <p:cNvSpPr/>
          <p:nvPr/>
        </p:nvSpPr>
        <p:spPr>
          <a:xfrm>
            <a:off x="8586216" y="3118104"/>
            <a:ext cx="201168" cy="201168"/>
          </a:xfrm>
          <a:prstGeom prst="ellipse">
            <a:avLst/>
          </a:prstGeom>
          <a:solidFill>
            <a:srgbClr val="1F3A5F"/>
          </a:solidFill>
          <a:ln>
            <a:noFill/>
          </a:ln>
        </p:spPr>
        <p:txBody>
          <a:bodyPr rtlCol="0" anchor="ctr"/>
          <a:lstStyle/>
          <a:p/>
        </p:txBody>
      </p:sp>
      <p:sp>
        <p:nvSpPr>
          <p:cNvPr id="32" name="Oval 31"/>
          <p:cNvSpPr/>
          <p:nvPr/>
        </p:nvSpPr>
        <p:spPr>
          <a:xfrm>
            <a:off x="9729216" y="3118104"/>
            <a:ext cx="201168" cy="201168"/>
          </a:xfrm>
          <a:prstGeom prst="ellipse">
            <a:avLst/>
          </a:prstGeom>
          <a:solidFill>
            <a:srgbClr val="2E75B6"/>
          </a:solidFill>
          <a:ln>
            <a:noFill/>
          </a:ln>
        </p:spPr>
        <p:txBody>
          <a:bodyPr rtlCol="0" anchor="ctr"/>
          <a:lstStyle/>
          <a:p/>
        </p:txBody>
      </p:sp>
      <p:sp>
        <p:nvSpPr>
          <p:cNvPr id="33" name="Oval 32"/>
          <p:cNvSpPr/>
          <p:nvPr/>
        </p:nvSpPr>
        <p:spPr>
          <a:xfrm>
            <a:off x="10780776" y="3118104"/>
            <a:ext cx="201168" cy="201168"/>
          </a:xfrm>
          <a:prstGeom prst="ellipse">
            <a:avLst/>
          </a:prstGeom>
          <a:solidFill>
            <a:srgbClr val="1F3A5F"/>
          </a:solidFill>
          <a:ln>
            <a:noFill/>
          </a:ln>
        </p:spPr>
        <p:txBody>
          <a:bodyPr rtlCol="0" anchor="ctr"/>
          <a:lstStyle/>
          <a:p/>
        </p:txBody>
      </p:sp>
      <p:cxnSp>
        <p:nvCxnSpPr>
          <p:cNvPr id="34" name="Connector 33"/>
          <p:cNvCxnSpPr/>
          <p:nvPr/>
        </p:nvCxnSpPr>
        <p:spPr>
          <a:xfrm>
            <a:off x="5257800" y="3438144"/>
            <a:ext cx="6172200" cy="0"/>
          </a:xfrm>
          <a:prstGeom prst="line">
            <a:avLst/>
          </a:prstGeom>
          <a:ln w="6350">
            <a:solidFill>
              <a:srgbClr val="CBD3DB"/>
            </a:solidFill>
          </a:ln>
        </p:spPr>
      </p:cxnSp>
      <p:sp>
        <p:nvSpPr>
          <p:cNvPr id="35" name="TextBox 34"/>
          <p:cNvSpPr txBox="1"/>
          <p:nvPr/>
        </p:nvSpPr>
        <p:spPr>
          <a:xfrm>
            <a:off x="5257800" y="3465576"/>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image_quality</a:t>
            </a:r>
          </a:p>
        </p:txBody>
      </p:sp>
      <p:cxnSp>
        <p:nvCxnSpPr>
          <p:cNvPr id="36" name="Connector 35"/>
          <p:cNvCxnSpPr/>
          <p:nvPr/>
        </p:nvCxnSpPr>
        <p:spPr>
          <a:xfrm>
            <a:off x="8595360" y="3648456"/>
            <a:ext cx="182880" cy="0"/>
          </a:xfrm>
          <a:prstGeom prst="line">
            <a:avLst/>
          </a:prstGeom>
          <a:ln w="12700">
            <a:solidFill>
              <a:srgbClr val="CBD3DB"/>
            </a:solidFill>
          </a:ln>
        </p:spPr>
      </p:cxnSp>
      <p:cxnSp>
        <p:nvCxnSpPr>
          <p:cNvPr id="37" name="Connector 36"/>
          <p:cNvCxnSpPr/>
          <p:nvPr/>
        </p:nvCxnSpPr>
        <p:spPr>
          <a:xfrm>
            <a:off x="9738360" y="3648456"/>
            <a:ext cx="182880" cy="0"/>
          </a:xfrm>
          <a:prstGeom prst="line">
            <a:avLst/>
          </a:prstGeom>
          <a:ln w="12700">
            <a:solidFill>
              <a:srgbClr val="CBD3DB"/>
            </a:solidFill>
          </a:ln>
        </p:spPr>
      </p:cxnSp>
      <p:sp>
        <p:nvSpPr>
          <p:cNvPr id="38" name="Oval 37"/>
          <p:cNvSpPr/>
          <p:nvPr/>
        </p:nvSpPr>
        <p:spPr>
          <a:xfrm>
            <a:off x="10780776" y="3547872"/>
            <a:ext cx="201168" cy="201168"/>
          </a:xfrm>
          <a:prstGeom prst="ellipse">
            <a:avLst/>
          </a:prstGeom>
          <a:solidFill>
            <a:srgbClr val="1F3A5F"/>
          </a:solidFill>
          <a:ln>
            <a:noFill/>
          </a:ln>
        </p:spPr>
        <p:txBody>
          <a:bodyPr rtlCol="0" anchor="ctr"/>
          <a:lstStyle/>
          <a:p/>
        </p:txBody>
      </p:sp>
      <p:cxnSp>
        <p:nvCxnSpPr>
          <p:cNvPr id="39" name="Connector 38"/>
          <p:cNvCxnSpPr/>
          <p:nvPr/>
        </p:nvCxnSpPr>
        <p:spPr>
          <a:xfrm>
            <a:off x="5257800" y="3867912"/>
            <a:ext cx="6172200" cy="0"/>
          </a:xfrm>
          <a:prstGeom prst="line">
            <a:avLst/>
          </a:prstGeom>
          <a:ln w="6350">
            <a:solidFill>
              <a:srgbClr val="CBD3DB"/>
            </a:solidFill>
          </a:ln>
        </p:spPr>
      </p:cxnSp>
      <p:sp>
        <p:nvSpPr>
          <p:cNvPr id="40" name="TextBox 39"/>
          <p:cNvSpPr txBox="1"/>
          <p:nvPr/>
        </p:nvSpPr>
        <p:spPr>
          <a:xfrm>
            <a:off x="5257800" y="3895344"/>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autocapture</a:t>
            </a:r>
          </a:p>
        </p:txBody>
      </p:sp>
      <p:sp>
        <p:nvSpPr>
          <p:cNvPr id="41" name="Oval 40"/>
          <p:cNvSpPr/>
          <p:nvPr/>
        </p:nvSpPr>
        <p:spPr>
          <a:xfrm>
            <a:off x="8586216" y="3977639"/>
            <a:ext cx="201168" cy="201168"/>
          </a:xfrm>
          <a:prstGeom prst="ellipse">
            <a:avLst/>
          </a:prstGeom>
          <a:solidFill>
            <a:srgbClr val="1F3A5F"/>
          </a:solidFill>
          <a:ln>
            <a:noFill/>
          </a:ln>
        </p:spPr>
        <p:txBody>
          <a:bodyPr rtlCol="0" anchor="ctr"/>
          <a:lstStyle/>
          <a:p/>
        </p:txBody>
      </p:sp>
      <p:sp>
        <p:nvSpPr>
          <p:cNvPr id="42" name="Oval 41"/>
          <p:cNvSpPr/>
          <p:nvPr/>
        </p:nvSpPr>
        <p:spPr>
          <a:xfrm>
            <a:off x="9729216" y="3977639"/>
            <a:ext cx="201168" cy="201168"/>
          </a:xfrm>
          <a:prstGeom prst="ellipse">
            <a:avLst/>
          </a:prstGeom>
          <a:solidFill>
            <a:srgbClr val="2E75B6"/>
          </a:solidFill>
          <a:ln>
            <a:noFill/>
          </a:ln>
        </p:spPr>
        <p:txBody>
          <a:bodyPr rtlCol="0" anchor="ctr"/>
          <a:lstStyle/>
          <a:p/>
        </p:txBody>
      </p:sp>
      <p:cxnSp>
        <p:nvCxnSpPr>
          <p:cNvPr id="43" name="Connector 42"/>
          <p:cNvCxnSpPr/>
          <p:nvPr/>
        </p:nvCxnSpPr>
        <p:spPr>
          <a:xfrm>
            <a:off x="10789920" y="4078224"/>
            <a:ext cx="182880" cy="0"/>
          </a:xfrm>
          <a:prstGeom prst="line">
            <a:avLst/>
          </a:prstGeom>
          <a:ln w="12700">
            <a:solidFill>
              <a:srgbClr val="CBD3DB"/>
            </a:solidFill>
          </a:ln>
        </p:spPr>
      </p:cxnSp>
      <p:cxnSp>
        <p:nvCxnSpPr>
          <p:cNvPr id="44" name="Connector 43"/>
          <p:cNvCxnSpPr/>
          <p:nvPr/>
        </p:nvCxnSpPr>
        <p:spPr>
          <a:xfrm>
            <a:off x="5257800" y="4297680"/>
            <a:ext cx="6172200" cy="0"/>
          </a:xfrm>
          <a:prstGeom prst="line">
            <a:avLst/>
          </a:prstGeom>
          <a:ln w="6350">
            <a:solidFill>
              <a:srgbClr val="CBD3DB"/>
            </a:solidFill>
          </a:ln>
        </p:spPr>
      </p:cxnSp>
      <p:sp>
        <p:nvSpPr>
          <p:cNvPr id="45" name="TextBox 44"/>
          <p:cNvSpPr txBox="1"/>
          <p:nvPr/>
        </p:nvSpPr>
        <p:spPr>
          <a:xfrm>
            <a:off x="5257800" y="4325112"/>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image_postprocessing</a:t>
            </a:r>
          </a:p>
        </p:txBody>
      </p:sp>
      <p:sp>
        <p:nvSpPr>
          <p:cNvPr id="46" name="Oval 45"/>
          <p:cNvSpPr/>
          <p:nvPr/>
        </p:nvSpPr>
        <p:spPr>
          <a:xfrm>
            <a:off x="8586216" y="4407408"/>
            <a:ext cx="201168" cy="201168"/>
          </a:xfrm>
          <a:prstGeom prst="ellipse">
            <a:avLst/>
          </a:prstGeom>
          <a:solidFill>
            <a:srgbClr val="1F3A5F"/>
          </a:solidFill>
          <a:ln>
            <a:noFill/>
          </a:ln>
        </p:spPr>
        <p:txBody>
          <a:bodyPr rtlCol="0" anchor="ctr"/>
          <a:lstStyle/>
          <a:p/>
        </p:txBody>
      </p:sp>
      <p:sp>
        <p:nvSpPr>
          <p:cNvPr id="47" name="Oval 46"/>
          <p:cNvSpPr/>
          <p:nvPr/>
        </p:nvSpPr>
        <p:spPr>
          <a:xfrm>
            <a:off x="9729216" y="4407408"/>
            <a:ext cx="201168" cy="201168"/>
          </a:xfrm>
          <a:prstGeom prst="ellipse">
            <a:avLst/>
          </a:prstGeom>
          <a:solidFill>
            <a:srgbClr val="2E75B6"/>
          </a:solidFill>
          <a:ln>
            <a:noFill/>
          </a:ln>
        </p:spPr>
        <p:txBody>
          <a:bodyPr rtlCol="0" anchor="ctr"/>
          <a:lstStyle/>
          <a:p/>
        </p:txBody>
      </p:sp>
      <p:sp>
        <p:nvSpPr>
          <p:cNvPr id="48" name="Oval 47"/>
          <p:cNvSpPr/>
          <p:nvPr/>
        </p:nvSpPr>
        <p:spPr>
          <a:xfrm>
            <a:off x="10780776" y="4407408"/>
            <a:ext cx="201168" cy="201168"/>
          </a:xfrm>
          <a:prstGeom prst="ellipse">
            <a:avLst/>
          </a:prstGeom>
          <a:solidFill>
            <a:srgbClr val="1F3A5F"/>
          </a:solidFill>
          <a:ln>
            <a:noFill/>
          </a:ln>
        </p:spPr>
        <p:txBody>
          <a:bodyPr rtlCol="0" anchor="ctr"/>
          <a:lstStyle/>
          <a:p/>
        </p:txBody>
      </p:sp>
      <p:cxnSp>
        <p:nvCxnSpPr>
          <p:cNvPr id="49" name="Connector 48"/>
          <p:cNvCxnSpPr/>
          <p:nvPr/>
        </p:nvCxnSpPr>
        <p:spPr>
          <a:xfrm>
            <a:off x="5257800" y="4727448"/>
            <a:ext cx="6172200" cy="0"/>
          </a:xfrm>
          <a:prstGeom prst="line">
            <a:avLst/>
          </a:prstGeom>
          <a:ln w="6350">
            <a:solidFill>
              <a:srgbClr val="CBD3DB"/>
            </a:solidFill>
          </a:ln>
        </p:spPr>
      </p:cxnSp>
      <p:sp>
        <p:nvSpPr>
          <p:cNvPr id="50" name="TextBox 49"/>
          <p:cNvSpPr txBox="1"/>
          <p:nvPr/>
        </p:nvSpPr>
        <p:spPr>
          <a:xfrm>
            <a:off x="5257800" y="4754879"/>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result_preview</a:t>
            </a:r>
          </a:p>
        </p:txBody>
      </p:sp>
      <p:sp>
        <p:nvSpPr>
          <p:cNvPr id="51" name="Oval 50"/>
          <p:cNvSpPr/>
          <p:nvPr/>
        </p:nvSpPr>
        <p:spPr>
          <a:xfrm>
            <a:off x="8586216" y="4837175"/>
            <a:ext cx="201168" cy="201168"/>
          </a:xfrm>
          <a:prstGeom prst="ellipse">
            <a:avLst/>
          </a:prstGeom>
          <a:solidFill>
            <a:srgbClr val="1F3A5F"/>
          </a:solidFill>
          <a:ln>
            <a:noFill/>
          </a:ln>
        </p:spPr>
        <p:txBody>
          <a:bodyPr rtlCol="0" anchor="ctr"/>
          <a:lstStyle/>
          <a:p/>
        </p:txBody>
      </p:sp>
      <p:sp>
        <p:nvSpPr>
          <p:cNvPr id="52" name="Oval 51"/>
          <p:cNvSpPr/>
          <p:nvPr/>
        </p:nvSpPr>
        <p:spPr>
          <a:xfrm>
            <a:off x="9729216" y="4837175"/>
            <a:ext cx="201168" cy="201168"/>
          </a:xfrm>
          <a:prstGeom prst="ellipse">
            <a:avLst/>
          </a:prstGeom>
          <a:solidFill>
            <a:srgbClr val="2E75B6"/>
          </a:solidFill>
          <a:ln>
            <a:noFill/>
          </a:ln>
        </p:spPr>
        <p:txBody>
          <a:bodyPr rtlCol="0" anchor="ctr"/>
          <a:lstStyle/>
          <a:p/>
        </p:txBody>
      </p:sp>
      <p:cxnSp>
        <p:nvCxnSpPr>
          <p:cNvPr id="53" name="Connector 52"/>
          <p:cNvCxnSpPr/>
          <p:nvPr/>
        </p:nvCxnSpPr>
        <p:spPr>
          <a:xfrm>
            <a:off x="10789920" y="4937759"/>
            <a:ext cx="182880" cy="0"/>
          </a:xfrm>
          <a:prstGeom prst="line">
            <a:avLst/>
          </a:prstGeom>
          <a:ln w="12700">
            <a:solidFill>
              <a:srgbClr val="CBD3DB"/>
            </a:solidFill>
          </a:ln>
        </p:spPr>
      </p:cxnSp>
      <p:cxnSp>
        <p:nvCxnSpPr>
          <p:cNvPr id="54" name="Connector 53"/>
          <p:cNvCxnSpPr/>
          <p:nvPr/>
        </p:nvCxnSpPr>
        <p:spPr>
          <a:xfrm>
            <a:off x="5257800" y="5157216"/>
            <a:ext cx="6172200" cy="0"/>
          </a:xfrm>
          <a:prstGeom prst="line">
            <a:avLst/>
          </a:prstGeom>
          <a:ln w="6350">
            <a:solidFill>
              <a:srgbClr val="CBD3DB"/>
            </a:solidFill>
          </a:ln>
        </p:spPr>
      </p:cxnSp>
      <p:sp>
        <p:nvSpPr>
          <p:cNvPr id="55" name="TextBox 54"/>
          <p:cNvSpPr txBox="1"/>
          <p:nvPr/>
        </p:nvSpPr>
        <p:spPr>
          <a:xfrm>
            <a:off x="5257800" y="5184648"/>
            <a:ext cx="3291840" cy="365760"/>
          </a:xfrm>
          <a:prstGeom prst="rect">
            <a:avLst/>
          </a:prstGeom>
          <a:noFill/>
        </p:spPr>
        <p:txBody>
          <a:bodyPr wrap="square" lIns="0" rIns="0" tIns="0" bIns="0" anchor="ctr">
            <a:spAutoFit/>
          </a:bodyPr>
          <a:lstStyle/>
          <a:p>
            <a:pPr algn="l"/>
            <a:r>
              <a:rPr sz="1600" b="0" i="0">
                <a:solidFill>
                  <a:srgbClr val="1B2530"/>
                </a:solidFill>
                <a:latin typeface="Courier New"/>
              </a:rPr>
              <a:t>capture_history</a:t>
            </a:r>
          </a:p>
        </p:txBody>
      </p:sp>
      <p:sp>
        <p:nvSpPr>
          <p:cNvPr id="56" name="Oval 55"/>
          <p:cNvSpPr/>
          <p:nvPr/>
        </p:nvSpPr>
        <p:spPr>
          <a:xfrm>
            <a:off x="8586216" y="5266944"/>
            <a:ext cx="201168" cy="201168"/>
          </a:xfrm>
          <a:prstGeom prst="ellipse">
            <a:avLst/>
          </a:prstGeom>
          <a:solidFill>
            <a:srgbClr val="1F3A5F"/>
          </a:solidFill>
          <a:ln>
            <a:noFill/>
          </a:ln>
        </p:spPr>
        <p:txBody>
          <a:bodyPr rtlCol="0" anchor="ctr"/>
          <a:lstStyle/>
          <a:p/>
        </p:txBody>
      </p:sp>
      <p:cxnSp>
        <p:nvCxnSpPr>
          <p:cNvPr id="57" name="Connector 56"/>
          <p:cNvCxnSpPr/>
          <p:nvPr/>
        </p:nvCxnSpPr>
        <p:spPr>
          <a:xfrm>
            <a:off x="9738360" y="5367528"/>
            <a:ext cx="182880" cy="0"/>
          </a:xfrm>
          <a:prstGeom prst="line">
            <a:avLst/>
          </a:prstGeom>
          <a:ln w="12700">
            <a:solidFill>
              <a:srgbClr val="CBD3DB"/>
            </a:solidFill>
          </a:ln>
        </p:spPr>
      </p:cxnSp>
      <p:cxnSp>
        <p:nvCxnSpPr>
          <p:cNvPr id="58" name="Connector 57"/>
          <p:cNvCxnSpPr/>
          <p:nvPr/>
        </p:nvCxnSpPr>
        <p:spPr>
          <a:xfrm>
            <a:off x="10789920" y="5367528"/>
            <a:ext cx="182880" cy="0"/>
          </a:xfrm>
          <a:prstGeom prst="line">
            <a:avLst/>
          </a:prstGeom>
          <a:ln w="12700">
            <a:solidFill>
              <a:srgbClr val="CBD3DB"/>
            </a:solidFill>
          </a:ln>
        </p:spPr>
      </p:cxnSp>
      <p:cxnSp>
        <p:nvCxnSpPr>
          <p:cNvPr id="59" name="Connector 58"/>
          <p:cNvCxnSpPr/>
          <p:nvPr/>
        </p:nvCxnSpPr>
        <p:spPr>
          <a:xfrm>
            <a:off x="5257800" y="5586984"/>
            <a:ext cx="6172200" cy="0"/>
          </a:xfrm>
          <a:prstGeom prst="line">
            <a:avLst/>
          </a:prstGeom>
          <a:ln w="6350">
            <a:solidFill>
              <a:srgbClr val="CBD3DB"/>
            </a:solidFill>
          </a:ln>
        </p:spPr>
      </p:cxnSp>
      <p:sp>
        <p:nvSpPr>
          <p:cNvPr id="60" name="TextBox 59"/>
          <p:cNvSpPr txBox="1"/>
          <p:nvPr/>
        </p:nvSpPr>
        <p:spPr>
          <a:xfrm>
            <a:off x="5257800" y="5669280"/>
            <a:ext cx="6400800" cy="548640"/>
          </a:xfrm>
          <a:prstGeom prst="rect">
            <a:avLst/>
          </a:prstGeom>
          <a:noFill/>
        </p:spPr>
        <p:txBody>
          <a:bodyPr wrap="square" lIns="0" rIns="0" tIns="0" bIns="0" anchor="t">
            <a:spAutoFit/>
          </a:bodyPr>
          <a:lstStyle/>
          <a:p>
            <a:pPr algn="l"/>
            <a:r>
              <a:rPr sz="1400" b="1" i="0">
                <a:solidFill>
                  <a:srgbClr val="1F3A5F"/>
                </a:solidFill>
                <a:latin typeface="Arial"/>
              </a:rPr>
              <a:t>+ transverses : </a:t>
            </a:r>
            <a:r>
              <a:rPr sz="1400" b="0" i="0">
                <a:solidFill>
                  <a:srgbClr val="5B6B7A"/>
                </a:solidFill>
                <a:latin typeface="Courier New"/>
              </a:rPr>
              <a:t>core/services</a:t>
            </a:r>
            <a:r>
              <a:rPr sz="1400" b="0" i="0">
                <a:solidFill>
                  <a:srgbClr val="5B6B7A"/>
                </a:solidFill>
                <a:latin typeface="Arial"/>
              </a:rPr>
              <a:t> (caméra, cascade, stockage) et </a:t>
            </a:r>
            <a:r>
              <a:rPr sz="1400" b="0" i="0">
                <a:solidFill>
                  <a:srgbClr val="5B6B7A"/>
                </a:solidFill>
                <a:latin typeface="Courier New"/>
              </a:rPr>
              <a:t>shared/utils</a:t>
            </a:r>
            <a:r>
              <a:rPr sz="1400" b="0" i="0">
                <a:solidFill>
                  <a:srgbClr val="5B6B7A"/>
                </a:solidFill>
                <a:latin typeface="Arial"/>
              </a:rPr>
              <a:t> (conversion d'image, stabilisation)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1" i="0">
                <a:solidFill>
                  <a:srgbClr val="2E75B6"/>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6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Quatre passes de contours et un score géométrique retiennent le quadrilatère de la carte</a:t>
            </a:r>
          </a:p>
        </p:txBody>
      </p:sp>
      <p:sp>
        <p:nvSpPr>
          <p:cNvPr id="7" name="Rectangle 6"/>
          <p:cNvSpPr/>
          <p:nvPr/>
        </p:nvSpPr>
        <p:spPr>
          <a:xfrm>
            <a:off x="548640" y="1965960"/>
            <a:ext cx="1874519" cy="2148840"/>
          </a:xfrm>
          <a:prstGeom prst="rect">
            <a:avLst/>
          </a:prstGeom>
          <a:solidFill>
            <a:srgbClr val="FFFFFF"/>
          </a:solidFill>
          <a:ln w="25400">
            <a:solidFill>
              <a:srgbClr val="2E75B6"/>
            </a:solidFill>
          </a:ln>
        </p:spPr>
        <p:txBody>
          <a:bodyPr rtlCol="0" anchor="ctr"/>
          <a:lstStyle/>
          <a:p/>
        </p:txBody>
      </p:sp>
      <p:sp>
        <p:nvSpPr>
          <p:cNvPr id="8" name="TextBox 7"/>
          <p:cNvSpPr txBox="1"/>
          <p:nvPr/>
        </p:nvSpPr>
        <p:spPr>
          <a:xfrm>
            <a:off x="685800" y="2075688"/>
            <a:ext cx="1600199" cy="274320"/>
          </a:xfrm>
          <a:prstGeom prst="rect">
            <a:avLst/>
          </a:prstGeom>
          <a:noFill/>
        </p:spPr>
        <p:txBody>
          <a:bodyPr wrap="square" lIns="0" rIns="0" tIns="0" bIns="0" anchor="t">
            <a:spAutoFit/>
          </a:bodyPr>
          <a:lstStyle/>
          <a:p>
            <a:pPr algn="l"/>
            <a:r>
              <a:rPr sz="1400" b="1" i="0">
                <a:solidFill>
                  <a:srgbClr val="2E75B6"/>
                </a:solidFill>
                <a:latin typeface="Arial"/>
              </a:rPr>
              <a:t>1</a:t>
            </a:r>
          </a:p>
        </p:txBody>
      </p:sp>
      <p:sp>
        <p:nvSpPr>
          <p:cNvPr id="9" name="TextBox 8"/>
          <p:cNvSpPr txBox="1"/>
          <p:nvPr/>
        </p:nvSpPr>
        <p:spPr>
          <a:xfrm>
            <a:off x="685800" y="2350008"/>
            <a:ext cx="1645919" cy="365760"/>
          </a:xfrm>
          <a:prstGeom prst="rect">
            <a:avLst/>
          </a:prstGeom>
          <a:noFill/>
        </p:spPr>
        <p:txBody>
          <a:bodyPr wrap="square" lIns="0" rIns="0" tIns="0" bIns="0" anchor="t">
            <a:spAutoFit/>
          </a:bodyPr>
          <a:lstStyle/>
          <a:p>
            <a:pPr algn="l"/>
            <a:r>
              <a:rPr sz="1700" b="1" i="0">
                <a:solidFill>
                  <a:srgbClr val="1F3A5F"/>
                </a:solidFill>
                <a:latin typeface="Arial"/>
              </a:rPr>
              <a:t>Conversion</a:t>
            </a:r>
          </a:p>
        </p:txBody>
      </p:sp>
      <p:sp>
        <p:nvSpPr>
          <p:cNvPr id="10" name="TextBox 9"/>
          <p:cNvSpPr txBox="1"/>
          <p:nvPr/>
        </p:nvSpPr>
        <p:spPr>
          <a:xfrm>
            <a:off x="685800" y="2770632"/>
            <a:ext cx="1600199" cy="1280160"/>
          </a:xfrm>
          <a:prstGeom prst="rect">
            <a:avLst/>
          </a:prstGeom>
          <a:noFill/>
        </p:spPr>
        <p:txBody>
          <a:bodyPr wrap="square" lIns="0" rIns="0" tIns="0" bIns="0" anchor="t">
            <a:spAutoFit/>
          </a:bodyPr>
          <a:lstStyle/>
          <a:p>
            <a:pPr algn="l"/>
            <a:r>
              <a:rPr sz="1600" b="0" i="0">
                <a:solidFill>
                  <a:srgbClr val="1B2530"/>
                </a:solidFill>
                <a:latin typeface="Arial"/>
              </a:rPr>
              <a:t>frame YUV420 ou BGRA → Mat OpenCV</a:t>
            </a:r>
          </a:p>
        </p:txBody>
      </p:sp>
      <p:cxnSp>
        <p:nvCxnSpPr>
          <p:cNvPr id="11" name="Connector 10"/>
          <p:cNvCxnSpPr/>
          <p:nvPr/>
        </p:nvCxnSpPr>
        <p:spPr>
          <a:xfrm>
            <a:off x="2459736" y="3040380"/>
            <a:ext cx="140131" cy="0"/>
          </a:xfrm>
          <a:prstGeom prst="line">
            <a:avLst/>
          </a:prstGeom>
          <a:ln w="19050">
            <a:solidFill>
              <a:srgbClr val="1F3A5F"/>
            </a:solidFill>
            <a:tailEnd type="triangle" w="med" h="med"/>
          </a:ln>
        </p:spPr>
      </p:cxnSp>
      <p:sp>
        <p:nvSpPr>
          <p:cNvPr id="12" name="Rectangle 11"/>
          <p:cNvSpPr/>
          <p:nvPr/>
        </p:nvSpPr>
        <p:spPr>
          <a:xfrm>
            <a:off x="2636443" y="1965960"/>
            <a:ext cx="1508760" cy="2148840"/>
          </a:xfrm>
          <a:prstGeom prst="rect">
            <a:avLst/>
          </a:prstGeom>
          <a:solidFill>
            <a:srgbClr val="EEF2F6"/>
          </a:solidFill>
          <a:ln w="12700">
            <a:solidFill>
              <a:srgbClr val="CBD3DB"/>
            </a:solidFill>
          </a:ln>
        </p:spPr>
        <p:txBody>
          <a:bodyPr rtlCol="0" anchor="ctr"/>
          <a:lstStyle/>
          <a:p/>
        </p:txBody>
      </p:sp>
      <p:sp>
        <p:nvSpPr>
          <p:cNvPr id="13" name="TextBox 12"/>
          <p:cNvSpPr txBox="1"/>
          <p:nvPr/>
        </p:nvSpPr>
        <p:spPr>
          <a:xfrm>
            <a:off x="2773603" y="2075688"/>
            <a:ext cx="1234439" cy="274320"/>
          </a:xfrm>
          <a:prstGeom prst="rect">
            <a:avLst/>
          </a:prstGeom>
          <a:noFill/>
        </p:spPr>
        <p:txBody>
          <a:bodyPr wrap="square" lIns="0" rIns="0" tIns="0" bIns="0" anchor="t">
            <a:spAutoFit/>
          </a:bodyPr>
          <a:lstStyle/>
          <a:p>
            <a:pPr algn="l"/>
            <a:r>
              <a:rPr sz="1400" b="1" i="0">
                <a:solidFill>
                  <a:srgbClr val="2E75B6"/>
                </a:solidFill>
                <a:latin typeface="Arial"/>
              </a:rPr>
              <a:t>2</a:t>
            </a:r>
          </a:p>
        </p:txBody>
      </p:sp>
      <p:sp>
        <p:nvSpPr>
          <p:cNvPr id="14" name="TextBox 13"/>
          <p:cNvSpPr txBox="1"/>
          <p:nvPr/>
        </p:nvSpPr>
        <p:spPr>
          <a:xfrm>
            <a:off x="2773603" y="2350008"/>
            <a:ext cx="1280160" cy="365760"/>
          </a:xfrm>
          <a:prstGeom prst="rect">
            <a:avLst/>
          </a:prstGeom>
          <a:noFill/>
        </p:spPr>
        <p:txBody>
          <a:bodyPr wrap="square" lIns="0" rIns="0" tIns="0" bIns="0" anchor="t">
            <a:spAutoFit/>
          </a:bodyPr>
          <a:lstStyle/>
          <a:p>
            <a:pPr algn="l"/>
            <a:r>
              <a:rPr sz="1700" b="1" i="0">
                <a:solidFill>
                  <a:srgbClr val="1F3A5F"/>
                </a:solidFill>
                <a:latin typeface="Arial"/>
              </a:rPr>
              <a:t>CLAHE</a:t>
            </a:r>
          </a:p>
        </p:txBody>
      </p:sp>
      <p:sp>
        <p:nvSpPr>
          <p:cNvPr id="15" name="TextBox 14"/>
          <p:cNvSpPr txBox="1"/>
          <p:nvPr/>
        </p:nvSpPr>
        <p:spPr>
          <a:xfrm>
            <a:off x="2773603" y="2770632"/>
            <a:ext cx="1234439" cy="1280160"/>
          </a:xfrm>
          <a:prstGeom prst="rect">
            <a:avLst/>
          </a:prstGeom>
          <a:noFill/>
        </p:spPr>
        <p:txBody>
          <a:bodyPr wrap="square" lIns="0" rIns="0" tIns="0" bIns="0" anchor="t">
            <a:spAutoFit/>
          </a:bodyPr>
          <a:lstStyle/>
          <a:p>
            <a:pPr algn="l"/>
            <a:r>
              <a:rPr sz="1600" b="0" i="0">
                <a:solidFill>
                  <a:srgbClr val="1B2530"/>
                </a:solidFill>
                <a:latin typeface="Arial"/>
              </a:rPr>
              <a:t>contraste local</a:t>
            </a:r>
          </a:p>
          <a:p>
            <a:pPr algn="l"/>
            <a:r>
              <a:rPr sz="1600" b="0" i="0">
                <a:solidFill>
                  <a:srgbClr val="1B2530"/>
                </a:solidFill>
                <a:latin typeface="Arial"/>
              </a:rPr>
              <a:t>renforcé</a:t>
            </a:r>
          </a:p>
        </p:txBody>
      </p:sp>
      <p:cxnSp>
        <p:nvCxnSpPr>
          <p:cNvPr id="16" name="Connector 15"/>
          <p:cNvCxnSpPr/>
          <p:nvPr/>
        </p:nvCxnSpPr>
        <p:spPr>
          <a:xfrm>
            <a:off x="4181779" y="3040380"/>
            <a:ext cx="140132" cy="0"/>
          </a:xfrm>
          <a:prstGeom prst="line">
            <a:avLst/>
          </a:prstGeom>
          <a:ln w="19050">
            <a:solidFill>
              <a:srgbClr val="1F3A5F"/>
            </a:solidFill>
            <a:tailEnd type="triangle" w="med" h="med"/>
          </a:ln>
        </p:spPr>
      </p:cxnSp>
      <p:sp>
        <p:nvSpPr>
          <p:cNvPr id="17" name="Rectangle 16"/>
          <p:cNvSpPr/>
          <p:nvPr/>
        </p:nvSpPr>
        <p:spPr>
          <a:xfrm>
            <a:off x="4358487" y="1965960"/>
            <a:ext cx="3063240" cy="2148840"/>
          </a:xfrm>
          <a:prstGeom prst="rect">
            <a:avLst/>
          </a:prstGeom>
          <a:solidFill>
            <a:srgbClr val="FFFFFF"/>
          </a:solidFill>
          <a:ln w="25400">
            <a:solidFill>
              <a:srgbClr val="2E75B6"/>
            </a:solidFill>
          </a:ln>
        </p:spPr>
        <p:txBody>
          <a:bodyPr rtlCol="0" anchor="ctr"/>
          <a:lstStyle/>
          <a:p/>
        </p:txBody>
      </p:sp>
      <p:sp>
        <p:nvSpPr>
          <p:cNvPr id="18" name="TextBox 17"/>
          <p:cNvSpPr txBox="1"/>
          <p:nvPr/>
        </p:nvSpPr>
        <p:spPr>
          <a:xfrm>
            <a:off x="4495647" y="2075688"/>
            <a:ext cx="2788920" cy="274320"/>
          </a:xfrm>
          <a:prstGeom prst="rect">
            <a:avLst/>
          </a:prstGeom>
          <a:noFill/>
        </p:spPr>
        <p:txBody>
          <a:bodyPr wrap="square" lIns="0" rIns="0" tIns="0" bIns="0" anchor="t">
            <a:spAutoFit/>
          </a:bodyPr>
          <a:lstStyle/>
          <a:p>
            <a:pPr algn="l"/>
            <a:r>
              <a:rPr sz="1400" b="1" i="0">
                <a:solidFill>
                  <a:srgbClr val="2E75B6"/>
                </a:solidFill>
                <a:latin typeface="Arial"/>
              </a:rPr>
              <a:t>3</a:t>
            </a:r>
          </a:p>
        </p:txBody>
      </p:sp>
      <p:sp>
        <p:nvSpPr>
          <p:cNvPr id="19" name="TextBox 18"/>
          <p:cNvSpPr txBox="1"/>
          <p:nvPr/>
        </p:nvSpPr>
        <p:spPr>
          <a:xfrm>
            <a:off x="4495647" y="2350008"/>
            <a:ext cx="2834640" cy="365760"/>
          </a:xfrm>
          <a:prstGeom prst="rect">
            <a:avLst/>
          </a:prstGeom>
          <a:noFill/>
        </p:spPr>
        <p:txBody>
          <a:bodyPr wrap="square" lIns="0" rIns="0" tIns="0" bIns="0" anchor="t">
            <a:spAutoFit/>
          </a:bodyPr>
          <a:lstStyle/>
          <a:p>
            <a:pPr algn="l"/>
            <a:r>
              <a:rPr sz="1700" b="1" i="0">
                <a:solidFill>
                  <a:srgbClr val="1F3A5F"/>
                </a:solidFill>
                <a:latin typeface="Arial"/>
              </a:rPr>
              <a:t>4 passes → masques</a:t>
            </a:r>
          </a:p>
        </p:txBody>
      </p:sp>
      <p:sp>
        <p:nvSpPr>
          <p:cNvPr id="20" name="TextBox 19"/>
          <p:cNvSpPr txBox="1"/>
          <p:nvPr/>
        </p:nvSpPr>
        <p:spPr>
          <a:xfrm>
            <a:off x="4495647" y="2770632"/>
            <a:ext cx="2788920" cy="1280160"/>
          </a:xfrm>
          <a:prstGeom prst="rect">
            <a:avLst/>
          </a:prstGeom>
          <a:noFill/>
        </p:spPr>
        <p:txBody>
          <a:bodyPr wrap="square" lIns="0" rIns="0" tIns="0" bIns="0" anchor="t">
            <a:spAutoFit/>
          </a:bodyPr>
          <a:lstStyle/>
          <a:p>
            <a:pPr algn="l"/>
            <a:r>
              <a:rPr sz="1600" b="0" i="0">
                <a:solidFill>
                  <a:srgbClr val="1B2530"/>
                </a:solidFill>
                <a:latin typeface="Arial"/>
              </a:rPr>
              <a:t>Canny (seuils ×0,66/×1,33 de la médiane) · seuillage adaptatif · saturation HSV + Otsu · gradient morphologique</a:t>
            </a:r>
          </a:p>
        </p:txBody>
      </p:sp>
      <p:cxnSp>
        <p:nvCxnSpPr>
          <p:cNvPr id="21" name="Connector 20"/>
          <p:cNvCxnSpPr/>
          <p:nvPr/>
        </p:nvCxnSpPr>
        <p:spPr>
          <a:xfrm>
            <a:off x="7458303" y="3040380"/>
            <a:ext cx="140132" cy="0"/>
          </a:xfrm>
          <a:prstGeom prst="line">
            <a:avLst/>
          </a:prstGeom>
          <a:ln w="19050">
            <a:solidFill>
              <a:srgbClr val="1F3A5F"/>
            </a:solidFill>
            <a:tailEnd type="triangle" w="med" h="med"/>
          </a:ln>
        </p:spPr>
      </p:cxnSp>
      <p:sp>
        <p:nvSpPr>
          <p:cNvPr id="22" name="Rectangle 21"/>
          <p:cNvSpPr/>
          <p:nvPr/>
        </p:nvSpPr>
        <p:spPr>
          <a:xfrm>
            <a:off x="7635011" y="1965960"/>
            <a:ext cx="1920240" cy="2148840"/>
          </a:xfrm>
          <a:prstGeom prst="rect">
            <a:avLst/>
          </a:prstGeom>
          <a:solidFill>
            <a:srgbClr val="FFFFFF"/>
          </a:solidFill>
          <a:ln w="25400">
            <a:solidFill>
              <a:srgbClr val="2E75B6"/>
            </a:solidFill>
          </a:ln>
        </p:spPr>
        <p:txBody>
          <a:bodyPr rtlCol="0" anchor="ctr"/>
          <a:lstStyle/>
          <a:p/>
        </p:txBody>
      </p:sp>
      <p:sp>
        <p:nvSpPr>
          <p:cNvPr id="23" name="TextBox 22"/>
          <p:cNvSpPr txBox="1"/>
          <p:nvPr/>
        </p:nvSpPr>
        <p:spPr>
          <a:xfrm>
            <a:off x="7772171" y="2075688"/>
            <a:ext cx="1645920" cy="274320"/>
          </a:xfrm>
          <a:prstGeom prst="rect">
            <a:avLst/>
          </a:prstGeom>
          <a:noFill/>
        </p:spPr>
        <p:txBody>
          <a:bodyPr wrap="square" lIns="0" rIns="0" tIns="0" bIns="0" anchor="t">
            <a:spAutoFit/>
          </a:bodyPr>
          <a:lstStyle/>
          <a:p>
            <a:pPr algn="l"/>
            <a:r>
              <a:rPr sz="1400" b="1" i="0">
                <a:solidFill>
                  <a:srgbClr val="2E75B6"/>
                </a:solidFill>
                <a:latin typeface="Arial"/>
              </a:rPr>
              <a:t>4</a:t>
            </a:r>
          </a:p>
        </p:txBody>
      </p:sp>
      <p:sp>
        <p:nvSpPr>
          <p:cNvPr id="24" name="TextBox 23"/>
          <p:cNvSpPr txBox="1"/>
          <p:nvPr/>
        </p:nvSpPr>
        <p:spPr>
          <a:xfrm>
            <a:off x="7772171" y="2350008"/>
            <a:ext cx="1691640" cy="365760"/>
          </a:xfrm>
          <a:prstGeom prst="rect">
            <a:avLst/>
          </a:prstGeom>
          <a:noFill/>
        </p:spPr>
        <p:txBody>
          <a:bodyPr wrap="square" lIns="0" rIns="0" tIns="0" bIns="0" anchor="t">
            <a:spAutoFit/>
          </a:bodyPr>
          <a:lstStyle/>
          <a:p>
            <a:pPr algn="l"/>
            <a:r>
              <a:rPr sz="1700" b="1" i="0">
                <a:solidFill>
                  <a:srgbClr val="1F3A5F"/>
                </a:solidFill>
                <a:latin typeface="Arial"/>
              </a:rPr>
              <a:t>Score</a:t>
            </a:r>
          </a:p>
        </p:txBody>
      </p:sp>
      <p:sp>
        <p:nvSpPr>
          <p:cNvPr id="25" name="TextBox 24"/>
          <p:cNvSpPr txBox="1"/>
          <p:nvPr/>
        </p:nvSpPr>
        <p:spPr>
          <a:xfrm>
            <a:off x="7772171" y="2770632"/>
            <a:ext cx="1645920" cy="1280160"/>
          </a:xfrm>
          <a:prstGeom prst="rect">
            <a:avLst/>
          </a:prstGeom>
          <a:noFill/>
        </p:spPr>
        <p:txBody>
          <a:bodyPr wrap="square" lIns="0" rIns="0" tIns="0" bIns="0" anchor="t">
            <a:spAutoFit/>
          </a:bodyPr>
          <a:lstStyle/>
          <a:p>
            <a:pPr algn="l"/>
            <a:r>
              <a:rPr sz="1600" b="0" i="0">
                <a:solidFill>
                  <a:srgbClr val="1B2530"/>
                </a:solidFill>
                <a:latin typeface="Arial"/>
              </a:rPr>
              <a:t>0,8 × proportion</a:t>
            </a:r>
          </a:p>
          <a:p>
            <a:pPr algn="l"/>
            <a:r>
              <a:rPr sz="1600" b="0" i="0">
                <a:solidFill>
                  <a:srgbClr val="1B2530"/>
                </a:solidFill>
                <a:latin typeface="Arial"/>
              </a:rPr>
              <a:t>+ 0,2 × taille</a:t>
            </a:r>
          </a:p>
          <a:p>
            <a:pPr algn="l"/>
            <a:r>
              <a:rPr sz="1600" b="0" i="0">
                <a:solidFill>
                  <a:srgbClr val="1B2530"/>
                </a:solidFill>
                <a:latin typeface="Arial"/>
              </a:rPr>
              <a:t>retenu si ≥ 0,30</a:t>
            </a:r>
          </a:p>
        </p:txBody>
      </p:sp>
      <p:cxnSp>
        <p:nvCxnSpPr>
          <p:cNvPr id="26" name="Connector 25"/>
          <p:cNvCxnSpPr/>
          <p:nvPr/>
        </p:nvCxnSpPr>
        <p:spPr>
          <a:xfrm>
            <a:off x="9591827" y="3040380"/>
            <a:ext cx="140132" cy="0"/>
          </a:xfrm>
          <a:prstGeom prst="line">
            <a:avLst/>
          </a:prstGeom>
          <a:ln w="19050">
            <a:solidFill>
              <a:srgbClr val="1F3A5F"/>
            </a:solidFill>
            <a:tailEnd type="triangle" w="med" h="med"/>
          </a:ln>
        </p:spPr>
      </p:cxnSp>
      <p:sp>
        <p:nvSpPr>
          <p:cNvPr id="27" name="Rectangle 26"/>
          <p:cNvSpPr/>
          <p:nvPr/>
        </p:nvSpPr>
        <p:spPr>
          <a:xfrm>
            <a:off x="9768535" y="1965960"/>
            <a:ext cx="1874519" cy="2148840"/>
          </a:xfrm>
          <a:prstGeom prst="rect">
            <a:avLst/>
          </a:prstGeom>
          <a:solidFill>
            <a:srgbClr val="EEF2F6"/>
          </a:solidFill>
          <a:ln w="12700">
            <a:solidFill>
              <a:srgbClr val="CBD3DB"/>
            </a:solidFill>
          </a:ln>
        </p:spPr>
        <p:txBody>
          <a:bodyPr rtlCol="0" anchor="ctr"/>
          <a:lstStyle/>
          <a:p/>
        </p:txBody>
      </p:sp>
      <p:sp>
        <p:nvSpPr>
          <p:cNvPr id="28" name="TextBox 27"/>
          <p:cNvSpPr txBox="1"/>
          <p:nvPr/>
        </p:nvSpPr>
        <p:spPr>
          <a:xfrm>
            <a:off x="9905695" y="2075688"/>
            <a:ext cx="1600199" cy="274320"/>
          </a:xfrm>
          <a:prstGeom prst="rect">
            <a:avLst/>
          </a:prstGeom>
          <a:noFill/>
        </p:spPr>
        <p:txBody>
          <a:bodyPr wrap="square" lIns="0" rIns="0" tIns="0" bIns="0" anchor="t">
            <a:spAutoFit/>
          </a:bodyPr>
          <a:lstStyle/>
          <a:p>
            <a:pPr algn="l"/>
            <a:r>
              <a:rPr sz="1400" b="1" i="0">
                <a:solidFill>
                  <a:srgbClr val="2E75B6"/>
                </a:solidFill>
                <a:latin typeface="Arial"/>
              </a:rPr>
              <a:t>5</a:t>
            </a:r>
          </a:p>
        </p:txBody>
      </p:sp>
      <p:sp>
        <p:nvSpPr>
          <p:cNvPr id="29" name="TextBox 28"/>
          <p:cNvSpPr txBox="1"/>
          <p:nvPr/>
        </p:nvSpPr>
        <p:spPr>
          <a:xfrm>
            <a:off x="9905695" y="2350008"/>
            <a:ext cx="1645919" cy="365760"/>
          </a:xfrm>
          <a:prstGeom prst="rect">
            <a:avLst/>
          </a:prstGeom>
          <a:noFill/>
        </p:spPr>
        <p:txBody>
          <a:bodyPr wrap="square" lIns="0" rIns="0" tIns="0" bIns="0" anchor="t">
            <a:spAutoFit/>
          </a:bodyPr>
          <a:lstStyle/>
          <a:p>
            <a:pPr algn="l"/>
            <a:r>
              <a:rPr sz="1700" b="1" i="0">
                <a:solidFill>
                  <a:srgbClr val="1F3A5F"/>
                </a:solidFill>
                <a:latin typeface="Arial"/>
              </a:rPr>
              <a:t>Redressement</a:t>
            </a:r>
          </a:p>
        </p:txBody>
      </p:sp>
      <p:sp>
        <p:nvSpPr>
          <p:cNvPr id="30" name="TextBox 29"/>
          <p:cNvSpPr txBox="1"/>
          <p:nvPr/>
        </p:nvSpPr>
        <p:spPr>
          <a:xfrm>
            <a:off x="9905695" y="2770632"/>
            <a:ext cx="1600199" cy="1280160"/>
          </a:xfrm>
          <a:prstGeom prst="rect">
            <a:avLst/>
          </a:prstGeom>
          <a:noFill/>
        </p:spPr>
        <p:txBody>
          <a:bodyPr wrap="square" lIns="0" rIns="0" tIns="0" bIns="0" anchor="t">
            <a:spAutoFit/>
          </a:bodyPr>
          <a:lstStyle/>
          <a:p>
            <a:pPr algn="l"/>
            <a:r>
              <a:rPr sz="1600" b="0" i="0">
                <a:solidFill>
                  <a:srgbClr val="1B2530"/>
                </a:solidFill>
                <a:latin typeface="Arial"/>
              </a:rPr>
              <a:t>homographie</a:t>
            </a:r>
          </a:p>
          <a:p>
            <a:pPr algn="l"/>
            <a:r>
              <a:rPr sz="1600" b="0" i="0">
                <a:solidFill>
                  <a:srgbClr val="1B2530"/>
                </a:solidFill>
                <a:latin typeface="Arial"/>
              </a:rPr>
              <a:t>→ 856 × 540 px</a:t>
            </a:r>
          </a:p>
        </p:txBody>
      </p:sp>
      <p:sp>
        <p:nvSpPr>
          <p:cNvPr id="31" name="TextBox 30"/>
          <p:cNvSpPr txBox="1"/>
          <p:nvPr/>
        </p:nvSpPr>
        <p:spPr>
          <a:xfrm>
            <a:off x="548640" y="4434840"/>
            <a:ext cx="11094415" cy="320040"/>
          </a:xfrm>
          <a:prstGeom prst="rect">
            <a:avLst/>
          </a:prstGeom>
          <a:noFill/>
        </p:spPr>
        <p:txBody>
          <a:bodyPr wrap="square" lIns="0" rIns="0" tIns="0" bIns="0" anchor="t">
            <a:spAutoFit/>
          </a:bodyPr>
          <a:lstStyle/>
          <a:p>
            <a:pPr algn="l"/>
            <a:r>
              <a:rPr sz="1300" b="1" i="0">
                <a:solidFill>
                  <a:srgbClr val="2E75B6"/>
                </a:solidFill>
                <a:latin typeface="Arial"/>
              </a:rPr>
              <a:t>CONÇU ET DÉVELOPPÉ PENDANT LE STAGE, AUTOUR DES PRIMITIVES OPENCV</a:t>
            </a:r>
          </a:p>
        </p:txBody>
      </p:sp>
      <p:cxnSp>
        <p:nvCxnSpPr>
          <p:cNvPr id="32" name="Connector 31"/>
          <p:cNvCxnSpPr/>
          <p:nvPr/>
        </p:nvCxnSpPr>
        <p:spPr>
          <a:xfrm>
            <a:off x="548640" y="4864607"/>
            <a:ext cx="0" cy="987552"/>
          </a:xfrm>
          <a:prstGeom prst="line">
            <a:avLst/>
          </a:prstGeom>
          <a:ln w="25400">
            <a:solidFill>
              <a:srgbClr val="2E75B6"/>
            </a:solidFill>
          </a:ln>
        </p:spPr>
      </p:cxnSp>
      <p:sp>
        <p:nvSpPr>
          <p:cNvPr id="33" name="TextBox 32"/>
          <p:cNvSpPr txBox="1"/>
          <p:nvPr/>
        </p:nvSpPr>
        <p:spPr>
          <a:xfrm>
            <a:off x="685800" y="4846320"/>
            <a:ext cx="2384983" cy="1097280"/>
          </a:xfrm>
          <a:prstGeom prst="rect">
            <a:avLst/>
          </a:prstGeom>
          <a:noFill/>
        </p:spPr>
        <p:txBody>
          <a:bodyPr wrap="square" lIns="0" rIns="0" tIns="0" bIns="0" anchor="t">
            <a:spAutoFit/>
          </a:bodyPr>
          <a:lstStyle/>
          <a:p>
            <a:pPr algn="l"/>
            <a:r>
              <a:rPr sz="1600" b="1" i="0">
                <a:solidFill>
                  <a:srgbClr val="1F3A5F"/>
                </a:solidFill>
                <a:latin typeface="Arial"/>
              </a:rPr>
              <a:t>Sortie anticipée</a:t>
            </a:r>
          </a:p>
          <a:p>
            <a:pPr algn="l"/>
            <a:r>
              <a:rPr sz="1600" b="0" i="0">
                <a:solidFill>
                  <a:srgbClr val="1B2530"/>
                </a:solidFill>
                <a:latin typeface="Arial"/>
              </a:rPr>
              <a:t>les passes suivantes ne tournent que si aucun candidat n'atteint 0,65</a:t>
            </a:r>
          </a:p>
        </p:txBody>
      </p:sp>
      <p:cxnSp>
        <p:nvCxnSpPr>
          <p:cNvPr id="34" name="Connector 33"/>
          <p:cNvCxnSpPr/>
          <p:nvPr/>
        </p:nvCxnSpPr>
        <p:spPr>
          <a:xfrm>
            <a:off x="3390823" y="4864607"/>
            <a:ext cx="0" cy="987552"/>
          </a:xfrm>
          <a:prstGeom prst="line">
            <a:avLst/>
          </a:prstGeom>
          <a:ln w="25400">
            <a:solidFill>
              <a:srgbClr val="2E75B6"/>
            </a:solidFill>
          </a:ln>
        </p:spPr>
      </p:cxnSp>
      <p:sp>
        <p:nvSpPr>
          <p:cNvPr id="35" name="TextBox 34"/>
          <p:cNvSpPr txBox="1"/>
          <p:nvPr/>
        </p:nvSpPr>
        <p:spPr>
          <a:xfrm>
            <a:off x="3527983" y="4846320"/>
            <a:ext cx="2384983" cy="1097280"/>
          </a:xfrm>
          <a:prstGeom prst="rect">
            <a:avLst/>
          </a:prstGeom>
          <a:noFill/>
        </p:spPr>
        <p:txBody>
          <a:bodyPr wrap="square" lIns="0" rIns="0" tIns="0" bIns="0" anchor="t">
            <a:spAutoFit/>
          </a:bodyPr>
          <a:lstStyle/>
          <a:p>
            <a:pPr algn="l"/>
            <a:r>
              <a:rPr sz="1600" b="1" i="0">
                <a:solidFill>
                  <a:srgbClr val="1F3A5F"/>
                </a:solidFill>
                <a:latin typeface="Arial"/>
              </a:rPr>
              <a:t>Suivi</a:t>
            </a:r>
          </a:p>
          <a:p>
            <a:pPr algn="l"/>
            <a:r>
              <a:rPr sz="1600" b="0" i="0">
                <a:solidFill>
                  <a:srgbClr val="1B2530"/>
                </a:solidFill>
                <a:latin typeface="Arial"/>
              </a:rPr>
              <a:t>carte trouvée : recherche limitée à ±20 % autour du quad précédent</a:t>
            </a:r>
          </a:p>
        </p:txBody>
      </p:sp>
      <p:cxnSp>
        <p:nvCxnSpPr>
          <p:cNvPr id="36" name="Connector 35"/>
          <p:cNvCxnSpPr/>
          <p:nvPr/>
        </p:nvCxnSpPr>
        <p:spPr>
          <a:xfrm>
            <a:off x="6233007" y="4864607"/>
            <a:ext cx="0" cy="987552"/>
          </a:xfrm>
          <a:prstGeom prst="line">
            <a:avLst/>
          </a:prstGeom>
          <a:ln w="25400">
            <a:solidFill>
              <a:srgbClr val="2E75B6"/>
            </a:solidFill>
          </a:ln>
        </p:spPr>
      </p:cxnSp>
      <p:sp>
        <p:nvSpPr>
          <p:cNvPr id="37" name="TextBox 36"/>
          <p:cNvSpPr txBox="1"/>
          <p:nvPr/>
        </p:nvSpPr>
        <p:spPr>
          <a:xfrm>
            <a:off x="6370167" y="4846320"/>
            <a:ext cx="2384983" cy="1097280"/>
          </a:xfrm>
          <a:prstGeom prst="rect">
            <a:avLst/>
          </a:prstGeom>
          <a:noFill/>
        </p:spPr>
        <p:txBody>
          <a:bodyPr wrap="square" lIns="0" rIns="0" tIns="0" bIns="0" anchor="t">
            <a:spAutoFit/>
          </a:bodyPr>
          <a:lstStyle/>
          <a:p>
            <a:pPr algn="l"/>
            <a:r>
              <a:rPr sz="1600" b="1" i="0">
                <a:solidFill>
                  <a:srgbClr val="1F3A5F"/>
                </a:solidFill>
                <a:latin typeface="Arial"/>
              </a:rPr>
              <a:t>Garde-fous</a:t>
            </a:r>
          </a:p>
          <a:p>
            <a:pPr algn="l"/>
            <a:r>
              <a:rPr sz="1600" b="0" i="0">
                <a:solidFill>
                  <a:srgbClr val="1B2530"/>
                </a:solidFill>
                <a:latin typeface="Arial"/>
              </a:rPr>
              <a:t>rejet des quads collés au bord ou couvrant plus de 75 % de l'image</a:t>
            </a:r>
          </a:p>
        </p:txBody>
      </p:sp>
      <p:cxnSp>
        <p:nvCxnSpPr>
          <p:cNvPr id="38" name="Connector 37"/>
          <p:cNvCxnSpPr/>
          <p:nvPr/>
        </p:nvCxnSpPr>
        <p:spPr>
          <a:xfrm>
            <a:off x="9075191" y="4864607"/>
            <a:ext cx="0" cy="987552"/>
          </a:xfrm>
          <a:prstGeom prst="line">
            <a:avLst/>
          </a:prstGeom>
          <a:ln w="25400">
            <a:solidFill>
              <a:srgbClr val="2E75B6"/>
            </a:solidFill>
          </a:ln>
        </p:spPr>
      </p:cxnSp>
      <p:sp>
        <p:nvSpPr>
          <p:cNvPr id="39" name="TextBox 38"/>
          <p:cNvSpPr txBox="1"/>
          <p:nvPr/>
        </p:nvSpPr>
        <p:spPr>
          <a:xfrm>
            <a:off x="9212351" y="4846320"/>
            <a:ext cx="2384983" cy="1097280"/>
          </a:xfrm>
          <a:prstGeom prst="rect">
            <a:avLst/>
          </a:prstGeom>
          <a:noFill/>
        </p:spPr>
        <p:txBody>
          <a:bodyPr wrap="square" lIns="0" rIns="0" tIns="0" bIns="0" anchor="t">
            <a:spAutoFit/>
          </a:bodyPr>
          <a:lstStyle/>
          <a:p>
            <a:pPr algn="l"/>
            <a:r>
              <a:rPr sz="1600" b="1" i="0">
                <a:solidFill>
                  <a:srgbClr val="1F3A5F"/>
                </a:solidFill>
                <a:latin typeface="Arial"/>
              </a:rPr>
              <a:t>Isolate Dart</a:t>
            </a:r>
          </a:p>
          <a:p>
            <a:pPr algn="l"/>
            <a:r>
              <a:rPr sz="1600" b="0" i="0">
                <a:solidFill>
                  <a:srgbClr val="1B2530"/>
                </a:solidFill>
                <a:latin typeface="Arial"/>
              </a:rPr>
              <a:t>pipeline hors du thread d'interface ; frame ignorée si l'isolate est occupé</a:t>
            </a:r>
          </a:p>
        </p:txBody>
      </p:sp>
      <p:sp>
        <p:nvSpPr>
          <p:cNvPr id="40" name="Rectangle 39"/>
          <p:cNvSpPr/>
          <p:nvPr/>
        </p:nvSpPr>
        <p:spPr>
          <a:xfrm>
            <a:off x="548640" y="6053328"/>
            <a:ext cx="274320" cy="182880"/>
          </a:xfrm>
          <a:prstGeom prst="rect">
            <a:avLst/>
          </a:prstGeom>
          <a:solidFill>
            <a:srgbClr val="EEF2F6"/>
          </a:solidFill>
          <a:ln w="12700">
            <a:solidFill>
              <a:srgbClr val="CBD3DB"/>
            </a:solidFill>
          </a:ln>
        </p:spPr>
        <p:txBody>
          <a:bodyPr rtlCol="0" anchor="ctr"/>
          <a:lstStyle/>
          <a:p/>
        </p:txBody>
      </p:sp>
      <p:sp>
        <p:nvSpPr>
          <p:cNvPr id="41" name="TextBox 40"/>
          <p:cNvSpPr txBox="1"/>
          <p:nvPr/>
        </p:nvSpPr>
        <p:spPr>
          <a:xfrm>
            <a:off x="914400" y="6035040"/>
            <a:ext cx="2926080" cy="228600"/>
          </a:xfrm>
          <a:prstGeom prst="rect">
            <a:avLst/>
          </a:prstGeom>
          <a:noFill/>
        </p:spPr>
        <p:txBody>
          <a:bodyPr wrap="square" lIns="0" rIns="0" tIns="0" bIns="0" anchor="t">
            <a:spAutoFit/>
          </a:bodyPr>
          <a:lstStyle/>
          <a:p>
            <a:pPr algn="l"/>
            <a:r>
              <a:rPr sz="1200" b="0" i="0">
                <a:solidFill>
                  <a:srgbClr val="5B6B7A"/>
                </a:solidFill>
                <a:latin typeface="Arial"/>
              </a:rPr>
              <a:t>primitive OpenCV</a:t>
            </a:r>
          </a:p>
        </p:txBody>
      </p:sp>
      <p:sp>
        <p:nvSpPr>
          <p:cNvPr id="42" name="Rectangle 41"/>
          <p:cNvSpPr/>
          <p:nvPr/>
        </p:nvSpPr>
        <p:spPr>
          <a:xfrm>
            <a:off x="2560320" y="6053328"/>
            <a:ext cx="274320" cy="182880"/>
          </a:xfrm>
          <a:prstGeom prst="rect">
            <a:avLst/>
          </a:prstGeom>
          <a:solidFill>
            <a:srgbClr val="FFFFFF"/>
          </a:solidFill>
          <a:ln w="19050">
            <a:solidFill>
              <a:srgbClr val="2E75B6"/>
            </a:solidFill>
          </a:ln>
        </p:spPr>
        <p:txBody>
          <a:bodyPr rtlCol="0" anchor="ctr"/>
          <a:lstStyle/>
          <a:p/>
        </p:txBody>
      </p:sp>
      <p:sp>
        <p:nvSpPr>
          <p:cNvPr id="43" name="TextBox 42"/>
          <p:cNvSpPr txBox="1"/>
          <p:nvPr/>
        </p:nvSpPr>
        <p:spPr>
          <a:xfrm>
            <a:off x="2926080" y="6035040"/>
            <a:ext cx="4572000" cy="228600"/>
          </a:xfrm>
          <a:prstGeom prst="rect">
            <a:avLst/>
          </a:prstGeom>
          <a:noFill/>
        </p:spPr>
        <p:txBody>
          <a:bodyPr wrap="square" lIns="0" rIns="0" tIns="0" bIns="0" anchor="t">
            <a:spAutoFit/>
          </a:bodyPr>
          <a:lstStyle/>
          <a:p>
            <a:pPr algn="l"/>
            <a:r>
              <a:rPr sz="1200" b="0" i="0">
                <a:solidFill>
                  <a:srgbClr val="5B6B7A"/>
                </a:solidFill>
                <a:latin typeface="Arial"/>
              </a:rPr>
              <a:t>conçu dans le stage (la passe 3 combine les deux)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1" i="0">
                <a:solidFill>
                  <a:srgbClr val="2E75B6"/>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7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Sur fond clair, la détection échouait ; médiane, CLAHE et réglage des seuils l'ont corrigée</a:t>
            </a:r>
          </a:p>
        </p:txBody>
      </p:sp>
      <p:sp>
        <p:nvSpPr>
          <p:cNvPr id="7" name="TextBox 6"/>
          <p:cNvSpPr txBox="1"/>
          <p:nvPr/>
        </p:nvSpPr>
        <p:spPr>
          <a:xfrm>
            <a:off x="548640" y="1874519"/>
            <a:ext cx="3474720" cy="320040"/>
          </a:xfrm>
          <a:prstGeom prst="rect">
            <a:avLst/>
          </a:prstGeom>
          <a:noFill/>
        </p:spPr>
        <p:txBody>
          <a:bodyPr wrap="square" lIns="0" rIns="0" tIns="0" bIns="0" anchor="t">
            <a:spAutoFit/>
          </a:bodyPr>
          <a:lstStyle/>
          <a:p>
            <a:pPr algn="l"/>
            <a:r>
              <a:rPr sz="1300" b="1" i="0">
                <a:solidFill>
                  <a:srgbClr val="2E75B6"/>
                </a:solidFill>
                <a:latin typeface="Arial"/>
              </a:rPr>
              <a:t>SYMPTÔME</a:t>
            </a:r>
          </a:p>
        </p:txBody>
      </p:sp>
      <p:sp>
        <p:nvSpPr>
          <p:cNvPr id="8" name="TextBox 7"/>
          <p:cNvSpPr txBox="1"/>
          <p:nvPr/>
        </p:nvSpPr>
        <p:spPr>
          <a:xfrm>
            <a:off x="4343400" y="1874519"/>
            <a:ext cx="3474720" cy="320040"/>
          </a:xfrm>
          <a:prstGeom prst="rect">
            <a:avLst/>
          </a:prstGeom>
          <a:noFill/>
        </p:spPr>
        <p:txBody>
          <a:bodyPr wrap="square" lIns="0" rIns="0" tIns="0" bIns="0" anchor="t">
            <a:spAutoFit/>
          </a:bodyPr>
          <a:lstStyle/>
          <a:p>
            <a:pPr algn="l"/>
            <a:r>
              <a:rPr sz="1300" b="1" i="0">
                <a:solidFill>
                  <a:srgbClr val="2E75B6"/>
                </a:solidFill>
                <a:latin typeface="Arial"/>
              </a:rPr>
              <a:t>DEUX CAUSES</a:t>
            </a:r>
          </a:p>
        </p:txBody>
      </p:sp>
      <p:sp>
        <p:nvSpPr>
          <p:cNvPr id="9" name="TextBox 8"/>
          <p:cNvSpPr txBox="1"/>
          <p:nvPr/>
        </p:nvSpPr>
        <p:spPr>
          <a:xfrm>
            <a:off x="8138160" y="1874519"/>
            <a:ext cx="3474720" cy="320040"/>
          </a:xfrm>
          <a:prstGeom prst="rect">
            <a:avLst/>
          </a:prstGeom>
          <a:noFill/>
        </p:spPr>
        <p:txBody>
          <a:bodyPr wrap="square" lIns="0" rIns="0" tIns="0" bIns="0" anchor="t">
            <a:spAutoFit/>
          </a:bodyPr>
          <a:lstStyle/>
          <a:p>
            <a:pPr algn="l"/>
            <a:r>
              <a:rPr sz="1300" b="1" i="0">
                <a:solidFill>
                  <a:srgbClr val="2E75B6"/>
                </a:solidFill>
                <a:latin typeface="Arial"/>
              </a:rPr>
              <a:t>TROIS CORRECTIFS</a:t>
            </a:r>
          </a:p>
        </p:txBody>
      </p:sp>
      <p:cxnSp>
        <p:nvCxnSpPr>
          <p:cNvPr id="10" name="Connector 9"/>
          <p:cNvCxnSpPr/>
          <p:nvPr/>
        </p:nvCxnSpPr>
        <p:spPr>
          <a:xfrm>
            <a:off x="4114800" y="1874519"/>
            <a:ext cx="0" cy="3246121"/>
          </a:xfrm>
          <a:prstGeom prst="line">
            <a:avLst/>
          </a:prstGeom>
          <a:ln w="9525">
            <a:solidFill>
              <a:srgbClr val="CBD3DB"/>
            </a:solidFill>
          </a:ln>
        </p:spPr>
      </p:cxnSp>
      <p:cxnSp>
        <p:nvCxnSpPr>
          <p:cNvPr id="11" name="Connector 10"/>
          <p:cNvCxnSpPr/>
          <p:nvPr/>
        </p:nvCxnSpPr>
        <p:spPr>
          <a:xfrm>
            <a:off x="7909560" y="1874519"/>
            <a:ext cx="0" cy="3246121"/>
          </a:xfrm>
          <a:prstGeom prst="line">
            <a:avLst/>
          </a:prstGeom>
          <a:ln w="9525">
            <a:solidFill>
              <a:srgbClr val="CBD3DB"/>
            </a:solidFill>
          </a:ln>
        </p:spPr>
      </p:cxnSp>
      <p:sp>
        <p:nvSpPr>
          <p:cNvPr id="12" name="TextBox 11"/>
          <p:cNvSpPr txBox="1"/>
          <p:nvPr/>
        </p:nvSpPr>
        <p:spPr>
          <a:xfrm>
            <a:off x="548640" y="2286000"/>
            <a:ext cx="3383280" cy="2743200"/>
          </a:xfrm>
          <a:prstGeom prst="rect">
            <a:avLst/>
          </a:prstGeom>
          <a:noFill/>
        </p:spPr>
        <p:txBody>
          <a:bodyPr wrap="square" lIns="0" rIns="0" tIns="0" bIns="0" anchor="t">
            <a:spAutoFit/>
          </a:bodyPr>
          <a:lstStyle/>
          <a:p>
            <a:pPr algn="l"/>
            <a:r>
              <a:rPr sz="2000" b="0" i="0">
                <a:solidFill>
                  <a:srgbClr val="1B2530"/>
                </a:solidFill>
                <a:latin typeface="Arial"/>
              </a:rPr>
              <a:t>Carte claire sur table blanche ou feuille de papier : détection très souvent en échec, alors qu'elle marchait sur fond sombre.</a:t>
            </a:r>
          </a:p>
        </p:txBody>
      </p:sp>
      <p:sp>
        <p:nvSpPr>
          <p:cNvPr id="13" name="TextBox 12"/>
          <p:cNvSpPr txBox="1"/>
          <p:nvPr/>
        </p:nvSpPr>
        <p:spPr>
          <a:xfrm>
            <a:off x="4343400" y="2286000"/>
            <a:ext cx="3429000" cy="2926080"/>
          </a:xfrm>
          <a:prstGeom prst="rect">
            <a:avLst/>
          </a:prstGeom>
          <a:noFill/>
        </p:spPr>
        <p:txBody>
          <a:bodyPr wrap="square" lIns="0" rIns="0" tIns="0" bIns="0" anchor="t">
            <a:spAutoFit/>
          </a:bodyPr>
          <a:lstStyle/>
          <a:p>
            <a:pPr algn="l">
              <a:spcAft>
                <a:spcPts val="1400"/>
              </a:spcAft>
            </a:pPr>
            <a:r>
              <a:rPr sz="1800" b="1" i="0">
                <a:solidFill>
                  <a:srgbClr val="1F3A5F"/>
                </a:solidFill>
                <a:latin typeface="Arial"/>
              </a:rPr>
              <a:t>Bug : </a:t>
            </a:r>
            <a:r>
              <a:rPr sz="1800" b="0" i="0">
                <a:solidFill>
                  <a:srgbClr val="1B2530"/>
                </a:solidFill>
                <a:latin typeface="Arial"/>
              </a:rPr>
              <a:t>seuils de Canny calculés sur la </a:t>
            </a:r>
            <a:r>
              <a:rPr sz="1800" b="1" i="0">
                <a:solidFill>
                  <a:srgbClr val="1B2530"/>
                </a:solidFill>
                <a:latin typeface="Arial"/>
              </a:rPr>
              <a:t>moyenne</a:t>
            </a:r>
            <a:r>
              <a:rPr sz="1800" b="0" i="0">
                <a:solidFill>
                  <a:srgbClr val="1B2530"/>
                </a:solidFill>
                <a:latin typeface="Arial"/>
              </a:rPr>
              <a:t> et non sur la médiane : trop hauts dès que la scène est claire.</a:t>
            </a:r>
          </a:p>
          <a:p>
            <a:pPr algn="l">
              <a:spcAft>
                <a:spcPts val="1400"/>
              </a:spcAft>
            </a:pPr>
            <a:r>
              <a:rPr sz="1800" b="1" i="0">
                <a:solidFill>
                  <a:srgbClr val="1F3A5F"/>
                </a:solidFill>
                <a:latin typeface="Arial"/>
              </a:rPr>
              <a:t>Contraste local</a:t>
            </a:r>
            <a:r>
              <a:rPr sz="1800" b="0" i="0">
                <a:solidFill>
                  <a:srgbClr val="1B2530"/>
                </a:solidFill>
                <a:latin typeface="Arial"/>
              </a:rPr>
              <a:t> trop faible entre la carte et le fond.</a:t>
            </a:r>
          </a:p>
        </p:txBody>
      </p:sp>
      <p:sp>
        <p:nvSpPr>
          <p:cNvPr id="14" name="TextBox 13"/>
          <p:cNvSpPr txBox="1"/>
          <p:nvPr/>
        </p:nvSpPr>
        <p:spPr>
          <a:xfrm>
            <a:off x="8138160" y="2286000"/>
            <a:ext cx="3429000" cy="2926080"/>
          </a:xfrm>
          <a:prstGeom prst="rect">
            <a:avLst/>
          </a:prstGeom>
          <a:noFill/>
        </p:spPr>
        <p:txBody>
          <a:bodyPr wrap="square" lIns="0" rIns="0" tIns="0" bIns="0" anchor="t">
            <a:spAutoFit/>
          </a:bodyPr>
          <a:lstStyle/>
          <a:p>
            <a:pPr algn="l">
              <a:spcAft>
                <a:spcPts val="1400"/>
              </a:spcAft>
            </a:pPr>
            <a:r>
              <a:rPr sz="1800" b="1" i="0">
                <a:solidFill>
                  <a:srgbClr val="2E75B6"/>
                </a:solidFill>
                <a:latin typeface="Arial"/>
              </a:rPr>
              <a:t>1  </a:t>
            </a:r>
            <a:r>
              <a:rPr sz="1800" b="0" i="0">
                <a:solidFill>
                  <a:srgbClr val="1B2530"/>
                </a:solidFill>
                <a:latin typeface="Arial"/>
              </a:rPr>
              <a:t>seuils dérivés de la vraie médiane</a:t>
            </a:r>
          </a:p>
          <a:p>
            <a:pPr algn="l">
              <a:spcAft>
                <a:spcPts val="1400"/>
              </a:spcAft>
            </a:pPr>
            <a:r>
              <a:rPr sz="1800" b="1" i="0">
                <a:solidFill>
                  <a:srgbClr val="2E75B6"/>
                </a:solidFill>
                <a:latin typeface="Arial"/>
              </a:rPr>
              <a:t>2  </a:t>
            </a:r>
            <a:r>
              <a:rPr sz="1800" b="0" i="0">
                <a:solidFill>
                  <a:srgbClr val="1B2530"/>
                </a:solidFill>
                <a:latin typeface="Arial"/>
              </a:rPr>
              <a:t>passe CLAHE avant la détection</a:t>
            </a:r>
          </a:p>
          <a:p>
            <a:pPr algn="l">
              <a:spcAft>
                <a:spcPts val="1400"/>
              </a:spcAft>
            </a:pPr>
            <a:r>
              <a:rPr sz="1800" b="1" i="0">
                <a:solidFill>
                  <a:srgbClr val="2E75B6"/>
                </a:solidFill>
                <a:latin typeface="Arial"/>
              </a:rPr>
              <a:t>3  </a:t>
            </a:r>
            <a:r>
              <a:rPr sz="1800" b="0" i="0">
                <a:solidFill>
                  <a:srgbClr val="1B2530"/>
                </a:solidFill>
                <a:latin typeface="Arial"/>
              </a:rPr>
              <a:t>réglage des seuils de score et d'aire du quadrilatère</a:t>
            </a:r>
          </a:p>
        </p:txBody>
      </p:sp>
      <p:sp>
        <p:nvSpPr>
          <p:cNvPr id="15" name="Rectangle 14"/>
          <p:cNvSpPr/>
          <p:nvPr/>
        </p:nvSpPr>
        <p:spPr>
          <a:xfrm>
            <a:off x="548640" y="5349240"/>
            <a:ext cx="11094415" cy="685800"/>
          </a:xfrm>
          <a:prstGeom prst="rect">
            <a:avLst/>
          </a:prstGeom>
          <a:solidFill>
            <a:srgbClr val="EEF2F6"/>
          </a:solidFill>
          <a:ln>
            <a:noFill/>
          </a:ln>
        </p:spPr>
        <p:txBody>
          <a:bodyPr rtlCol="0" anchor="ctr"/>
          <a:lstStyle/>
          <a:p/>
        </p:txBody>
      </p:sp>
      <p:sp>
        <p:nvSpPr>
          <p:cNvPr id="16" name="TextBox 15"/>
          <p:cNvSpPr txBox="1"/>
          <p:nvPr/>
        </p:nvSpPr>
        <p:spPr>
          <a:xfrm>
            <a:off x="777240" y="5349240"/>
            <a:ext cx="10637215" cy="685800"/>
          </a:xfrm>
          <a:prstGeom prst="rect">
            <a:avLst/>
          </a:prstGeom>
          <a:noFill/>
        </p:spPr>
        <p:txBody>
          <a:bodyPr wrap="square" lIns="0" rIns="0" tIns="0" bIns="0" anchor="ctr">
            <a:spAutoFit/>
          </a:bodyPr>
          <a:lstStyle/>
          <a:p>
            <a:pPr algn="l"/>
            <a:r>
              <a:rPr sz="1800" b="1" i="0">
                <a:solidFill>
                  <a:srgbClr val="1F3A5F"/>
                </a:solidFill>
                <a:latin typeface="Arial"/>
              </a:rPr>
              <a:t>Résultat observé : </a:t>
            </a:r>
            <a:r>
              <a:rPr sz="1800" b="0" i="0">
                <a:solidFill>
                  <a:srgbClr val="1B2530"/>
                </a:solidFill>
                <a:latin typeface="Arial"/>
              </a:rPr>
              <a:t>taux de détection comparable sur fond clair et sur fond sombre — </a:t>
            </a:r>
            <a:r>
              <a:rPr sz="1800" b="1" i="0">
                <a:solidFill>
                  <a:srgbClr val="B84A12"/>
                </a:solidFill>
                <a:latin typeface="Arial"/>
              </a:rPr>
              <a:t>gain non chiffré, sans mesure avant/après.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1" i="0">
                <a:solidFill>
                  <a:srgbClr val="2E75B6"/>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8 / 14</a:t>
            </a:r>
          </a:p>
        </p:txBody>
      </p:sp>
      <p:sp>
        <p:nvSpPr>
          <p:cNvPr id="6" name="Titre"/>
          <p:cNvSpPr txBox="1"/>
          <p:nvPr/>
        </p:nvSpPr>
        <p:spPr>
          <a:xfrm>
            <a:off x="548640" y="777240"/>
            <a:ext cx="8412480" cy="1005840"/>
          </a:xfrm>
          <a:prstGeom prst="rect">
            <a:avLst/>
          </a:prstGeom>
          <a:noFill/>
        </p:spPr>
        <p:txBody>
          <a:bodyPr wrap="square" lIns="0" rIns="0" tIns="0" bIns="0" anchor="t">
            <a:spAutoFit/>
          </a:bodyPr>
          <a:lstStyle/>
          <a:p>
            <a:pPr algn="l"/>
            <a:r>
              <a:rPr sz="2800" b="1" i="0">
                <a:solidFill>
                  <a:srgbClr val="1F3A5F"/>
                </a:solidFill>
                <a:latin typeface="Arial"/>
              </a:rPr>
              <a:t>La capture part seule après deux frames consécutives nettes, bien exposées et stables</a:t>
            </a:r>
          </a:p>
        </p:txBody>
      </p:sp>
      <p:sp>
        <p:nvSpPr>
          <p:cNvPr id="7" name="Rectangle 6"/>
          <p:cNvSpPr/>
          <p:nvPr/>
        </p:nvSpPr>
        <p:spPr>
          <a:xfrm>
            <a:off x="548640" y="2240280"/>
            <a:ext cx="1353312" cy="566928"/>
          </a:xfrm>
          <a:prstGeom prst="rect">
            <a:avLst/>
          </a:prstGeom>
          <a:solidFill>
            <a:srgbClr val="EEF2F6"/>
          </a:solidFill>
          <a:ln w="12700">
            <a:solidFill>
              <a:srgbClr val="CBD3DB"/>
            </a:solidFill>
          </a:ln>
        </p:spPr>
        <p:txBody>
          <a:bodyPr rtlCol="0" anchor="ctr"/>
          <a:lstStyle/>
          <a:p/>
        </p:txBody>
      </p:sp>
      <p:sp>
        <p:nvSpPr>
          <p:cNvPr id="8" name="TextBox 7"/>
          <p:cNvSpPr txBox="1"/>
          <p:nvPr/>
        </p:nvSpPr>
        <p:spPr>
          <a:xfrm>
            <a:off x="548640" y="2240280"/>
            <a:ext cx="1353312" cy="566928"/>
          </a:xfrm>
          <a:prstGeom prst="rect">
            <a:avLst/>
          </a:prstGeom>
          <a:noFill/>
        </p:spPr>
        <p:txBody>
          <a:bodyPr wrap="square" lIns="0" rIns="0" tIns="0" bIns="0" anchor="ctr">
            <a:spAutoFit/>
          </a:bodyPr>
          <a:lstStyle/>
          <a:p>
            <a:pPr algn="ctr"/>
            <a:r>
              <a:rPr sz="1200" b="1" i="0">
                <a:solidFill>
                  <a:srgbClr val="1F3A5F"/>
                </a:solidFill>
                <a:latin typeface="Courier New"/>
              </a:rPr>
              <a:t>searching</a:t>
            </a:r>
          </a:p>
        </p:txBody>
      </p:sp>
      <p:cxnSp>
        <p:nvCxnSpPr>
          <p:cNvPr id="9" name="Connector 8"/>
          <p:cNvCxnSpPr/>
          <p:nvPr/>
        </p:nvCxnSpPr>
        <p:spPr>
          <a:xfrm>
            <a:off x="1929384" y="2523744"/>
            <a:ext cx="356616" cy="0"/>
          </a:xfrm>
          <a:prstGeom prst="line">
            <a:avLst/>
          </a:prstGeom>
          <a:ln w="19050">
            <a:solidFill>
              <a:srgbClr val="1F3A5F"/>
            </a:solidFill>
            <a:tailEnd type="triangle" w="med" h="med"/>
          </a:ln>
        </p:spPr>
      </p:cxnSp>
      <p:sp>
        <p:nvSpPr>
          <p:cNvPr id="10" name="Rectangle 9"/>
          <p:cNvSpPr/>
          <p:nvPr/>
        </p:nvSpPr>
        <p:spPr>
          <a:xfrm>
            <a:off x="2313432" y="2240280"/>
            <a:ext cx="1353312" cy="566928"/>
          </a:xfrm>
          <a:prstGeom prst="rect">
            <a:avLst/>
          </a:prstGeom>
          <a:solidFill>
            <a:srgbClr val="EEF2F6"/>
          </a:solidFill>
          <a:ln w="12700">
            <a:solidFill>
              <a:srgbClr val="CBD3DB"/>
            </a:solidFill>
          </a:ln>
        </p:spPr>
        <p:txBody>
          <a:bodyPr rtlCol="0" anchor="ctr"/>
          <a:lstStyle/>
          <a:p/>
        </p:txBody>
      </p:sp>
      <p:sp>
        <p:nvSpPr>
          <p:cNvPr id="11" name="TextBox 10"/>
          <p:cNvSpPr txBox="1"/>
          <p:nvPr/>
        </p:nvSpPr>
        <p:spPr>
          <a:xfrm>
            <a:off x="2313432" y="2240280"/>
            <a:ext cx="1353312" cy="566928"/>
          </a:xfrm>
          <a:prstGeom prst="rect">
            <a:avLst/>
          </a:prstGeom>
          <a:noFill/>
        </p:spPr>
        <p:txBody>
          <a:bodyPr wrap="square" lIns="0" rIns="0" tIns="0" bIns="0" anchor="ctr">
            <a:spAutoFit/>
          </a:bodyPr>
          <a:lstStyle/>
          <a:p>
            <a:pPr algn="ctr"/>
            <a:r>
              <a:rPr sz="1200" b="1" i="0">
                <a:solidFill>
                  <a:srgbClr val="1F3A5F"/>
                </a:solidFill>
                <a:latin typeface="Courier New"/>
              </a:rPr>
              <a:t>poorQuality</a:t>
            </a:r>
          </a:p>
        </p:txBody>
      </p:sp>
      <p:cxnSp>
        <p:nvCxnSpPr>
          <p:cNvPr id="12" name="Connector 11"/>
          <p:cNvCxnSpPr/>
          <p:nvPr/>
        </p:nvCxnSpPr>
        <p:spPr>
          <a:xfrm>
            <a:off x="3694176" y="2523744"/>
            <a:ext cx="356615" cy="0"/>
          </a:xfrm>
          <a:prstGeom prst="line">
            <a:avLst/>
          </a:prstGeom>
          <a:ln w="19050">
            <a:solidFill>
              <a:srgbClr val="1F3A5F"/>
            </a:solidFill>
            <a:tailEnd type="triangle" w="med" h="med"/>
          </a:ln>
        </p:spPr>
      </p:cxnSp>
      <p:sp>
        <p:nvSpPr>
          <p:cNvPr id="13" name="Rectangle 12"/>
          <p:cNvSpPr/>
          <p:nvPr/>
        </p:nvSpPr>
        <p:spPr>
          <a:xfrm>
            <a:off x="4078224" y="2240280"/>
            <a:ext cx="1353312" cy="566928"/>
          </a:xfrm>
          <a:prstGeom prst="rect">
            <a:avLst/>
          </a:prstGeom>
          <a:solidFill>
            <a:srgbClr val="FFFFFF"/>
          </a:solidFill>
          <a:ln w="25400">
            <a:solidFill>
              <a:srgbClr val="2E75B6"/>
            </a:solidFill>
          </a:ln>
        </p:spPr>
        <p:txBody>
          <a:bodyPr rtlCol="0" anchor="ctr"/>
          <a:lstStyle/>
          <a:p/>
        </p:txBody>
      </p:sp>
      <p:sp>
        <p:nvSpPr>
          <p:cNvPr id="14" name="TextBox 13"/>
          <p:cNvSpPr txBox="1"/>
          <p:nvPr/>
        </p:nvSpPr>
        <p:spPr>
          <a:xfrm>
            <a:off x="4078224" y="2240280"/>
            <a:ext cx="1353312" cy="566928"/>
          </a:xfrm>
          <a:prstGeom prst="rect">
            <a:avLst/>
          </a:prstGeom>
          <a:noFill/>
        </p:spPr>
        <p:txBody>
          <a:bodyPr wrap="square" lIns="0" rIns="0" tIns="0" bIns="0" anchor="ctr">
            <a:spAutoFit/>
          </a:bodyPr>
          <a:lstStyle/>
          <a:p>
            <a:pPr algn="ctr"/>
            <a:r>
              <a:rPr sz="1200" b="1" i="0">
                <a:solidFill>
                  <a:srgbClr val="1F3A5F"/>
                </a:solidFill>
                <a:latin typeface="Courier New"/>
              </a:rPr>
              <a:t>holding</a:t>
            </a:r>
          </a:p>
        </p:txBody>
      </p:sp>
      <p:cxnSp>
        <p:nvCxnSpPr>
          <p:cNvPr id="15" name="Connector 14"/>
          <p:cNvCxnSpPr/>
          <p:nvPr/>
        </p:nvCxnSpPr>
        <p:spPr>
          <a:xfrm>
            <a:off x="5458968" y="2523744"/>
            <a:ext cx="356615" cy="0"/>
          </a:xfrm>
          <a:prstGeom prst="line">
            <a:avLst/>
          </a:prstGeom>
          <a:ln w="19050">
            <a:solidFill>
              <a:srgbClr val="1F3A5F"/>
            </a:solidFill>
            <a:tailEnd type="triangle" w="med" h="med"/>
          </a:ln>
        </p:spPr>
      </p:cxnSp>
      <p:sp>
        <p:nvSpPr>
          <p:cNvPr id="16" name="Rectangle 15"/>
          <p:cNvSpPr/>
          <p:nvPr/>
        </p:nvSpPr>
        <p:spPr>
          <a:xfrm>
            <a:off x="5843016" y="2240280"/>
            <a:ext cx="1353312" cy="566928"/>
          </a:xfrm>
          <a:prstGeom prst="rect">
            <a:avLst/>
          </a:prstGeom>
          <a:solidFill>
            <a:srgbClr val="EEF2F6"/>
          </a:solidFill>
          <a:ln w="12700">
            <a:solidFill>
              <a:srgbClr val="CBD3DB"/>
            </a:solidFill>
          </a:ln>
        </p:spPr>
        <p:txBody>
          <a:bodyPr rtlCol="0" anchor="ctr"/>
          <a:lstStyle/>
          <a:p/>
        </p:txBody>
      </p:sp>
      <p:sp>
        <p:nvSpPr>
          <p:cNvPr id="17" name="TextBox 16"/>
          <p:cNvSpPr txBox="1"/>
          <p:nvPr/>
        </p:nvSpPr>
        <p:spPr>
          <a:xfrm>
            <a:off x="5843016" y="2240280"/>
            <a:ext cx="1353312" cy="566928"/>
          </a:xfrm>
          <a:prstGeom prst="rect">
            <a:avLst/>
          </a:prstGeom>
          <a:noFill/>
        </p:spPr>
        <p:txBody>
          <a:bodyPr wrap="square" lIns="0" rIns="0" tIns="0" bIns="0" anchor="ctr">
            <a:spAutoFit/>
          </a:bodyPr>
          <a:lstStyle/>
          <a:p>
            <a:pPr algn="ctr"/>
            <a:r>
              <a:rPr sz="1200" b="1" i="0">
                <a:solidFill>
                  <a:srgbClr val="1F3A5F"/>
                </a:solidFill>
                <a:latin typeface="Courier New"/>
              </a:rPr>
              <a:t>triggerCapture</a:t>
            </a:r>
          </a:p>
        </p:txBody>
      </p:sp>
      <p:cxnSp>
        <p:nvCxnSpPr>
          <p:cNvPr id="18" name="Connector 17"/>
          <p:cNvCxnSpPr/>
          <p:nvPr/>
        </p:nvCxnSpPr>
        <p:spPr>
          <a:xfrm>
            <a:off x="7223759" y="2523744"/>
            <a:ext cx="356617" cy="0"/>
          </a:xfrm>
          <a:prstGeom prst="line">
            <a:avLst/>
          </a:prstGeom>
          <a:ln w="19050">
            <a:solidFill>
              <a:srgbClr val="1F3A5F"/>
            </a:solidFill>
            <a:tailEnd type="triangle" w="med" h="med"/>
          </a:ln>
        </p:spPr>
      </p:cxnSp>
      <p:sp>
        <p:nvSpPr>
          <p:cNvPr id="19" name="Rectangle 18"/>
          <p:cNvSpPr/>
          <p:nvPr/>
        </p:nvSpPr>
        <p:spPr>
          <a:xfrm>
            <a:off x="7607808" y="2240280"/>
            <a:ext cx="1353312" cy="566928"/>
          </a:xfrm>
          <a:prstGeom prst="rect">
            <a:avLst/>
          </a:prstGeom>
          <a:solidFill>
            <a:srgbClr val="EEF2F6"/>
          </a:solidFill>
          <a:ln w="12700">
            <a:solidFill>
              <a:srgbClr val="CBD3DB"/>
            </a:solidFill>
          </a:ln>
        </p:spPr>
        <p:txBody>
          <a:bodyPr rtlCol="0" anchor="ctr"/>
          <a:lstStyle/>
          <a:p/>
        </p:txBody>
      </p:sp>
      <p:sp>
        <p:nvSpPr>
          <p:cNvPr id="20" name="TextBox 19"/>
          <p:cNvSpPr txBox="1"/>
          <p:nvPr/>
        </p:nvSpPr>
        <p:spPr>
          <a:xfrm>
            <a:off x="7607808" y="2240280"/>
            <a:ext cx="1353312" cy="566928"/>
          </a:xfrm>
          <a:prstGeom prst="rect">
            <a:avLst/>
          </a:prstGeom>
          <a:noFill/>
        </p:spPr>
        <p:txBody>
          <a:bodyPr wrap="square" lIns="0" rIns="0" tIns="0" bIns="0" anchor="ctr">
            <a:spAutoFit/>
          </a:bodyPr>
          <a:lstStyle/>
          <a:p>
            <a:pPr algn="ctr"/>
            <a:r>
              <a:rPr sz="1200" b="1" i="0">
                <a:solidFill>
                  <a:srgbClr val="1F3A5F"/>
                </a:solidFill>
                <a:latin typeface="Courier New"/>
              </a:rPr>
              <a:t>captured</a:t>
            </a:r>
          </a:p>
        </p:txBody>
      </p:sp>
      <p:sp>
        <p:nvSpPr>
          <p:cNvPr id="21" name="TextBox 20"/>
          <p:cNvSpPr txBox="1"/>
          <p:nvPr/>
        </p:nvSpPr>
        <p:spPr>
          <a:xfrm>
            <a:off x="1513332" y="1947672"/>
            <a:ext cx="1188720" cy="256032"/>
          </a:xfrm>
          <a:prstGeom prst="rect">
            <a:avLst/>
          </a:prstGeom>
          <a:noFill/>
        </p:spPr>
        <p:txBody>
          <a:bodyPr wrap="square" lIns="0" rIns="0" tIns="0" bIns="0" anchor="t">
            <a:spAutoFit/>
          </a:bodyPr>
          <a:lstStyle/>
          <a:p>
            <a:pPr algn="ctr"/>
            <a:r>
              <a:rPr sz="1100" b="0" i="0">
                <a:solidFill>
                  <a:srgbClr val="5B6B7A"/>
                </a:solidFill>
                <a:latin typeface="Arial"/>
              </a:rPr>
              <a:t>carte trouvée</a:t>
            </a:r>
          </a:p>
        </p:txBody>
      </p:sp>
      <p:sp>
        <p:nvSpPr>
          <p:cNvPr id="22" name="TextBox 21"/>
          <p:cNvSpPr txBox="1"/>
          <p:nvPr/>
        </p:nvSpPr>
        <p:spPr>
          <a:xfrm>
            <a:off x="3278123" y="1947672"/>
            <a:ext cx="1188720" cy="256032"/>
          </a:xfrm>
          <a:prstGeom prst="rect">
            <a:avLst/>
          </a:prstGeom>
          <a:noFill/>
        </p:spPr>
        <p:txBody>
          <a:bodyPr wrap="square" lIns="0" rIns="0" tIns="0" bIns="0" anchor="t">
            <a:spAutoFit/>
          </a:bodyPr>
          <a:lstStyle/>
          <a:p>
            <a:pPr algn="ctr"/>
            <a:r>
              <a:rPr sz="1100" b="0" i="0">
                <a:solidFill>
                  <a:srgbClr val="5B6B7A"/>
                </a:solidFill>
                <a:latin typeface="Arial"/>
              </a:rPr>
              <a:t>contrôles OK</a:t>
            </a:r>
          </a:p>
        </p:txBody>
      </p:sp>
      <p:sp>
        <p:nvSpPr>
          <p:cNvPr id="23" name="TextBox 22"/>
          <p:cNvSpPr txBox="1"/>
          <p:nvPr/>
        </p:nvSpPr>
        <p:spPr>
          <a:xfrm>
            <a:off x="5042915" y="1947672"/>
            <a:ext cx="1188720" cy="256032"/>
          </a:xfrm>
          <a:prstGeom prst="rect">
            <a:avLst/>
          </a:prstGeom>
          <a:noFill/>
        </p:spPr>
        <p:txBody>
          <a:bodyPr wrap="square" lIns="0" rIns="0" tIns="0" bIns="0" anchor="t">
            <a:spAutoFit/>
          </a:bodyPr>
          <a:lstStyle/>
          <a:p>
            <a:pPr algn="ctr"/>
            <a:r>
              <a:rPr sz="1100" b="0" i="0">
                <a:solidFill>
                  <a:srgbClr val="5B6B7A"/>
                </a:solidFill>
                <a:latin typeface="Arial"/>
              </a:rPr>
              <a:t>2 frames OK</a:t>
            </a:r>
          </a:p>
        </p:txBody>
      </p:sp>
      <p:cxnSp>
        <p:nvCxnSpPr>
          <p:cNvPr id="24" name="Connector 23"/>
          <p:cNvCxnSpPr/>
          <p:nvPr/>
        </p:nvCxnSpPr>
        <p:spPr>
          <a:xfrm>
            <a:off x="4754880" y="2807208"/>
            <a:ext cx="0" cy="256032"/>
          </a:xfrm>
          <a:prstGeom prst="line">
            <a:avLst/>
          </a:prstGeom>
          <a:ln w="12700">
            <a:solidFill>
              <a:srgbClr val="5B6B7A"/>
            </a:solidFill>
          </a:ln>
        </p:spPr>
      </p:cxnSp>
      <p:cxnSp>
        <p:nvCxnSpPr>
          <p:cNvPr id="25" name="Connector 24"/>
          <p:cNvCxnSpPr/>
          <p:nvPr/>
        </p:nvCxnSpPr>
        <p:spPr>
          <a:xfrm flipH="1">
            <a:off x="2990087" y="3063240"/>
            <a:ext cx="1764793" cy="0"/>
          </a:xfrm>
          <a:prstGeom prst="line">
            <a:avLst/>
          </a:prstGeom>
          <a:ln w="12700">
            <a:solidFill>
              <a:srgbClr val="5B6B7A"/>
            </a:solidFill>
          </a:ln>
        </p:spPr>
      </p:cxnSp>
      <p:cxnSp>
        <p:nvCxnSpPr>
          <p:cNvPr id="26" name="Connector 25"/>
          <p:cNvCxnSpPr/>
          <p:nvPr/>
        </p:nvCxnSpPr>
        <p:spPr>
          <a:xfrm flipV="1">
            <a:off x="2990087" y="2825496"/>
            <a:ext cx="0" cy="237744"/>
          </a:xfrm>
          <a:prstGeom prst="line">
            <a:avLst/>
          </a:prstGeom>
          <a:ln w="12700">
            <a:solidFill>
              <a:srgbClr val="5B6B7A"/>
            </a:solidFill>
            <a:tailEnd type="triangle" w="med" h="med"/>
          </a:ln>
        </p:spPr>
      </p:cxnSp>
      <p:sp>
        <p:nvSpPr>
          <p:cNvPr id="27" name="TextBox 26"/>
          <p:cNvSpPr txBox="1"/>
          <p:nvPr/>
        </p:nvSpPr>
        <p:spPr>
          <a:xfrm>
            <a:off x="3081527" y="3090672"/>
            <a:ext cx="1581912" cy="274320"/>
          </a:xfrm>
          <a:prstGeom prst="rect">
            <a:avLst/>
          </a:prstGeom>
          <a:noFill/>
        </p:spPr>
        <p:txBody>
          <a:bodyPr wrap="square" lIns="0" rIns="0" tIns="0" bIns="0" anchor="t">
            <a:spAutoFit/>
          </a:bodyPr>
          <a:lstStyle/>
          <a:p>
            <a:pPr algn="ctr"/>
            <a:r>
              <a:rPr sz="1200" b="0" i="0">
                <a:solidFill>
                  <a:srgbClr val="5B6B7A"/>
                </a:solidFill>
                <a:latin typeface="Arial"/>
              </a:rPr>
              <a:t>un contrôle échoue</a:t>
            </a:r>
          </a:p>
        </p:txBody>
      </p:sp>
      <p:cxnSp>
        <p:nvCxnSpPr>
          <p:cNvPr id="28" name="Connector 27"/>
          <p:cNvCxnSpPr/>
          <p:nvPr/>
        </p:nvCxnSpPr>
        <p:spPr>
          <a:xfrm>
            <a:off x="8284464" y="2807208"/>
            <a:ext cx="0" cy="658368"/>
          </a:xfrm>
          <a:prstGeom prst="line">
            <a:avLst/>
          </a:prstGeom>
          <a:ln w="12700">
            <a:solidFill>
              <a:srgbClr val="5B6B7A"/>
            </a:solidFill>
          </a:ln>
        </p:spPr>
      </p:cxnSp>
      <p:cxnSp>
        <p:nvCxnSpPr>
          <p:cNvPr id="29" name="Connector 28"/>
          <p:cNvCxnSpPr/>
          <p:nvPr/>
        </p:nvCxnSpPr>
        <p:spPr>
          <a:xfrm flipH="1">
            <a:off x="1225295" y="3465576"/>
            <a:ext cx="7059169" cy="0"/>
          </a:xfrm>
          <a:prstGeom prst="line">
            <a:avLst/>
          </a:prstGeom>
          <a:ln w="12700">
            <a:solidFill>
              <a:srgbClr val="5B6B7A"/>
            </a:solidFill>
          </a:ln>
        </p:spPr>
      </p:cxnSp>
      <p:cxnSp>
        <p:nvCxnSpPr>
          <p:cNvPr id="30" name="Connector 29"/>
          <p:cNvCxnSpPr/>
          <p:nvPr/>
        </p:nvCxnSpPr>
        <p:spPr>
          <a:xfrm flipV="1">
            <a:off x="1225295" y="2825496"/>
            <a:ext cx="0" cy="640080"/>
          </a:xfrm>
          <a:prstGeom prst="line">
            <a:avLst/>
          </a:prstGeom>
          <a:ln w="12700">
            <a:solidFill>
              <a:srgbClr val="5B6B7A"/>
            </a:solidFill>
            <a:tailEnd type="triangle" w="med" h="med"/>
          </a:ln>
        </p:spPr>
      </p:cxnSp>
      <p:sp>
        <p:nvSpPr>
          <p:cNvPr id="31" name="TextBox 30"/>
          <p:cNvSpPr txBox="1"/>
          <p:nvPr/>
        </p:nvSpPr>
        <p:spPr>
          <a:xfrm>
            <a:off x="1316736" y="3493008"/>
            <a:ext cx="6876288" cy="274320"/>
          </a:xfrm>
          <a:prstGeom prst="rect">
            <a:avLst/>
          </a:prstGeom>
          <a:noFill/>
        </p:spPr>
        <p:txBody>
          <a:bodyPr wrap="square" lIns="0" rIns="0" tIns="0" bIns="0" anchor="t">
            <a:spAutoFit/>
          </a:bodyPr>
          <a:lstStyle/>
          <a:p>
            <a:pPr algn="ctr"/>
            <a:r>
              <a:rPr sz="1200" b="0" i="0">
                <a:solidFill>
                  <a:srgbClr val="5B6B7A"/>
                </a:solidFill>
                <a:latin typeface="Arial"/>
              </a:rPr>
              <a:t>face suivante, ou échec de la capture → reset</a:t>
            </a:r>
          </a:p>
        </p:txBody>
      </p:sp>
      <p:sp>
        <p:nvSpPr>
          <p:cNvPr id="32" name="TextBox 31"/>
          <p:cNvSpPr txBox="1"/>
          <p:nvPr/>
        </p:nvSpPr>
        <p:spPr>
          <a:xfrm>
            <a:off x="548640" y="4023360"/>
            <a:ext cx="1645920" cy="457200"/>
          </a:xfrm>
          <a:prstGeom prst="rect">
            <a:avLst/>
          </a:prstGeom>
          <a:noFill/>
        </p:spPr>
        <p:txBody>
          <a:bodyPr wrap="square" lIns="0" rIns="0" tIns="0" bIns="0" anchor="t">
            <a:spAutoFit/>
          </a:bodyPr>
          <a:lstStyle/>
          <a:p>
            <a:pPr algn="l"/>
            <a:r>
              <a:rPr sz="1800" b="1" i="0">
                <a:solidFill>
                  <a:srgbClr val="1F3A5F"/>
                </a:solidFill>
                <a:latin typeface="Arial"/>
              </a:rPr>
              <a:t>Netteté</a:t>
            </a:r>
          </a:p>
        </p:txBody>
      </p:sp>
      <p:sp>
        <p:nvSpPr>
          <p:cNvPr id="33" name="TextBox 32"/>
          <p:cNvSpPr txBox="1"/>
          <p:nvPr/>
        </p:nvSpPr>
        <p:spPr>
          <a:xfrm>
            <a:off x="2240280" y="4041648"/>
            <a:ext cx="6583680" cy="502920"/>
          </a:xfrm>
          <a:prstGeom prst="rect">
            <a:avLst/>
          </a:prstGeom>
          <a:noFill/>
        </p:spPr>
        <p:txBody>
          <a:bodyPr wrap="square" lIns="0" rIns="0" tIns="0" bIns="0" anchor="t">
            <a:spAutoFit/>
          </a:bodyPr>
          <a:lstStyle/>
          <a:p>
            <a:pPr algn="l"/>
            <a:r>
              <a:rPr sz="1600" b="0" i="0">
                <a:solidFill>
                  <a:srgbClr val="1B2530"/>
                </a:solidFill>
                <a:latin typeface="Arial"/>
              </a:rPr>
              <a:t>variance du Laplacien, après CLAHE, ≥ 120 (à 856 × 540 px)</a:t>
            </a:r>
          </a:p>
        </p:txBody>
      </p:sp>
      <p:sp>
        <p:nvSpPr>
          <p:cNvPr id="34" name="TextBox 33"/>
          <p:cNvSpPr txBox="1"/>
          <p:nvPr/>
        </p:nvSpPr>
        <p:spPr>
          <a:xfrm>
            <a:off x="548640" y="4498848"/>
            <a:ext cx="1645920" cy="457200"/>
          </a:xfrm>
          <a:prstGeom prst="rect">
            <a:avLst/>
          </a:prstGeom>
          <a:noFill/>
        </p:spPr>
        <p:txBody>
          <a:bodyPr wrap="square" lIns="0" rIns="0" tIns="0" bIns="0" anchor="t">
            <a:spAutoFit/>
          </a:bodyPr>
          <a:lstStyle/>
          <a:p>
            <a:pPr algn="l"/>
            <a:r>
              <a:rPr sz="1800" b="1" i="0">
                <a:solidFill>
                  <a:srgbClr val="1F3A5F"/>
                </a:solidFill>
                <a:latin typeface="Arial"/>
              </a:rPr>
              <a:t>Luminosité</a:t>
            </a:r>
          </a:p>
        </p:txBody>
      </p:sp>
      <p:sp>
        <p:nvSpPr>
          <p:cNvPr id="35" name="TextBox 34"/>
          <p:cNvSpPr txBox="1"/>
          <p:nvPr/>
        </p:nvSpPr>
        <p:spPr>
          <a:xfrm>
            <a:off x="2240280" y="4517136"/>
            <a:ext cx="6583680" cy="502920"/>
          </a:xfrm>
          <a:prstGeom prst="rect">
            <a:avLst/>
          </a:prstGeom>
          <a:noFill/>
        </p:spPr>
        <p:txBody>
          <a:bodyPr wrap="square" lIns="0" rIns="0" tIns="0" bIns="0" anchor="t">
            <a:spAutoFit/>
          </a:bodyPr>
          <a:lstStyle/>
          <a:p>
            <a:pPr algn="l"/>
            <a:r>
              <a:rPr sz="1600" b="0" i="0">
                <a:solidFill>
                  <a:srgbClr val="1B2530"/>
                </a:solidFill>
                <a:latin typeface="Arial"/>
              </a:rPr>
              <a:t>moyenne dans [60 ; 225] et ≤ 12 % de pixels ≥ 250</a:t>
            </a:r>
          </a:p>
        </p:txBody>
      </p:sp>
      <p:sp>
        <p:nvSpPr>
          <p:cNvPr id="36" name="TextBox 35"/>
          <p:cNvSpPr txBox="1"/>
          <p:nvPr/>
        </p:nvSpPr>
        <p:spPr>
          <a:xfrm>
            <a:off x="548640" y="4974336"/>
            <a:ext cx="1645920" cy="457200"/>
          </a:xfrm>
          <a:prstGeom prst="rect">
            <a:avLst/>
          </a:prstGeom>
          <a:noFill/>
        </p:spPr>
        <p:txBody>
          <a:bodyPr wrap="square" lIns="0" rIns="0" tIns="0" bIns="0" anchor="t">
            <a:spAutoFit/>
          </a:bodyPr>
          <a:lstStyle/>
          <a:p>
            <a:pPr algn="l"/>
            <a:r>
              <a:rPr sz="1800" b="1" i="0">
                <a:solidFill>
                  <a:srgbClr val="1F3A5F"/>
                </a:solidFill>
                <a:latin typeface="Arial"/>
              </a:rPr>
              <a:t>Stabilité</a:t>
            </a:r>
          </a:p>
        </p:txBody>
      </p:sp>
      <p:sp>
        <p:nvSpPr>
          <p:cNvPr id="37" name="TextBox 36"/>
          <p:cNvSpPr txBox="1"/>
          <p:nvPr/>
        </p:nvSpPr>
        <p:spPr>
          <a:xfrm>
            <a:off x="2240280" y="4992624"/>
            <a:ext cx="6583680" cy="502920"/>
          </a:xfrm>
          <a:prstGeom prst="rect">
            <a:avLst/>
          </a:prstGeom>
          <a:noFill/>
        </p:spPr>
        <p:txBody>
          <a:bodyPr wrap="square" lIns="0" rIns="0" tIns="0" bIns="0" anchor="t">
            <a:spAutoFit/>
          </a:bodyPr>
          <a:lstStyle/>
          <a:p>
            <a:pPr algn="l"/>
            <a:r>
              <a:rPr sz="1600" b="0" i="0">
                <a:solidFill>
                  <a:srgbClr val="1B2530"/>
                </a:solidFill>
                <a:latin typeface="Arial"/>
              </a:rPr>
              <a:t>dérive des coins ≤ 2,5 % de la diagonale, sur 3 frames</a:t>
            </a:r>
          </a:p>
        </p:txBody>
      </p:sp>
      <p:sp>
        <p:nvSpPr>
          <p:cNvPr id="38" name="TextBox 37"/>
          <p:cNvSpPr txBox="1"/>
          <p:nvPr/>
        </p:nvSpPr>
        <p:spPr>
          <a:xfrm>
            <a:off x="548640" y="5449824"/>
            <a:ext cx="1645920" cy="457200"/>
          </a:xfrm>
          <a:prstGeom prst="rect">
            <a:avLst/>
          </a:prstGeom>
          <a:noFill/>
        </p:spPr>
        <p:txBody>
          <a:bodyPr wrap="square" lIns="0" rIns="0" tIns="0" bIns="0" anchor="t">
            <a:spAutoFit/>
          </a:bodyPr>
          <a:lstStyle/>
          <a:p>
            <a:pPr algn="l"/>
            <a:r>
              <a:rPr sz="1800" b="1" i="0">
                <a:solidFill>
                  <a:srgbClr val="1F3A5F"/>
                </a:solidFill>
                <a:latin typeface="Arial"/>
              </a:rPr>
              <a:t>Contenu</a:t>
            </a:r>
          </a:p>
        </p:txBody>
      </p:sp>
      <p:sp>
        <p:nvSpPr>
          <p:cNvPr id="39" name="TextBox 38"/>
          <p:cNvSpPr txBox="1"/>
          <p:nvPr/>
        </p:nvSpPr>
        <p:spPr>
          <a:xfrm>
            <a:off x="2240280" y="5468112"/>
            <a:ext cx="6583680" cy="502920"/>
          </a:xfrm>
          <a:prstGeom prst="rect">
            <a:avLst/>
          </a:prstGeom>
          <a:noFill/>
        </p:spPr>
        <p:txBody>
          <a:bodyPr wrap="square" lIns="0" rIns="0" tIns="0" bIns="0" anchor="t">
            <a:spAutoFit/>
          </a:bodyPr>
          <a:lstStyle/>
          <a:p>
            <a:pPr algn="l"/>
            <a:r>
              <a:rPr sz="1600" b="0" i="0">
                <a:solidFill>
                  <a:srgbClr val="1B2530"/>
                </a:solidFill>
                <a:latin typeface="Arial"/>
              </a:rPr>
              <a:t>la face attendue est reconnue (diapositive suivante)</a:t>
            </a:r>
          </a:p>
        </p:txBody>
      </p:sp>
      <p:sp>
        <p:nvSpPr>
          <p:cNvPr id="40" name="TextBox 39"/>
          <p:cNvSpPr txBox="1"/>
          <p:nvPr/>
        </p:nvSpPr>
        <p:spPr>
          <a:xfrm>
            <a:off x="548640" y="6053328"/>
            <a:ext cx="8229600" cy="274320"/>
          </a:xfrm>
          <a:prstGeom prst="rect">
            <a:avLst/>
          </a:prstGeom>
          <a:noFill/>
        </p:spPr>
        <p:txBody>
          <a:bodyPr wrap="square" lIns="0" rIns="0" tIns="0" bIns="0" anchor="t">
            <a:spAutoFit/>
          </a:bodyPr>
          <a:lstStyle/>
          <a:p>
            <a:pPr algn="l"/>
            <a:r>
              <a:rPr sz="1200" b="0" i="0">
                <a:solidFill>
                  <a:srgbClr val="5B6B7A"/>
                </a:solidFill>
                <a:latin typeface="Arial"/>
              </a:rPr>
              <a:t>Maintien : compteur de 2 frames (pas une minuterie). Carte perdue → retour à searching depuis tout état non terminal.</a:t>
            </a:r>
          </a:p>
        </p:txBody>
      </p:sp>
      <p:pic>
        <p:nvPicPr>
          <p:cNvPr id="41" name="Picture 40" descr="Écran recto réel : cadre-guide et message « Ne bougez plus… » ; données masquées"/>
          <p:cNvPicPr>
            <a:picLocks noChangeAspect="1"/>
          </p:cNvPicPr>
          <p:nvPr/>
        </p:nvPicPr>
        <p:blipFill>
          <a:blip r:embed="rId2"/>
          <a:stretch>
            <a:fillRect/>
          </a:stretch>
        </p:blipFill>
        <p:spPr>
          <a:xfrm>
            <a:off x="9372600" y="1737360"/>
            <a:ext cx="2324040" cy="4160520"/>
          </a:xfrm>
          <a:prstGeom prst="rect">
            <a:avLst/>
          </a:prstGeom>
          <a:ln w="9525">
            <a:solidFill>
              <a:srgbClr val="CBD3DB"/>
            </a:solidFill>
          </a:ln>
        </p:spPr>
      </p:pic>
      <p:sp>
        <p:nvSpPr>
          <p:cNvPr id="42" name="TextBox 41"/>
          <p:cNvSpPr txBox="1"/>
          <p:nvPr/>
        </p:nvSpPr>
        <p:spPr>
          <a:xfrm>
            <a:off x="9372600" y="5943600"/>
            <a:ext cx="2331720" cy="384048"/>
          </a:xfrm>
          <a:prstGeom prst="rect">
            <a:avLst/>
          </a:prstGeom>
          <a:noFill/>
        </p:spPr>
        <p:txBody>
          <a:bodyPr wrap="square" lIns="0" rIns="0" tIns="0" bIns="0" anchor="t">
            <a:spAutoFit/>
          </a:bodyPr>
          <a:lstStyle/>
          <a:p>
            <a:pPr algn="l"/>
            <a:r>
              <a:rPr sz="1200" b="0" i="0">
                <a:solidFill>
                  <a:srgbClr val="5B6B7A"/>
                </a:solidFill>
                <a:latin typeface="Arial"/>
              </a:rPr>
              <a:t>Écran réel : message de qualité « Ne bougez plus…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1" i="0">
                <a:solidFill>
                  <a:srgbClr val="2E75B6"/>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9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Un visage et deux gabarits identifient le recto ; trois indices votent pour le verso</a:t>
            </a:r>
          </a:p>
        </p:txBody>
      </p:sp>
      <p:pic>
        <p:nvPicPr>
          <p:cNvPr id="7" name="Picture 6" descr="Écran Recto : silhouettes de guidage de l'application ; données masquées"/>
          <p:cNvPicPr>
            <a:picLocks noChangeAspect="1"/>
          </p:cNvPicPr>
          <p:nvPr/>
        </p:nvPicPr>
        <p:blipFill>
          <a:blip r:embed="rId2"/>
          <a:stretch>
            <a:fillRect/>
          </a:stretch>
        </p:blipFill>
        <p:spPr>
          <a:xfrm>
            <a:off x="548640" y="1828800"/>
            <a:ext cx="2094190" cy="3749039"/>
          </a:xfrm>
          <a:prstGeom prst="rect">
            <a:avLst/>
          </a:prstGeom>
          <a:ln w="9525">
            <a:solidFill>
              <a:srgbClr val="CBD3DB"/>
            </a:solidFill>
          </a:ln>
        </p:spPr>
      </p:pic>
      <p:sp>
        <p:nvSpPr>
          <p:cNvPr id="8" name="TextBox 7"/>
          <p:cNvSpPr txBox="1"/>
          <p:nvPr/>
        </p:nvSpPr>
        <p:spPr>
          <a:xfrm>
            <a:off x="2917150" y="1828800"/>
            <a:ext cx="3026449" cy="320040"/>
          </a:xfrm>
          <a:prstGeom prst="rect">
            <a:avLst/>
          </a:prstGeom>
          <a:noFill/>
        </p:spPr>
        <p:txBody>
          <a:bodyPr wrap="square" lIns="0" rIns="0" tIns="0" bIns="0" anchor="t">
            <a:spAutoFit/>
          </a:bodyPr>
          <a:lstStyle/>
          <a:p>
            <a:pPr algn="l"/>
            <a:r>
              <a:rPr sz="1300" b="1" i="0">
                <a:solidFill>
                  <a:srgbClr val="2E75B6"/>
                </a:solidFill>
                <a:latin typeface="Arial"/>
              </a:rPr>
              <a:t>RECTO</a:t>
            </a:r>
          </a:p>
        </p:txBody>
      </p:sp>
      <p:sp>
        <p:nvSpPr>
          <p:cNvPr id="9" name="TextBox 8"/>
          <p:cNvSpPr txBox="1"/>
          <p:nvPr/>
        </p:nvSpPr>
        <p:spPr>
          <a:xfrm>
            <a:off x="2917150" y="2240280"/>
            <a:ext cx="2935009" cy="3291840"/>
          </a:xfrm>
          <a:prstGeom prst="rect">
            <a:avLst/>
          </a:prstGeom>
          <a:noFill/>
        </p:spPr>
        <p:txBody>
          <a:bodyPr wrap="square" lIns="0" rIns="0" tIns="0" bIns="0" anchor="t">
            <a:spAutoFit/>
          </a:bodyPr>
          <a:lstStyle/>
          <a:p>
            <a:pPr algn="l">
              <a:spcAft>
                <a:spcPts val="1000"/>
              </a:spcAft>
            </a:pPr>
            <a:r>
              <a:rPr sz="1600" b="1" i="0">
                <a:solidFill>
                  <a:srgbClr val="1F3A5F"/>
                </a:solidFill>
                <a:latin typeface="Arial"/>
              </a:rPr>
              <a:t>Visage : </a:t>
            </a:r>
            <a:r>
              <a:rPr sz="1600" b="0" i="0">
                <a:solidFill>
                  <a:srgbClr val="1B2530"/>
                </a:solidFill>
                <a:latin typeface="Arial"/>
              </a:rPr>
              <a:t>cascade de Haar standard d'OpenCV, pré-entraînée (non entraînée sur la CIN), testée sur 4 rotations : elle donne aussi l'orientation.</a:t>
            </a:r>
          </a:p>
          <a:p>
            <a:pPr algn="l">
              <a:spcAft>
                <a:spcPts val="1000"/>
              </a:spcAft>
            </a:pPr>
            <a:r>
              <a:rPr sz="1600" b="1" i="0">
                <a:solidFill>
                  <a:srgbClr val="1F3A5F"/>
                </a:solidFill>
                <a:latin typeface="Arial"/>
              </a:rPr>
              <a:t>Logo + drapeau : </a:t>
            </a:r>
            <a:r>
              <a:rPr sz="1600" b="0" i="0">
                <a:solidFill>
                  <a:srgbClr val="1B2530"/>
                </a:solidFill>
                <a:latin typeface="Arial"/>
              </a:rPr>
              <a:t>template matching, corrélation ≥ 0,6, CLAHE sur gabarit et région.</a:t>
            </a:r>
          </a:p>
        </p:txBody>
      </p:sp>
      <p:pic>
        <p:nvPicPr>
          <p:cNvPr id="10" name="Picture 9" descr="Écran Verso : silhouettes de guidage de l'application ; données masquées"/>
          <p:cNvPicPr>
            <a:picLocks noChangeAspect="1"/>
          </p:cNvPicPr>
          <p:nvPr/>
        </p:nvPicPr>
        <p:blipFill>
          <a:blip r:embed="rId3"/>
          <a:stretch>
            <a:fillRect/>
          </a:stretch>
        </p:blipFill>
        <p:spPr>
          <a:xfrm>
            <a:off x="6217920" y="1828800"/>
            <a:ext cx="2094190" cy="3749039"/>
          </a:xfrm>
          <a:prstGeom prst="rect">
            <a:avLst/>
          </a:prstGeom>
          <a:ln w="9525">
            <a:solidFill>
              <a:srgbClr val="CBD3DB"/>
            </a:solidFill>
          </a:ln>
        </p:spPr>
      </p:pic>
      <p:sp>
        <p:nvSpPr>
          <p:cNvPr id="11" name="TextBox 10"/>
          <p:cNvSpPr txBox="1"/>
          <p:nvPr/>
        </p:nvSpPr>
        <p:spPr>
          <a:xfrm>
            <a:off x="8586430" y="1828800"/>
            <a:ext cx="3026449" cy="320040"/>
          </a:xfrm>
          <a:prstGeom prst="rect">
            <a:avLst/>
          </a:prstGeom>
          <a:noFill/>
        </p:spPr>
        <p:txBody>
          <a:bodyPr wrap="square" lIns="0" rIns="0" tIns="0" bIns="0" anchor="t">
            <a:spAutoFit/>
          </a:bodyPr>
          <a:lstStyle/>
          <a:p>
            <a:pPr algn="l"/>
            <a:r>
              <a:rPr sz="1300" b="1" i="0">
                <a:solidFill>
                  <a:srgbClr val="2E75B6"/>
                </a:solidFill>
                <a:latin typeface="Arial"/>
              </a:rPr>
              <a:t>VERSO</a:t>
            </a:r>
          </a:p>
        </p:txBody>
      </p:sp>
      <p:sp>
        <p:nvSpPr>
          <p:cNvPr id="12" name="TextBox 11"/>
          <p:cNvSpPr txBox="1"/>
          <p:nvPr/>
        </p:nvSpPr>
        <p:spPr>
          <a:xfrm>
            <a:off x="8586430" y="2240280"/>
            <a:ext cx="2935009" cy="3291840"/>
          </a:xfrm>
          <a:prstGeom prst="rect">
            <a:avLst/>
          </a:prstGeom>
          <a:noFill/>
        </p:spPr>
        <p:txBody>
          <a:bodyPr wrap="square" lIns="0" rIns="0" tIns="0" bIns="0" anchor="t">
            <a:spAutoFit/>
          </a:bodyPr>
          <a:lstStyle/>
          <a:p>
            <a:pPr algn="l">
              <a:spcAft>
                <a:spcPts val="1000"/>
              </a:spcAft>
            </a:pPr>
            <a:r>
              <a:rPr sz="1600" b="1" i="0">
                <a:solidFill>
                  <a:srgbClr val="1F3A5F"/>
                </a:solidFill>
                <a:latin typeface="Arial"/>
              </a:rPr>
              <a:t>Code-barres : </a:t>
            </a:r>
            <a:r>
              <a:rPr sz="1600" b="0" i="0">
                <a:solidFill>
                  <a:srgbClr val="1B2530"/>
                </a:solidFill>
                <a:latin typeface="Arial"/>
              </a:rPr>
              <a:t>localisé, non décodé.</a:t>
            </a:r>
          </a:p>
          <a:p>
            <a:pPr algn="l">
              <a:spcAft>
                <a:spcPts val="1000"/>
              </a:spcAft>
            </a:pPr>
            <a:r>
              <a:rPr sz="1600" b="1" i="0">
                <a:solidFill>
                  <a:srgbClr val="1F3A5F"/>
                </a:solidFill>
                <a:latin typeface="Arial"/>
              </a:rPr>
              <a:t>Empreinte : </a:t>
            </a:r>
            <a:r>
              <a:rPr sz="1600" b="0" i="0">
                <a:solidFill>
                  <a:srgbClr val="1B2530"/>
                </a:solidFill>
                <a:latin typeface="Arial"/>
              </a:rPr>
              <a:t>variance du Laplacien dans [150 ; 4 000].</a:t>
            </a:r>
          </a:p>
          <a:p>
            <a:pPr algn="l">
              <a:spcAft>
                <a:spcPts val="1000"/>
              </a:spcAft>
            </a:pPr>
            <a:r>
              <a:rPr sz="1600" b="1" i="0">
                <a:solidFill>
                  <a:srgbClr val="1F3A5F"/>
                </a:solidFill>
                <a:latin typeface="Arial"/>
              </a:rPr>
              <a:t>Ligne de séparation : </a:t>
            </a:r>
            <a:r>
              <a:rPr sz="1600" b="0" i="0">
                <a:solidFill>
                  <a:srgbClr val="1B2530"/>
                </a:solidFill>
                <a:latin typeface="Arial"/>
              </a:rPr>
              <a:t>Hough probabiliste, bas de la carte.</a:t>
            </a:r>
          </a:p>
          <a:p>
            <a:pPr algn="l">
              <a:spcAft>
                <a:spcPts val="1000"/>
              </a:spcAft>
            </a:pPr>
            <a:r>
              <a:rPr sz="1600" b="1" i="0">
                <a:solidFill>
                  <a:srgbClr val="1F3A5F"/>
                </a:solidFill>
                <a:latin typeface="Arial"/>
              </a:rPr>
              <a:t>Vote </a:t>
            </a:r>
            <a:r>
              <a:rPr sz="1600" b="0" i="0">
                <a:solidFill>
                  <a:srgbClr val="1B2530"/>
                </a:solidFill>
                <a:latin typeface="Arial"/>
              </a:rPr>
              <a:t>sur 4 rotations : la mieux soutenue gagne.</a:t>
            </a:r>
          </a:p>
        </p:txBody>
      </p:sp>
      <p:pic>
        <p:nvPicPr>
          <p:cNvPr id="13" name="Picture 12" descr="Gabarit de référence : logo"/>
          <p:cNvPicPr>
            <a:picLocks noChangeAspect="1"/>
          </p:cNvPicPr>
          <p:nvPr/>
        </p:nvPicPr>
        <p:blipFill>
          <a:blip r:embed="rId4"/>
          <a:stretch>
            <a:fillRect/>
          </a:stretch>
        </p:blipFill>
        <p:spPr>
          <a:xfrm>
            <a:off x="2917150" y="4800600"/>
            <a:ext cx="483177" cy="685800"/>
          </a:xfrm>
          <a:prstGeom prst="rect">
            <a:avLst/>
          </a:prstGeom>
          <a:ln w="9525">
            <a:solidFill>
              <a:srgbClr val="CBD3DB"/>
            </a:solidFill>
          </a:ln>
        </p:spPr>
      </p:pic>
      <p:pic>
        <p:nvPicPr>
          <p:cNvPr id="14" name="Picture 13" descr="Gabarit de référence : drapeau"/>
          <p:cNvPicPr>
            <a:picLocks noChangeAspect="1"/>
          </p:cNvPicPr>
          <p:nvPr/>
        </p:nvPicPr>
        <p:blipFill>
          <a:blip r:embed="rId5"/>
          <a:stretch>
            <a:fillRect/>
          </a:stretch>
        </p:blipFill>
        <p:spPr>
          <a:xfrm>
            <a:off x="3602950" y="4800600"/>
            <a:ext cx="779526" cy="502920"/>
          </a:xfrm>
          <a:prstGeom prst="rect">
            <a:avLst/>
          </a:prstGeom>
          <a:ln w="9525">
            <a:solidFill>
              <a:srgbClr val="CBD3DB"/>
            </a:solidFill>
          </a:ln>
        </p:spPr>
      </p:pic>
      <p:sp>
        <p:nvSpPr>
          <p:cNvPr id="15" name="TextBox 14"/>
          <p:cNvSpPr txBox="1"/>
          <p:nvPr/>
        </p:nvSpPr>
        <p:spPr>
          <a:xfrm>
            <a:off x="4517350" y="4800600"/>
            <a:ext cx="1828800" cy="685800"/>
          </a:xfrm>
          <a:prstGeom prst="rect">
            <a:avLst/>
          </a:prstGeom>
          <a:noFill/>
        </p:spPr>
        <p:txBody>
          <a:bodyPr wrap="square" lIns="0" rIns="0" tIns="0" bIns="0" anchor="ctr">
            <a:spAutoFit/>
          </a:bodyPr>
          <a:lstStyle/>
          <a:p>
            <a:pPr algn="l"/>
            <a:r>
              <a:rPr sz="1200" b="0" i="0">
                <a:solidFill>
                  <a:srgbClr val="5B6B7A"/>
                </a:solidFill>
                <a:latin typeface="Arial"/>
              </a:rPr>
              <a:t>gabarits de référence embarqués</a:t>
            </a:r>
          </a:p>
        </p:txBody>
      </p:sp>
      <p:sp>
        <p:nvSpPr>
          <p:cNvPr id="16" name="Rectangle 15"/>
          <p:cNvSpPr/>
          <p:nvPr/>
        </p:nvSpPr>
        <p:spPr>
          <a:xfrm>
            <a:off x="548640" y="5715000"/>
            <a:ext cx="11094415" cy="457200"/>
          </a:xfrm>
          <a:prstGeom prst="rect">
            <a:avLst/>
          </a:prstGeom>
          <a:solidFill>
            <a:srgbClr val="EEF2F6"/>
          </a:solidFill>
          <a:ln>
            <a:noFill/>
          </a:ln>
        </p:spPr>
        <p:txBody>
          <a:bodyPr rtlCol="0" anchor="ctr"/>
          <a:lstStyle/>
          <a:p/>
        </p:txBody>
      </p:sp>
      <p:sp>
        <p:nvSpPr>
          <p:cNvPr id="17" name="TextBox 16"/>
          <p:cNvSpPr txBox="1"/>
          <p:nvPr/>
        </p:nvSpPr>
        <p:spPr>
          <a:xfrm>
            <a:off x="777240" y="5715000"/>
            <a:ext cx="10637215" cy="457200"/>
          </a:xfrm>
          <a:prstGeom prst="rect">
            <a:avLst/>
          </a:prstGeom>
          <a:noFill/>
        </p:spPr>
        <p:txBody>
          <a:bodyPr wrap="square" lIns="0" rIns="0" tIns="0" bIns="0" anchor="ctr">
            <a:spAutoFit/>
          </a:bodyPr>
          <a:lstStyle/>
          <a:p>
            <a:pPr algn="l"/>
            <a:r>
              <a:rPr sz="1600" b="1" i="0">
                <a:solidFill>
                  <a:srgbClr val="1F3A5F"/>
                </a:solidFill>
                <a:latin typeface="Arial"/>
              </a:rPr>
              <a:t>Anti-doublon : </a:t>
            </a:r>
            <a:r>
              <a:rPr sz="1600" b="0" i="0">
                <a:solidFill>
                  <a:srgbClr val="1B2530"/>
                </a:solidFill>
                <a:latin typeface="Arial"/>
              </a:rPr>
              <a:t>après le recto, seule une face qui réunit les trois indices du verso peut déclencher la capture.</a:t>
            </a:r>
          </a:p>
        </p:txBody>
      </p:sp>
      <p:sp>
        <p:nvSpPr>
          <p:cNvPr id="18" name="TextBox 17"/>
          <p:cNvSpPr txBox="1"/>
          <p:nvPr/>
        </p:nvSpPr>
        <p:spPr>
          <a:xfrm>
            <a:off x="548640" y="6199632"/>
            <a:ext cx="7315200" cy="182880"/>
          </a:xfrm>
          <a:prstGeom prst="rect">
            <a:avLst/>
          </a:prstGeom>
          <a:noFill/>
        </p:spPr>
        <p:txBody>
          <a:bodyPr wrap="square" lIns="0" rIns="0" tIns="0" bIns="0" anchor="t">
            <a:spAutoFit/>
          </a:bodyPr>
          <a:lstStyle/>
          <a:p>
            <a:pPr algn="l"/>
            <a:r>
              <a:rPr sz="400" b="0" i="0">
                <a:solidFill>
                  <a:srgbClr val="1B2530"/>
                </a:solidFill>
                <a:latin typeface="Arial"/>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1" i="0">
                <a:solidFill>
                  <a:srgbClr val="2E75B6"/>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10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Après les deux captures, l'utilisateur vérifie, ajuste et exporte chaque face</a:t>
            </a:r>
          </a:p>
        </p:txBody>
      </p:sp>
      <p:sp>
        <p:nvSpPr>
          <p:cNvPr id="7" name="TextBox 6"/>
          <p:cNvSpPr txBox="1"/>
          <p:nvPr/>
        </p:nvSpPr>
        <p:spPr>
          <a:xfrm>
            <a:off x="548640" y="1874519"/>
            <a:ext cx="411480" cy="457200"/>
          </a:xfrm>
          <a:prstGeom prst="rect">
            <a:avLst/>
          </a:prstGeom>
          <a:noFill/>
        </p:spPr>
        <p:txBody>
          <a:bodyPr wrap="square" lIns="0" rIns="0" tIns="0" bIns="0" anchor="t">
            <a:spAutoFit/>
          </a:bodyPr>
          <a:lstStyle/>
          <a:p>
            <a:pPr algn="l"/>
            <a:r>
              <a:rPr sz="2200" b="1" i="0">
                <a:solidFill>
                  <a:srgbClr val="2E75B6"/>
                </a:solidFill>
                <a:latin typeface="Arial"/>
              </a:rPr>
              <a:t>1</a:t>
            </a:r>
          </a:p>
        </p:txBody>
      </p:sp>
      <p:sp>
        <p:nvSpPr>
          <p:cNvPr id="8" name="TextBox 7"/>
          <p:cNvSpPr txBox="1"/>
          <p:nvPr/>
        </p:nvSpPr>
        <p:spPr>
          <a:xfrm>
            <a:off x="1005840" y="1874519"/>
            <a:ext cx="3749039" cy="731520"/>
          </a:xfrm>
          <a:prstGeom prst="rect">
            <a:avLst/>
          </a:prstGeom>
          <a:noFill/>
        </p:spPr>
        <p:txBody>
          <a:bodyPr wrap="square" lIns="0" rIns="0" tIns="0" bIns="0" anchor="t">
            <a:spAutoFit/>
          </a:bodyPr>
          <a:lstStyle/>
          <a:p>
            <a:pPr algn="l"/>
            <a:r>
              <a:rPr sz="1600" b="1" i="0">
                <a:solidFill>
                  <a:srgbClr val="1F3A5F"/>
                </a:solidFill>
                <a:latin typeface="Arial"/>
              </a:rPr>
              <a:t>Recto, puis verso</a:t>
            </a:r>
          </a:p>
          <a:p>
            <a:pPr algn="l"/>
            <a:r>
              <a:rPr sz="1600" b="0" i="0">
                <a:solidFill>
                  <a:srgbClr val="1B2530"/>
                </a:solidFill>
                <a:latin typeface="Arial"/>
              </a:rPr>
              <a:t>capturés seuls, dans l'ordre</a:t>
            </a:r>
          </a:p>
        </p:txBody>
      </p:sp>
      <p:sp>
        <p:nvSpPr>
          <p:cNvPr id="9" name="TextBox 8"/>
          <p:cNvSpPr txBox="1"/>
          <p:nvPr/>
        </p:nvSpPr>
        <p:spPr>
          <a:xfrm>
            <a:off x="548640" y="2660903"/>
            <a:ext cx="411480" cy="457200"/>
          </a:xfrm>
          <a:prstGeom prst="rect">
            <a:avLst/>
          </a:prstGeom>
          <a:noFill/>
        </p:spPr>
        <p:txBody>
          <a:bodyPr wrap="square" lIns="0" rIns="0" tIns="0" bIns="0" anchor="t">
            <a:spAutoFit/>
          </a:bodyPr>
          <a:lstStyle/>
          <a:p>
            <a:pPr algn="l"/>
            <a:r>
              <a:rPr sz="2200" b="1" i="0">
                <a:solidFill>
                  <a:srgbClr val="2E75B6"/>
                </a:solidFill>
                <a:latin typeface="Arial"/>
              </a:rPr>
              <a:t>2</a:t>
            </a:r>
          </a:p>
        </p:txBody>
      </p:sp>
      <p:sp>
        <p:nvSpPr>
          <p:cNvPr id="10" name="TextBox 9"/>
          <p:cNvSpPr txBox="1"/>
          <p:nvPr/>
        </p:nvSpPr>
        <p:spPr>
          <a:xfrm>
            <a:off x="1005840" y="2660903"/>
            <a:ext cx="3749039" cy="731520"/>
          </a:xfrm>
          <a:prstGeom prst="rect">
            <a:avLst/>
          </a:prstGeom>
          <a:noFill/>
        </p:spPr>
        <p:txBody>
          <a:bodyPr wrap="square" lIns="0" rIns="0" tIns="0" bIns="0" anchor="t">
            <a:spAutoFit/>
          </a:bodyPr>
          <a:lstStyle/>
          <a:p>
            <a:pPr algn="l"/>
            <a:r>
              <a:rPr sz="1600" b="1" i="0">
                <a:solidFill>
                  <a:srgbClr val="1F3A5F"/>
                </a:solidFill>
                <a:latin typeface="Arial"/>
              </a:rPr>
              <a:t>Vérification</a:t>
            </a:r>
          </a:p>
          <a:p>
            <a:pPr algn="l"/>
            <a:r>
              <a:rPr sz="1600" b="0" i="0">
                <a:solidFill>
                  <a:srgbClr val="1B2530"/>
                </a:solidFill>
                <a:latin typeface="Arial"/>
              </a:rPr>
              <a:t>contraste, netteté, mode scan (N&amp;B)</a:t>
            </a:r>
          </a:p>
        </p:txBody>
      </p:sp>
      <p:sp>
        <p:nvSpPr>
          <p:cNvPr id="11" name="TextBox 10"/>
          <p:cNvSpPr txBox="1"/>
          <p:nvPr/>
        </p:nvSpPr>
        <p:spPr>
          <a:xfrm>
            <a:off x="548640" y="3447287"/>
            <a:ext cx="411480" cy="457200"/>
          </a:xfrm>
          <a:prstGeom prst="rect">
            <a:avLst/>
          </a:prstGeom>
          <a:noFill/>
        </p:spPr>
        <p:txBody>
          <a:bodyPr wrap="square" lIns="0" rIns="0" tIns="0" bIns="0" anchor="t">
            <a:spAutoFit/>
          </a:bodyPr>
          <a:lstStyle/>
          <a:p>
            <a:pPr algn="l"/>
            <a:r>
              <a:rPr sz="2200" b="1" i="0">
                <a:solidFill>
                  <a:srgbClr val="2E75B6"/>
                </a:solidFill>
                <a:latin typeface="Arial"/>
              </a:rPr>
              <a:t>3</a:t>
            </a:r>
          </a:p>
        </p:txBody>
      </p:sp>
      <p:sp>
        <p:nvSpPr>
          <p:cNvPr id="12" name="TextBox 11"/>
          <p:cNvSpPr txBox="1"/>
          <p:nvPr/>
        </p:nvSpPr>
        <p:spPr>
          <a:xfrm>
            <a:off x="1005840" y="3447287"/>
            <a:ext cx="3749039" cy="731520"/>
          </a:xfrm>
          <a:prstGeom prst="rect">
            <a:avLst/>
          </a:prstGeom>
          <a:noFill/>
        </p:spPr>
        <p:txBody>
          <a:bodyPr wrap="square" lIns="0" rIns="0" tIns="0" bIns="0" anchor="t">
            <a:spAutoFit/>
          </a:bodyPr>
          <a:lstStyle/>
          <a:p>
            <a:pPr algn="l"/>
            <a:r>
              <a:rPr sz="1600" b="1" i="0">
                <a:solidFill>
                  <a:srgbClr val="1F3A5F"/>
                </a:solidFill>
                <a:latin typeface="Arial"/>
              </a:rPr>
              <a:t>Ajustement</a:t>
            </a:r>
          </a:p>
          <a:p>
            <a:pPr algn="l"/>
            <a:r>
              <a:rPr sz="1600" b="0" i="0">
                <a:solidFill>
                  <a:srgbClr val="1B2530"/>
                </a:solidFill>
                <a:latin typeface="Arial"/>
              </a:rPr>
              <a:t>recadrage par les coins, rotation de 90°</a:t>
            </a:r>
          </a:p>
        </p:txBody>
      </p:sp>
      <p:sp>
        <p:nvSpPr>
          <p:cNvPr id="13" name="TextBox 12"/>
          <p:cNvSpPr txBox="1"/>
          <p:nvPr/>
        </p:nvSpPr>
        <p:spPr>
          <a:xfrm>
            <a:off x="548640" y="4233672"/>
            <a:ext cx="411480" cy="457200"/>
          </a:xfrm>
          <a:prstGeom prst="rect">
            <a:avLst/>
          </a:prstGeom>
          <a:noFill/>
        </p:spPr>
        <p:txBody>
          <a:bodyPr wrap="square" lIns="0" rIns="0" tIns="0" bIns="0" anchor="t">
            <a:spAutoFit/>
          </a:bodyPr>
          <a:lstStyle/>
          <a:p>
            <a:pPr algn="l"/>
            <a:r>
              <a:rPr sz="2200" b="1" i="0">
                <a:solidFill>
                  <a:srgbClr val="2E75B6"/>
                </a:solidFill>
                <a:latin typeface="Arial"/>
              </a:rPr>
              <a:t>4</a:t>
            </a:r>
          </a:p>
        </p:txBody>
      </p:sp>
      <p:sp>
        <p:nvSpPr>
          <p:cNvPr id="14" name="TextBox 13"/>
          <p:cNvSpPr txBox="1"/>
          <p:nvPr/>
        </p:nvSpPr>
        <p:spPr>
          <a:xfrm>
            <a:off x="1005840" y="4233672"/>
            <a:ext cx="3749039" cy="731520"/>
          </a:xfrm>
          <a:prstGeom prst="rect">
            <a:avLst/>
          </a:prstGeom>
          <a:noFill/>
        </p:spPr>
        <p:txBody>
          <a:bodyPr wrap="square" lIns="0" rIns="0" tIns="0" bIns="0" anchor="t">
            <a:spAutoFit/>
          </a:bodyPr>
          <a:lstStyle/>
          <a:p>
            <a:pPr algn="l"/>
            <a:r>
              <a:rPr sz="1600" b="1" i="0">
                <a:solidFill>
                  <a:srgbClr val="1F3A5F"/>
                </a:solidFill>
                <a:latin typeface="Arial"/>
              </a:rPr>
              <a:t>Export</a:t>
            </a:r>
          </a:p>
          <a:p>
            <a:pPr algn="l"/>
            <a:r>
              <a:rPr sz="1600" b="0" i="0">
                <a:solidFill>
                  <a:srgbClr val="1B2530"/>
                </a:solidFill>
                <a:latin typeface="Arial"/>
              </a:rPr>
              <a:t>galerie : recto, verso, page A4</a:t>
            </a:r>
          </a:p>
        </p:txBody>
      </p:sp>
      <p:sp>
        <p:nvSpPr>
          <p:cNvPr id="15" name="TextBox 14"/>
          <p:cNvSpPr txBox="1"/>
          <p:nvPr/>
        </p:nvSpPr>
        <p:spPr>
          <a:xfrm>
            <a:off x="548640" y="5020056"/>
            <a:ext cx="411480" cy="457200"/>
          </a:xfrm>
          <a:prstGeom prst="rect">
            <a:avLst/>
          </a:prstGeom>
          <a:noFill/>
        </p:spPr>
        <p:txBody>
          <a:bodyPr wrap="square" lIns="0" rIns="0" tIns="0" bIns="0" anchor="t">
            <a:spAutoFit/>
          </a:bodyPr>
          <a:lstStyle/>
          <a:p>
            <a:pPr algn="l"/>
            <a:r>
              <a:rPr sz="2200" b="1" i="0">
                <a:solidFill>
                  <a:srgbClr val="2E75B6"/>
                </a:solidFill>
                <a:latin typeface="Arial"/>
              </a:rPr>
              <a:t>5</a:t>
            </a:r>
          </a:p>
        </p:txBody>
      </p:sp>
      <p:sp>
        <p:nvSpPr>
          <p:cNvPr id="16" name="TextBox 15"/>
          <p:cNvSpPr txBox="1"/>
          <p:nvPr/>
        </p:nvSpPr>
        <p:spPr>
          <a:xfrm>
            <a:off x="1005840" y="5020056"/>
            <a:ext cx="3749039" cy="731520"/>
          </a:xfrm>
          <a:prstGeom prst="rect">
            <a:avLst/>
          </a:prstGeom>
          <a:noFill/>
        </p:spPr>
        <p:txBody>
          <a:bodyPr wrap="square" lIns="0" rIns="0" tIns="0" bIns="0" anchor="t">
            <a:spAutoFit/>
          </a:bodyPr>
          <a:lstStyle/>
          <a:p>
            <a:pPr algn="l"/>
            <a:r>
              <a:rPr sz="1600" b="1" i="0">
                <a:solidFill>
                  <a:srgbClr val="1F3A5F"/>
                </a:solidFill>
                <a:latin typeface="Arial"/>
              </a:rPr>
              <a:t>Historique</a:t>
            </a:r>
          </a:p>
          <a:p>
            <a:pPr algn="l"/>
            <a:r>
              <a:rPr sz="1600" b="0" i="0">
                <a:solidFill>
                  <a:srgbClr val="1B2530"/>
                </a:solidFill>
                <a:latin typeface="Arial"/>
              </a:rPr>
              <a:t>consultation, partage, suppression</a:t>
            </a:r>
          </a:p>
        </p:txBody>
      </p:sp>
      <p:pic>
        <p:nvPicPr>
          <p:cNvPr id="17" name="Picture 16" descr="Vérification, amélioration ; données masquées"/>
          <p:cNvPicPr>
            <a:picLocks noChangeAspect="1"/>
          </p:cNvPicPr>
          <p:nvPr/>
        </p:nvPicPr>
        <p:blipFill>
          <a:blip r:embed="rId2"/>
          <a:stretch>
            <a:fillRect/>
          </a:stretch>
        </p:blipFill>
        <p:spPr>
          <a:xfrm>
            <a:off x="4892040" y="1783080"/>
            <a:ext cx="1840159" cy="4114800"/>
          </a:xfrm>
          <a:prstGeom prst="rect">
            <a:avLst/>
          </a:prstGeom>
          <a:ln w="9525">
            <a:solidFill>
              <a:srgbClr val="CBD3DB"/>
            </a:solidFill>
          </a:ln>
        </p:spPr>
      </p:pic>
      <p:sp>
        <p:nvSpPr>
          <p:cNvPr id="18" name="TextBox 17"/>
          <p:cNvSpPr txBox="1"/>
          <p:nvPr/>
        </p:nvSpPr>
        <p:spPr>
          <a:xfrm>
            <a:off x="4892040" y="5971032"/>
            <a:ext cx="2114479" cy="274320"/>
          </a:xfrm>
          <a:prstGeom prst="rect">
            <a:avLst/>
          </a:prstGeom>
          <a:noFill/>
        </p:spPr>
        <p:txBody>
          <a:bodyPr wrap="square" lIns="0" rIns="0" tIns="0" bIns="0" anchor="t">
            <a:spAutoFit/>
          </a:bodyPr>
          <a:lstStyle/>
          <a:p>
            <a:pPr algn="l"/>
            <a:r>
              <a:rPr sz="1200" b="0" i="0">
                <a:solidFill>
                  <a:srgbClr val="5B6B7A"/>
                </a:solidFill>
                <a:latin typeface="Arial"/>
              </a:rPr>
              <a:t>Vérification, amélioration</a:t>
            </a:r>
          </a:p>
        </p:txBody>
      </p:sp>
      <p:pic>
        <p:nvPicPr>
          <p:cNvPr id="19" name="Picture 18" descr="Recadrage du verso ; données masquées"/>
          <p:cNvPicPr>
            <a:picLocks noChangeAspect="1"/>
          </p:cNvPicPr>
          <p:nvPr/>
        </p:nvPicPr>
        <p:blipFill>
          <a:blip r:embed="rId3"/>
          <a:stretch>
            <a:fillRect/>
          </a:stretch>
        </p:blipFill>
        <p:spPr>
          <a:xfrm>
            <a:off x="7116247" y="1783080"/>
            <a:ext cx="1840159" cy="4114800"/>
          </a:xfrm>
          <a:prstGeom prst="rect">
            <a:avLst/>
          </a:prstGeom>
          <a:ln w="9525">
            <a:solidFill>
              <a:srgbClr val="CBD3DB"/>
            </a:solidFill>
          </a:ln>
        </p:spPr>
      </p:pic>
      <p:sp>
        <p:nvSpPr>
          <p:cNvPr id="20" name="TextBox 19"/>
          <p:cNvSpPr txBox="1"/>
          <p:nvPr/>
        </p:nvSpPr>
        <p:spPr>
          <a:xfrm>
            <a:off x="7116247" y="5971032"/>
            <a:ext cx="2114479" cy="274320"/>
          </a:xfrm>
          <a:prstGeom prst="rect">
            <a:avLst/>
          </a:prstGeom>
          <a:noFill/>
        </p:spPr>
        <p:txBody>
          <a:bodyPr wrap="square" lIns="0" rIns="0" tIns="0" bIns="0" anchor="t">
            <a:spAutoFit/>
          </a:bodyPr>
          <a:lstStyle/>
          <a:p>
            <a:pPr algn="l"/>
            <a:r>
              <a:rPr sz="1200" b="0" i="0">
                <a:solidFill>
                  <a:srgbClr val="5B6B7A"/>
                </a:solidFill>
                <a:latin typeface="Arial"/>
              </a:rPr>
              <a:t>Recadrage du verso</a:t>
            </a:r>
          </a:p>
        </p:txBody>
      </p:sp>
      <p:pic>
        <p:nvPicPr>
          <p:cNvPr id="21" name="Picture 20" descr="Page A4 à 300 dpi ; données masquées"/>
          <p:cNvPicPr>
            <a:picLocks noChangeAspect="1"/>
          </p:cNvPicPr>
          <p:nvPr/>
        </p:nvPicPr>
        <p:blipFill>
          <a:blip r:embed="rId4"/>
          <a:stretch>
            <a:fillRect/>
          </a:stretch>
        </p:blipFill>
        <p:spPr>
          <a:xfrm>
            <a:off x="9340454" y="1783080"/>
            <a:ext cx="1838801" cy="4114800"/>
          </a:xfrm>
          <a:prstGeom prst="rect">
            <a:avLst/>
          </a:prstGeom>
          <a:ln w="9525">
            <a:solidFill>
              <a:srgbClr val="CBD3DB"/>
            </a:solidFill>
          </a:ln>
        </p:spPr>
      </p:pic>
      <p:sp>
        <p:nvSpPr>
          <p:cNvPr id="22" name="TextBox 21"/>
          <p:cNvSpPr txBox="1"/>
          <p:nvPr/>
        </p:nvSpPr>
        <p:spPr>
          <a:xfrm>
            <a:off x="9340454" y="5971032"/>
            <a:ext cx="2113121" cy="274320"/>
          </a:xfrm>
          <a:prstGeom prst="rect">
            <a:avLst/>
          </a:prstGeom>
          <a:noFill/>
        </p:spPr>
        <p:txBody>
          <a:bodyPr wrap="square" lIns="0" rIns="0" tIns="0" bIns="0" anchor="t">
            <a:spAutoFit/>
          </a:bodyPr>
          <a:lstStyle/>
          <a:p>
            <a:pPr algn="l"/>
            <a:r>
              <a:rPr sz="1200" b="0" i="0">
                <a:solidFill>
                  <a:srgbClr val="5B6B7A"/>
                </a:solidFill>
                <a:latin typeface="Arial"/>
              </a:rPr>
              <a:t>Page A4 à 300 dpi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1" i="0">
                <a:solidFill>
                  <a:srgbClr val="2E75B6"/>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11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177 cas de test passent, sur 21 des 28 fichiers ; les cartes réelles restent testées à la main</a:t>
            </a:r>
          </a:p>
        </p:txBody>
      </p:sp>
      <p:sp>
        <p:nvSpPr>
          <p:cNvPr id="7" name="TextBox 6"/>
          <p:cNvSpPr txBox="1"/>
          <p:nvPr/>
        </p:nvSpPr>
        <p:spPr>
          <a:xfrm>
            <a:off x="548640" y="1920240"/>
            <a:ext cx="4206240" cy="914400"/>
          </a:xfrm>
          <a:prstGeom prst="rect">
            <a:avLst/>
          </a:prstGeom>
          <a:noFill/>
        </p:spPr>
        <p:txBody>
          <a:bodyPr wrap="square" lIns="0" rIns="0" tIns="0" bIns="0" anchor="t">
            <a:spAutoFit/>
          </a:bodyPr>
          <a:lstStyle/>
          <a:p>
            <a:pPr algn="l"/>
            <a:r>
              <a:rPr sz="6000" b="1" i="0">
                <a:solidFill>
                  <a:srgbClr val="1F3A5F"/>
                </a:solidFill>
                <a:latin typeface="Arial"/>
              </a:rPr>
              <a:t>177 / 177</a:t>
            </a:r>
          </a:p>
        </p:txBody>
      </p:sp>
      <p:sp>
        <p:nvSpPr>
          <p:cNvPr id="8" name="TextBox 7"/>
          <p:cNvSpPr txBox="1"/>
          <p:nvPr/>
        </p:nvSpPr>
        <p:spPr>
          <a:xfrm>
            <a:off x="548640" y="2926080"/>
            <a:ext cx="4206240" cy="640080"/>
          </a:xfrm>
          <a:prstGeom prst="rect">
            <a:avLst/>
          </a:prstGeom>
          <a:noFill/>
        </p:spPr>
        <p:txBody>
          <a:bodyPr wrap="square" lIns="0" rIns="0" tIns="0" bIns="0" anchor="t">
            <a:spAutoFit/>
          </a:bodyPr>
          <a:lstStyle/>
          <a:p>
            <a:pPr algn="l"/>
            <a:r>
              <a:rPr sz="1600" b="0" i="0">
                <a:solidFill>
                  <a:srgbClr val="5B6B7A"/>
                </a:solidFill>
                <a:latin typeface="Arial"/>
              </a:rPr>
              <a:t>cas exécutés, 0 échec</a:t>
            </a:r>
          </a:p>
          <a:p>
            <a:pPr algn="l"/>
            <a:r>
              <a:rPr sz="1600" b="0" i="0">
                <a:solidFill>
                  <a:srgbClr val="5B6B7A"/>
                </a:solidFill>
                <a:latin typeface="Arial"/>
              </a:rPr>
              <a:t>dernière campagne flutter test (00:16)</a:t>
            </a:r>
          </a:p>
        </p:txBody>
      </p:sp>
      <p:sp>
        <p:nvSpPr>
          <p:cNvPr id="9" name="TextBox 8"/>
          <p:cNvSpPr txBox="1"/>
          <p:nvPr/>
        </p:nvSpPr>
        <p:spPr>
          <a:xfrm>
            <a:off x="548640" y="3840480"/>
            <a:ext cx="4206240" cy="548640"/>
          </a:xfrm>
          <a:prstGeom prst="rect">
            <a:avLst/>
          </a:prstGeom>
          <a:noFill/>
        </p:spPr>
        <p:txBody>
          <a:bodyPr wrap="square" lIns="0" rIns="0" tIns="0" bIns="0" anchor="t">
            <a:spAutoFit/>
          </a:bodyPr>
          <a:lstStyle/>
          <a:p>
            <a:pPr algn="l"/>
            <a:r>
              <a:rPr sz="2600" b="1" i="0">
                <a:solidFill>
                  <a:srgbClr val="B84A12"/>
                </a:solidFill>
                <a:latin typeface="Arial"/>
              </a:rPr>
              <a:t>21 / 28 fichiers exécutés</a:t>
            </a:r>
          </a:p>
        </p:txBody>
      </p:sp>
      <p:sp>
        <p:nvSpPr>
          <p:cNvPr id="10" name="TextBox 9"/>
          <p:cNvSpPr txBox="1"/>
          <p:nvPr/>
        </p:nvSpPr>
        <p:spPr>
          <a:xfrm>
            <a:off x="548640" y="4434840"/>
            <a:ext cx="4023360" cy="1097280"/>
          </a:xfrm>
          <a:prstGeom prst="rect">
            <a:avLst/>
          </a:prstGeom>
          <a:noFill/>
        </p:spPr>
        <p:txBody>
          <a:bodyPr wrap="square" lIns="0" rIns="0" tIns="0" bIns="0" anchor="t">
            <a:spAutoFit/>
          </a:bodyPr>
          <a:lstStyle/>
          <a:p>
            <a:pPr algn="l"/>
            <a:r>
              <a:rPr sz="1600" b="0" i="0">
                <a:solidFill>
                  <a:srgbClr val="5B6B7A"/>
                </a:solidFill>
                <a:latin typeface="Arial"/>
              </a:rPr>
              <a:t>Couverture de code : non mesurée.</a:t>
            </a:r>
          </a:p>
        </p:txBody>
      </p:sp>
      <p:sp>
        <p:nvSpPr>
          <p:cNvPr id="11" name="TextBox 10"/>
          <p:cNvSpPr txBox="1"/>
          <p:nvPr/>
        </p:nvSpPr>
        <p:spPr>
          <a:xfrm>
            <a:off x="5394960" y="1874519"/>
            <a:ext cx="6217920" cy="320040"/>
          </a:xfrm>
          <a:prstGeom prst="rect">
            <a:avLst/>
          </a:prstGeom>
          <a:noFill/>
        </p:spPr>
        <p:txBody>
          <a:bodyPr wrap="square" lIns="0" rIns="0" tIns="0" bIns="0" anchor="t">
            <a:spAutoFit/>
          </a:bodyPr>
          <a:lstStyle/>
          <a:p>
            <a:pPr algn="l"/>
            <a:r>
              <a:rPr sz="1300" b="1" i="0">
                <a:solidFill>
                  <a:srgbClr val="2E75B6"/>
                </a:solidFill>
                <a:latin typeface="Arial"/>
              </a:rPr>
              <a:t>FICHIERS DE TEST PAR PALIER</a:t>
            </a:r>
          </a:p>
        </p:txBody>
      </p:sp>
      <p:sp>
        <p:nvSpPr>
          <p:cNvPr id="12" name="TextBox 11"/>
          <p:cNvSpPr txBox="1"/>
          <p:nvPr/>
        </p:nvSpPr>
        <p:spPr>
          <a:xfrm>
            <a:off x="5394960" y="2331720"/>
            <a:ext cx="411480" cy="411480"/>
          </a:xfrm>
          <a:prstGeom prst="rect">
            <a:avLst/>
          </a:prstGeom>
          <a:noFill/>
        </p:spPr>
        <p:txBody>
          <a:bodyPr wrap="square" lIns="0" rIns="0" tIns="0" bIns="0" anchor="t">
            <a:spAutoFit/>
          </a:bodyPr>
          <a:lstStyle/>
          <a:p>
            <a:pPr algn="l"/>
            <a:r>
              <a:rPr sz="2000" b="1" i="0">
                <a:solidFill>
                  <a:srgbClr val="1F3A5F"/>
                </a:solidFill>
                <a:latin typeface="Arial"/>
              </a:rPr>
              <a:t>A</a:t>
            </a:r>
          </a:p>
        </p:txBody>
      </p:sp>
      <p:sp>
        <p:nvSpPr>
          <p:cNvPr id="13" name="TextBox 12"/>
          <p:cNvSpPr txBox="1"/>
          <p:nvPr/>
        </p:nvSpPr>
        <p:spPr>
          <a:xfrm>
            <a:off x="5806440" y="2350008"/>
            <a:ext cx="5486400" cy="274320"/>
          </a:xfrm>
          <a:prstGeom prst="rect">
            <a:avLst/>
          </a:prstGeom>
          <a:noFill/>
        </p:spPr>
        <p:txBody>
          <a:bodyPr wrap="square" lIns="0" rIns="0" tIns="0" bIns="0" anchor="t">
            <a:spAutoFit/>
          </a:bodyPr>
          <a:lstStyle/>
          <a:p>
            <a:pPr algn="l"/>
            <a:r>
              <a:rPr sz="1400" b="0" i="0">
                <a:solidFill>
                  <a:srgbClr val="5B6B7A"/>
                </a:solidFill>
                <a:latin typeface="Arial"/>
              </a:rPr>
              <a:t>logique pure Dart</a:t>
            </a:r>
          </a:p>
        </p:txBody>
      </p:sp>
      <p:sp>
        <p:nvSpPr>
          <p:cNvPr id="14" name="Rectangle 13"/>
          <p:cNvSpPr/>
          <p:nvPr/>
        </p:nvSpPr>
        <p:spPr>
          <a:xfrm>
            <a:off x="5806440" y="2660903"/>
            <a:ext cx="3285744" cy="329184"/>
          </a:xfrm>
          <a:prstGeom prst="rect">
            <a:avLst/>
          </a:prstGeom>
          <a:solidFill>
            <a:srgbClr val="2E75B6"/>
          </a:solidFill>
          <a:ln>
            <a:noFill/>
          </a:ln>
        </p:spPr>
        <p:txBody>
          <a:bodyPr rtlCol="0" anchor="ctr"/>
          <a:lstStyle/>
          <a:p/>
        </p:txBody>
      </p:sp>
      <p:sp>
        <p:nvSpPr>
          <p:cNvPr id="15" name="TextBox 14"/>
          <p:cNvSpPr txBox="1"/>
          <p:nvPr/>
        </p:nvSpPr>
        <p:spPr>
          <a:xfrm>
            <a:off x="5806440" y="2660903"/>
            <a:ext cx="3285744" cy="329184"/>
          </a:xfrm>
          <a:prstGeom prst="rect">
            <a:avLst/>
          </a:prstGeom>
          <a:noFill/>
        </p:spPr>
        <p:txBody>
          <a:bodyPr wrap="square" lIns="0" rIns="0" tIns="0" bIns="0" anchor="ctr">
            <a:spAutoFit/>
          </a:bodyPr>
          <a:lstStyle/>
          <a:p>
            <a:pPr algn="ctr"/>
            <a:r>
              <a:rPr sz="1400" b="1" i="0">
                <a:solidFill>
                  <a:srgbClr val="FFFFFF"/>
                </a:solidFill>
                <a:latin typeface="Arial"/>
              </a:rPr>
              <a:t>11 exécutés</a:t>
            </a:r>
          </a:p>
        </p:txBody>
      </p:sp>
      <p:sp>
        <p:nvSpPr>
          <p:cNvPr id="16" name="Rectangle 15"/>
          <p:cNvSpPr/>
          <p:nvPr/>
        </p:nvSpPr>
        <p:spPr>
          <a:xfrm>
            <a:off x="9119616" y="2660903"/>
            <a:ext cx="1194816" cy="329184"/>
          </a:xfrm>
          <a:prstGeom prst="rect">
            <a:avLst/>
          </a:prstGeom>
          <a:solidFill>
            <a:srgbClr val="FFFFFF"/>
          </a:solidFill>
          <a:ln w="15875">
            <a:solidFill>
              <a:srgbClr val="B84A12"/>
            </a:solidFill>
          </a:ln>
        </p:spPr>
        <p:txBody>
          <a:bodyPr rtlCol="0" anchor="ctr"/>
          <a:lstStyle/>
          <a:p/>
        </p:txBody>
      </p:sp>
      <p:sp>
        <p:nvSpPr>
          <p:cNvPr id="17" name="TextBox 16"/>
          <p:cNvSpPr txBox="1"/>
          <p:nvPr/>
        </p:nvSpPr>
        <p:spPr>
          <a:xfrm>
            <a:off x="10405872" y="2660903"/>
            <a:ext cx="1005840" cy="329184"/>
          </a:xfrm>
          <a:prstGeom prst="rect">
            <a:avLst/>
          </a:prstGeom>
          <a:noFill/>
        </p:spPr>
        <p:txBody>
          <a:bodyPr wrap="square" lIns="0" rIns="0" tIns="0" bIns="0" anchor="ctr">
            <a:spAutoFit/>
          </a:bodyPr>
          <a:lstStyle/>
          <a:p>
            <a:pPr algn="l"/>
            <a:r>
              <a:rPr sz="1400" b="1" i="0">
                <a:solidFill>
                  <a:srgbClr val="B84A12"/>
                </a:solidFill>
                <a:latin typeface="Arial"/>
              </a:rPr>
              <a:t>4 non</a:t>
            </a:r>
          </a:p>
        </p:txBody>
      </p:sp>
      <p:sp>
        <p:nvSpPr>
          <p:cNvPr id="18" name="TextBox 17"/>
          <p:cNvSpPr txBox="1"/>
          <p:nvPr/>
        </p:nvSpPr>
        <p:spPr>
          <a:xfrm>
            <a:off x="5394960" y="3200400"/>
            <a:ext cx="411480" cy="411480"/>
          </a:xfrm>
          <a:prstGeom prst="rect">
            <a:avLst/>
          </a:prstGeom>
          <a:noFill/>
        </p:spPr>
        <p:txBody>
          <a:bodyPr wrap="square" lIns="0" rIns="0" tIns="0" bIns="0" anchor="t">
            <a:spAutoFit/>
          </a:bodyPr>
          <a:lstStyle/>
          <a:p>
            <a:pPr algn="l"/>
            <a:r>
              <a:rPr sz="2000" b="1" i="0">
                <a:solidFill>
                  <a:srgbClr val="1F3A5F"/>
                </a:solidFill>
                <a:latin typeface="Arial"/>
              </a:rPr>
              <a:t>B</a:t>
            </a:r>
          </a:p>
        </p:txBody>
      </p:sp>
      <p:sp>
        <p:nvSpPr>
          <p:cNvPr id="19" name="TextBox 18"/>
          <p:cNvSpPr txBox="1"/>
          <p:nvPr/>
        </p:nvSpPr>
        <p:spPr>
          <a:xfrm>
            <a:off x="5806440" y="3218688"/>
            <a:ext cx="5486400" cy="274320"/>
          </a:xfrm>
          <a:prstGeom prst="rect">
            <a:avLst/>
          </a:prstGeom>
          <a:noFill/>
        </p:spPr>
        <p:txBody>
          <a:bodyPr wrap="square" lIns="0" rIns="0" tIns="0" bIns="0" anchor="t">
            <a:spAutoFit/>
          </a:bodyPr>
          <a:lstStyle/>
          <a:p>
            <a:pPr algn="l"/>
            <a:r>
              <a:rPr sz="1400" b="0" i="0">
                <a:solidFill>
                  <a:srgbClr val="5B6B7A"/>
                </a:solidFill>
                <a:latin typeface="Arial"/>
              </a:rPr>
              <a:t>plateforme simulée (mocks)</a:t>
            </a:r>
          </a:p>
        </p:txBody>
      </p:sp>
      <p:sp>
        <p:nvSpPr>
          <p:cNvPr id="20" name="Rectangle 19"/>
          <p:cNvSpPr/>
          <p:nvPr/>
        </p:nvSpPr>
        <p:spPr>
          <a:xfrm>
            <a:off x="5806440" y="3529584"/>
            <a:ext cx="1493520" cy="329184"/>
          </a:xfrm>
          <a:prstGeom prst="rect">
            <a:avLst/>
          </a:prstGeom>
          <a:solidFill>
            <a:srgbClr val="2E75B6"/>
          </a:solidFill>
          <a:ln>
            <a:noFill/>
          </a:ln>
        </p:spPr>
        <p:txBody>
          <a:bodyPr rtlCol="0" anchor="ctr"/>
          <a:lstStyle/>
          <a:p/>
        </p:txBody>
      </p:sp>
      <p:sp>
        <p:nvSpPr>
          <p:cNvPr id="21" name="TextBox 20"/>
          <p:cNvSpPr txBox="1"/>
          <p:nvPr/>
        </p:nvSpPr>
        <p:spPr>
          <a:xfrm>
            <a:off x="5806440" y="3529584"/>
            <a:ext cx="1493520" cy="329184"/>
          </a:xfrm>
          <a:prstGeom prst="rect">
            <a:avLst/>
          </a:prstGeom>
          <a:noFill/>
        </p:spPr>
        <p:txBody>
          <a:bodyPr wrap="square" lIns="0" rIns="0" tIns="0" bIns="0" anchor="ctr">
            <a:spAutoFit/>
          </a:bodyPr>
          <a:lstStyle/>
          <a:p>
            <a:pPr algn="ctr"/>
            <a:r>
              <a:rPr sz="1400" b="1" i="0">
                <a:solidFill>
                  <a:srgbClr val="FFFFFF"/>
                </a:solidFill>
                <a:latin typeface="Arial"/>
              </a:rPr>
              <a:t>5 exécutés</a:t>
            </a:r>
          </a:p>
        </p:txBody>
      </p:sp>
      <p:sp>
        <p:nvSpPr>
          <p:cNvPr id="22" name="Rectangle 21"/>
          <p:cNvSpPr/>
          <p:nvPr/>
        </p:nvSpPr>
        <p:spPr>
          <a:xfrm>
            <a:off x="7327392" y="3529584"/>
            <a:ext cx="298704" cy="329184"/>
          </a:xfrm>
          <a:prstGeom prst="rect">
            <a:avLst/>
          </a:prstGeom>
          <a:solidFill>
            <a:srgbClr val="FFFFFF"/>
          </a:solidFill>
          <a:ln w="15875">
            <a:solidFill>
              <a:srgbClr val="B84A12"/>
            </a:solidFill>
          </a:ln>
        </p:spPr>
        <p:txBody>
          <a:bodyPr rtlCol="0" anchor="ctr"/>
          <a:lstStyle/>
          <a:p/>
        </p:txBody>
      </p:sp>
      <p:sp>
        <p:nvSpPr>
          <p:cNvPr id="23" name="TextBox 22"/>
          <p:cNvSpPr txBox="1"/>
          <p:nvPr/>
        </p:nvSpPr>
        <p:spPr>
          <a:xfrm>
            <a:off x="7717536" y="3529584"/>
            <a:ext cx="1005840" cy="329184"/>
          </a:xfrm>
          <a:prstGeom prst="rect">
            <a:avLst/>
          </a:prstGeom>
          <a:noFill/>
        </p:spPr>
        <p:txBody>
          <a:bodyPr wrap="square" lIns="0" rIns="0" tIns="0" bIns="0" anchor="ctr">
            <a:spAutoFit/>
          </a:bodyPr>
          <a:lstStyle/>
          <a:p>
            <a:pPr algn="l"/>
            <a:r>
              <a:rPr sz="1400" b="1" i="0">
                <a:solidFill>
                  <a:srgbClr val="B84A12"/>
                </a:solidFill>
                <a:latin typeface="Arial"/>
              </a:rPr>
              <a:t>1 non</a:t>
            </a:r>
          </a:p>
        </p:txBody>
      </p:sp>
      <p:sp>
        <p:nvSpPr>
          <p:cNvPr id="24" name="TextBox 23"/>
          <p:cNvSpPr txBox="1"/>
          <p:nvPr/>
        </p:nvSpPr>
        <p:spPr>
          <a:xfrm>
            <a:off x="5394960" y="4069079"/>
            <a:ext cx="411480" cy="411480"/>
          </a:xfrm>
          <a:prstGeom prst="rect">
            <a:avLst/>
          </a:prstGeom>
          <a:noFill/>
        </p:spPr>
        <p:txBody>
          <a:bodyPr wrap="square" lIns="0" rIns="0" tIns="0" bIns="0" anchor="t">
            <a:spAutoFit/>
          </a:bodyPr>
          <a:lstStyle/>
          <a:p>
            <a:pPr algn="l"/>
            <a:r>
              <a:rPr sz="2000" b="1" i="0">
                <a:solidFill>
                  <a:srgbClr val="1F3A5F"/>
                </a:solidFill>
                <a:latin typeface="Arial"/>
              </a:rPr>
              <a:t>C</a:t>
            </a:r>
          </a:p>
        </p:txBody>
      </p:sp>
      <p:sp>
        <p:nvSpPr>
          <p:cNvPr id="25" name="TextBox 24"/>
          <p:cNvSpPr txBox="1"/>
          <p:nvPr/>
        </p:nvSpPr>
        <p:spPr>
          <a:xfrm>
            <a:off x="5806440" y="4087367"/>
            <a:ext cx="5486400" cy="274320"/>
          </a:xfrm>
          <a:prstGeom prst="rect">
            <a:avLst/>
          </a:prstGeom>
          <a:noFill/>
        </p:spPr>
        <p:txBody>
          <a:bodyPr wrap="square" lIns="0" rIns="0" tIns="0" bIns="0" anchor="t">
            <a:spAutoFit/>
          </a:bodyPr>
          <a:lstStyle/>
          <a:p>
            <a:pPr algn="l"/>
            <a:r>
              <a:rPr sz="1400" b="0" i="0">
                <a:solidFill>
                  <a:srgbClr val="5B6B7A"/>
                </a:solidFill>
                <a:latin typeface="Arial"/>
              </a:rPr>
              <a:t>OpenCV réel, images synthétiques</a:t>
            </a:r>
          </a:p>
        </p:txBody>
      </p:sp>
      <p:sp>
        <p:nvSpPr>
          <p:cNvPr id="26" name="Rectangle 25"/>
          <p:cNvSpPr/>
          <p:nvPr/>
        </p:nvSpPr>
        <p:spPr>
          <a:xfrm>
            <a:off x="5806440" y="4398264"/>
            <a:ext cx="1493520" cy="329184"/>
          </a:xfrm>
          <a:prstGeom prst="rect">
            <a:avLst/>
          </a:prstGeom>
          <a:solidFill>
            <a:srgbClr val="2E75B6"/>
          </a:solidFill>
          <a:ln>
            <a:noFill/>
          </a:ln>
        </p:spPr>
        <p:txBody>
          <a:bodyPr rtlCol="0" anchor="ctr"/>
          <a:lstStyle/>
          <a:p/>
        </p:txBody>
      </p:sp>
      <p:sp>
        <p:nvSpPr>
          <p:cNvPr id="27" name="TextBox 26"/>
          <p:cNvSpPr txBox="1"/>
          <p:nvPr/>
        </p:nvSpPr>
        <p:spPr>
          <a:xfrm>
            <a:off x="5806440" y="4398264"/>
            <a:ext cx="1493520" cy="329184"/>
          </a:xfrm>
          <a:prstGeom prst="rect">
            <a:avLst/>
          </a:prstGeom>
          <a:noFill/>
        </p:spPr>
        <p:txBody>
          <a:bodyPr wrap="square" lIns="0" rIns="0" tIns="0" bIns="0" anchor="ctr">
            <a:spAutoFit/>
          </a:bodyPr>
          <a:lstStyle/>
          <a:p>
            <a:pPr algn="ctr"/>
            <a:r>
              <a:rPr sz="1400" b="1" i="0">
                <a:solidFill>
                  <a:srgbClr val="FFFFFF"/>
                </a:solidFill>
                <a:latin typeface="Arial"/>
              </a:rPr>
              <a:t>5 exécutés</a:t>
            </a:r>
          </a:p>
        </p:txBody>
      </p:sp>
      <p:sp>
        <p:nvSpPr>
          <p:cNvPr id="28" name="Rectangle 27"/>
          <p:cNvSpPr/>
          <p:nvPr/>
        </p:nvSpPr>
        <p:spPr>
          <a:xfrm>
            <a:off x="7327392" y="4398264"/>
            <a:ext cx="597408" cy="329184"/>
          </a:xfrm>
          <a:prstGeom prst="rect">
            <a:avLst/>
          </a:prstGeom>
          <a:solidFill>
            <a:srgbClr val="FFFFFF"/>
          </a:solidFill>
          <a:ln w="15875">
            <a:solidFill>
              <a:srgbClr val="B84A12"/>
            </a:solidFill>
          </a:ln>
        </p:spPr>
        <p:txBody>
          <a:bodyPr rtlCol="0" anchor="ctr"/>
          <a:lstStyle/>
          <a:p/>
        </p:txBody>
      </p:sp>
      <p:sp>
        <p:nvSpPr>
          <p:cNvPr id="29" name="TextBox 28"/>
          <p:cNvSpPr txBox="1"/>
          <p:nvPr/>
        </p:nvSpPr>
        <p:spPr>
          <a:xfrm>
            <a:off x="8016240" y="4398264"/>
            <a:ext cx="1005840" cy="329184"/>
          </a:xfrm>
          <a:prstGeom prst="rect">
            <a:avLst/>
          </a:prstGeom>
          <a:noFill/>
        </p:spPr>
        <p:txBody>
          <a:bodyPr wrap="square" lIns="0" rIns="0" tIns="0" bIns="0" anchor="ctr">
            <a:spAutoFit/>
          </a:bodyPr>
          <a:lstStyle/>
          <a:p>
            <a:pPr algn="l"/>
            <a:r>
              <a:rPr sz="1400" b="1" i="0">
                <a:solidFill>
                  <a:srgbClr val="B84A12"/>
                </a:solidFill>
                <a:latin typeface="Arial"/>
              </a:rPr>
              <a:t>2 non</a:t>
            </a:r>
          </a:p>
        </p:txBody>
      </p:sp>
      <p:sp>
        <p:nvSpPr>
          <p:cNvPr id="30" name="TextBox 29"/>
          <p:cNvSpPr txBox="1"/>
          <p:nvPr/>
        </p:nvSpPr>
        <p:spPr>
          <a:xfrm>
            <a:off x="5394960" y="4937759"/>
            <a:ext cx="411480" cy="411480"/>
          </a:xfrm>
          <a:prstGeom prst="rect">
            <a:avLst/>
          </a:prstGeom>
          <a:noFill/>
        </p:spPr>
        <p:txBody>
          <a:bodyPr wrap="square" lIns="0" rIns="0" tIns="0" bIns="0" anchor="t">
            <a:spAutoFit/>
          </a:bodyPr>
          <a:lstStyle/>
          <a:p>
            <a:pPr algn="l"/>
            <a:r>
              <a:rPr sz="2000" b="1" i="0">
                <a:solidFill>
                  <a:srgbClr val="1F3A5F"/>
                </a:solidFill>
                <a:latin typeface="Arial"/>
              </a:rPr>
              <a:t>D</a:t>
            </a:r>
          </a:p>
        </p:txBody>
      </p:sp>
      <p:sp>
        <p:nvSpPr>
          <p:cNvPr id="31" name="TextBox 30"/>
          <p:cNvSpPr txBox="1"/>
          <p:nvPr/>
        </p:nvSpPr>
        <p:spPr>
          <a:xfrm>
            <a:off x="5806440" y="4956047"/>
            <a:ext cx="5852160" cy="685800"/>
          </a:xfrm>
          <a:prstGeom prst="rect">
            <a:avLst/>
          </a:prstGeom>
          <a:noFill/>
        </p:spPr>
        <p:txBody>
          <a:bodyPr wrap="square" lIns="0" rIns="0" tIns="0" bIns="0" anchor="t">
            <a:spAutoFit/>
          </a:bodyPr>
          <a:lstStyle/>
          <a:p>
            <a:pPr algn="l"/>
            <a:r>
              <a:rPr sz="1400" b="0" i="0">
                <a:solidFill>
                  <a:srgbClr val="5B6B7A"/>
                </a:solidFill>
                <a:latin typeface="Arial"/>
              </a:rPr>
              <a:t>cartes réelles, appareil : </a:t>
            </a:r>
            <a:r>
              <a:rPr sz="1400" b="1" i="0">
                <a:solidFill>
                  <a:srgbClr val="B84A12"/>
                </a:solidFill>
                <a:latin typeface="Arial"/>
              </a:rPr>
              <a:t>protocole manuel, non automatisé</a:t>
            </a:r>
          </a:p>
        </p:txBody>
      </p:sp>
      <p:sp>
        <p:nvSpPr>
          <p:cNvPr id="32" name="TextBox 31"/>
          <p:cNvSpPr txBox="1"/>
          <p:nvPr/>
        </p:nvSpPr>
        <p:spPr>
          <a:xfrm>
            <a:off x="5394960" y="5715000"/>
            <a:ext cx="6309360" cy="548640"/>
          </a:xfrm>
          <a:prstGeom prst="rect">
            <a:avLst/>
          </a:prstGeom>
          <a:noFill/>
        </p:spPr>
        <p:txBody>
          <a:bodyPr wrap="square" lIns="0" rIns="0" tIns="0" bIns="0" anchor="t">
            <a:spAutoFit/>
          </a:bodyPr>
          <a:lstStyle/>
          <a:p>
            <a:pPr algn="l"/>
            <a:r>
              <a:rPr sz="1200" b="0" i="0">
                <a:solidFill>
                  <a:srgbClr val="5B6B7A"/>
                </a:solidFill>
                <a:latin typeface="Arial"/>
              </a:rPr>
              <a:t>Non exécutés, dont : </a:t>
            </a:r>
            <a:r>
              <a:rPr sz="1200" b="0" i="0">
                <a:solidFill>
                  <a:srgbClr val="1B2530"/>
                </a:solidFill>
                <a:latin typeface="Courier New"/>
              </a:rPr>
              <a:t>perspective_warper</a:t>
            </a:r>
            <a:r>
              <a:rPr sz="1200" b="0" i="0">
                <a:solidFill>
                  <a:srgbClr val="1B2530"/>
                </a:solidFill>
                <a:latin typeface="Arial"/>
              </a:rPr>
              <a:t>, </a:t>
            </a:r>
            <a:r>
              <a:rPr sz="1200" b="0" i="0">
                <a:solidFill>
                  <a:srgbClr val="1B2530"/>
                </a:solidFill>
                <a:latin typeface="Courier New"/>
              </a:rPr>
              <a:t>blur_detector</a:t>
            </a:r>
            <a:r>
              <a:rPr sz="1200" b="0" i="0">
                <a:solidFill>
                  <a:srgbClr val="1B2530"/>
                </a:solidFill>
                <a:latin typeface="Arial"/>
              </a:rPr>
              <a:t> (C), </a:t>
            </a:r>
            <a:r>
              <a:rPr sz="1200" b="0" i="0">
                <a:solidFill>
                  <a:srgbClr val="1B2530"/>
                </a:solidFill>
                <a:latin typeface="Courier New"/>
              </a:rPr>
              <a:t>detection_repository_impl</a:t>
            </a:r>
            <a:r>
              <a:rPr sz="1200" b="0" i="0">
                <a:solidFill>
                  <a:srgbClr val="1B2530"/>
                </a:solidFill>
                <a:latin typeface="Arial"/>
              </a:rPr>
              <a:t> (B)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1" i="0">
                <a:solidFill>
                  <a:srgbClr val="2E75B6"/>
                </a:solidFill>
                <a:latin typeface="Arial"/>
              </a:rPr>
              <a:t>RÉSULTATS</a:t>
            </a:r>
            <a:r>
              <a:rPr sz="1100" b="0" i="0">
                <a:solidFill>
                  <a:srgbClr val="CBD3DB"/>
                </a:solidFill>
                <a:latin typeface="Arial"/>
              </a:rPr>
              <a:t>   ·   </a:t>
            </a:r>
            <a:r>
              <a:rPr sz="1100" b="0" i="0">
                <a:solidFill>
                  <a:srgbClr val="5B6B7A"/>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12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Les trois cibles sont atteintes de justesse, sur un échantillon encore restreint</a:t>
            </a:r>
          </a:p>
        </p:txBody>
      </p:sp>
      <p:sp>
        <p:nvSpPr>
          <p:cNvPr id="7" name="TextBox 6"/>
          <p:cNvSpPr txBox="1"/>
          <p:nvPr/>
        </p:nvSpPr>
        <p:spPr>
          <a:xfrm>
            <a:off x="548640" y="1874519"/>
            <a:ext cx="2377440" cy="320040"/>
          </a:xfrm>
          <a:prstGeom prst="rect">
            <a:avLst/>
          </a:prstGeom>
          <a:noFill/>
        </p:spPr>
        <p:txBody>
          <a:bodyPr wrap="square" lIns="0" rIns="0" tIns="0" bIns="0" anchor="t">
            <a:spAutoFit/>
          </a:bodyPr>
          <a:lstStyle/>
          <a:p>
            <a:pPr algn="l"/>
            <a:r>
              <a:rPr sz="1300" b="1" i="0">
                <a:solidFill>
                  <a:srgbClr val="2E75B6"/>
                </a:solidFill>
                <a:latin typeface="Arial"/>
              </a:rPr>
              <a:t>MESURÉ</a:t>
            </a:r>
          </a:p>
        </p:txBody>
      </p:sp>
      <p:sp>
        <p:nvSpPr>
          <p:cNvPr id="8" name="TextBox 7"/>
          <p:cNvSpPr txBox="1"/>
          <p:nvPr/>
        </p:nvSpPr>
        <p:spPr>
          <a:xfrm>
            <a:off x="3063240" y="1874519"/>
            <a:ext cx="1554480" cy="320040"/>
          </a:xfrm>
          <a:prstGeom prst="rect">
            <a:avLst/>
          </a:prstGeom>
          <a:noFill/>
        </p:spPr>
        <p:txBody>
          <a:bodyPr wrap="square" lIns="0" rIns="0" tIns="0" bIns="0" anchor="t">
            <a:spAutoFit/>
          </a:bodyPr>
          <a:lstStyle/>
          <a:p>
            <a:pPr algn="l"/>
            <a:r>
              <a:rPr sz="1300" b="1" i="0">
                <a:solidFill>
                  <a:srgbClr val="2E75B6"/>
                </a:solidFill>
                <a:latin typeface="Arial"/>
              </a:rPr>
              <a:t>CIBLE</a:t>
            </a:r>
          </a:p>
        </p:txBody>
      </p:sp>
      <p:sp>
        <p:nvSpPr>
          <p:cNvPr id="9" name="TextBox 8"/>
          <p:cNvSpPr txBox="1"/>
          <p:nvPr/>
        </p:nvSpPr>
        <p:spPr>
          <a:xfrm>
            <a:off x="4709159" y="1874519"/>
            <a:ext cx="3429000" cy="320040"/>
          </a:xfrm>
          <a:prstGeom prst="rect">
            <a:avLst/>
          </a:prstGeom>
          <a:noFill/>
        </p:spPr>
        <p:txBody>
          <a:bodyPr wrap="square" lIns="0" rIns="0" tIns="0" bIns="0" anchor="t">
            <a:spAutoFit/>
          </a:bodyPr>
          <a:lstStyle/>
          <a:p>
            <a:pPr algn="l"/>
            <a:r>
              <a:rPr sz="1300" b="1" i="0">
                <a:solidFill>
                  <a:srgbClr val="2E75B6"/>
                </a:solidFill>
                <a:latin typeface="Arial"/>
              </a:rPr>
              <a:t>CE QUI EST MESURÉ</a:t>
            </a:r>
          </a:p>
        </p:txBody>
      </p:sp>
      <p:sp>
        <p:nvSpPr>
          <p:cNvPr id="10" name="TextBox 9"/>
          <p:cNvSpPr txBox="1"/>
          <p:nvPr/>
        </p:nvSpPr>
        <p:spPr>
          <a:xfrm>
            <a:off x="8275319" y="1874519"/>
            <a:ext cx="3367735" cy="320040"/>
          </a:xfrm>
          <a:prstGeom prst="rect">
            <a:avLst/>
          </a:prstGeom>
          <a:noFill/>
        </p:spPr>
        <p:txBody>
          <a:bodyPr wrap="square" lIns="0" rIns="0" tIns="0" bIns="0" anchor="t">
            <a:spAutoFit/>
          </a:bodyPr>
          <a:lstStyle/>
          <a:p>
            <a:pPr algn="l"/>
            <a:r>
              <a:rPr sz="1300" b="1" i="0">
                <a:solidFill>
                  <a:srgbClr val="2E75B6"/>
                </a:solidFill>
                <a:latin typeface="Arial"/>
              </a:rPr>
              <a:t>RÉSERVE</a:t>
            </a:r>
          </a:p>
        </p:txBody>
      </p:sp>
      <p:cxnSp>
        <p:nvCxnSpPr>
          <p:cNvPr id="11" name="Connector 10"/>
          <p:cNvCxnSpPr/>
          <p:nvPr/>
        </p:nvCxnSpPr>
        <p:spPr>
          <a:xfrm>
            <a:off x="548640" y="2258568"/>
            <a:ext cx="11094415" cy="0"/>
          </a:xfrm>
          <a:prstGeom prst="line">
            <a:avLst/>
          </a:prstGeom>
          <a:ln w="9525">
            <a:solidFill>
              <a:srgbClr val="CBD3DB"/>
            </a:solidFill>
          </a:ln>
        </p:spPr>
      </p:cxnSp>
      <p:sp>
        <p:nvSpPr>
          <p:cNvPr id="12" name="TextBox 11"/>
          <p:cNvSpPr txBox="1"/>
          <p:nvPr/>
        </p:nvSpPr>
        <p:spPr>
          <a:xfrm>
            <a:off x="548640" y="2331720"/>
            <a:ext cx="2377440" cy="914400"/>
          </a:xfrm>
          <a:prstGeom prst="rect">
            <a:avLst/>
          </a:prstGeom>
          <a:noFill/>
        </p:spPr>
        <p:txBody>
          <a:bodyPr wrap="square" lIns="0" rIns="0" tIns="0" bIns="0" anchor="ctr">
            <a:spAutoFit/>
          </a:bodyPr>
          <a:lstStyle/>
          <a:p>
            <a:pPr algn="l"/>
            <a:r>
              <a:rPr sz="3400" b="1" i="0">
                <a:solidFill>
                  <a:srgbClr val="1F3A5F"/>
                </a:solidFill>
                <a:latin typeface="Arial"/>
              </a:rPr>
              <a:t>92–100 ms</a:t>
            </a:r>
          </a:p>
        </p:txBody>
      </p:sp>
      <p:sp>
        <p:nvSpPr>
          <p:cNvPr id="13" name="TextBox 12"/>
          <p:cNvSpPr txBox="1"/>
          <p:nvPr/>
        </p:nvSpPr>
        <p:spPr>
          <a:xfrm>
            <a:off x="3063240" y="2331720"/>
            <a:ext cx="1554480" cy="914400"/>
          </a:xfrm>
          <a:prstGeom prst="rect">
            <a:avLst/>
          </a:prstGeom>
          <a:noFill/>
        </p:spPr>
        <p:txBody>
          <a:bodyPr wrap="square" lIns="0" rIns="0" tIns="0" bIns="0" anchor="ctr">
            <a:spAutoFit/>
          </a:bodyPr>
          <a:lstStyle/>
          <a:p>
            <a:pPr algn="l"/>
            <a:r>
              <a:rPr sz="2000" b="0" i="0">
                <a:solidFill>
                  <a:srgbClr val="1B2530"/>
                </a:solidFill>
                <a:latin typeface="Arial"/>
              </a:rPr>
              <a:t>&lt; 100 ms</a:t>
            </a:r>
          </a:p>
        </p:txBody>
      </p:sp>
      <p:sp>
        <p:nvSpPr>
          <p:cNvPr id="14" name="TextBox 13"/>
          <p:cNvSpPr txBox="1"/>
          <p:nvPr/>
        </p:nvSpPr>
        <p:spPr>
          <a:xfrm>
            <a:off x="4709159" y="2331720"/>
            <a:ext cx="3429000" cy="914400"/>
          </a:xfrm>
          <a:prstGeom prst="rect">
            <a:avLst/>
          </a:prstGeom>
          <a:noFill/>
        </p:spPr>
        <p:txBody>
          <a:bodyPr wrap="square" lIns="0" rIns="0" tIns="0" bIns="0" anchor="ctr">
            <a:spAutoFit/>
          </a:bodyPr>
          <a:lstStyle/>
          <a:p>
            <a:pPr algn="l"/>
            <a:r>
              <a:rPr sz="1600" b="0" i="0">
                <a:solidFill>
                  <a:srgbClr val="1B2530"/>
                </a:solidFill>
                <a:latin typeface="Arial"/>
              </a:rPr>
              <a:t>traitement d'une frame dans l'isolate, horodaté avant/après</a:t>
            </a:r>
          </a:p>
        </p:txBody>
      </p:sp>
      <p:sp>
        <p:nvSpPr>
          <p:cNvPr id="15" name="TextBox 14"/>
          <p:cNvSpPr txBox="1"/>
          <p:nvPr/>
        </p:nvSpPr>
        <p:spPr>
          <a:xfrm>
            <a:off x="8275319" y="2331720"/>
            <a:ext cx="3367735" cy="914400"/>
          </a:xfrm>
          <a:prstGeom prst="rect">
            <a:avLst/>
          </a:prstGeom>
          <a:noFill/>
        </p:spPr>
        <p:txBody>
          <a:bodyPr wrap="square" lIns="0" rIns="0" tIns="0" bIns="0" anchor="ctr">
            <a:spAutoFit/>
          </a:bodyPr>
          <a:lstStyle/>
          <a:p>
            <a:pPr algn="l"/>
            <a:r>
              <a:rPr sz="1600" b="0" i="0">
                <a:solidFill>
                  <a:srgbClr val="B84A12"/>
                </a:solidFill>
                <a:latin typeface="Arial"/>
              </a:rPr>
              <a:t>borne haute = cible ; latence de bout en bout non mesurée</a:t>
            </a:r>
          </a:p>
        </p:txBody>
      </p:sp>
      <p:cxnSp>
        <p:nvCxnSpPr>
          <p:cNvPr id="16" name="Connector 15"/>
          <p:cNvCxnSpPr/>
          <p:nvPr/>
        </p:nvCxnSpPr>
        <p:spPr>
          <a:xfrm>
            <a:off x="548640" y="3447287"/>
            <a:ext cx="11094415" cy="0"/>
          </a:xfrm>
          <a:prstGeom prst="line">
            <a:avLst/>
          </a:prstGeom>
          <a:ln w="9525">
            <a:solidFill>
              <a:srgbClr val="CBD3DB"/>
            </a:solidFill>
          </a:ln>
        </p:spPr>
      </p:cxnSp>
      <p:sp>
        <p:nvSpPr>
          <p:cNvPr id="17" name="TextBox 16"/>
          <p:cNvSpPr txBox="1"/>
          <p:nvPr/>
        </p:nvSpPr>
        <p:spPr>
          <a:xfrm>
            <a:off x="548640" y="3520439"/>
            <a:ext cx="2377440" cy="914400"/>
          </a:xfrm>
          <a:prstGeom prst="rect">
            <a:avLst/>
          </a:prstGeom>
          <a:noFill/>
        </p:spPr>
        <p:txBody>
          <a:bodyPr wrap="square" lIns="0" rIns="0" tIns="0" bIns="0" anchor="ctr">
            <a:spAutoFit/>
          </a:bodyPr>
          <a:lstStyle/>
          <a:p>
            <a:pPr algn="l"/>
            <a:r>
              <a:rPr sz="3400" b="1" i="0">
                <a:solidFill>
                  <a:srgbClr val="1F3A5F"/>
                </a:solidFill>
                <a:latin typeface="Arial"/>
              </a:rPr>
              <a:t>92 %</a:t>
            </a:r>
          </a:p>
        </p:txBody>
      </p:sp>
      <p:sp>
        <p:nvSpPr>
          <p:cNvPr id="18" name="TextBox 17"/>
          <p:cNvSpPr txBox="1"/>
          <p:nvPr/>
        </p:nvSpPr>
        <p:spPr>
          <a:xfrm>
            <a:off x="3063240" y="3520439"/>
            <a:ext cx="1554480" cy="914400"/>
          </a:xfrm>
          <a:prstGeom prst="rect">
            <a:avLst/>
          </a:prstGeom>
          <a:noFill/>
        </p:spPr>
        <p:txBody>
          <a:bodyPr wrap="square" lIns="0" rIns="0" tIns="0" bIns="0" anchor="ctr">
            <a:spAutoFit/>
          </a:bodyPr>
          <a:lstStyle/>
          <a:p>
            <a:pPr algn="l"/>
            <a:r>
              <a:rPr sz="2000" b="0" i="0">
                <a:solidFill>
                  <a:srgbClr val="1B2530"/>
                </a:solidFill>
                <a:latin typeface="Arial"/>
              </a:rPr>
              <a:t>≥ 90 %</a:t>
            </a:r>
          </a:p>
        </p:txBody>
      </p:sp>
      <p:sp>
        <p:nvSpPr>
          <p:cNvPr id="19" name="TextBox 18"/>
          <p:cNvSpPr txBox="1"/>
          <p:nvPr/>
        </p:nvSpPr>
        <p:spPr>
          <a:xfrm>
            <a:off x="4709159" y="3520439"/>
            <a:ext cx="3429000" cy="914400"/>
          </a:xfrm>
          <a:prstGeom prst="rect">
            <a:avLst/>
          </a:prstGeom>
          <a:noFill/>
        </p:spPr>
        <p:txBody>
          <a:bodyPr wrap="square" lIns="0" rIns="0" tIns="0" bIns="0" anchor="ctr">
            <a:spAutoFit/>
          </a:bodyPr>
          <a:lstStyle/>
          <a:p>
            <a:pPr algn="l"/>
            <a:r>
              <a:rPr sz="1600" b="0" i="0">
                <a:solidFill>
                  <a:srgbClr val="1B2530"/>
                </a:solidFill>
                <a:latin typeface="Arial"/>
              </a:rPr>
              <a:t>recto/verso reconnus, protocole manuel sur cartes réelles</a:t>
            </a:r>
          </a:p>
        </p:txBody>
      </p:sp>
      <p:sp>
        <p:nvSpPr>
          <p:cNvPr id="20" name="TextBox 19"/>
          <p:cNvSpPr txBox="1"/>
          <p:nvPr/>
        </p:nvSpPr>
        <p:spPr>
          <a:xfrm>
            <a:off x="8275319" y="3520439"/>
            <a:ext cx="3367735" cy="914400"/>
          </a:xfrm>
          <a:prstGeom prst="rect">
            <a:avLst/>
          </a:prstGeom>
          <a:noFill/>
        </p:spPr>
        <p:txBody>
          <a:bodyPr wrap="square" lIns="0" rIns="0" tIns="0" bIns="0" anchor="ctr">
            <a:spAutoFit/>
          </a:bodyPr>
          <a:lstStyle/>
          <a:p>
            <a:pPr algn="l"/>
            <a:r>
              <a:rPr sz="1600" b="0" i="0">
                <a:solidFill>
                  <a:srgbClr val="B84A12"/>
                </a:solidFill>
                <a:latin typeface="Arial"/>
              </a:rPr>
              <a:t>nombre de cartes et d'essais non consigné dans le rapport</a:t>
            </a:r>
          </a:p>
        </p:txBody>
      </p:sp>
      <p:cxnSp>
        <p:nvCxnSpPr>
          <p:cNvPr id="21" name="Connector 20"/>
          <p:cNvCxnSpPr/>
          <p:nvPr/>
        </p:nvCxnSpPr>
        <p:spPr>
          <a:xfrm>
            <a:off x="548640" y="4636008"/>
            <a:ext cx="11094415" cy="0"/>
          </a:xfrm>
          <a:prstGeom prst="line">
            <a:avLst/>
          </a:prstGeom>
          <a:ln w="9525">
            <a:solidFill>
              <a:srgbClr val="CBD3DB"/>
            </a:solidFill>
          </a:ln>
        </p:spPr>
      </p:cxnSp>
      <p:sp>
        <p:nvSpPr>
          <p:cNvPr id="22" name="TextBox 21"/>
          <p:cNvSpPr txBox="1"/>
          <p:nvPr/>
        </p:nvSpPr>
        <p:spPr>
          <a:xfrm>
            <a:off x="548640" y="4709160"/>
            <a:ext cx="2377440" cy="914400"/>
          </a:xfrm>
          <a:prstGeom prst="rect">
            <a:avLst/>
          </a:prstGeom>
          <a:noFill/>
        </p:spPr>
        <p:txBody>
          <a:bodyPr wrap="square" lIns="0" rIns="0" tIns="0" bIns="0" anchor="ctr">
            <a:spAutoFit/>
          </a:bodyPr>
          <a:lstStyle/>
          <a:p>
            <a:pPr algn="l"/>
            <a:r>
              <a:rPr sz="3400" b="1" i="0">
                <a:solidFill>
                  <a:srgbClr val="1F3A5F"/>
                </a:solidFill>
                <a:latin typeface="Arial"/>
              </a:rPr>
              <a:t>≈ 2 s</a:t>
            </a:r>
          </a:p>
        </p:txBody>
      </p:sp>
      <p:sp>
        <p:nvSpPr>
          <p:cNvPr id="23" name="TextBox 22"/>
          <p:cNvSpPr txBox="1"/>
          <p:nvPr/>
        </p:nvSpPr>
        <p:spPr>
          <a:xfrm>
            <a:off x="3063240" y="4709160"/>
            <a:ext cx="1554480" cy="914400"/>
          </a:xfrm>
          <a:prstGeom prst="rect">
            <a:avLst/>
          </a:prstGeom>
          <a:noFill/>
        </p:spPr>
        <p:txBody>
          <a:bodyPr wrap="square" lIns="0" rIns="0" tIns="0" bIns="0" anchor="ctr">
            <a:spAutoFit/>
          </a:bodyPr>
          <a:lstStyle/>
          <a:p>
            <a:pPr algn="l"/>
            <a:r>
              <a:rPr sz="2000" b="0" i="0">
                <a:solidFill>
                  <a:srgbClr val="1B2530"/>
                </a:solidFill>
                <a:latin typeface="Arial"/>
              </a:rPr>
              <a:t>≈ 2 s</a:t>
            </a:r>
          </a:p>
        </p:txBody>
      </p:sp>
      <p:sp>
        <p:nvSpPr>
          <p:cNvPr id="24" name="TextBox 23"/>
          <p:cNvSpPr txBox="1"/>
          <p:nvPr/>
        </p:nvSpPr>
        <p:spPr>
          <a:xfrm>
            <a:off x="4709159" y="4709160"/>
            <a:ext cx="3429000" cy="914400"/>
          </a:xfrm>
          <a:prstGeom prst="rect">
            <a:avLst/>
          </a:prstGeom>
          <a:noFill/>
        </p:spPr>
        <p:txBody>
          <a:bodyPr wrap="square" lIns="0" rIns="0" tIns="0" bIns="0" anchor="ctr">
            <a:spAutoFit/>
          </a:bodyPr>
          <a:lstStyle/>
          <a:p>
            <a:pPr algn="l"/>
            <a:r>
              <a:rPr sz="1600" b="0" i="0">
                <a:solidFill>
                  <a:srgbClr val="1B2530"/>
                </a:solidFill>
                <a:latin typeface="Arial"/>
              </a:rPr>
              <a:t>chronométrage manuel, de la stabilisation du quad au déclenchement</a:t>
            </a:r>
          </a:p>
        </p:txBody>
      </p:sp>
      <p:sp>
        <p:nvSpPr>
          <p:cNvPr id="25" name="TextBox 24"/>
          <p:cNvSpPr txBox="1"/>
          <p:nvPr/>
        </p:nvSpPr>
        <p:spPr>
          <a:xfrm>
            <a:off x="8275319" y="4709160"/>
            <a:ext cx="3367735" cy="914400"/>
          </a:xfrm>
          <a:prstGeom prst="rect">
            <a:avLst/>
          </a:prstGeom>
          <a:noFill/>
        </p:spPr>
        <p:txBody>
          <a:bodyPr wrap="square" lIns="0" rIns="0" tIns="0" bIns="0" anchor="ctr">
            <a:spAutoFit/>
          </a:bodyPr>
          <a:lstStyle/>
          <a:p>
            <a:pPr algn="l"/>
            <a:r>
              <a:rPr sz="1600" b="0" i="0">
                <a:solidFill>
                  <a:srgbClr val="B84A12"/>
                </a:solidFill>
                <a:latin typeface="Arial"/>
              </a:rPr>
              <a:t>départ = stabilisation, pas la pose de la carte</a:t>
            </a:r>
          </a:p>
        </p:txBody>
      </p:sp>
      <p:cxnSp>
        <p:nvCxnSpPr>
          <p:cNvPr id="26" name="Connector 25"/>
          <p:cNvCxnSpPr/>
          <p:nvPr/>
        </p:nvCxnSpPr>
        <p:spPr>
          <a:xfrm>
            <a:off x="548640" y="5824728"/>
            <a:ext cx="11094415" cy="0"/>
          </a:xfrm>
          <a:prstGeom prst="line">
            <a:avLst/>
          </a:prstGeom>
          <a:ln w="9525">
            <a:solidFill>
              <a:srgbClr val="CBD3DB"/>
            </a:solidFill>
          </a:ln>
        </p:spPr>
      </p:cxnSp>
      <p:sp>
        <p:nvSpPr>
          <p:cNvPr id="27" name="TextBox 26"/>
          <p:cNvSpPr txBox="1"/>
          <p:nvPr/>
        </p:nvSpPr>
        <p:spPr>
          <a:xfrm>
            <a:off x="548640" y="5989320"/>
            <a:ext cx="11094415" cy="274320"/>
          </a:xfrm>
          <a:prstGeom prst="rect">
            <a:avLst/>
          </a:prstGeom>
          <a:noFill/>
        </p:spPr>
        <p:txBody>
          <a:bodyPr wrap="square" lIns="0" rIns="0" tIns="0" bIns="0" anchor="t">
            <a:spAutoFit/>
          </a:bodyPr>
          <a:lstStyle/>
          <a:p>
            <a:pPr algn="l"/>
            <a:r>
              <a:rPr sz="1200" b="0" i="0">
                <a:solidFill>
                  <a:srgbClr val="5B6B7A"/>
                </a:solidFill>
                <a:latin typeface="Arial"/>
              </a:rPr>
              <a:t>Source : rapport, tableau 9.4. Conditions normales : intérieur éclairé, carte à plat, sans reflet ni angle extrême.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1" i="0">
                <a:solidFill>
                  <a:srgbClr val="2E75B6"/>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13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Cinq limites connues, à lever avant un usage en production</a:t>
            </a:r>
          </a:p>
        </p:txBody>
      </p:sp>
      <p:sp>
        <p:nvSpPr>
          <p:cNvPr id="7" name="Rectangle 6"/>
          <p:cNvSpPr/>
          <p:nvPr/>
        </p:nvSpPr>
        <p:spPr>
          <a:xfrm>
            <a:off x="548640" y="1993392"/>
            <a:ext cx="128016" cy="457200"/>
          </a:xfrm>
          <a:prstGeom prst="rect">
            <a:avLst/>
          </a:prstGeom>
          <a:solidFill>
            <a:srgbClr val="B84A12"/>
          </a:solidFill>
          <a:ln>
            <a:noFill/>
          </a:ln>
        </p:spPr>
        <p:txBody>
          <a:bodyPr rtlCol="0" anchor="ctr"/>
          <a:lstStyle/>
          <a:p/>
        </p:txBody>
      </p:sp>
      <p:sp>
        <p:nvSpPr>
          <p:cNvPr id="8" name="TextBox 7"/>
          <p:cNvSpPr txBox="1"/>
          <p:nvPr/>
        </p:nvSpPr>
        <p:spPr>
          <a:xfrm>
            <a:off x="914400" y="1920240"/>
            <a:ext cx="2103120" cy="640080"/>
          </a:xfrm>
          <a:prstGeom prst="rect">
            <a:avLst/>
          </a:prstGeom>
          <a:noFill/>
        </p:spPr>
        <p:txBody>
          <a:bodyPr wrap="square" lIns="0" rIns="0" tIns="0" bIns="0" anchor="ctr">
            <a:spAutoFit/>
          </a:bodyPr>
          <a:lstStyle/>
          <a:p>
            <a:pPr algn="l"/>
            <a:r>
              <a:rPr sz="2000" b="1" i="0">
                <a:solidFill>
                  <a:srgbClr val="1F3A5F"/>
                </a:solidFill>
                <a:latin typeface="Arial"/>
              </a:rPr>
              <a:t>iOS</a:t>
            </a:r>
          </a:p>
        </p:txBody>
      </p:sp>
      <p:sp>
        <p:nvSpPr>
          <p:cNvPr id="9" name="TextBox 8"/>
          <p:cNvSpPr txBox="1"/>
          <p:nvPr/>
        </p:nvSpPr>
        <p:spPr>
          <a:xfrm>
            <a:off x="3063240" y="1920240"/>
            <a:ext cx="8579815" cy="640080"/>
          </a:xfrm>
          <a:prstGeom prst="rect">
            <a:avLst/>
          </a:prstGeom>
          <a:noFill/>
        </p:spPr>
        <p:txBody>
          <a:bodyPr wrap="square" lIns="0" rIns="0" tIns="0" bIns="0" anchor="ctr">
            <a:spAutoFit/>
          </a:bodyPr>
          <a:lstStyle/>
          <a:p>
            <a:pPr algn="l"/>
            <a:r>
              <a:rPr sz="2000" b="0" i="0">
                <a:solidFill>
                  <a:srgbClr val="1B2530"/>
                </a:solidFill>
                <a:latin typeface="Arial"/>
              </a:rPr>
              <a:t>exigé par le cahier des charges, mais aucun essai sur iOS n'est documenté.</a:t>
            </a:r>
          </a:p>
        </p:txBody>
      </p:sp>
      <p:cxnSp>
        <p:nvCxnSpPr>
          <p:cNvPr id="10" name="Connector 9"/>
          <p:cNvCxnSpPr/>
          <p:nvPr/>
        </p:nvCxnSpPr>
        <p:spPr>
          <a:xfrm>
            <a:off x="914400" y="2642616"/>
            <a:ext cx="10728655" cy="0"/>
          </a:xfrm>
          <a:prstGeom prst="line">
            <a:avLst/>
          </a:prstGeom>
          <a:ln w="6350">
            <a:solidFill>
              <a:srgbClr val="CBD3DB"/>
            </a:solidFill>
          </a:ln>
        </p:spPr>
      </p:cxnSp>
      <p:sp>
        <p:nvSpPr>
          <p:cNvPr id="11" name="Rectangle 10"/>
          <p:cNvSpPr/>
          <p:nvPr/>
        </p:nvSpPr>
        <p:spPr>
          <a:xfrm>
            <a:off x="548640" y="2779776"/>
            <a:ext cx="128016" cy="457200"/>
          </a:xfrm>
          <a:prstGeom prst="rect">
            <a:avLst/>
          </a:prstGeom>
          <a:solidFill>
            <a:srgbClr val="B84A12"/>
          </a:solidFill>
          <a:ln>
            <a:noFill/>
          </a:ln>
        </p:spPr>
        <p:txBody>
          <a:bodyPr rtlCol="0" anchor="ctr"/>
          <a:lstStyle/>
          <a:p/>
        </p:txBody>
      </p:sp>
      <p:sp>
        <p:nvSpPr>
          <p:cNvPr id="12" name="TextBox 11"/>
          <p:cNvSpPr txBox="1"/>
          <p:nvPr/>
        </p:nvSpPr>
        <p:spPr>
          <a:xfrm>
            <a:off x="914400" y="2706624"/>
            <a:ext cx="2103120" cy="640080"/>
          </a:xfrm>
          <a:prstGeom prst="rect">
            <a:avLst/>
          </a:prstGeom>
          <a:noFill/>
        </p:spPr>
        <p:txBody>
          <a:bodyPr wrap="square" lIns="0" rIns="0" tIns="0" bIns="0" anchor="ctr">
            <a:spAutoFit/>
          </a:bodyPr>
          <a:lstStyle/>
          <a:p>
            <a:pPr algn="l"/>
            <a:r>
              <a:rPr sz="2000" b="1" i="0">
                <a:solidFill>
                  <a:srgbClr val="1F3A5F"/>
                </a:solidFill>
                <a:latin typeface="Arial"/>
              </a:rPr>
              <a:t>Échantillon</a:t>
            </a:r>
          </a:p>
        </p:txBody>
      </p:sp>
      <p:sp>
        <p:nvSpPr>
          <p:cNvPr id="13" name="TextBox 12"/>
          <p:cNvSpPr txBox="1"/>
          <p:nvPr/>
        </p:nvSpPr>
        <p:spPr>
          <a:xfrm>
            <a:off x="3063240" y="2706624"/>
            <a:ext cx="8579815" cy="640080"/>
          </a:xfrm>
          <a:prstGeom prst="rect">
            <a:avLst/>
          </a:prstGeom>
          <a:noFill/>
        </p:spPr>
        <p:txBody>
          <a:bodyPr wrap="square" lIns="0" rIns="0" tIns="0" bIns="0" anchor="ctr">
            <a:spAutoFit/>
          </a:bodyPr>
          <a:lstStyle/>
          <a:p>
            <a:pPr algn="l"/>
            <a:r>
              <a:rPr sz="2000" b="0" i="0">
                <a:solidFill>
                  <a:srgbClr val="1B2530"/>
                </a:solidFill>
                <a:latin typeface="Arial"/>
              </a:rPr>
              <a:t>seuils réglés et mesures faites sur peu de cartes réelles.</a:t>
            </a:r>
          </a:p>
        </p:txBody>
      </p:sp>
      <p:cxnSp>
        <p:nvCxnSpPr>
          <p:cNvPr id="14" name="Connector 13"/>
          <p:cNvCxnSpPr/>
          <p:nvPr/>
        </p:nvCxnSpPr>
        <p:spPr>
          <a:xfrm>
            <a:off x="914400" y="3429000"/>
            <a:ext cx="10728655" cy="0"/>
          </a:xfrm>
          <a:prstGeom prst="line">
            <a:avLst/>
          </a:prstGeom>
          <a:ln w="6350">
            <a:solidFill>
              <a:srgbClr val="CBD3DB"/>
            </a:solidFill>
          </a:ln>
        </p:spPr>
      </p:cxnSp>
      <p:sp>
        <p:nvSpPr>
          <p:cNvPr id="15" name="Rectangle 14"/>
          <p:cNvSpPr/>
          <p:nvPr/>
        </p:nvSpPr>
        <p:spPr>
          <a:xfrm>
            <a:off x="548640" y="3566160"/>
            <a:ext cx="128016" cy="457200"/>
          </a:xfrm>
          <a:prstGeom prst="rect">
            <a:avLst/>
          </a:prstGeom>
          <a:solidFill>
            <a:srgbClr val="B84A12"/>
          </a:solidFill>
          <a:ln>
            <a:noFill/>
          </a:ln>
        </p:spPr>
        <p:txBody>
          <a:bodyPr rtlCol="0" anchor="ctr"/>
          <a:lstStyle/>
          <a:p/>
        </p:txBody>
      </p:sp>
      <p:sp>
        <p:nvSpPr>
          <p:cNvPr id="16" name="TextBox 15"/>
          <p:cNvSpPr txBox="1"/>
          <p:nvPr/>
        </p:nvSpPr>
        <p:spPr>
          <a:xfrm>
            <a:off x="914400" y="3493008"/>
            <a:ext cx="2103120" cy="640080"/>
          </a:xfrm>
          <a:prstGeom prst="rect">
            <a:avLst/>
          </a:prstGeom>
          <a:noFill/>
        </p:spPr>
        <p:txBody>
          <a:bodyPr wrap="square" lIns="0" rIns="0" tIns="0" bIns="0" anchor="ctr">
            <a:spAutoFit/>
          </a:bodyPr>
          <a:lstStyle/>
          <a:p>
            <a:pPr algn="l"/>
            <a:r>
              <a:rPr sz="2000" b="1" i="0">
                <a:solidFill>
                  <a:srgbClr val="1F3A5F"/>
                </a:solidFill>
                <a:latin typeface="Arial"/>
              </a:rPr>
              <a:t>Tests</a:t>
            </a:r>
          </a:p>
        </p:txBody>
      </p:sp>
      <p:sp>
        <p:nvSpPr>
          <p:cNvPr id="17" name="TextBox 16"/>
          <p:cNvSpPr txBox="1"/>
          <p:nvPr/>
        </p:nvSpPr>
        <p:spPr>
          <a:xfrm>
            <a:off x="3063240" y="3493008"/>
            <a:ext cx="8579815" cy="640080"/>
          </a:xfrm>
          <a:prstGeom prst="rect">
            <a:avLst/>
          </a:prstGeom>
          <a:noFill/>
        </p:spPr>
        <p:txBody>
          <a:bodyPr wrap="square" lIns="0" rIns="0" tIns="0" bIns="0" anchor="ctr">
            <a:spAutoFit/>
          </a:bodyPr>
          <a:lstStyle/>
          <a:p>
            <a:pPr algn="l"/>
            <a:r>
              <a:rPr sz="2000" b="0" i="0">
                <a:solidFill>
                  <a:srgbClr val="1B2530"/>
                </a:solidFill>
                <a:latin typeface="Arial"/>
              </a:rPr>
              <a:t>7 fichiers non exécutés, couverture non mesurée, palier D manuel.</a:t>
            </a:r>
          </a:p>
        </p:txBody>
      </p:sp>
      <p:cxnSp>
        <p:nvCxnSpPr>
          <p:cNvPr id="18" name="Connector 17"/>
          <p:cNvCxnSpPr/>
          <p:nvPr/>
        </p:nvCxnSpPr>
        <p:spPr>
          <a:xfrm>
            <a:off x="914400" y="4215384"/>
            <a:ext cx="10728655" cy="0"/>
          </a:xfrm>
          <a:prstGeom prst="line">
            <a:avLst/>
          </a:prstGeom>
          <a:ln w="6350">
            <a:solidFill>
              <a:srgbClr val="CBD3DB"/>
            </a:solidFill>
          </a:ln>
        </p:spPr>
      </p:cxnSp>
      <p:sp>
        <p:nvSpPr>
          <p:cNvPr id="19" name="Rectangle 18"/>
          <p:cNvSpPr/>
          <p:nvPr/>
        </p:nvSpPr>
        <p:spPr>
          <a:xfrm>
            <a:off x="548640" y="4352544"/>
            <a:ext cx="128016" cy="457200"/>
          </a:xfrm>
          <a:prstGeom prst="rect">
            <a:avLst/>
          </a:prstGeom>
          <a:solidFill>
            <a:srgbClr val="B84A12"/>
          </a:solidFill>
          <a:ln>
            <a:noFill/>
          </a:ln>
        </p:spPr>
        <p:txBody>
          <a:bodyPr rtlCol="0" anchor="ctr"/>
          <a:lstStyle/>
          <a:p/>
        </p:txBody>
      </p:sp>
      <p:sp>
        <p:nvSpPr>
          <p:cNvPr id="20" name="TextBox 19"/>
          <p:cNvSpPr txBox="1"/>
          <p:nvPr/>
        </p:nvSpPr>
        <p:spPr>
          <a:xfrm>
            <a:off x="914400" y="4279392"/>
            <a:ext cx="2103120" cy="640080"/>
          </a:xfrm>
          <a:prstGeom prst="rect">
            <a:avLst/>
          </a:prstGeom>
          <a:noFill/>
        </p:spPr>
        <p:txBody>
          <a:bodyPr wrap="square" lIns="0" rIns="0" tIns="0" bIns="0" anchor="ctr">
            <a:spAutoFit/>
          </a:bodyPr>
          <a:lstStyle/>
          <a:p>
            <a:pPr algn="l"/>
            <a:r>
              <a:rPr sz="2000" b="1" i="0">
                <a:solidFill>
                  <a:srgbClr val="1F3A5F"/>
                </a:solidFill>
                <a:latin typeface="Arial"/>
              </a:rPr>
              <a:t>Timeout</a:t>
            </a:r>
          </a:p>
        </p:txBody>
      </p:sp>
      <p:sp>
        <p:nvSpPr>
          <p:cNvPr id="21" name="TextBox 20"/>
          <p:cNvSpPr txBox="1"/>
          <p:nvPr/>
        </p:nvSpPr>
        <p:spPr>
          <a:xfrm>
            <a:off x="3063240" y="4279392"/>
            <a:ext cx="8579815" cy="640080"/>
          </a:xfrm>
          <a:prstGeom prst="rect">
            <a:avLst/>
          </a:prstGeom>
          <a:noFill/>
        </p:spPr>
        <p:txBody>
          <a:bodyPr wrap="square" lIns="0" rIns="0" tIns="0" bIns="0" anchor="ctr">
            <a:spAutoFit/>
          </a:bodyPr>
          <a:lstStyle/>
          <a:p>
            <a:pPr algn="l"/>
            <a:r>
              <a:rPr sz="2000" b="0" i="0">
                <a:solidFill>
                  <a:srgbClr val="1B2530"/>
                </a:solidFill>
                <a:latin typeface="Arial"/>
              </a:rPr>
              <a:t>le message « aucune carte détectée » après un délai n'est pas implémenté.</a:t>
            </a:r>
          </a:p>
        </p:txBody>
      </p:sp>
      <p:cxnSp>
        <p:nvCxnSpPr>
          <p:cNvPr id="22" name="Connector 21"/>
          <p:cNvCxnSpPr/>
          <p:nvPr/>
        </p:nvCxnSpPr>
        <p:spPr>
          <a:xfrm>
            <a:off x="914400" y="5001768"/>
            <a:ext cx="10728655" cy="0"/>
          </a:xfrm>
          <a:prstGeom prst="line">
            <a:avLst/>
          </a:prstGeom>
          <a:ln w="6350">
            <a:solidFill>
              <a:srgbClr val="CBD3DB"/>
            </a:solidFill>
          </a:ln>
        </p:spPr>
      </p:cxnSp>
      <p:sp>
        <p:nvSpPr>
          <p:cNvPr id="23" name="Rectangle 22"/>
          <p:cNvSpPr/>
          <p:nvPr/>
        </p:nvSpPr>
        <p:spPr>
          <a:xfrm>
            <a:off x="548640" y="5138928"/>
            <a:ext cx="128016" cy="457200"/>
          </a:xfrm>
          <a:prstGeom prst="rect">
            <a:avLst/>
          </a:prstGeom>
          <a:solidFill>
            <a:srgbClr val="B84A12"/>
          </a:solidFill>
          <a:ln>
            <a:noFill/>
          </a:ln>
        </p:spPr>
        <p:txBody>
          <a:bodyPr rtlCol="0" anchor="ctr"/>
          <a:lstStyle/>
          <a:p/>
        </p:txBody>
      </p:sp>
      <p:sp>
        <p:nvSpPr>
          <p:cNvPr id="24" name="TextBox 23"/>
          <p:cNvSpPr txBox="1"/>
          <p:nvPr/>
        </p:nvSpPr>
        <p:spPr>
          <a:xfrm>
            <a:off x="914400" y="5065776"/>
            <a:ext cx="2103120" cy="640080"/>
          </a:xfrm>
          <a:prstGeom prst="rect">
            <a:avLst/>
          </a:prstGeom>
          <a:noFill/>
        </p:spPr>
        <p:txBody>
          <a:bodyPr wrap="square" lIns="0" rIns="0" tIns="0" bIns="0" anchor="ctr">
            <a:spAutoFit/>
          </a:bodyPr>
          <a:lstStyle/>
          <a:p>
            <a:pPr algn="l"/>
            <a:r>
              <a:rPr sz="2000" b="1" i="0">
                <a:solidFill>
                  <a:srgbClr val="1F3A5F"/>
                </a:solidFill>
                <a:latin typeface="Arial"/>
              </a:rPr>
              <a:t>Anti-fraude</a:t>
            </a:r>
          </a:p>
        </p:txBody>
      </p:sp>
      <p:sp>
        <p:nvSpPr>
          <p:cNvPr id="25" name="TextBox 24"/>
          <p:cNvSpPr txBox="1"/>
          <p:nvPr/>
        </p:nvSpPr>
        <p:spPr>
          <a:xfrm>
            <a:off x="3063240" y="5065776"/>
            <a:ext cx="8579815" cy="640080"/>
          </a:xfrm>
          <a:prstGeom prst="rect">
            <a:avLst/>
          </a:prstGeom>
          <a:noFill/>
        </p:spPr>
        <p:txBody>
          <a:bodyPr wrap="square" lIns="0" rIns="0" tIns="0" bIns="0" anchor="ctr">
            <a:spAutoFit/>
          </a:bodyPr>
          <a:lstStyle/>
          <a:p>
            <a:pPr algn="l"/>
            <a:r>
              <a:rPr sz="2000" b="0" i="0">
                <a:solidFill>
                  <a:srgbClr val="1B2530"/>
                </a:solidFill>
                <a:latin typeface="Arial"/>
              </a:rPr>
              <a:t>ni détection de vivacité ni de rejeu : le module réduit le risque, il ne le garantit pas.</a:t>
            </a:r>
          </a:p>
        </p:txBody>
      </p:sp>
      <p:sp>
        <p:nvSpPr>
          <p:cNvPr id="26" name="TextBox 25"/>
          <p:cNvSpPr txBox="1"/>
          <p:nvPr/>
        </p:nvSpPr>
        <p:spPr>
          <a:xfrm>
            <a:off x="548640" y="5989320"/>
            <a:ext cx="11094415" cy="274320"/>
          </a:xfrm>
          <a:prstGeom prst="rect">
            <a:avLst/>
          </a:prstGeom>
          <a:noFill/>
        </p:spPr>
        <p:txBody>
          <a:bodyPr wrap="square" lIns="0" rIns="0" tIns="0" bIns="0" anchor="t">
            <a:spAutoFit/>
          </a:bodyPr>
          <a:lstStyle/>
          <a:p>
            <a:pPr algn="l"/>
            <a:r>
              <a:rPr sz="1200" b="0" i="0">
                <a:solidFill>
                  <a:srgbClr val="5B6B7A"/>
                </a:solidFill>
                <a:latin typeface="Arial"/>
              </a:rPr>
              <a:t>Sécurité et confidentialité en détail : diapositive de secours C (rapport §7.2.3–7.2.4).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3775" y="429768"/>
            <a:ext cx="5669280" cy="274320"/>
          </a:xfrm>
          <a:prstGeom prst="rect">
            <a:avLst/>
          </a:prstGeom>
          <a:noFill/>
        </p:spPr>
        <p:txBody>
          <a:bodyPr wrap="square" lIns="0" rIns="0" tIns="0" bIns="0" anchor="t">
            <a:spAutoFit/>
          </a:bodyPr>
          <a:lstStyle/>
          <a:p>
            <a:pPr algn="r"/>
            <a:r>
              <a:rPr sz="1100" b="0" i="0">
                <a:solidFill>
                  <a:srgbClr val="5B6B7A"/>
                </a:solidFill>
                <a:latin typeface="Arial"/>
              </a:rPr>
              <a:t>CONTEXTE</a:t>
            </a:r>
            <a:r>
              <a:rPr sz="1100" b="0" i="0">
                <a:solidFill>
                  <a:srgbClr val="CBD3DB"/>
                </a:solidFill>
                <a:latin typeface="Arial"/>
              </a:rPr>
              <a:t>   ·   </a:t>
            </a:r>
            <a:r>
              <a:rPr sz="1100" b="0" i="0">
                <a:solidFill>
                  <a:srgbClr val="5B6B7A"/>
                </a:solidFill>
                <a:latin typeface="Arial"/>
              </a:rPr>
              <a:t>CONCEPTION</a:t>
            </a:r>
            <a:r>
              <a:rPr sz="1100" b="0" i="0">
                <a:solidFill>
                  <a:srgbClr val="CBD3DB"/>
                </a:solidFill>
                <a:latin typeface="Arial"/>
              </a:rPr>
              <a:t>   ·   </a:t>
            </a:r>
            <a:r>
              <a:rPr sz="1100" b="0" i="0">
                <a:solidFill>
                  <a:srgbClr val="5B6B7A"/>
                </a:solidFill>
                <a:latin typeface="Arial"/>
              </a:rPr>
              <a:t>RÉSULTATS</a:t>
            </a:r>
            <a:r>
              <a:rPr sz="1100" b="0" i="0">
                <a:solidFill>
                  <a:srgbClr val="CBD3DB"/>
                </a:solidFill>
                <a:latin typeface="Arial"/>
              </a:rPr>
              <a:t>   ·   </a:t>
            </a:r>
            <a:r>
              <a:rPr sz="1100" b="1" i="0">
                <a:solidFill>
                  <a:srgbClr val="2E75B6"/>
                </a:solidFill>
                <a:latin typeface="Arial"/>
              </a:rPr>
              <a:t>BILAN</a:t>
            </a:r>
          </a:p>
        </p:txBody>
      </p:sp>
      <p:cxnSp>
        <p:nvCxnSpPr>
          <p:cNvPr id="3" name="Connector 2"/>
          <p:cNvCxnSpPr/>
          <p:nvPr/>
        </p:nvCxnSpPr>
        <p:spPr>
          <a:xfrm>
            <a:off x="548640" y="6382512"/>
            <a:ext cx="11094415" cy="0"/>
          </a:xfrm>
          <a:prstGeom prst="line">
            <a:avLst/>
          </a:prstGeom>
          <a:ln w="9525">
            <a:solidFill>
              <a:srgbClr val="CBD3DB"/>
            </a:solidFill>
          </a:ln>
        </p:spPr>
      </p:cxnSp>
      <p:sp>
        <p:nvSpPr>
          <p:cNvPr id="4" name="TextBox 3"/>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5" name="TextBox 4"/>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14 / 14</a:t>
            </a:r>
          </a:p>
        </p:txBody>
      </p:sp>
      <p:sp>
        <p:nvSpPr>
          <p:cNvPr id="6"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Une capture recto/verso autonome livrée en six semaines ; prochaine étape : iOS et un jeu d'images représentatif</a:t>
            </a:r>
          </a:p>
        </p:txBody>
      </p:sp>
      <p:cxnSp>
        <p:nvCxnSpPr>
          <p:cNvPr id="7" name="Connector 6"/>
          <p:cNvCxnSpPr/>
          <p:nvPr/>
        </p:nvCxnSpPr>
        <p:spPr>
          <a:xfrm>
            <a:off x="548640" y="2057400"/>
            <a:ext cx="3393338" cy="0"/>
          </a:xfrm>
          <a:prstGeom prst="line">
            <a:avLst/>
          </a:prstGeom>
          <a:ln w="38100">
            <a:solidFill>
              <a:srgbClr val="1F3A5F"/>
            </a:solidFill>
          </a:ln>
        </p:spPr>
      </p:cxnSp>
      <p:sp>
        <p:nvSpPr>
          <p:cNvPr id="8" name="TextBox 7"/>
          <p:cNvSpPr txBox="1"/>
          <p:nvPr/>
        </p:nvSpPr>
        <p:spPr>
          <a:xfrm>
            <a:off x="548640" y="2194560"/>
            <a:ext cx="3393338" cy="365760"/>
          </a:xfrm>
          <a:prstGeom prst="rect">
            <a:avLst/>
          </a:prstGeom>
          <a:noFill/>
        </p:spPr>
        <p:txBody>
          <a:bodyPr wrap="square" lIns="0" rIns="0" tIns="0" bIns="0" anchor="t">
            <a:spAutoFit/>
          </a:bodyPr>
          <a:lstStyle/>
          <a:p>
            <a:pPr algn="l"/>
            <a:r>
              <a:rPr sz="1400" b="1" i="0">
                <a:solidFill>
                  <a:srgbClr val="1F3A5F"/>
                </a:solidFill>
                <a:latin typeface="Arial"/>
              </a:rPr>
              <a:t>LIVRÉ</a:t>
            </a:r>
          </a:p>
        </p:txBody>
      </p:sp>
      <p:sp>
        <p:nvSpPr>
          <p:cNvPr id="9" name="TextBox 8"/>
          <p:cNvSpPr txBox="1"/>
          <p:nvPr/>
        </p:nvSpPr>
        <p:spPr>
          <a:xfrm>
            <a:off x="548640" y="2651760"/>
            <a:ext cx="3393338" cy="2743200"/>
          </a:xfrm>
          <a:prstGeom prst="rect">
            <a:avLst/>
          </a:prstGeom>
          <a:noFill/>
        </p:spPr>
        <p:txBody>
          <a:bodyPr wrap="square" lIns="0" rIns="0" tIns="0" bIns="0" anchor="t">
            <a:spAutoFit/>
          </a:bodyPr>
          <a:lstStyle/>
          <a:p>
            <a:pPr algn="l">
              <a:spcAft>
                <a:spcPts val="1000"/>
              </a:spcAft>
            </a:pPr>
            <a:r>
              <a:rPr sz="1800" b="0" i="0">
                <a:solidFill>
                  <a:srgbClr val="1B2530"/>
                </a:solidFill>
                <a:latin typeface="Arial"/>
              </a:rPr>
              <a:t>Détection : 4 passes et un score</a:t>
            </a:r>
          </a:p>
          <a:p>
            <a:pPr algn="l">
              <a:spcAft>
                <a:spcPts val="1000"/>
              </a:spcAft>
            </a:pPr>
            <a:r>
              <a:rPr sz="1800" b="0" i="0">
                <a:solidFill>
                  <a:srgbClr val="1B2530"/>
                </a:solidFill>
                <a:latin typeface="Arial"/>
              </a:rPr>
              <a:t>Autocapture : 4 contrôles, 2 frames</a:t>
            </a:r>
          </a:p>
          <a:p>
            <a:pPr algn="l">
              <a:spcAft>
                <a:spcPts val="1000"/>
              </a:spcAft>
            </a:pPr>
            <a:r>
              <a:rPr sz="1800" b="0" i="0">
                <a:solidFill>
                  <a:srgbClr val="1B2530"/>
                </a:solidFill>
                <a:latin typeface="Arial"/>
              </a:rPr>
              <a:t>Recto/verso et anti-doublon</a:t>
            </a:r>
          </a:p>
          <a:p>
            <a:pPr algn="l">
              <a:spcAft>
                <a:spcPts val="1000"/>
              </a:spcAft>
            </a:pPr>
            <a:r>
              <a:rPr sz="1800" b="0" i="0">
                <a:solidFill>
                  <a:srgbClr val="1B2530"/>
                </a:solidFill>
                <a:latin typeface="Arial"/>
              </a:rPr>
              <a:t>Vérification, ajustement, page A4, historique</a:t>
            </a:r>
          </a:p>
        </p:txBody>
      </p:sp>
      <p:cxnSp>
        <p:nvCxnSpPr>
          <p:cNvPr id="10" name="Connector 9"/>
          <p:cNvCxnSpPr/>
          <p:nvPr/>
        </p:nvCxnSpPr>
        <p:spPr>
          <a:xfrm>
            <a:off x="4399178" y="2057400"/>
            <a:ext cx="3393338" cy="0"/>
          </a:xfrm>
          <a:prstGeom prst="line">
            <a:avLst/>
          </a:prstGeom>
          <a:ln w="38100">
            <a:solidFill>
              <a:srgbClr val="1F3A5F"/>
            </a:solidFill>
          </a:ln>
        </p:spPr>
      </p:cxnSp>
      <p:sp>
        <p:nvSpPr>
          <p:cNvPr id="11" name="TextBox 10"/>
          <p:cNvSpPr txBox="1"/>
          <p:nvPr/>
        </p:nvSpPr>
        <p:spPr>
          <a:xfrm>
            <a:off x="4399178" y="2194560"/>
            <a:ext cx="3393338" cy="365760"/>
          </a:xfrm>
          <a:prstGeom prst="rect">
            <a:avLst/>
          </a:prstGeom>
          <a:noFill/>
        </p:spPr>
        <p:txBody>
          <a:bodyPr wrap="square" lIns="0" rIns="0" tIns="0" bIns="0" anchor="t">
            <a:spAutoFit/>
          </a:bodyPr>
          <a:lstStyle/>
          <a:p>
            <a:pPr algn="l"/>
            <a:r>
              <a:rPr sz="1400" b="1" i="0">
                <a:solidFill>
                  <a:srgbClr val="1F3A5F"/>
                </a:solidFill>
                <a:latin typeface="Arial"/>
              </a:rPr>
              <a:t>MESURÉ</a:t>
            </a:r>
          </a:p>
        </p:txBody>
      </p:sp>
      <p:sp>
        <p:nvSpPr>
          <p:cNvPr id="12" name="TextBox 11"/>
          <p:cNvSpPr txBox="1"/>
          <p:nvPr/>
        </p:nvSpPr>
        <p:spPr>
          <a:xfrm>
            <a:off x="4399178" y="2651760"/>
            <a:ext cx="3393338" cy="2743200"/>
          </a:xfrm>
          <a:prstGeom prst="rect">
            <a:avLst/>
          </a:prstGeom>
          <a:noFill/>
        </p:spPr>
        <p:txBody>
          <a:bodyPr wrap="square" lIns="0" rIns="0" tIns="0" bIns="0" anchor="t">
            <a:spAutoFit/>
          </a:bodyPr>
          <a:lstStyle/>
          <a:p>
            <a:pPr algn="l">
              <a:spcAft>
                <a:spcPts val="1000"/>
              </a:spcAft>
            </a:pPr>
            <a:r>
              <a:rPr sz="1800" b="0" i="0">
                <a:solidFill>
                  <a:srgbClr val="1B2530"/>
                </a:solidFill>
                <a:latin typeface="Arial"/>
              </a:rPr>
              <a:t>92–100 ms par frame</a:t>
            </a:r>
          </a:p>
          <a:p>
            <a:pPr algn="l">
              <a:spcAft>
                <a:spcPts val="1000"/>
              </a:spcAft>
            </a:pPr>
            <a:r>
              <a:rPr sz="1800" b="0" i="0">
                <a:solidFill>
                  <a:srgbClr val="1B2530"/>
                </a:solidFill>
                <a:latin typeface="Arial"/>
              </a:rPr>
              <a:t>92 % de recto/verso reconnus</a:t>
            </a:r>
          </a:p>
          <a:p>
            <a:pPr algn="l">
              <a:spcAft>
                <a:spcPts val="1000"/>
              </a:spcAft>
            </a:pPr>
            <a:r>
              <a:rPr sz="1800" b="0" i="0">
                <a:solidFill>
                  <a:srgbClr val="1B2530"/>
                </a:solidFill>
                <a:latin typeface="Arial"/>
              </a:rPr>
              <a:t>≈ 2 s jusqu'à la capture</a:t>
            </a:r>
          </a:p>
          <a:p>
            <a:pPr algn="l">
              <a:spcAft>
                <a:spcPts val="1000"/>
              </a:spcAft>
            </a:pPr>
            <a:r>
              <a:rPr sz="1800" b="0" i="0">
                <a:solidFill>
                  <a:srgbClr val="1B2530"/>
                </a:solidFill>
                <a:latin typeface="Arial"/>
              </a:rPr>
              <a:t>177/177 cas sur 21 des 28 fichiers</a:t>
            </a:r>
          </a:p>
        </p:txBody>
      </p:sp>
      <p:cxnSp>
        <p:nvCxnSpPr>
          <p:cNvPr id="13" name="Connector 12"/>
          <p:cNvCxnSpPr/>
          <p:nvPr/>
        </p:nvCxnSpPr>
        <p:spPr>
          <a:xfrm>
            <a:off x="8249716" y="2057400"/>
            <a:ext cx="3393339" cy="0"/>
          </a:xfrm>
          <a:prstGeom prst="line">
            <a:avLst/>
          </a:prstGeom>
          <a:ln w="38100">
            <a:solidFill>
              <a:srgbClr val="B84A12"/>
            </a:solidFill>
          </a:ln>
        </p:spPr>
      </p:cxnSp>
      <p:sp>
        <p:nvSpPr>
          <p:cNvPr id="14" name="TextBox 13"/>
          <p:cNvSpPr txBox="1"/>
          <p:nvPr/>
        </p:nvSpPr>
        <p:spPr>
          <a:xfrm>
            <a:off x="8249716" y="2194560"/>
            <a:ext cx="3393338" cy="365760"/>
          </a:xfrm>
          <a:prstGeom prst="rect">
            <a:avLst/>
          </a:prstGeom>
          <a:noFill/>
        </p:spPr>
        <p:txBody>
          <a:bodyPr wrap="square" lIns="0" rIns="0" tIns="0" bIns="0" anchor="t">
            <a:spAutoFit/>
          </a:bodyPr>
          <a:lstStyle/>
          <a:p>
            <a:pPr algn="l"/>
            <a:r>
              <a:rPr sz="1400" b="1" i="0">
                <a:solidFill>
                  <a:srgbClr val="B84A12"/>
                </a:solidFill>
                <a:latin typeface="Arial"/>
              </a:rPr>
              <a:t>À FAIRE</a:t>
            </a:r>
          </a:p>
        </p:txBody>
      </p:sp>
      <p:sp>
        <p:nvSpPr>
          <p:cNvPr id="15" name="TextBox 14"/>
          <p:cNvSpPr txBox="1"/>
          <p:nvPr/>
        </p:nvSpPr>
        <p:spPr>
          <a:xfrm>
            <a:off x="8249716" y="2651760"/>
            <a:ext cx="3393338" cy="2743200"/>
          </a:xfrm>
          <a:prstGeom prst="rect">
            <a:avLst/>
          </a:prstGeom>
          <a:noFill/>
        </p:spPr>
        <p:txBody>
          <a:bodyPr wrap="square" lIns="0" rIns="0" tIns="0" bIns="0" anchor="t">
            <a:spAutoFit/>
          </a:bodyPr>
          <a:lstStyle/>
          <a:p>
            <a:pPr algn="l">
              <a:spcAft>
                <a:spcPts val="1000"/>
              </a:spcAft>
            </a:pPr>
            <a:r>
              <a:rPr sz="1800" b="0" i="0">
                <a:solidFill>
                  <a:srgbClr val="1B2530"/>
                </a:solidFill>
                <a:latin typeface="Arial"/>
              </a:rPr>
              <a:t>Valider sur iOS</a:t>
            </a:r>
          </a:p>
          <a:p>
            <a:pPr algn="l">
              <a:spcAft>
                <a:spcPts val="1000"/>
              </a:spcAft>
            </a:pPr>
            <a:r>
              <a:rPr sz="1800" b="0" i="0">
                <a:solidFill>
                  <a:srgbClr val="1B2530"/>
                </a:solidFill>
                <a:latin typeface="Arial"/>
              </a:rPr>
              <a:t>Constituer un jeu d'images disjoint</a:t>
            </a:r>
          </a:p>
          <a:p>
            <a:pPr algn="l">
              <a:spcAft>
                <a:spcPts val="1000"/>
              </a:spcAft>
            </a:pPr>
            <a:r>
              <a:rPr sz="1800" b="0" i="0">
                <a:solidFill>
                  <a:srgbClr val="1B2530"/>
                </a:solidFill>
                <a:latin typeface="Arial"/>
              </a:rPr>
              <a:t>Exécuter toute la suite, mesurer la couverture</a:t>
            </a:r>
          </a:p>
          <a:p>
            <a:pPr algn="l">
              <a:spcAft>
                <a:spcPts val="1000"/>
              </a:spcAft>
            </a:pPr>
            <a:r>
              <a:rPr sz="1800" b="0" i="0">
                <a:solidFill>
                  <a:srgbClr val="1B2530"/>
                </a:solidFill>
                <a:latin typeface="Arial"/>
              </a:rPr>
              <a:t>Implémenter le timeout</a:t>
            </a:r>
          </a:p>
        </p:txBody>
      </p:sp>
      <p:sp>
        <p:nvSpPr>
          <p:cNvPr id="16" name="TextBox 15"/>
          <p:cNvSpPr txBox="1"/>
          <p:nvPr/>
        </p:nvSpPr>
        <p:spPr>
          <a:xfrm>
            <a:off x="548640" y="5349240"/>
            <a:ext cx="11094415" cy="640080"/>
          </a:xfrm>
          <a:prstGeom prst="rect">
            <a:avLst/>
          </a:prstGeom>
          <a:noFill/>
        </p:spPr>
        <p:txBody>
          <a:bodyPr wrap="square" lIns="0" rIns="0" tIns="0" bIns="0" anchor="t">
            <a:spAutoFit/>
          </a:bodyPr>
          <a:lstStyle/>
          <a:p>
            <a:pPr algn="l"/>
            <a:r>
              <a:rPr sz="1600" b="1" i="0">
                <a:solidFill>
                  <a:srgbClr val="1F3A5F"/>
                </a:solidFill>
                <a:latin typeface="Arial"/>
              </a:rPr>
              <a:t>Ce que j'en retiens : </a:t>
            </a:r>
            <a:r>
              <a:rPr sz="1600" b="0" i="0">
                <a:solidFill>
                  <a:srgbClr val="1B2530"/>
                </a:solidFill>
                <a:latin typeface="Arial"/>
              </a:rPr>
              <a:t>un choix technologique se justifie par les contraintes réelles du projet ; et une mesure ne vaut que si son protocole est consigné.</a:t>
            </a:r>
          </a:p>
        </p:txBody>
      </p:sp>
      <p:sp>
        <p:nvSpPr>
          <p:cNvPr id="17" name="TextBox 16"/>
          <p:cNvSpPr txBox="1"/>
          <p:nvPr/>
        </p:nvSpPr>
        <p:spPr>
          <a:xfrm>
            <a:off x="548640" y="5989320"/>
            <a:ext cx="11094415" cy="274320"/>
          </a:xfrm>
          <a:prstGeom prst="rect">
            <a:avLst/>
          </a:prstGeom>
          <a:noFill/>
        </p:spPr>
        <p:txBody>
          <a:bodyPr wrap="square" lIns="0" rIns="0" tIns="0" bIns="0" anchor="t">
            <a:spAutoFit/>
          </a:bodyPr>
          <a:lstStyle/>
          <a:p>
            <a:pPr algn="l"/>
            <a:r>
              <a:rPr sz="1400" b="1" i="0">
                <a:solidFill>
                  <a:srgbClr val="2E75B6"/>
                </a:solidFill>
                <a:latin typeface="Arial"/>
              </a:rPr>
              <a:t>Merci de votre attention — je suis à votre disposition pour vos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317175" y="384048"/>
            <a:ext cx="1325880" cy="310896"/>
          </a:xfrm>
          <a:prstGeom prst="rect">
            <a:avLst/>
          </a:prstGeom>
          <a:solidFill>
            <a:srgbClr val="EEF2F6"/>
          </a:solidFill>
          <a:ln>
            <a:noFill/>
          </a:ln>
        </p:spPr>
        <p:txBody>
          <a:bodyPr rtlCol="0" anchor="ctr"/>
          <a:lstStyle/>
          <a:p/>
        </p:txBody>
      </p:sp>
      <p:sp>
        <p:nvSpPr>
          <p:cNvPr id="3" name="TextBox 2"/>
          <p:cNvSpPr txBox="1"/>
          <p:nvPr/>
        </p:nvSpPr>
        <p:spPr>
          <a:xfrm>
            <a:off x="10317175" y="384048"/>
            <a:ext cx="1325880" cy="310896"/>
          </a:xfrm>
          <a:prstGeom prst="rect">
            <a:avLst/>
          </a:prstGeom>
          <a:noFill/>
        </p:spPr>
        <p:txBody>
          <a:bodyPr wrap="square" lIns="0" rIns="0" tIns="0" bIns="0" anchor="ctr">
            <a:spAutoFit/>
          </a:bodyPr>
          <a:lstStyle/>
          <a:p>
            <a:pPr algn="ctr"/>
            <a:r>
              <a:rPr sz="1200" b="1" i="0">
                <a:solidFill>
                  <a:srgbClr val="5B6B7A"/>
                </a:solidFill>
                <a:latin typeface="Arial"/>
              </a:rPr>
              <a:t>Secours A</a:t>
            </a:r>
          </a:p>
        </p:txBody>
      </p:sp>
      <p:cxnSp>
        <p:nvCxnSpPr>
          <p:cNvPr id="4" name="Connector 3"/>
          <p:cNvCxnSpPr/>
          <p:nvPr/>
        </p:nvCxnSpPr>
        <p:spPr>
          <a:xfrm>
            <a:off x="548640" y="6382512"/>
            <a:ext cx="11094415" cy="0"/>
          </a:xfrm>
          <a:prstGeom prst="line">
            <a:avLst/>
          </a:prstGeom>
          <a:ln w="9525">
            <a:solidFill>
              <a:srgbClr val="CBD3DB"/>
            </a:solidFill>
          </a:ln>
        </p:spPr>
      </p:cxnSp>
      <p:sp>
        <p:nvSpPr>
          <p:cNvPr id="5" name="TextBox 4"/>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6" name="TextBox 5"/>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Secours A</a:t>
            </a:r>
          </a:p>
        </p:txBody>
      </p:sp>
      <p:sp>
        <p:nvSpPr>
          <p:cNvPr id="7"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Tous les seuils sont empiriques ; la netteté 120 n'a de sens qu'à 856 × 540 px</a:t>
            </a:r>
          </a:p>
        </p:txBody>
      </p:sp>
      <p:sp>
        <p:nvSpPr>
          <p:cNvPr id="8" name="Rectangle 7"/>
          <p:cNvSpPr/>
          <p:nvPr/>
        </p:nvSpPr>
        <p:spPr>
          <a:xfrm>
            <a:off x="548640" y="1783080"/>
            <a:ext cx="5410047" cy="420624"/>
          </a:xfrm>
          <a:prstGeom prst="rect">
            <a:avLst/>
          </a:prstGeom>
          <a:solidFill>
            <a:srgbClr val="EEF2F6"/>
          </a:solidFill>
          <a:ln>
            <a:noFill/>
          </a:ln>
        </p:spPr>
        <p:txBody>
          <a:bodyPr rtlCol="0" anchor="ctr"/>
          <a:lstStyle/>
          <a:p/>
        </p:txBody>
      </p:sp>
      <p:sp>
        <p:nvSpPr>
          <p:cNvPr id="9" name="TextBox 8"/>
          <p:cNvSpPr txBox="1"/>
          <p:nvPr/>
        </p:nvSpPr>
        <p:spPr>
          <a:xfrm>
            <a:off x="658368" y="1783080"/>
            <a:ext cx="3718407" cy="420624"/>
          </a:xfrm>
          <a:prstGeom prst="rect">
            <a:avLst/>
          </a:prstGeom>
          <a:noFill/>
        </p:spPr>
        <p:txBody>
          <a:bodyPr wrap="square" lIns="0" rIns="0" tIns="0" bIns="0" anchor="ctr">
            <a:spAutoFit/>
          </a:bodyPr>
          <a:lstStyle/>
          <a:p>
            <a:pPr algn="l"/>
            <a:r>
              <a:rPr sz="1500" b="0" i="0">
                <a:solidFill>
                  <a:srgbClr val="1B2530"/>
                </a:solidFill>
                <a:latin typeface="Arial"/>
              </a:rPr>
              <a:t>Score de détection minimal</a:t>
            </a:r>
          </a:p>
        </p:txBody>
      </p:sp>
      <p:sp>
        <p:nvSpPr>
          <p:cNvPr id="10" name="TextBox 9"/>
          <p:cNvSpPr txBox="1"/>
          <p:nvPr/>
        </p:nvSpPr>
        <p:spPr>
          <a:xfrm>
            <a:off x="4267047" y="1783080"/>
            <a:ext cx="1554480" cy="420624"/>
          </a:xfrm>
          <a:prstGeom prst="rect">
            <a:avLst/>
          </a:prstGeom>
          <a:noFill/>
        </p:spPr>
        <p:txBody>
          <a:bodyPr wrap="square" lIns="0" rIns="0" tIns="0" bIns="0" anchor="ctr">
            <a:spAutoFit/>
          </a:bodyPr>
          <a:lstStyle/>
          <a:p>
            <a:pPr algn="r"/>
            <a:r>
              <a:rPr sz="1500" b="1" i="0">
                <a:solidFill>
                  <a:srgbClr val="1F3A5F"/>
                </a:solidFill>
                <a:latin typeface="Arial"/>
              </a:rPr>
              <a:t>0,30</a:t>
            </a:r>
          </a:p>
        </p:txBody>
      </p:sp>
      <p:sp>
        <p:nvSpPr>
          <p:cNvPr id="11" name="TextBox 10"/>
          <p:cNvSpPr txBox="1"/>
          <p:nvPr/>
        </p:nvSpPr>
        <p:spPr>
          <a:xfrm>
            <a:off x="658368" y="2203704"/>
            <a:ext cx="3718407" cy="420624"/>
          </a:xfrm>
          <a:prstGeom prst="rect">
            <a:avLst/>
          </a:prstGeom>
          <a:noFill/>
        </p:spPr>
        <p:txBody>
          <a:bodyPr wrap="square" lIns="0" rIns="0" tIns="0" bIns="0" anchor="ctr">
            <a:spAutoFit/>
          </a:bodyPr>
          <a:lstStyle/>
          <a:p>
            <a:pPr algn="l"/>
            <a:r>
              <a:rPr sz="1500" b="0" i="0">
                <a:solidFill>
                  <a:srgbClr val="1B2530"/>
                </a:solidFill>
                <a:latin typeface="Arial"/>
              </a:rPr>
              <a:t>Sortie anticipée</a:t>
            </a:r>
          </a:p>
        </p:txBody>
      </p:sp>
      <p:sp>
        <p:nvSpPr>
          <p:cNvPr id="12" name="TextBox 11"/>
          <p:cNvSpPr txBox="1"/>
          <p:nvPr/>
        </p:nvSpPr>
        <p:spPr>
          <a:xfrm>
            <a:off x="4267047" y="2203704"/>
            <a:ext cx="1554480" cy="420624"/>
          </a:xfrm>
          <a:prstGeom prst="rect">
            <a:avLst/>
          </a:prstGeom>
          <a:noFill/>
        </p:spPr>
        <p:txBody>
          <a:bodyPr wrap="square" lIns="0" rIns="0" tIns="0" bIns="0" anchor="ctr">
            <a:spAutoFit/>
          </a:bodyPr>
          <a:lstStyle/>
          <a:p>
            <a:pPr algn="r"/>
            <a:r>
              <a:rPr sz="1500" b="1" i="0">
                <a:solidFill>
                  <a:srgbClr val="1F3A5F"/>
                </a:solidFill>
                <a:latin typeface="Arial"/>
              </a:rPr>
              <a:t>0,65</a:t>
            </a:r>
          </a:p>
        </p:txBody>
      </p:sp>
      <p:sp>
        <p:nvSpPr>
          <p:cNvPr id="13" name="Rectangle 12"/>
          <p:cNvSpPr/>
          <p:nvPr/>
        </p:nvSpPr>
        <p:spPr>
          <a:xfrm>
            <a:off x="548640" y="2624328"/>
            <a:ext cx="5410047" cy="420624"/>
          </a:xfrm>
          <a:prstGeom prst="rect">
            <a:avLst/>
          </a:prstGeom>
          <a:solidFill>
            <a:srgbClr val="EEF2F6"/>
          </a:solidFill>
          <a:ln>
            <a:noFill/>
          </a:ln>
        </p:spPr>
        <p:txBody>
          <a:bodyPr rtlCol="0" anchor="ctr"/>
          <a:lstStyle/>
          <a:p/>
        </p:txBody>
      </p:sp>
      <p:sp>
        <p:nvSpPr>
          <p:cNvPr id="14" name="TextBox 13"/>
          <p:cNvSpPr txBox="1"/>
          <p:nvPr/>
        </p:nvSpPr>
        <p:spPr>
          <a:xfrm>
            <a:off x="658368" y="2624328"/>
            <a:ext cx="3718407" cy="420624"/>
          </a:xfrm>
          <a:prstGeom prst="rect">
            <a:avLst/>
          </a:prstGeom>
          <a:noFill/>
        </p:spPr>
        <p:txBody>
          <a:bodyPr wrap="square" lIns="0" rIns="0" tIns="0" bIns="0" anchor="ctr">
            <a:spAutoFit/>
          </a:bodyPr>
          <a:lstStyle/>
          <a:p>
            <a:pPr algn="l"/>
            <a:r>
              <a:rPr sz="1500" b="0" i="0">
                <a:solidFill>
                  <a:srgbClr val="1B2530"/>
                </a:solidFill>
                <a:latin typeface="Arial"/>
              </a:rPr>
              <a:t>Réduction, recherche pleine image</a:t>
            </a:r>
          </a:p>
        </p:txBody>
      </p:sp>
      <p:sp>
        <p:nvSpPr>
          <p:cNvPr id="15" name="TextBox 14"/>
          <p:cNvSpPr txBox="1"/>
          <p:nvPr/>
        </p:nvSpPr>
        <p:spPr>
          <a:xfrm>
            <a:off x="4267047" y="2624328"/>
            <a:ext cx="1554480" cy="420624"/>
          </a:xfrm>
          <a:prstGeom prst="rect">
            <a:avLst/>
          </a:prstGeom>
          <a:noFill/>
        </p:spPr>
        <p:txBody>
          <a:bodyPr wrap="square" lIns="0" rIns="0" tIns="0" bIns="0" anchor="ctr">
            <a:spAutoFit/>
          </a:bodyPr>
          <a:lstStyle/>
          <a:p>
            <a:pPr algn="r"/>
            <a:r>
              <a:rPr sz="1500" b="1" i="0">
                <a:solidFill>
                  <a:srgbClr val="1F3A5F"/>
                </a:solidFill>
                <a:latin typeface="Arial"/>
              </a:rPr>
              <a:t>0,45</a:t>
            </a:r>
          </a:p>
        </p:txBody>
      </p:sp>
      <p:sp>
        <p:nvSpPr>
          <p:cNvPr id="16" name="TextBox 15"/>
          <p:cNvSpPr txBox="1"/>
          <p:nvPr/>
        </p:nvSpPr>
        <p:spPr>
          <a:xfrm>
            <a:off x="658368" y="3044952"/>
            <a:ext cx="3718407" cy="420624"/>
          </a:xfrm>
          <a:prstGeom prst="rect">
            <a:avLst/>
          </a:prstGeom>
          <a:noFill/>
        </p:spPr>
        <p:txBody>
          <a:bodyPr wrap="square" lIns="0" rIns="0" tIns="0" bIns="0" anchor="ctr">
            <a:spAutoFit/>
          </a:bodyPr>
          <a:lstStyle/>
          <a:p>
            <a:pPr algn="l"/>
            <a:r>
              <a:rPr sz="1500" b="0" i="0">
                <a:solidFill>
                  <a:srgbClr val="1B2530"/>
                </a:solidFill>
                <a:latin typeface="Arial"/>
              </a:rPr>
              <a:t>Marge de recherche suivie</a:t>
            </a:r>
          </a:p>
        </p:txBody>
      </p:sp>
      <p:sp>
        <p:nvSpPr>
          <p:cNvPr id="17" name="TextBox 16"/>
          <p:cNvSpPr txBox="1"/>
          <p:nvPr/>
        </p:nvSpPr>
        <p:spPr>
          <a:xfrm>
            <a:off x="4267047" y="3044952"/>
            <a:ext cx="1554480" cy="420624"/>
          </a:xfrm>
          <a:prstGeom prst="rect">
            <a:avLst/>
          </a:prstGeom>
          <a:noFill/>
        </p:spPr>
        <p:txBody>
          <a:bodyPr wrap="square" lIns="0" rIns="0" tIns="0" bIns="0" anchor="ctr">
            <a:spAutoFit/>
          </a:bodyPr>
          <a:lstStyle/>
          <a:p>
            <a:pPr algn="r"/>
            <a:r>
              <a:rPr sz="1500" b="1" i="0">
                <a:solidFill>
                  <a:srgbClr val="1F3A5F"/>
                </a:solidFill>
                <a:latin typeface="Arial"/>
              </a:rPr>
              <a:t>20 %</a:t>
            </a:r>
          </a:p>
        </p:txBody>
      </p:sp>
      <p:sp>
        <p:nvSpPr>
          <p:cNvPr id="18" name="Rectangle 17"/>
          <p:cNvSpPr/>
          <p:nvPr/>
        </p:nvSpPr>
        <p:spPr>
          <a:xfrm>
            <a:off x="548640" y="3465576"/>
            <a:ext cx="5410047" cy="420624"/>
          </a:xfrm>
          <a:prstGeom prst="rect">
            <a:avLst/>
          </a:prstGeom>
          <a:solidFill>
            <a:srgbClr val="EEF2F6"/>
          </a:solidFill>
          <a:ln>
            <a:noFill/>
          </a:ln>
        </p:spPr>
        <p:txBody>
          <a:bodyPr rtlCol="0" anchor="ctr"/>
          <a:lstStyle/>
          <a:p/>
        </p:txBody>
      </p:sp>
      <p:sp>
        <p:nvSpPr>
          <p:cNvPr id="19" name="TextBox 18"/>
          <p:cNvSpPr txBox="1"/>
          <p:nvPr/>
        </p:nvSpPr>
        <p:spPr>
          <a:xfrm>
            <a:off x="658368" y="3465576"/>
            <a:ext cx="3718407" cy="420624"/>
          </a:xfrm>
          <a:prstGeom prst="rect">
            <a:avLst/>
          </a:prstGeom>
          <a:noFill/>
        </p:spPr>
        <p:txBody>
          <a:bodyPr wrap="square" lIns="0" rIns="0" tIns="0" bIns="0" anchor="ctr">
            <a:spAutoFit/>
          </a:bodyPr>
          <a:lstStyle/>
          <a:p>
            <a:pPr algn="l"/>
            <a:r>
              <a:rPr sz="1500" b="0" i="0">
                <a:solidFill>
                  <a:srgbClr val="1B2530"/>
                </a:solidFill>
                <a:latin typeface="Arial"/>
              </a:rPr>
              <a:t>Canny bas / haut (× médiane)</a:t>
            </a:r>
          </a:p>
        </p:txBody>
      </p:sp>
      <p:sp>
        <p:nvSpPr>
          <p:cNvPr id="20" name="TextBox 19"/>
          <p:cNvSpPr txBox="1"/>
          <p:nvPr/>
        </p:nvSpPr>
        <p:spPr>
          <a:xfrm>
            <a:off x="4267047" y="3465576"/>
            <a:ext cx="1554480" cy="420624"/>
          </a:xfrm>
          <a:prstGeom prst="rect">
            <a:avLst/>
          </a:prstGeom>
          <a:noFill/>
        </p:spPr>
        <p:txBody>
          <a:bodyPr wrap="square" lIns="0" rIns="0" tIns="0" bIns="0" anchor="ctr">
            <a:spAutoFit/>
          </a:bodyPr>
          <a:lstStyle/>
          <a:p>
            <a:pPr algn="r"/>
            <a:r>
              <a:rPr sz="1500" b="1" i="0">
                <a:solidFill>
                  <a:srgbClr val="1F3A5F"/>
                </a:solidFill>
                <a:latin typeface="Arial"/>
              </a:rPr>
              <a:t>0,66 / 1,33</a:t>
            </a:r>
          </a:p>
        </p:txBody>
      </p:sp>
      <p:sp>
        <p:nvSpPr>
          <p:cNvPr id="21" name="TextBox 20"/>
          <p:cNvSpPr txBox="1"/>
          <p:nvPr/>
        </p:nvSpPr>
        <p:spPr>
          <a:xfrm>
            <a:off x="658368" y="3886200"/>
            <a:ext cx="3718407" cy="420624"/>
          </a:xfrm>
          <a:prstGeom prst="rect">
            <a:avLst/>
          </a:prstGeom>
          <a:noFill/>
        </p:spPr>
        <p:txBody>
          <a:bodyPr wrap="square" lIns="0" rIns="0" tIns="0" bIns="0" anchor="ctr">
            <a:spAutoFit/>
          </a:bodyPr>
          <a:lstStyle/>
          <a:p>
            <a:pPr algn="l"/>
            <a:r>
              <a:rPr sz="1500" b="0" i="0">
                <a:solidFill>
                  <a:srgbClr val="1B2530"/>
                </a:solidFill>
                <a:latin typeface="Arial"/>
              </a:rPr>
              <a:t>Aire de contour minimale</a:t>
            </a:r>
          </a:p>
        </p:txBody>
      </p:sp>
      <p:sp>
        <p:nvSpPr>
          <p:cNvPr id="22" name="TextBox 21"/>
          <p:cNvSpPr txBox="1"/>
          <p:nvPr/>
        </p:nvSpPr>
        <p:spPr>
          <a:xfrm>
            <a:off x="4267047" y="3886200"/>
            <a:ext cx="1554480" cy="420624"/>
          </a:xfrm>
          <a:prstGeom prst="rect">
            <a:avLst/>
          </a:prstGeom>
          <a:noFill/>
        </p:spPr>
        <p:txBody>
          <a:bodyPr wrap="square" lIns="0" rIns="0" tIns="0" bIns="0" anchor="ctr">
            <a:spAutoFit/>
          </a:bodyPr>
          <a:lstStyle/>
          <a:p>
            <a:pPr algn="r"/>
            <a:r>
              <a:rPr sz="1500" b="1" i="0">
                <a:solidFill>
                  <a:srgbClr val="1F3A5F"/>
                </a:solidFill>
                <a:latin typeface="Arial"/>
              </a:rPr>
              <a:t>3,5 %</a:t>
            </a:r>
          </a:p>
        </p:txBody>
      </p:sp>
      <p:sp>
        <p:nvSpPr>
          <p:cNvPr id="23" name="Rectangle 22"/>
          <p:cNvSpPr/>
          <p:nvPr/>
        </p:nvSpPr>
        <p:spPr>
          <a:xfrm>
            <a:off x="548640" y="4306824"/>
            <a:ext cx="5410047" cy="420624"/>
          </a:xfrm>
          <a:prstGeom prst="rect">
            <a:avLst/>
          </a:prstGeom>
          <a:solidFill>
            <a:srgbClr val="EEF2F6"/>
          </a:solidFill>
          <a:ln>
            <a:noFill/>
          </a:ln>
        </p:spPr>
        <p:txBody>
          <a:bodyPr rtlCol="0" anchor="ctr"/>
          <a:lstStyle/>
          <a:p/>
        </p:txBody>
      </p:sp>
      <p:sp>
        <p:nvSpPr>
          <p:cNvPr id="24" name="TextBox 23"/>
          <p:cNvSpPr txBox="1"/>
          <p:nvPr/>
        </p:nvSpPr>
        <p:spPr>
          <a:xfrm>
            <a:off x="658368" y="4306824"/>
            <a:ext cx="3718407" cy="420624"/>
          </a:xfrm>
          <a:prstGeom prst="rect">
            <a:avLst/>
          </a:prstGeom>
          <a:noFill/>
        </p:spPr>
        <p:txBody>
          <a:bodyPr wrap="square" lIns="0" rIns="0" tIns="0" bIns="0" anchor="ctr">
            <a:spAutoFit/>
          </a:bodyPr>
          <a:lstStyle/>
          <a:p>
            <a:pPr algn="l"/>
            <a:r>
              <a:rPr sz="1500" b="0" i="0">
                <a:solidFill>
                  <a:srgbClr val="1B2530"/>
                </a:solidFill>
                <a:latin typeface="Arial"/>
              </a:rPr>
              <a:t>Aire maximale acceptée</a:t>
            </a:r>
          </a:p>
        </p:txBody>
      </p:sp>
      <p:sp>
        <p:nvSpPr>
          <p:cNvPr id="25" name="TextBox 24"/>
          <p:cNvSpPr txBox="1"/>
          <p:nvPr/>
        </p:nvSpPr>
        <p:spPr>
          <a:xfrm>
            <a:off x="4267047" y="4306824"/>
            <a:ext cx="1554480" cy="420624"/>
          </a:xfrm>
          <a:prstGeom prst="rect">
            <a:avLst/>
          </a:prstGeom>
          <a:noFill/>
        </p:spPr>
        <p:txBody>
          <a:bodyPr wrap="square" lIns="0" rIns="0" tIns="0" bIns="0" anchor="ctr">
            <a:spAutoFit/>
          </a:bodyPr>
          <a:lstStyle/>
          <a:p>
            <a:pPr algn="r"/>
            <a:r>
              <a:rPr sz="1500" b="1" i="0">
                <a:solidFill>
                  <a:srgbClr val="1F3A5F"/>
                </a:solidFill>
                <a:latin typeface="Arial"/>
              </a:rPr>
              <a:t>75 %</a:t>
            </a:r>
          </a:p>
        </p:txBody>
      </p:sp>
      <p:sp>
        <p:nvSpPr>
          <p:cNvPr id="26" name="TextBox 25"/>
          <p:cNvSpPr txBox="1"/>
          <p:nvPr/>
        </p:nvSpPr>
        <p:spPr>
          <a:xfrm>
            <a:off x="658368" y="4727448"/>
            <a:ext cx="3718407" cy="420624"/>
          </a:xfrm>
          <a:prstGeom prst="rect">
            <a:avLst/>
          </a:prstGeom>
          <a:noFill/>
        </p:spPr>
        <p:txBody>
          <a:bodyPr wrap="square" lIns="0" rIns="0" tIns="0" bIns="0" anchor="ctr">
            <a:spAutoFit/>
          </a:bodyPr>
          <a:lstStyle/>
          <a:p>
            <a:pPr algn="l"/>
            <a:r>
              <a:rPr sz="1500" b="0" i="0">
                <a:solidFill>
                  <a:srgbClr val="1B2530"/>
                </a:solidFill>
                <a:latin typeface="Arial"/>
              </a:rPr>
              <a:t>Pénalité quad non net</a:t>
            </a:r>
          </a:p>
        </p:txBody>
      </p:sp>
      <p:sp>
        <p:nvSpPr>
          <p:cNvPr id="27" name="TextBox 26"/>
          <p:cNvSpPr txBox="1"/>
          <p:nvPr/>
        </p:nvSpPr>
        <p:spPr>
          <a:xfrm>
            <a:off x="4267047" y="4727448"/>
            <a:ext cx="1554480" cy="420624"/>
          </a:xfrm>
          <a:prstGeom prst="rect">
            <a:avLst/>
          </a:prstGeom>
          <a:noFill/>
        </p:spPr>
        <p:txBody>
          <a:bodyPr wrap="square" lIns="0" rIns="0" tIns="0" bIns="0" anchor="ctr">
            <a:spAutoFit/>
          </a:bodyPr>
          <a:lstStyle/>
          <a:p>
            <a:pPr algn="r"/>
            <a:r>
              <a:rPr sz="1500" b="1" i="0">
                <a:solidFill>
                  <a:srgbClr val="1F3A5F"/>
                </a:solidFill>
                <a:latin typeface="Arial"/>
              </a:rPr>
              <a:t>× 0,85</a:t>
            </a:r>
          </a:p>
        </p:txBody>
      </p:sp>
      <p:sp>
        <p:nvSpPr>
          <p:cNvPr id="28" name="Rectangle 27"/>
          <p:cNvSpPr/>
          <p:nvPr/>
        </p:nvSpPr>
        <p:spPr>
          <a:xfrm>
            <a:off x="548640" y="5148072"/>
            <a:ext cx="5410047" cy="420624"/>
          </a:xfrm>
          <a:prstGeom prst="rect">
            <a:avLst/>
          </a:prstGeom>
          <a:solidFill>
            <a:srgbClr val="EEF2F6"/>
          </a:solidFill>
          <a:ln>
            <a:noFill/>
          </a:ln>
        </p:spPr>
        <p:txBody>
          <a:bodyPr rtlCol="0" anchor="ctr"/>
          <a:lstStyle/>
          <a:p/>
        </p:txBody>
      </p:sp>
      <p:sp>
        <p:nvSpPr>
          <p:cNvPr id="29" name="TextBox 28"/>
          <p:cNvSpPr txBox="1"/>
          <p:nvPr/>
        </p:nvSpPr>
        <p:spPr>
          <a:xfrm>
            <a:off x="658368" y="5148072"/>
            <a:ext cx="3718407" cy="420624"/>
          </a:xfrm>
          <a:prstGeom prst="rect">
            <a:avLst/>
          </a:prstGeom>
          <a:noFill/>
        </p:spPr>
        <p:txBody>
          <a:bodyPr wrap="square" lIns="0" rIns="0" tIns="0" bIns="0" anchor="ctr">
            <a:spAutoFit/>
          </a:bodyPr>
          <a:lstStyle/>
          <a:p>
            <a:pPr algn="l"/>
            <a:r>
              <a:rPr sz="1500" b="0" i="0">
                <a:solidFill>
                  <a:srgbClr val="1B2530"/>
                </a:solidFill>
                <a:latin typeface="Arial"/>
              </a:rPr>
              <a:t>Proportion / taille (score)</a:t>
            </a:r>
          </a:p>
        </p:txBody>
      </p:sp>
      <p:sp>
        <p:nvSpPr>
          <p:cNvPr id="30" name="TextBox 29"/>
          <p:cNvSpPr txBox="1"/>
          <p:nvPr/>
        </p:nvSpPr>
        <p:spPr>
          <a:xfrm>
            <a:off x="4267047" y="5148072"/>
            <a:ext cx="1554480" cy="420624"/>
          </a:xfrm>
          <a:prstGeom prst="rect">
            <a:avLst/>
          </a:prstGeom>
          <a:noFill/>
        </p:spPr>
        <p:txBody>
          <a:bodyPr wrap="square" lIns="0" rIns="0" tIns="0" bIns="0" anchor="ctr">
            <a:spAutoFit/>
          </a:bodyPr>
          <a:lstStyle/>
          <a:p>
            <a:pPr algn="r"/>
            <a:r>
              <a:rPr sz="1500" b="1" i="0">
                <a:solidFill>
                  <a:srgbClr val="1F3A5F"/>
                </a:solidFill>
                <a:latin typeface="Arial"/>
              </a:rPr>
              <a:t>0,8 / 0,2</a:t>
            </a:r>
          </a:p>
        </p:txBody>
      </p:sp>
      <p:sp>
        <p:nvSpPr>
          <p:cNvPr id="31" name="TextBox 30"/>
          <p:cNvSpPr txBox="1"/>
          <p:nvPr/>
        </p:nvSpPr>
        <p:spPr>
          <a:xfrm>
            <a:off x="658368" y="5568696"/>
            <a:ext cx="3718407" cy="420624"/>
          </a:xfrm>
          <a:prstGeom prst="rect">
            <a:avLst/>
          </a:prstGeom>
          <a:noFill/>
        </p:spPr>
        <p:txBody>
          <a:bodyPr wrap="square" lIns="0" rIns="0" tIns="0" bIns="0" anchor="ctr">
            <a:spAutoFit/>
          </a:bodyPr>
          <a:lstStyle/>
          <a:p>
            <a:pPr algn="l"/>
            <a:r>
              <a:rPr sz="1500" b="0" i="0">
                <a:solidFill>
                  <a:srgbClr val="1B2530"/>
                </a:solidFill>
                <a:latin typeface="Arial"/>
              </a:rPr>
              <a:t>Redressement</a:t>
            </a:r>
          </a:p>
        </p:txBody>
      </p:sp>
      <p:sp>
        <p:nvSpPr>
          <p:cNvPr id="32" name="TextBox 31"/>
          <p:cNvSpPr txBox="1"/>
          <p:nvPr/>
        </p:nvSpPr>
        <p:spPr>
          <a:xfrm>
            <a:off x="4267047" y="5568696"/>
            <a:ext cx="1554480" cy="420624"/>
          </a:xfrm>
          <a:prstGeom prst="rect">
            <a:avLst/>
          </a:prstGeom>
          <a:noFill/>
        </p:spPr>
        <p:txBody>
          <a:bodyPr wrap="square" lIns="0" rIns="0" tIns="0" bIns="0" anchor="ctr">
            <a:spAutoFit/>
          </a:bodyPr>
          <a:lstStyle/>
          <a:p>
            <a:pPr algn="r"/>
            <a:r>
              <a:rPr sz="1500" b="1" i="0">
                <a:solidFill>
                  <a:srgbClr val="1F3A5F"/>
                </a:solidFill>
                <a:latin typeface="Arial"/>
              </a:rPr>
              <a:t>856 × 540 px</a:t>
            </a:r>
          </a:p>
        </p:txBody>
      </p:sp>
      <p:sp>
        <p:nvSpPr>
          <p:cNvPr id="33" name="Rectangle 32"/>
          <p:cNvSpPr/>
          <p:nvPr/>
        </p:nvSpPr>
        <p:spPr>
          <a:xfrm>
            <a:off x="6233007" y="1783080"/>
            <a:ext cx="5410047" cy="420624"/>
          </a:xfrm>
          <a:prstGeom prst="rect">
            <a:avLst/>
          </a:prstGeom>
          <a:solidFill>
            <a:srgbClr val="EEF2F6"/>
          </a:solidFill>
          <a:ln>
            <a:noFill/>
          </a:ln>
        </p:spPr>
        <p:txBody>
          <a:bodyPr rtlCol="0" anchor="ctr"/>
          <a:lstStyle/>
          <a:p/>
        </p:txBody>
      </p:sp>
      <p:sp>
        <p:nvSpPr>
          <p:cNvPr id="34" name="TextBox 33"/>
          <p:cNvSpPr txBox="1"/>
          <p:nvPr/>
        </p:nvSpPr>
        <p:spPr>
          <a:xfrm>
            <a:off x="6342735" y="1783080"/>
            <a:ext cx="3718407" cy="420624"/>
          </a:xfrm>
          <a:prstGeom prst="rect">
            <a:avLst/>
          </a:prstGeom>
          <a:noFill/>
        </p:spPr>
        <p:txBody>
          <a:bodyPr wrap="square" lIns="0" rIns="0" tIns="0" bIns="0" anchor="ctr">
            <a:spAutoFit/>
          </a:bodyPr>
          <a:lstStyle/>
          <a:p>
            <a:pPr algn="l"/>
            <a:r>
              <a:rPr sz="1500" b="0" i="0">
                <a:solidFill>
                  <a:srgbClr val="1B2530"/>
                </a:solidFill>
                <a:latin typeface="Arial"/>
              </a:rPr>
              <a:t>Netteté minimale (Laplacien)</a:t>
            </a:r>
          </a:p>
        </p:txBody>
      </p:sp>
      <p:sp>
        <p:nvSpPr>
          <p:cNvPr id="35" name="TextBox 34"/>
          <p:cNvSpPr txBox="1"/>
          <p:nvPr/>
        </p:nvSpPr>
        <p:spPr>
          <a:xfrm>
            <a:off x="9951415" y="1783080"/>
            <a:ext cx="1554480" cy="420624"/>
          </a:xfrm>
          <a:prstGeom prst="rect">
            <a:avLst/>
          </a:prstGeom>
          <a:noFill/>
        </p:spPr>
        <p:txBody>
          <a:bodyPr wrap="square" lIns="0" rIns="0" tIns="0" bIns="0" anchor="ctr">
            <a:spAutoFit/>
          </a:bodyPr>
          <a:lstStyle/>
          <a:p>
            <a:pPr algn="r"/>
            <a:r>
              <a:rPr sz="1500" b="1" i="0">
                <a:solidFill>
                  <a:srgbClr val="1F3A5F"/>
                </a:solidFill>
                <a:latin typeface="Arial"/>
              </a:rPr>
              <a:t>120</a:t>
            </a:r>
          </a:p>
        </p:txBody>
      </p:sp>
      <p:sp>
        <p:nvSpPr>
          <p:cNvPr id="36" name="TextBox 35"/>
          <p:cNvSpPr txBox="1"/>
          <p:nvPr/>
        </p:nvSpPr>
        <p:spPr>
          <a:xfrm>
            <a:off x="6342735" y="2203704"/>
            <a:ext cx="3718407" cy="420624"/>
          </a:xfrm>
          <a:prstGeom prst="rect">
            <a:avLst/>
          </a:prstGeom>
          <a:noFill/>
        </p:spPr>
        <p:txBody>
          <a:bodyPr wrap="square" lIns="0" rIns="0" tIns="0" bIns="0" anchor="ctr">
            <a:spAutoFit/>
          </a:bodyPr>
          <a:lstStyle/>
          <a:p>
            <a:pPr algn="l"/>
            <a:r>
              <a:rPr sz="1500" b="0" i="0">
                <a:solidFill>
                  <a:srgbClr val="1B2530"/>
                </a:solidFill>
                <a:latin typeface="Arial"/>
              </a:rPr>
              <a:t>Luminosité moyenne</a:t>
            </a:r>
          </a:p>
        </p:txBody>
      </p:sp>
      <p:sp>
        <p:nvSpPr>
          <p:cNvPr id="37" name="TextBox 36"/>
          <p:cNvSpPr txBox="1"/>
          <p:nvPr/>
        </p:nvSpPr>
        <p:spPr>
          <a:xfrm>
            <a:off x="9951415" y="2203704"/>
            <a:ext cx="1554480" cy="420624"/>
          </a:xfrm>
          <a:prstGeom prst="rect">
            <a:avLst/>
          </a:prstGeom>
          <a:noFill/>
        </p:spPr>
        <p:txBody>
          <a:bodyPr wrap="square" lIns="0" rIns="0" tIns="0" bIns="0" anchor="ctr">
            <a:spAutoFit/>
          </a:bodyPr>
          <a:lstStyle/>
          <a:p>
            <a:pPr algn="r"/>
            <a:r>
              <a:rPr sz="1500" b="1" i="0">
                <a:solidFill>
                  <a:srgbClr val="1F3A5F"/>
                </a:solidFill>
                <a:latin typeface="Arial"/>
              </a:rPr>
              <a:t>[60 ; 225]</a:t>
            </a:r>
          </a:p>
        </p:txBody>
      </p:sp>
      <p:sp>
        <p:nvSpPr>
          <p:cNvPr id="38" name="Rectangle 37"/>
          <p:cNvSpPr/>
          <p:nvPr/>
        </p:nvSpPr>
        <p:spPr>
          <a:xfrm>
            <a:off x="6233007" y="2624328"/>
            <a:ext cx="5410047" cy="420624"/>
          </a:xfrm>
          <a:prstGeom prst="rect">
            <a:avLst/>
          </a:prstGeom>
          <a:solidFill>
            <a:srgbClr val="EEF2F6"/>
          </a:solidFill>
          <a:ln>
            <a:noFill/>
          </a:ln>
        </p:spPr>
        <p:txBody>
          <a:bodyPr rtlCol="0" anchor="ctr"/>
          <a:lstStyle/>
          <a:p/>
        </p:txBody>
      </p:sp>
      <p:sp>
        <p:nvSpPr>
          <p:cNvPr id="39" name="TextBox 38"/>
          <p:cNvSpPr txBox="1"/>
          <p:nvPr/>
        </p:nvSpPr>
        <p:spPr>
          <a:xfrm>
            <a:off x="6342735" y="2624328"/>
            <a:ext cx="3718407" cy="420624"/>
          </a:xfrm>
          <a:prstGeom prst="rect">
            <a:avLst/>
          </a:prstGeom>
          <a:noFill/>
        </p:spPr>
        <p:txBody>
          <a:bodyPr wrap="square" lIns="0" rIns="0" tIns="0" bIns="0" anchor="ctr">
            <a:spAutoFit/>
          </a:bodyPr>
          <a:lstStyle/>
          <a:p>
            <a:pPr algn="l"/>
            <a:r>
              <a:rPr sz="1500" b="0" i="0">
                <a:solidFill>
                  <a:srgbClr val="1B2530"/>
                </a:solidFill>
                <a:latin typeface="Arial"/>
              </a:rPr>
              <a:t>Pixels saturés tolérés (≥ 250)</a:t>
            </a:r>
          </a:p>
        </p:txBody>
      </p:sp>
      <p:sp>
        <p:nvSpPr>
          <p:cNvPr id="40" name="TextBox 39"/>
          <p:cNvSpPr txBox="1"/>
          <p:nvPr/>
        </p:nvSpPr>
        <p:spPr>
          <a:xfrm>
            <a:off x="9951415" y="2624328"/>
            <a:ext cx="1554480" cy="420624"/>
          </a:xfrm>
          <a:prstGeom prst="rect">
            <a:avLst/>
          </a:prstGeom>
          <a:noFill/>
        </p:spPr>
        <p:txBody>
          <a:bodyPr wrap="square" lIns="0" rIns="0" tIns="0" bIns="0" anchor="ctr">
            <a:spAutoFit/>
          </a:bodyPr>
          <a:lstStyle/>
          <a:p>
            <a:pPr algn="r"/>
            <a:r>
              <a:rPr sz="1500" b="1" i="0">
                <a:solidFill>
                  <a:srgbClr val="1F3A5F"/>
                </a:solidFill>
                <a:latin typeface="Arial"/>
              </a:rPr>
              <a:t>12 %</a:t>
            </a:r>
          </a:p>
        </p:txBody>
      </p:sp>
      <p:sp>
        <p:nvSpPr>
          <p:cNvPr id="41" name="TextBox 40"/>
          <p:cNvSpPr txBox="1"/>
          <p:nvPr/>
        </p:nvSpPr>
        <p:spPr>
          <a:xfrm>
            <a:off x="6342735" y="3044952"/>
            <a:ext cx="3718407" cy="420624"/>
          </a:xfrm>
          <a:prstGeom prst="rect">
            <a:avLst/>
          </a:prstGeom>
          <a:noFill/>
        </p:spPr>
        <p:txBody>
          <a:bodyPr wrap="square" lIns="0" rIns="0" tIns="0" bIns="0" anchor="ctr">
            <a:spAutoFit/>
          </a:bodyPr>
          <a:lstStyle/>
          <a:p>
            <a:pPr algn="l"/>
            <a:r>
              <a:rPr sz="1500" b="0" i="0">
                <a:solidFill>
                  <a:srgbClr val="1B2530"/>
                </a:solidFill>
                <a:latin typeface="Arial"/>
              </a:rPr>
              <a:t>Dérive de coin maximale</a:t>
            </a:r>
          </a:p>
        </p:txBody>
      </p:sp>
      <p:sp>
        <p:nvSpPr>
          <p:cNvPr id="42" name="TextBox 41"/>
          <p:cNvSpPr txBox="1"/>
          <p:nvPr/>
        </p:nvSpPr>
        <p:spPr>
          <a:xfrm>
            <a:off x="9951415" y="3044952"/>
            <a:ext cx="1554480" cy="420624"/>
          </a:xfrm>
          <a:prstGeom prst="rect">
            <a:avLst/>
          </a:prstGeom>
          <a:noFill/>
        </p:spPr>
        <p:txBody>
          <a:bodyPr wrap="square" lIns="0" rIns="0" tIns="0" bIns="0" anchor="ctr">
            <a:spAutoFit/>
          </a:bodyPr>
          <a:lstStyle/>
          <a:p>
            <a:pPr algn="r"/>
            <a:r>
              <a:rPr sz="1500" b="1" i="0">
                <a:solidFill>
                  <a:srgbClr val="1F3A5F"/>
                </a:solidFill>
                <a:latin typeface="Arial"/>
              </a:rPr>
              <a:t>2,5 % diag.</a:t>
            </a:r>
          </a:p>
        </p:txBody>
      </p:sp>
      <p:sp>
        <p:nvSpPr>
          <p:cNvPr id="43" name="Rectangle 42"/>
          <p:cNvSpPr/>
          <p:nvPr/>
        </p:nvSpPr>
        <p:spPr>
          <a:xfrm>
            <a:off x="6233007" y="3465576"/>
            <a:ext cx="5410047" cy="420624"/>
          </a:xfrm>
          <a:prstGeom prst="rect">
            <a:avLst/>
          </a:prstGeom>
          <a:solidFill>
            <a:srgbClr val="EEF2F6"/>
          </a:solidFill>
          <a:ln>
            <a:noFill/>
          </a:ln>
        </p:spPr>
        <p:txBody>
          <a:bodyPr rtlCol="0" anchor="ctr"/>
          <a:lstStyle/>
          <a:p/>
        </p:txBody>
      </p:sp>
      <p:sp>
        <p:nvSpPr>
          <p:cNvPr id="44" name="TextBox 43"/>
          <p:cNvSpPr txBox="1"/>
          <p:nvPr/>
        </p:nvSpPr>
        <p:spPr>
          <a:xfrm>
            <a:off x="6342735" y="3465576"/>
            <a:ext cx="3718407" cy="420624"/>
          </a:xfrm>
          <a:prstGeom prst="rect">
            <a:avLst/>
          </a:prstGeom>
          <a:noFill/>
        </p:spPr>
        <p:txBody>
          <a:bodyPr wrap="square" lIns="0" rIns="0" tIns="0" bIns="0" anchor="ctr">
            <a:spAutoFit/>
          </a:bodyPr>
          <a:lstStyle/>
          <a:p>
            <a:pPr algn="l"/>
            <a:r>
              <a:rPr sz="1500" b="0" i="0">
                <a:solidFill>
                  <a:srgbClr val="1B2530"/>
                </a:solidFill>
                <a:latin typeface="Arial"/>
              </a:rPr>
              <a:t>Frames stables / reset</a:t>
            </a:r>
          </a:p>
        </p:txBody>
      </p:sp>
      <p:sp>
        <p:nvSpPr>
          <p:cNvPr id="45" name="TextBox 44"/>
          <p:cNvSpPr txBox="1"/>
          <p:nvPr/>
        </p:nvSpPr>
        <p:spPr>
          <a:xfrm>
            <a:off x="9951415" y="3465576"/>
            <a:ext cx="1554480" cy="420624"/>
          </a:xfrm>
          <a:prstGeom prst="rect">
            <a:avLst/>
          </a:prstGeom>
          <a:noFill/>
        </p:spPr>
        <p:txBody>
          <a:bodyPr wrap="square" lIns="0" rIns="0" tIns="0" bIns="0" anchor="ctr">
            <a:spAutoFit/>
          </a:bodyPr>
          <a:lstStyle/>
          <a:p>
            <a:pPr algn="r"/>
            <a:r>
              <a:rPr sz="1500" b="1" i="0">
                <a:solidFill>
                  <a:srgbClr val="1F3A5F"/>
                </a:solidFill>
                <a:latin typeface="Arial"/>
              </a:rPr>
              <a:t>3 / 2</a:t>
            </a:r>
          </a:p>
        </p:txBody>
      </p:sp>
      <p:sp>
        <p:nvSpPr>
          <p:cNvPr id="46" name="TextBox 45"/>
          <p:cNvSpPr txBox="1"/>
          <p:nvPr/>
        </p:nvSpPr>
        <p:spPr>
          <a:xfrm>
            <a:off x="6342735" y="3886200"/>
            <a:ext cx="3718407" cy="420624"/>
          </a:xfrm>
          <a:prstGeom prst="rect">
            <a:avLst/>
          </a:prstGeom>
          <a:noFill/>
        </p:spPr>
        <p:txBody>
          <a:bodyPr wrap="square" lIns="0" rIns="0" tIns="0" bIns="0" anchor="ctr">
            <a:spAutoFit/>
          </a:bodyPr>
          <a:lstStyle/>
          <a:p>
            <a:pPr algn="l"/>
            <a:r>
              <a:rPr sz="1500" b="0" i="0">
                <a:solidFill>
                  <a:srgbClr val="1B2530"/>
                </a:solidFill>
                <a:latin typeface="Arial"/>
              </a:rPr>
              <a:t>Frames de maintien</a:t>
            </a:r>
          </a:p>
        </p:txBody>
      </p:sp>
      <p:sp>
        <p:nvSpPr>
          <p:cNvPr id="47" name="TextBox 46"/>
          <p:cNvSpPr txBox="1"/>
          <p:nvPr/>
        </p:nvSpPr>
        <p:spPr>
          <a:xfrm>
            <a:off x="9951415" y="3886200"/>
            <a:ext cx="1554480" cy="420624"/>
          </a:xfrm>
          <a:prstGeom prst="rect">
            <a:avLst/>
          </a:prstGeom>
          <a:noFill/>
        </p:spPr>
        <p:txBody>
          <a:bodyPr wrap="square" lIns="0" rIns="0" tIns="0" bIns="0" anchor="ctr">
            <a:spAutoFit/>
          </a:bodyPr>
          <a:lstStyle/>
          <a:p>
            <a:pPr algn="r"/>
            <a:r>
              <a:rPr sz="1500" b="1" i="0">
                <a:solidFill>
                  <a:srgbClr val="1F3A5F"/>
                </a:solidFill>
                <a:latin typeface="Arial"/>
              </a:rPr>
              <a:t>2</a:t>
            </a:r>
          </a:p>
        </p:txBody>
      </p:sp>
      <p:sp>
        <p:nvSpPr>
          <p:cNvPr id="48" name="Rectangle 47"/>
          <p:cNvSpPr/>
          <p:nvPr/>
        </p:nvSpPr>
        <p:spPr>
          <a:xfrm>
            <a:off x="6233007" y="4306824"/>
            <a:ext cx="5410047" cy="420624"/>
          </a:xfrm>
          <a:prstGeom prst="rect">
            <a:avLst/>
          </a:prstGeom>
          <a:solidFill>
            <a:srgbClr val="EEF2F6"/>
          </a:solidFill>
          <a:ln>
            <a:noFill/>
          </a:ln>
        </p:spPr>
        <p:txBody>
          <a:bodyPr rtlCol="0" anchor="ctr"/>
          <a:lstStyle/>
          <a:p/>
        </p:txBody>
      </p:sp>
      <p:sp>
        <p:nvSpPr>
          <p:cNvPr id="49" name="TextBox 48"/>
          <p:cNvSpPr txBox="1"/>
          <p:nvPr/>
        </p:nvSpPr>
        <p:spPr>
          <a:xfrm>
            <a:off x="6342735" y="4306824"/>
            <a:ext cx="3718407" cy="420624"/>
          </a:xfrm>
          <a:prstGeom prst="rect">
            <a:avLst/>
          </a:prstGeom>
          <a:noFill/>
        </p:spPr>
        <p:txBody>
          <a:bodyPr wrap="square" lIns="0" rIns="0" tIns="0" bIns="0" anchor="ctr">
            <a:spAutoFit/>
          </a:bodyPr>
          <a:lstStyle/>
          <a:p>
            <a:pPr algn="l"/>
            <a:r>
              <a:rPr sz="1500" b="0" i="0">
                <a:solidFill>
                  <a:srgbClr val="1B2530"/>
                </a:solidFill>
                <a:latin typeface="Arial"/>
              </a:rPr>
              <a:t>Haar : échelle / voisins</a:t>
            </a:r>
          </a:p>
        </p:txBody>
      </p:sp>
      <p:sp>
        <p:nvSpPr>
          <p:cNvPr id="50" name="TextBox 49"/>
          <p:cNvSpPr txBox="1"/>
          <p:nvPr/>
        </p:nvSpPr>
        <p:spPr>
          <a:xfrm>
            <a:off x="9951415" y="4306824"/>
            <a:ext cx="1554480" cy="420624"/>
          </a:xfrm>
          <a:prstGeom prst="rect">
            <a:avLst/>
          </a:prstGeom>
          <a:noFill/>
        </p:spPr>
        <p:txBody>
          <a:bodyPr wrap="square" lIns="0" rIns="0" tIns="0" bIns="0" anchor="ctr">
            <a:spAutoFit/>
          </a:bodyPr>
          <a:lstStyle/>
          <a:p>
            <a:pPr algn="r"/>
            <a:r>
              <a:rPr sz="1500" b="1" i="0">
                <a:solidFill>
                  <a:srgbClr val="1F3A5F"/>
                </a:solidFill>
                <a:latin typeface="Arial"/>
              </a:rPr>
              <a:t>1,05 / 8</a:t>
            </a:r>
          </a:p>
        </p:txBody>
      </p:sp>
      <p:sp>
        <p:nvSpPr>
          <p:cNvPr id="51" name="TextBox 50"/>
          <p:cNvSpPr txBox="1"/>
          <p:nvPr/>
        </p:nvSpPr>
        <p:spPr>
          <a:xfrm>
            <a:off x="6342735" y="4727448"/>
            <a:ext cx="3718407" cy="420624"/>
          </a:xfrm>
          <a:prstGeom prst="rect">
            <a:avLst/>
          </a:prstGeom>
          <a:noFill/>
        </p:spPr>
        <p:txBody>
          <a:bodyPr wrap="square" lIns="0" rIns="0" tIns="0" bIns="0" anchor="ctr">
            <a:spAutoFit/>
          </a:bodyPr>
          <a:lstStyle/>
          <a:p>
            <a:pPr algn="l"/>
            <a:r>
              <a:rPr sz="1500" b="0" i="0">
                <a:solidFill>
                  <a:srgbClr val="1B2530"/>
                </a:solidFill>
                <a:latin typeface="Arial"/>
              </a:rPr>
              <a:t>Corrélation logo / drapeau</a:t>
            </a:r>
          </a:p>
        </p:txBody>
      </p:sp>
      <p:sp>
        <p:nvSpPr>
          <p:cNvPr id="52" name="TextBox 51"/>
          <p:cNvSpPr txBox="1"/>
          <p:nvPr/>
        </p:nvSpPr>
        <p:spPr>
          <a:xfrm>
            <a:off x="9951415" y="4727448"/>
            <a:ext cx="1554480" cy="420624"/>
          </a:xfrm>
          <a:prstGeom prst="rect">
            <a:avLst/>
          </a:prstGeom>
          <a:noFill/>
        </p:spPr>
        <p:txBody>
          <a:bodyPr wrap="square" lIns="0" rIns="0" tIns="0" bIns="0" anchor="ctr">
            <a:spAutoFit/>
          </a:bodyPr>
          <a:lstStyle/>
          <a:p>
            <a:pPr algn="r"/>
            <a:r>
              <a:rPr sz="1500" b="1" i="0">
                <a:solidFill>
                  <a:srgbClr val="1F3A5F"/>
                </a:solidFill>
                <a:latin typeface="Arial"/>
              </a:rPr>
              <a:t>0,6</a:t>
            </a:r>
          </a:p>
        </p:txBody>
      </p:sp>
      <p:sp>
        <p:nvSpPr>
          <p:cNvPr id="53" name="Rectangle 52"/>
          <p:cNvSpPr/>
          <p:nvPr/>
        </p:nvSpPr>
        <p:spPr>
          <a:xfrm>
            <a:off x="6233007" y="5148072"/>
            <a:ext cx="5410047" cy="420624"/>
          </a:xfrm>
          <a:prstGeom prst="rect">
            <a:avLst/>
          </a:prstGeom>
          <a:solidFill>
            <a:srgbClr val="EEF2F6"/>
          </a:solidFill>
          <a:ln>
            <a:noFill/>
          </a:ln>
        </p:spPr>
        <p:txBody>
          <a:bodyPr rtlCol="0" anchor="ctr"/>
          <a:lstStyle/>
          <a:p/>
        </p:txBody>
      </p:sp>
      <p:sp>
        <p:nvSpPr>
          <p:cNvPr id="54" name="TextBox 53"/>
          <p:cNvSpPr txBox="1"/>
          <p:nvPr/>
        </p:nvSpPr>
        <p:spPr>
          <a:xfrm>
            <a:off x="6342735" y="5148072"/>
            <a:ext cx="3718407" cy="420624"/>
          </a:xfrm>
          <a:prstGeom prst="rect">
            <a:avLst/>
          </a:prstGeom>
          <a:noFill/>
        </p:spPr>
        <p:txBody>
          <a:bodyPr wrap="square" lIns="0" rIns="0" tIns="0" bIns="0" anchor="ctr">
            <a:spAutoFit/>
          </a:bodyPr>
          <a:lstStyle/>
          <a:p>
            <a:pPr algn="l"/>
            <a:r>
              <a:rPr sz="1500" b="0" i="0">
                <a:solidFill>
                  <a:srgbClr val="1B2530"/>
                </a:solidFill>
                <a:latin typeface="Arial"/>
              </a:rPr>
              <a:t>Variance empreinte</a:t>
            </a:r>
          </a:p>
        </p:txBody>
      </p:sp>
      <p:sp>
        <p:nvSpPr>
          <p:cNvPr id="55" name="TextBox 54"/>
          <p:cNvSpPr txBox="1"/>
          <p:nvPr/>
        </p:nvSpPr>
        <p:spPr>
          <a:xfrm>
            <a:off x="9951415" y="5148072"/>
            <a:ext cx="1554480" cy="420624"/>
          </a:xfrm>
          <a:prstGeom prst="rect">
            <a:avLst/>
          </a:prstGeom>
          <a:noFill/>
        </p:spPr>
        <p:txBody>
          <a:bodyPr wrap="square" lIns="0" rIns="0" tIns="0" bIns="0" anchor="ctr">
            <a:spAutoFit/>
          </a:bodyPr>
          <a:lstStyle/>
          <a:p>
            <a:pPr algn="r"/>
            <a:r>
              <a:rPr sz="1500" b="1" i="0">
                <a:solidFill>
                  <a:srgbClr val="1F3A5F"/>
                </a:solidFill>
                <a:latin typeface="Arial"/>
              </a:rPr>
              <a:t>[150 ; 4 000]</a:t>
            </a:r>
          </a:p>
        </p:txBody>
      </p:sp>
      <p:sp>
        <p:nvSpPr>
          <p:cNvPr id="56" name="TextBox 55"/>
          <p:cNvSpPr txBox="1"/>
          <p:nvPr/>
        </p:nvSpPr>
        <p:spPr>
          <a:xfrm>
            <a:off x="6342735" y="5568696"/>
            <a:ext cx="3718407" cy="420624"/>
          </a:xfrm>
          <a:prstGeom prst="rect">
            <a:avLst/>
          </a:prstGeom>
          <a:noFill/>
        </p:spPr>
        <p:txBody>
          <a:bodyPr wrap="square" lIns="0" rIns="0" tIns="0" bIns="0" anchor="ctr">
            <a:spAutoFit/>
          </a:bodyPr>
          <a:lstStyle/>
          <a:p>
            <a:pPr algn="l"/>
            <a:r>
              <a:rPr sz="1500" b="0" i="0">
                <a:solidFill>
                  <a:srgbClr val="1B2530"/>
                </a:solidFill>
                <a:latin typeface="Arial"/>
              </a:rPr>
              <a:t>Netteté post-traitement (a)</a:t>
            </a:r>
          </a:p>
        </p:txBody>
      </p:sp>
      <p:sp>
        <p:nvSpPr>
          <p:cNvPr id="57" name="TextBox 56"/>
          <p:cNvSpPr txBox="1"/>
          <p:nvPr/>
        </p:nvSpPr>
        <p:spPr>
          <a:xfrm>
            <a:off x="9951415" y="5568696"/>
            <a:ext cx="1554480" cy="420624"/>
          </a:xfrm>
          <a:prstGeom prst="rect">
            <a:avLst/>
          </a:prstGeom>
          <a:noFill/>
        </p:spPr>
        <p:txBody>
          <a:bodyPr wrap="square" lIns="0" rIns="0" tIns="0" bIns="0" anchor="ctr">
            <a:spAutoFit/>
          </a:bodyPr>
          <a:lstStyle/>
          <a:p>
            <a:pPr algn="r"/>
            <a:r>
              <a:rPr sz="1500" b="1" i="0">
                <a:solidFill>
                  <a:srgbClr val="1F3A5F"/>
                </a:solidFill>
                <a:latin typeface="Arial"/>
              </a:rPr>
              <a:t>0,6</a:t>
            </a:r>
          </a:p>
        </p:txBody>
      </p:sp>
      <p:sp>
        <p:nvSpPr>
          <p:cNvPr id="58" name="TextBox 57"/>
          <p:cNvSpPr txBox="1"/>
          <p:nvPr/>
        </p:nvSpPr>
        <p:spPr>
          <a:xfrm>
            <a:off x="548640" y="6080760"/>
            <a:ext cx="11094415" cy="274320"/>
          </a:xfrm>
          <a:prstGeom prst="rect">
            <a:avLst/>
          </a:prstGeom>
          <a:noFill/>
        </p:spPr>
        <p:txBody>
          <a:bodyPr wrap="square" lIns="0" rIns="0" tIns="0" bIns="0" anchor="t">
            <a:spAutoFit/>
          </a:bodyPr>
          <a:lstStyle/>
          <a:p>
            <a:pPr algn="l"/>
            <a:r>
              <a:rPr sz="1200" b="0" i="0">
                <a:solidFill>
                  <a:srgbClr val="5B6B7A"/>
                </a:solidFill>
                <a:latin typeface="Arial"/>
              </a:rPr>
              <a:t>Source : rapport, tableau 5.1 ; valeurs vérifiées dans le code (lib/features/…/detectors). Réglage sur les échantillons disponibles, sans analyse de sensibilité.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317175" y="384048"/>
            <a:ext cx="1325880" cy="310896"/>
          </a:xfrm>
          <a:prstGeom prst="rect">
            <a:avLst/>
          </a:prstGeom>
          <a:solidFill>
            <a:srgbClr val="EEF2F6"/>
          </a:solidFill>
          <a:ln>
            <a:noFill/>
          </a:ln>
        </p:spPr>
        <p:txBody>
          <a:bodyPr rtlCol="0" anchor="ctr"/>
          <a:lstStyle/>
          <a:p/>
        </p:txBody>
      </p:sp>
      <p:sp>
        <p:nvSpPr>
          <p:cNvPr id="3" name="TextBox 2"/>
          <p:cNvSpPr txBox="1"/>
          <p:nvPr/>
        </p:nvSpPr>
        <p:spPr>
          <a:xfrm>
            <a:off x="10317175" y="384048"/>
            <a:ext cx="1325880" cy="310896"/>
          </a:xfrm>
          <a:prstGeom prst="rect">
            <a:avLst/>
          </a:prstGeom>
          <a:noFill/>
        </p:spPr>
        <p:txBody>
          <a:bodyPr wrap="square" lIns="0" rIns="0" tIns="0" bIns="0" anchor="ctr">
            <a:spAutoFit/>
          </a:bodyPr>
          <a:lstStyle/>
          <a:p>
            <a:pPr algn="ctr"/>
            <a:r>
              <a:rPr sz="1200" b="1" i="0">
                <a:solidFill>
                  <a:srgbClr val="5B6B7A"/>
                </a:solidFill>
                <a:latin typeface="Arial"/>
              </a:rPr>
              <a:t>Secours B</a:t>
            </a:r>
          </a:p>
        </p:txBody>
      </p:sp>
      <p:cxnSp>
        <p:nvCxnSpPr>
          <p:cNvPr id="4" name="Connector 3"/>
          <p:cNvCxnSpPr/>
          <p:nvPr/>
        </p:nvCxnSpPr>
        <p:spPr>
          <a:xfrm>
            <a:off x="548640" y="6382512"/>
            <a:ext cx="11094415" cy="0"/>
          </a:xfrm>
          <a:prstGeom prst="line">
            <a:avLst/>
          </a:prstGeom>
          <a:ln w="9525">
            <a:solidFill>
              <a:srgbClr val="CBD3DB"/>
            </a:solidFill>
          </a:ln>
        </p:spPr>
      </p:cxnSp>
      <p:sp>
        <p:nvSpPr>
          <p:cNvPr id="5" name="TextBox 4"/>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6" name="TextBox 5"/>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Secours B</a:t>
            </a:r>
          </a:p>
        </p:txBody>
      </p:sp>
      <p:sp>
        <p:nvSpPr>
          <p:cNvPr id="7"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177 cas exécutés ne prouvent ni la couverture ni la validité sur cartes réelles</a:t>
            </a:r>
          </a:p>
        </p:txBody>
      </p:sp>
      <p:graphicFrame>
        <p:nvGraphicFramePr>
          <p:cNvPr id="8" name="Table 7"/>
          <p:cNvGraphicFramePr>
            <a:graphicFrameLocks noGrp="1"/>
          </p:cNvGraphicFramePr>
          <p:nvPr/>
        </p:nvGraphicFramePr>
        <p:xfrm>
          <a:off x="548640" y="1783080"/>
          <a:ext cx="6309360" cy="4114800"/>
        </p:xfrm>
        <a:graphic>
          <a:graphicData uri="http://schemas.openxmlformats.org/drawingml/2006/table">
            <a:tbl>
              <a:tblPr firstRow="0" bandRow="0"/>
              <a:tblGrid>
                <a:gridCol w="3017520"/>
                <a:gridCol w="1097280"/>
                <a:gridCol w="1097280"/>
                <a:gridCol w="1097280"/>
              </a:tblGrid>
              <a:tr h="411480">
                <a:tc>
                  <a:txBody>
                    <a:bodyPr/>
                    <a:lstStyle/>
                    <a:p>
                      <a:pPr algn="l"/>
                      <a:r>
                        <a:rPr sz="1500" b="1">
                          <a:solidFill>
                            <a:srgbClr val="1F3A5F"/>
                          </a:solidFill>
                          <a:latin typeface="Arial"/>
                        </a:rPr>
                        <a:t>Module</a:t>
                      </a:r>
                    </a:p>
                  </a:txBody>
                  <a:tcPr anchor="ctr" marT="18288" marB="18288">
                    <a:solidFill>
                      <a:srgbClr val="EEF2F6"/>
                    </a:solidFill>
                  </a:tcPr>
                </a:tc>
                <a:tc>
                  <a:txBody>
                    <a:bodyPr/>
                    <a:lstStyle/>
                    <a:p>
                      <a:pPr algn="r"/>
                      <a:r>
                        <a:rPr sz="1500" b="1">
                          <a:solidFill>
                            <a:srgbClr val="1F3A5F"/>
                          </a:solidFill>
                          <a:latin typeface="Arial"/>
                        </a:rPr>
                        <a:t>Fichiers</a:t>
                      </a:r>
                    </a:p>
                  </a:txBody>
                  <a:tcPr anchor="ctr" marT="18288" marB="18288">
                    <a:solidFill>
                      <a:srgbClr val="EEF2F6"/>
                    </a:solidFill>
                  </a:tcPr>
                </a:tc>
                <a:tc>
                  <a:txBody>
                    <a:bodyPr/>
                    <a:lstStyle/>
                    <a:p>
                      <a:pPr algn="r"/>
                      <a:r>
                        <a:rPr sz="1500" b="1">
                          <a:solidFill>
                            <a:srgbClr val="1F3A5F"/>
                          </a:solidFill>
                          <a:latin typeface="Arial"/>
                        </a:rPr>
                        <a:t>Exécutés</a:t>
                      </a:r>
                    </a:p>
                  </a:txBody>
                  <a:tcPr anchor="ctr" marT="18288" marB="18288">
                    <a:solidFill>
                      <a:srgbClr val="EEF2F6"/>
                    </a:solidFill>
                  </a:tcPr>
                </a:tc>
                <a:tc>
                  <a:txBody>
                    <a:bodyPr/>
                    <a:lstStyle/>
                    <a:p>
                      <a:pPr algn="r"/>
                      <a:r>
                        <a:rPr sz="1500" b="1">
                          <a:solidFill>
                            <a:srgbClr val="1F3A5F"/>
                          </a:solidFill>
                          <a:latin typeface="Arial"/>
                        </a:rPr>
                        <a:t>Cas</a:t>
                      </a:r>
                    </a:p>
                  </a:txBody>
                  <a:tcPr anchor="ctr" marT="18288" marB="18288">
                    <a:solidFill>
                      <a:srgbClr val="EEF2F6"/>
                    </a:solidFill>
                  </a:tcPr>
                </a:tc>
              </a:tr>
              <a:tr h="411480">
                <a:tc>
                  <a:txBody>
                    <a:bodyPr/>
                    <a:lstStyle/>
                    <a:p>
                      <a:pPr algn="l"/>
                      <a:r>
                        <a:rPr sz="1500" b="0">
                          <a:solidFill>
                            <a:srgbClr val="1B2530"/>
                          </a:solidFill>
                          <a:latin typeface="Courier New"/>
                        </a:rPr>
                        <a:t>document_detection</a:t>
                      </a:r>
                    </a:p>
                  </a:txBody>
                  <a:tcPr anchor="ctr" marT="18288" marB="18288">
                    <a:solidFill>
                      <a:srgbClr val="FFFFFF"/>
                    </a:solidFill>
                  </a:tcPr>
                </a:tc>
                <a:tc>
                  <a:txBody>
                    <a:bodyPr/>
                    <a:lstStyle/>
                    <a:p>
                      <a:pPr algn="r"/>
                      <a:r>
                        <a:rPr sz="1500" b="0">
                          <a:solidFill>
                            <a:srgbClr val="1B2530"/>
                          </a:solidFill>
                          <a:latin typeface="Arial"/>
                        </a:rPr>
                        <a:t>7</a:t>
                      </a:r>
                    </a:p>
                  </a:txBody>
                  <a:tcPr anchor="ctr" marT="18288" marB="18288">
                    <a:solidFill>
                      <a:srgbClr val="FFFFFF"/>
                    </a:solidFill>
                  </a:tcPr>
                </a:tc>
                <a:tc>
                  <a:txBody>
                    <a:bodyPr/>
                    <a:lstStyle/>
                    <a:p>
                      <a:pPr algn="r"/>
                      <a:r>
                        <a:rPr sz="1500" b="0">
                          <a:solidFill>
                            <a:srgbClr val="1B2530"/>
                          </a:solidFill>
                          <a:latin typeface="Arial"/>
                        </a:rPr>
                        <a:t>4</a:t>
                      </a:r>
                    </a:p>
                  </a:txBody>
                  <a:tcPr anchor="ctr" marT="18288" marB="18288">
                    <a:solidFill>
                      <a:srgbClr val="FFFFFF"/>
                    </a:solidFill>
                  </a:tcPr>
                </a:tc>
                <a:tc>
                  <a:txBody>
                    <a:bodyPr/>
                    <a:lstStyle/>
                    <a:p>
                      <a:pPr algn="r"/>
                      <a:r>
                        <a:rPr sz="1500" b="0">
                          <a:solidFill>
                            <a:srgbClr val="1B2530"/>
                          </a:solidFill>
                          <a:latin typeface="Arial"/>
                        </a:rPr>
                        <a:t>59</a:t>
                      </a:r>
                    </a:p>
                  </a:txBody>
                  <a:tcPr anchor="ctr" marT="18288" marB="18288">
                    <a:solidFill>
                      <a:srgbClr val="FFFFFF"/>
                    </a:solidFill>
                  </a:tcPr>
                </a:tc>
              </a:tr>
              <a:tr h="411480">
                <a:tc>
                  <a:txBody>
                    <a:bodyPr/>
                    <a:lstStyle/>
                    <a:p>
                      <a:pPr algn="l"/>
                      <a:r>
                        <a:rPr sz="1500" b="0">
                          <a:solidFill>
                            <a:srgbClr val="1B2530"/>
                          </a:solidFill>
                          <a:latin typeface="Courier New"/>
                        </a:rPr>
                        <a:t>image_postprocessing</a:t>
                      </a:r>
                    </a:p>
                  </a:txBody>
                  <a:tcPr anchor="ctr" marT="18288" marB="18288">
                    <a:solidFill>
                      <a:srgbClr val="FFFFFF"/>
                    </a:solidFill>
                  </a:tcPr>
                </a:tc>
                <a:tc>
                  <a:txBody>
                    <a:bodyPr/>
                    <a:lstStyle/>
                    <a:p>
                      <a:pPr algn="r"/>
                      <a:r>
                        <a:rPr sz="1500" b="0">
                          <a:solidFill>
                            <a:srgbClr val="1B2530"/>
                          </a:solidFill>
                          <a:latin typeface="Arial"/>
                        </a:rPr>
                        <a:t>7</a:t>
                      </a:r>
                    </a:p>
                  </a:txBody>
                  <a:tcPr anchor="ctr" marT="18288" marB="18288">
                    <a:solidFill>
                      <a:srgbClr val="FFFFFF"/>
                    </a:solidFill>
                  </a:tcPr>
                </a:tc>
                <a:tc>
                  <a:txBody>
                    <a:bodyPr/>
                    <a:lstStyle/>
                    <a:p>
                      <a:pPr algn="r"/>
                      <a:r>
                        <a:rPr sz="1500" b="0">
                          <a:solidFill>
                            <a:srgbClr val="1B2530"/>
                          </a:solidFill>
                          <a:latin typeface="Arial"/>
                        </a:rPr>
                        <a:t>4</a:t>
                      </a:r>
                    </a:p>
                  </a:txBody>
                  <a:tcPr anchor="ctr" marT="18288" marB="18288">
                    <a:solidFill>
                      <a:srgbClr val="FFFFFF"/>
                    </a:solidFill>
                  </a:tcPr>
                </a:tc>
                <a:tc>
                  <a:txBody>
                    <a:bodyPr/>
                    <a:lstStyle/>
                    <a:p>
                      <a:pPr algn="r"/>
                      <a:r>
                        <a:rPr sz="1500" b="0">
                          <a:solidFill>
                            <a:srgbClr val="1B2530"/>
                          </a:solidFill>
                          <a:latin typeface="Arial"/>
                        </a:rPr>
                        <a:t>24</a:t>
                      </a:r>
                    </a:p>
                  </a:txBody>
                  <a:tcPr anchor="ctr" marT="18288" marB="18288">
                    <a:solidFill>
                      <a:srgbClr val="FFFFFF"/>
                    </a:solidFill>
                  </a:tcPr>
                </a:tc>
              </a:tr>
              <a:tr h="411480">
                <a:tc>
                  <a:txBody>
                    <a:bodyPr/>
                    <a:lstStyle/>
                    <a:p>
                      <a:pPr algn="l"/>
                      <a:r>
                        <a:rPr sz="1500" b="0">
                          <a:solidFill>
                            <a:srgbClr val="1B2530"/>
                          </a:solidFill>
                          <a:latin typeface="Courier New"/>
                        </a:rPr>
                        <a:t>image_quality</a:t>
                      </a:r>
                    </a:p>
                  </a:txBody>
                  <a:tcPr anchor="ctr" marT="18288" marB="18288">
                    <a:solidFill>
                      <a:srgbClr val="FFFFFF"/>
                    </a:solidFill>
                  </a:tcPr>
                </a:tc>
                <a:tc>
                  <a:txBody>
                    <a:bodyPr/>
                    <a:lstStyle/>
                    <a:p>
                      <a:pPr algn="r"/>
                      <a:r>
                        <a:rPr sz="1500" b="0">
                          <a:solidFill>
                            <a:srgbClr val="1B2530"/>
                          </a:solidFill>
                          <a:latin typeface="Arial"/>
                        </a:rPr>
                        <a:t>3</a:t>
                      </a:r>
                    </a:p>
                  </a:txBody>
                  <a:tcPr anchor="ctr" marT="18288" marB="18288">
                    <a:solidFill>
                      <a:srgbClr val="FFFFFF"/>
                    </a:solidFill>
                  </a:tcPr>
                </a:tc>
                <a:tc>
                  <a:txBody>
                    <a:bodyPr/>
                    <a:lstStyle/>
                    <a:p>
                      <a:pPr algn="r"/>
                      <a:r>
                        <a:rPr sz="1500" b="0">
                          <a:solidFill>
                            <a:srgbClr val="1B2530"/>
                          </a:solidFill>
                          <a:latin typeface="Arial"/>
                        </a:rPr>
                        <a:t>2</a:t>
                      </a:r>
                    </a:p>
                  </a:txBody>
                  <a:tcPr anchor="ctr" marT="18288" marB="18288">
                    <a:solidFill>
                      <a:srgbClr val="FFFFFF"/>
                    </a:solidFill>
                  </a:tcPr>
                </a:tc>
                <a:tc>
                  <a:txBody>
                    <a:bodyPr/>
                    <a:lstStyle/>
                    <a:p>
                      <a:pPr algn="r"/>
                      <a:r>
                        <a:rPr sz="1500" b="0">
                          <a:solidFill>
                            <a:srgbClr val="1B2530"/>
                          </a:solidFill>
                          <a:latin typeface="Arial"/>
                        </a:rPr>
                        <a:t>17</a:t>
                      </a:r>
                    </a:p>
                  </a:txBody>
                  <a:tcPr anchor="ctr" marT="18288" marB="18288">
                    <a:solidFill>
                      <a:srgbClr val="FFFFFF"/>
                    </a:solidFill>
                  </a:tcPr>
                </a:tc>
              </a:tr>
              <a:tr h="411480">
                <a:tc>
                  <a:txBody>
                    <a:bodyPr/>
                    <a:lstStyle/>
                    <a:p>
                      <a:pPr algn="l"/>
                      <a:r>
                        <a:rPr sz="1500" b="0">
                          <a:solidFill>
                            <a:srgbClr val="1B2530"/>
                          </a:solidFill>
                          <a:latin typeface="Courier New"/>
                        </a:rPr>
                        <a:t>autocapture</a:t>
                      </a:r>
                    </a:p>
                  </a:txBody>
                  <a:tcPr anchor="ctr" marT="18288" marB="18288">
                    <a:solidFill>
                      <a:srgbClr val="FFFFFF"/>
                    </a:solidFill>
                  </a:tcPr>
                </a:tc>
                <a:tc>
                  <a:txBody>
                    <a:bodyPr/>
                    <a:lstStyle/>
                    <a:p>
                      <a:pPr algn="r"/>
                      <a:r>
                        <a:rPr sz="1500" b="0">
                          <a:solidFill>
                            <a:srgbClr val="1B2530"/>
                          </a:solidFill>
                          <a:latin typeface="Arial"/>
                        </a:rPr>
                        <a:t>3</a:t>
                      </a:r>
                    </a:p>
                  </a:txBody>
                  <a:tcPr anchor="ctr" marT="18288" marB="18288">
                    <a:solidFill>
                      <a:srgbClr val="FFFFFF"/>
                    </a:solidFill>
                  </a:tcPr>
                </a:tc>
                <a:tc>
                  <a:txBody>
                    <a:bodyPr/>
                    <a:lstStyle/>
                    <a:p>
                      <a:pPr algn="r"/>
                      <a:r>
                        <a:rPr sz="1500" b="0">
                          <a:solidFill>
                            <a:srgbClr val="1B2530"/>
                          </a:solidFill>
                          <a:latin typeface="Arial"/>
                        </a:rPr>
                        <a:t>3</a:t>
                      </a:r>
                    </a:p>
                  </a:txBody>
                  <a:tcPr anchor="ctr" marT="18288" marB="18288">
                    <a:solidFill>
                      <a:srgbClr val="FFFFFF"/>
                    </a:solidFill>
                  </a:tcPr>
                </a:tc>
                <a:tc>
                  <a:txBody>
                    <a:bodyPr/>
                    <a:lstStyle/>
                    <a:p>
                      <a:pPr algn="r"/>
                      <a:r>
                        <a:rPr sz="1500" b="0">
                          <a:solidFill>
                            <a:srgbClr val="1B2530"/>
                          </a:solidFill>
                          <a:latin typeface="Arial"/>
                        </a:rPr>
                        <a:t>26</a:t>
                      </a:r>
                    </a:p>
                  </a:txBody>
                  <a:tcPr anchor="ctr" marT="18288" marB="18288">
                    <a:solidFill>
                      <a:srgbClr val="FFFFFF"/>
                    </a:solidFill>
                  </a:tcPr>
                </a:tc>
              </a:tr>
              <a:tr h="411480">
                <a:tc>
                  <a:txBody>
                    <a:bodyPr/>
                    <a:lstStyle/>
                    <a:p>
                      <a:pPr algn="l"/>
                      <a:r>
                        <a:rPr sz="1500" b="0">
                          <a:solidFill>
                            <a:srgbClr val="1B2530"/>
                          </a:solidFill>
                          <a:latin typeface="Courier New"/>
                        </a:rPr>
                        <a:t>result_preview</a:t>
                      </a:r>
                    </a:p>
                  </a:txBody>
                  <a:tcPr anchor="ctr" marT="18288" marB="18288">
                    <a:solidFill>
                      <a:srgbClr val="FFFFFF"/>
                    </a:solidFill>
                  </a:tcPr>
                </a:tc>
                <a:tc>
                  <a:txBody>
                    <a:bodyPr/>
                    <a:lstStyle/>
                    <a:p>
                      <a:pPr algn="r"/>
                      <a:r>
                        <a:rPr sz="1500" b="0">
                          <a:solidFill>
                            <a:srgbClr val="1B2530"/>
                          </a:solidFill>
                          <a:latin typeface="Arial"/>
                        </a:rPr>
                        <a:t>2</a:t>
                      </a:r>
                    </a:p>
                  </a:txBody>
                  <a:tcPr anchor="ctr" marT="18288" marB="18288">
                    <a:solidFill>
                      <a:srgbClr val="FFFFFF"/>
                    </a:solidFill>
                  </a:tcPr>
                </a:tc>
                <a:tc>
                  <a:txBody>
                    <a:bodyPr/>
                    <a:lstStyle/>
                    <a:p>
                      <a:pPr algn="r"/>
                      <a:r>
                        <a:rPr sz="1500" b="0">
                          <a:solidFill>
                            <a:srgbClr val="1B2530"/>
                          </a:solidFill>
                          <a:latin typeface="Arial"/>
                        </a:rPr>
                        <a:t>2</a:t>
                      </a:r>
                    </a:p>
                  </a:txBody>
                  <a:tcPr anchor="ctr" marT="18288" marB="18288">
                    <a:solidFill>
                      <a:srgbClr val="FFFFFF"/>
                    </a:solidFill>
                  </a:tcPr>
                </a:tc>
                <a:tc>
                  <a:txBody>
                    <a:bodyPr/>
                    <a:lstStyle/>
                    <a:p>
                      <a:pPr algn="r"/>
                      <a:r>
                        <a:rPr sz="1500" b="0">
                          <a:solidFill>
                            <a:srgbClr val="1B2530"/>
                          </a:solidFill>
                          <a:latin typeface="Arial"/>
                        </a:rPr>
                        <a:t>10</a:t>
                      </a:r>
                    </a:p>
                  </a:txBody>
                  <a:tcPr anchor="ctr" marT="18288" marB="18288">
                    <a:solidFill>
                      <a:srgbClr val="FFFFFF"/>
                    </a:solidFill>
                  </a:tcPr>
                </a:tc>
              </a:tr>
              <a:tr h="411480">
                <a:tc>
                  <a:txBody>
                    <a:bodyPr/>
                    <a:lstStyle/>
                    <a:p>
                      <a:pPr algn="l"/>
                      <a:r>
                        <a:rPr sz="1500" b="0">
                          <a:solidFill>
                            <a:srgbClr val="1B2530"/>
                          </a:solidFill>
                          <a:latin typeface="Courier New"/>
                        </a:rPr>
                        <a:t>camera_capture</a:t>
                      </a:r>
                    </a:p>
                  </a:txBody>
                  <a:tcPr anchor="ctr" marT="18288" marB="18288">
                    <a:solidFill>
                      <a:srgbClr val="FFFFFF"/>
                    </a:solidFill>
                  </a:tcPr>
                </a:tc>
                <a:tc>
                  <a:txBody>
                    <a:bodyPr/>
                    <a:lstStyle/>
                    <a:p>
                      <a:pPr algn="r"/>
                      <a:r>
                        <a:rPr sz="1500" b="0">
                          <a:solidFill>
                            <a:srgbClr val="1B2530"/>
                          </a:solidFill>
                          <a:latin typeface="Arial"/>
                        </a:rPr>
                        <a:t>1</a:t>
                      </a:r>
                    </a:p>
                  </a:txBody>
                  <a:tcPr anchor="ctr" marT="18288" marB="18288">
                    <a:solidFill>
                      <a:srgbClr val="FFFFFF"/>
                    </a:solidFill>
                  </a:tcPr>
                </a:tc>
                <a:tc>
                  <a:txBody>
                    <a:bodyPr/>
                    <a:lstStyle/>
                    <a:p>
                      <a:pPr algn="r"/>
                      <a:r>
                        <a:rPr sz="1500" b="0">
                          <a:solidFill>
                            <a:srgbClr val="1B2530"/>
                          </a:solidFill>
                          <a:latin typeface="Arial"/>
                        </a:rPr>
                        <a:t>1</a:t>
                      </a:r>
                    </a:p>
                  </a:txBody>
                  <a:tcPr anchor="ctr" marT="18288" marB="18288">
                    <a:solidFill>
                      <a:srgbClr val="FFFFFF"/>
                    </a:solidFill>
                  </a:tcPr>
                </a:tc>
                <a:tc>
                  <a:txBody>
                    <a:bodyPr/>
                    <a:lstStyle/>
                    <a:p>
                      <a:pPr algn="r"/>
                      <a:r>
                        <a:rPr sz="1500" b="0">
                          <a:solidFill>
                            <a:srgbClr val="1B2530"/>
                          </a:solidFill>
                          <a:latin typeface="Arial"/>
                        </a:rPr>
                        <a:t>8</a:t>
                      </a:r>
                    </a:p>
                  </a:txBody>
                  <a:tcPr anchor="ctr" marT="18288" marB="18288">
                    <a:solidFill>
                      <a:srgbClr val="FFFFFF"/>
                    </a:solidFill>
                  </a:tcPr>
                </a:tc>
              </a:tr>
              <a:tr h="411480">
                <a:tc>
                  <a:txBody>
                    <a:bodyPr/>
                    <a:lstStyle/>
                    <a:p>
                      <a:pPr algn="l"/>
                      <a:r>
                        <a:rPr sz="1500" b="0">
                          <a:solidFill>
                            <a:srgbClr val="1B2530"/>
                          </a:solidFill>
                          <a:latin typeface="Courier New"/>
                        </a:rPr>
                        <a:t>core/services</a:t>
                      </a:r>
                    </a:p>
                  </a:txBody>
                  <a:tcPr anchor="ctr" marT="18288" marB="18288">
                    <a:solidFill>
                      <a:srgbClr val="FFFFFF"/>
                    </a:solidFill>
                  </a:tcPr>
                </a:tc>
                <a:tc>
                  <a:txBody>
                    <a:bodyPr/>
                    <a:lstStyle/>
                    <a:p>
                      <a:pPr algn="r"/>
                      <a:r>
                        <a:rPr sz="1500" b="0">
                          <a:solidFill>
                            <a:srgbClr val="1B2530"/>
                          </a:solidFill>
                          <a:latin typeface="Arial"/>
                        </a:rPr>
                        <a:t>3</a:t>
                      </a:r>
                    </a:p>
                  </a:txBody>
                  <a:tcPr anchor="ctr" marT="18288" marB="18288">
                    <a:solidFill>
                      <a:srgbClr val="FFFFFF"/>
                    </a:solidFill>
                  </a:tcPr>
                </a:tc>
                <a:tc>
                  <a:txBody>
                    <a:bodyPr/>
                    <a:lstStyle/>
                    <a:p>
                      <a:pPr algn="r"/>
                      <a:r>
                        <a:rPr sz="1500" b="0">
                          <a:solidFill>
                            <a:srgbClr val="1B2530"/>
                          </a:solidFill>
                          <a:latin typeface="Arial"/>
                        </a:rPr>
                        <a:t>3</a:t>
                      </a:r>
                    </a:p>
                  </a:txBody>
                  <a:tcPr anchor="ctr" marT="18288" marB="18288">
                    <a:solidFill>
                      <a:srgbClr val="FFFFFF"/>
                    </a:solidFill>
                  </a:tcPr>
                </a:tc>
                <a:tc>
                  <a:txBody>
                    <a:bodyPr/>
                    <a:lstStyle/>
                    <a:p>
                      <a:pPr algn="r"/>
                      <a:r>
                        <a:rPr sz="1500" b="0">
                          <a:solidFill>
                            <a:srgbClr val="1B2530"/>
                          </a:solidFill>
                          <a:latin typeface="Arial"/>
                        </a:rPr>
                        <a:t>20</a:t>
                      </a:r>
                    </a:p>
                  </a:txBody>
                  <a:tcPr anchor="ctr" marT="18288" marB="18288">
                    <a:solidFill>
                      <a:srgbClr val="FFFFFF"/>
                    </a:solidFill>
                  </a:tcPr>
                </a:tc>
              </a:tr>
              <a:tr h="411480">
                <a:tc>
                  <a:txBody>
                    <a:bodyPr/>
                    <a:lstStyle/>
                    <a:p>
                      <a:pPr algn="l"/>
                      <a:r>
                        <a:rPr sz="1500" b="0">
                          <a:solidFill>
                            <a:srgbClr val="1B2530"/>
                          </a:solidFill>
                          <a:latin typeface="Courier New"/>
                        </a:rPr>
                        <a:t>shared/utils</a:t>
                      </a:r>
                    </a:p>
                  </a:txBody>
                  <a:tcPr anchor="ctr" marT="18288" marB="18288">
                    <a:solidFill>
                      <a:srgbClr val="FFFFFF"/>
                    </a:solidFill>
                  </a:tcPr>
                </a:tc>
                <a:tc>
                  <a:txBody>
                    <a:bodyPr/>
                    <a:lstStyle/>
                    <a:p>
                      <a:pPr algn="r"/>
                      <a:r>
                        <a:rPr sz="1500" b="0">
                          <a:solidFill>
                            <a:srgbClr val="1B2530"/>
                          </a:solidFill>
                          <a:latin typeface="Arial"/>
                        </a:rPr>
                        <a:t>2</a:t>
                      </a:r>
                    </a:p>
                  </a:txBody>
                  <a:tcPr anchor="ctr" marT="18288" marB="18288">
                    <a:solidFill>
                      <a:srgbClr val="FFFFFF"/>
                    </a:solidFill>
                  </a:tcPr>
                </a:tc>
                <a:tc>
                  <a:txBody>
                    <a:bodyPr/>
                    <a:lstStyle/>
                    <a:p>
                      <a:pPr algn="r"/>
                      <a:r>
                        <a:rPr sz="1500" b="0">
                          <a:solidFill>
                            <a:srgbClr val="1B2530"/>
                          </a:solidFill>
                          <a:latin typeface="Arial"/>
                        </a:rPr>
                        <a:t>2</a:t>
                      </a:r>
                    </a:p>
                  </a:txBody>
                  <a:tcPr anchor="ctr" marT="18288" marB="18288">
                    <a:solidFill>
                      <a:srgbClr val="FFFFFF"/>
                    </a:solidFill>
                  </a:tcPr>
                </a:tc>
                <a:tc>
                  <a:txBody>
                    <a:bodyPr/>
                    <a:lstStyle/>
                    <a:p>
                      <a:pPr algn="r"/>
                      <a:r>
                        <a:rPr sz="1500" b="0">
                          <a:solidFill>
                            <a:srgbClr val="1B2530"/>
                          </a:solidFill>
                          <a:latin typeface="Arial"/>
                        </a:rPr>
                        <a:t>13</a:t>
                      </a:r>
                    </a:p>
                  </a:txBody>
                  <a:tcPr anchor="ctr" marT="18288" marB="18288">
                    <a:solidFill>
                      <a:srgbClr val="FFFFFF"/>
                    </a:solidFill>
                  </a:tcPr>
                </a:tc>
              </a:tr>
              <a:tr h="411480">
                <a:tc>
                  <a:txBody>
                    <a:bodyPr/>
                    <a:lstStyle/>
                    <a:p>
                      <a:pPr algn="l"/>
                      <a:r>
                        <a:rPr sz="1500" b="1">
                          <a:solidFill>
                            <a:srgbClr val="1F3A5F"/>
                          </a:solidFill>
                          <a:latin typeface="Arial"/>
                        </a:rPr>
                        <a:t>Total</a:t>
                      </a:r>
                    </a:p>
                  </a:txBody>
                  <a:tcPr anchor="ctr" marT="18288" marB="18288">
                    <a:solidFill>
                      <a:srgbClr val="EEF2F6"/>
                    </a:solidFill>
                  </a:tcPr>
                </a:tc>
                <a:tc>
                  <a:txBody>
                    <a:bodyPr/>
                    <a:lstStyle/>
                    <a:p>
                      <a:pPr algn="r"/>
                      <a:r>
                        <a:rPr sz="1500" b="1">
                          <a:solidFill>
                            <a:srgbClr val="1F3A5F"/>
                          </a:solidFill>
                          <a:latin typeface="Arial"/>
                        </a:rPr>
                        <a:t>28</a:t>
                      </a:r>
                    </a:p>
                  </a:txBody>
                  <a:tcPr anchor="ctr" marT="18288" marB="18288">
                    <a:solidFill>
                      <a:srgbClr val="EEF2F6"/>
                    </a:solidFill>
                  </a:tcPr>
                </a:tc>
                <a:tc>
                  <a:txBody>
                    <a:bodyPr/>
                    <a:lstStyle/>
                    <a:p>
                      <a:pPr algn="r"/>
                      <a:r>
                        <a:rPr sz="1500" b="1">
                          <a:solidFill>
                            <a:srgbClr val="1F3A5F"/>
                          </a:solidFill>
                          <a:latin typeface="Arial"/>
                        </a:rPr>
                        <a:t>21</a:t>
                      </a:r>
                    </a:p>
                  </a:txBody>
                  <a:tcPr anchor="ctr" marT="18288" marB="18288">
                    <a:solidFill>
                      <a:srgbClr val="EEF2F6"/>
                    </a:solidFill>
                  </a:tcPr>
                </a:tc>
                <a:tc>
                  <a:txBody>
                    <a:bodyPr/>
                    <a:lstStyle/>
                    <a:p>
                      <a:pPr algn="r"/>
                      <a:r>
                        <a:rPr sz="1500" b="1">
                          <a:solidFill>
                            <a:srgbClr val="1F3A5F"/>
                          </a:solidFill>
                          <a:latin typeface="Arial"/>
                        </a:rPr>
                        <a:t>177</a:t>
                      </a:r>
                    </a:p>
                  </a:txBody>
                  <a:tcPr anchor="ctr" marT="18288" marB="18288">
                    <a:solidFill>
                      <a:srgbClr val="EEF2F6"/>
                    </a:solidFill>
                  </a:tcPr>
                </a:tc>
              </a:tr>
            </a:tbl>
          </a:graphicData>
        </a:graphic>
      </p:graphicFrame>
      <p:sp>
        <p:nvSpPr>
          <p:cNvPr id="9" name="TextBox 8"/>
          <p:cNvSpPr txBox="1"/>
          <p:nvPr/>
        </p:nvSpPr>
        <p:spPr>
          <a:xfrm>
            <a:off x="7315200" y="1783080"/>
            <a:ext cx="4327855" cy="320040"/>
          </a:xfrm>
          <a:prstGeom prst="rect">
            <a:avLst/>
          </a:prstGeom>
          <a:noFill/>
        </p:spPr>
        <p:txBody>
          <a:bodyPr wrap="square" lIns="0" rIns="0" tIns="0" bIns="0" anchor="t">
            <a:spAutoFit/>
          </a:bodyPr>
          <a:lstStyle/>
          <a:p>
            <a:pPr algn="l"/>
            <a:r>
              <a:rPr sz="1300" b="1" i="0">
                <a:solidFill>
                  <a:srgbClr val="B84A12"/>
                </a:solidFill>
                <a:latin typeface="Arial"/>
              </a:rPr>
              <a:t>LES 7 FICHIERS ABSENTS DU JOURNAL</a:t>
            </a:r>
          </a:p>
        </p:txBody>
      </p:sp>
      <p:sp>
        <p:nvSpPr>
          <p:cNvPr id="10" name="TextBox 9"/>
          <p:cNvSpPr txBox="1"/>
          <p:nvPr/>
        </p:nvSpPr>
        <p:spPr>
          <a:xfrm>
            <a:off x="7315200" y="2240280"/>
            <a:ext cx="4327855" cy="3017520"/>
          </a:xfrm>
          <a:prstGeom prst="rect">
            <a:avLst/>
          </a:prstGeom>
          <a:noFill/>
        </p:spPr>
        <p:txBody>
          <a:bodyPr wrap="square" lIns="0" rIns="0" tIns="0" bIns="0" anchor="t">
            <a:spAutoFit/>
          </a:bodyPr>
          <a:lstStyle/>
          <a:p>
            <a:pPr algn="l">
              <a:spcAft>
                <a:spcPts val="600"/>
              </a:spcAft>
            </a:pPr>
            <a:r>
              <a:rPr sz="1400" b="1" i="0">
                <a:solidFill>
                  <a:srgbClr val="1F3A5F"/>
                </a:solidFill>
                <a:latin typeface="Arial"/>
              </a:rPr>
              <a:t>C   </a:t>
            </a:r>
            <a:r>
              <a:rPr sz="1400" b="0" i="0">
                <a:solidFill>
                  <a:srgbClr val="1B2530"/>
                </a:solidFill>
                <a:latin typeface="Courier New"/>
              </a:rPr>
              <a:t>perspective_warper_test</a:t>
            </a:r>
          </a:p>
          <a:p>
            <a:pPr algn="l">
              <a:spcAft>
                <a:spcPts val="600"/>
              </a:spcAft>
            </a:pPr>
            <a:r>
              <a:rPr sz="1400" b="1" i="0">
                <a:solidFill>
                  <a:srgbClr val="1F3A5F"/>
                </a:solidFill>
                <a:latin typeface="Arial"/>
              </a:rPr>
              <a:t>C   </a:t>
            </a:r>
            <a:r>
              <a:rPr sz="1400" b="0" i="0">
                <a:solidFill>
                  <a:srgbClr val="1B2530"/>
                </a:solidFill>
                <a:latin typeface="Courier New"/>
              </a:rPr>
              <a:t>blur_detector_test</a:t>
            </a:r>
          </a:p>
          <a:p>
            <a:pPr algn="l">
              <a:spcAft>
                <a:spcPts val="600"/>
              </a:spcAft>
            </a:pPr>
            <a:r>
              <a:rPr sz="1400" b="1" i="0">
                <a:solidFill>
                  <a:srgbClr val="1F3A5F"/>
                </a:solidFill>
                <a:latin typeface="Arial"/>
              </a:rPr>
              <a:t>B   </a:t>
            </a:r>
            <a:r>
              <a:rPr sz="1400" b="0" i="0">
                <a:solidFill>
                  <a:srgbClr val="1B2530"/>
                </a:solidFill>
                <a:latin typeface="Courier New"/>
              </a:rPr>
              <a:t>detection_repository_impl_test</a:t>
            </a:r>
          </a:p>
          <a:p>
            <a:pPr algn="l">
              <a:spcAft>
                <a:spcPts val="600"/>
              </a:spcAft>
            </a:pPr>
            <a:r>
              <a:rPr sz="1400" b="1" i="0">
                <a:solidFill>
                  <a:srgbClr val="1F3A5F"/>
                </a:solidFill>
                <a:latin typeface="Arial"/>
              </a:rPr>
              <a:t>A   </a:t>
            </a:r>
            <a:r>
              <a:rPr sz="1400" b="0" i="0">
                <a:solidFill>
                  <a:srgbClr val="1B2530"/>
                </a:solidFill>
                <a:latin typeface="Courier New"/>
              </a:rPr>
              <a:t>detected_document_test</a:t>
            </a:r>
          </a:p>
          <a:p>
            <a:pPr algn="l">
              <a:spcAft>
                <a:spcPts val="600"/>
              </a:spcAft>
            </a:pPr>
            <a:r>
              <a:rPr sz="1400" b="1" i="0">
                <a:solidFill>
                  <a:srgbClr val="1F3A5F"/>
                </a:solidFill>
                <a:latin typeface="Arial"/>
              </a:rPr>
              <a:t>A   </a:t>
            </a:r>
            <a:r>
              <a:rPr sz="1400" b="0" i="0">
                <a:solidFill>
                  <a:srgbClr val="1B2530"/>
                </a:solidFill>
                <a:latin typeface="Courier New"/>
              </a:rPr>
              <a:t>card_image_enhancer_test</a:t>
            </a:r>
          </a:p>
          <a:p>
            <a:pPr algn="l">
              <a:spcAft>
                <a:spcPts val="600"/>
              </a:spcAft>
            </a:pPr>
            <a:r>
              <a:rPr sz="1400" b="1" i="0">
                <a:solidFill>
                  <a:srgbClr val="1F3A5F"/>
                </a:solidFill>
                <a:latin typeface="Arial"/>
              </a:rPr>
              <a:t>A   </a:t>
            </a:r>
            <a:r>
              <a:rPr sz="1400" b="0" i="0">
                <a:solidFill>
                  <a:srgbClr val="1B2530"/>
                </a:solidFill>
                <a:latin typeface="Courier New"/>
              </a:rPr>
              <a:t>print_page_composer_test</a:t>
            </a:r>
          </a:p>
          <a:p>
            <a:pPr algn="l">
              <a:spcAft>
                <a:spcPts val="600"/>
              </a:spcAft>
            </a:pPr>
            <a:r>
              <a:rPr sz="1400" b="1" i="0">
                <a:solidFill>
                  <a:srgbClr val="1F3A5F"/>
                </a:solidFill>
                <a:latin typeface="Arial"/>
              </a:rPr>
              <a:t>A   </a:t>
            </a:r>
            <a:r>
              <a:rPr sz="1400" b="0" i="0">
                <a:solidFill>
                  <a:srgbClr val="1B2530"/>
                </a:solidFill>
                <a:latin typeface="Courier New"/>
              </a:rPr>
              <a:t>enhance_captured_card_test</a:t>
            </a:r>
          </a:p>
        </p:txBody>
      </p:sp>
      <p:sp>
        <p:nvSpPr>
          <p:cNvPr id="11" name="TextBox 10"/>
          <p:cNvSpPr txBox="1"/>
          <p:nvPr/>
        </p:nvSpPr>
        <p:spPr>
          <a:xfrm>
            <a:off x="7315200" y="5029200"/>
            <a:ext cx="4327855" cy="914400"/>
          </a:xfrm>
          <a:prstGeom prst="rect">
            <a:avLst/>
          </a:prstGeom>
          <a:noFill/>
        </p:spPr>
        <p:txBody>
          <a:bodyPr wrap="square" lIns="0" rIns="0" tIns="0" bIns="0" anchor="t">
            <a:spAutoFit/>
          </a:bodyPr>
          <a:lstStyle/>
          <a:p>
            <a:pPr algn="l">
              <a:spcAft>
                <a:spcPts val="400"/>
              </a:spcAft>
            </a:pPr>
            <a:r>
              <a:rPr sz="1400" b="0" i="0">
                <a:solidFill>
                  <a:srgbClr val="5B6B7A"/>
                </a:solidFill>
                <a:latin typeface="Arial"/>
              </a:rPr>
              <a:t>Cinq fichiers C sur sept ont tourné : le binaire natif était disponible.</a:t>
            </a:r>
          </a:p>
          <a:p>
            <a:pPr algn="l">
              <a:spcAft>
                <a:spcPts val="400"/>
              </a:spcAft>
            </a:pPr>
            <a:r>
              <a:rPr sz="1400" b="0" i="0">
                <a:solidFill>
                  <a:srgbClr val="5B6B7A"/>
                </a:solidFill>
                <a:latin typeface="Arial"/>
              </a:rPr>
              <a:t>Action : flutter test --reporter expanded --coverage.</a:t>
            </a:r>
          </a:p>
        </p:txBody>
      </p:sp>
      <p:sp>
        <p:nvSpPr>
          <p:cNvPr id="12" name="TextBox 11"/>
          <p:cNvSpPr txBox="1"/>
          <p:nvPr/>
        </p:nvSpPr>
        <p:spPr>
          <a:xfrm>
            <a:off x="548640" y="6080760"/>
            <a:ext cx="11094415" cy="274320"/>
          </a:xfrm>
          <a:prstGeom prst="rect">
            <a:avLst/>
          </a:prstGeom>
          <a:noFill/>
        </p:spPr>
        <p:txBody>
          <a:bodyPr wrap="square" lIns="0" rIns="0" tIns="0" bIns="0" anchor="t">
            <a:spAutoFit/>
          </a:bodyPr>
          <a:lstStyle/>
          <a:p>
            <a:pPr algn="l"/>
            <a:r>
              <a:rPr sz="1200" b="0" i="0">
                <a:solidFill>
                  <a:srgbClr val="5B6B7A"/>
                </a:solidFill>
                <a:latin typeface="Arial"/>
              </a:rPr>
              <a:t>Source : rapport, tableau 9.2 et §9.1. Paliers : 15 fichiers A, 6 B, 7 C ; palier D manuel.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317175" y="384048"/>
            <a:ext cx="1325880" cy="310896"/>
          </a:xfrm>
          <a:prstGeom prst="rect">
            <a:avLst/>
          </a:prstGeom>
          <a:solidFill>
            <a:srgbClr val="EEF2F6"/>
          </a:solidFill>
          <a:ln>
            <a:noFill/>
          </a:ln>
        </p:spPr>
        <p:txBody>
          <a:bodyPr rtlCol="0" anchor="ctr"/>
          <a:lstStyle/>
          <a:p/>
        </p:txBody>
      </p:sp>
      <p:sp>
        <p:nvSpPr>
          <p:cNvPr id="3" name="TextBox 2"/>
          <p:cNvSpPr txBox="1"/>
          <p:nvPr/>
        </p:nvSpPr>
        <p:spPr>
          <a:xfrm>
            <a:off x="10317175" y="384048"/>
            <a:ext cx="1325880" cy="310896"/>
          </a:xfrm>
          <a:prstGeom prst="rect">
            <a:avLst/>
          </a:prstGeom>
          <a:noFill/>
        </p:spPr>
        <p:txBody>
          <a:bodyPr wrap="square" lIns="0" rIns="0" tIns="0" bIns="0" anchor="ctr">
            <a:spAutoFit/>
          </a:bodyPr>
          <a:lstStyle/>
          <a:p>
            <a:pPr algn="ctr"/>
            <a:r>
              <a:rPr sz="1200" b="1" i="0">
                <a:solidFill>
                  <a:srgbClr val="5B6B7A"/>
                </a:solidFill>
                <a:latin typeface="Arial"/>
              </a:rPr>
              <a:t>Secours C</a:t>
            </a:r>
          </a:p>
        </p:txBody>
      </p:sp>
      <p:cxnSp>
        <p:nvCxnSpPr>
          <p:cNvPr id="4" name="Connector 3"/>
          <p:cNvCxnSpPr/>
          <p:nvPr/>
        </p:nvCxnSpPr>
        <p:spPr>
          <a:xfrm>
            <a:off x="548640" y="6382512"/>
            <a:ext cx="11094415" cy="0"/>
          </a:xfrm>
          <a:prstGeom prst="line">
            <a:avLst/>
          </a:prstGeom>
          <a:ln w="9525">
            <a:solidFill>
              <a:srgbClr val="CBD3DB"/>
            </a:solidFill>
          </a:ln>
        </p:spPr>
      </p:cxnSp>
      <p:sp>
        <p:nvSpPr>
          <p:cNvPr id="5" name="TextBox 4"/>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6" name="TextBox 5"/>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Secours C</a:t>
            </a:r>
          </a:p>
        </p:txBody>
      </p:sp>
      <p:sp>
        <p:nvSpPr>
          <p:cNvPr id="7"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Ce que le module garantit sur la capture, et ce qu'il ne garantit pas</a:t>
            </a:r>
          </a:p>
        </p:txBody>
      </p:sp>
      <p:sp>
        <p:nvSpPr>
          <p:cNvPr id="8" name="TextBox 7"/>
          <p:cNvSpPr txBox="1"/>
          <p:nvPr/>
        </p:nvSpPr>
        <p:spPr>
          <a:xfrm>
            <a:off x="548640" y="1828800"/>
            <a:ext cx="5272887" cy="320040"/>
          </a:xfrm>
          <a:prstGeom prst="rect">
            <a:avLst/>
          </a:prstGeom>
          <a:noFill/>
        </p:spPr>
        <p:txBody>
          <a:bodyPr wrap="square" lIns="0" rIns="0" tIns="0" bIns="0" anchor="t">
            <a:spAutoFit/>
          </a:bodyPr>
          <a:lstStyle/>
          <a:p>
            <a:pPr algn="l"/>
            <a:r>
              <a:rPr sz="1300" b="1" i="0">
                <a:solidFill>
                  <a:srgbClr val="2E75B6"/>
                </a:solidFill>
                <a:latin typeface="Arial"/>
              </a:rPr>
              <a:t>GARANTI PAR CONSTRUCTION</a:t>
            </a:r>
          </a:p>
        </p:txBody>
      </p:sp>
      <p:sp>
        <p:nvSpPr>
          <p:cNvPr id="9" name="TextBox 8"/>
          <p:cNvSpPr txBox="1"/>
          <p:nvPr/>
        </p:nvSpPr>
        <p:spPr>
          <a:xfrm>
            <a:off x="548640" y="2286000"/>
            <a:ext cx="5272887" cy="3108960"/>
          </a:xfrm>
          <a:prstGeom prst="rect">
            <a:avLst/>
          </a:prstGeom>
          <a:noFill/>
        </p:spPr>
        <p:txBody>
          <a:bodyPr wrap="square" lIns="0" rIns="0" tIns="0" bIns="0" anchor="t">
            <a:spAutoFit/>
          </a:bodyPr>
          <a:lstStyle/>
          <a:p>
            <a:pPr algn="l">
              <a:spcAft>
                <a:spcPts val="1200"/>
              </a:spcAft>
            </a:pPr>
            <a:r>
              <a:rPr sz="1800" b="0" i="0">
                <a:solidFill>
                  <a:srgbClr val="1B2530"/>
                </a:solidFill>
                <a:latin typeface="Arial"/>
              </a:rPr>
              <a:t>Capture en direct, depuis le flux caméra</a:t>
            </a:r>
          </a:p>
          <a:p>
            <a:pPr algn="l">
              <a:spcAft>
                <a:spcPts val="1200"/>
              </a:spcAft>
            </a:pPr>
            <a:r>
              <a:rPr sz="1800" b="0" i="0">
                <a:solidFill>
                  <a:srgbClr val="1B2530"/>
                </a:solidFill>
                <a:latin typeface="Arial"/>
              </a:rPr>
              <a:t>Deux faces distinctes, dans l'ordre recto → verso</a:t>
            </a:r>
          </a:p>
          <a:p>
            <a:pPr algn="l">
              <a:spcAft>
                <a:spcPts val="1200"/>
              </a:spcAft>
            </a:pPr>
            <a:r>
              <a:rPr sz="1800" b="0" i="0">
                <a:solidFill>
                  <a:srgbClr val="1B2530"/>
                </a:solidFill>
                <a:latin typeface="Arial"/>
              </a:rPr>
              <a:t>Qualité contrôlée : netteté, luminosité, stabilité</a:t>
            </a:r>
          </a:p>
          <a:p>
            <a:pPr algn="l">
              <a:spcAft>
                <a:spcPts val="1200"/>
              </a:spcAft>
            </a:pPr>
            <a:r>
              <a:rPr sz="1800" b="0" i="0">
                <a:solidFill>
                  <a:srgbClr val="1B2530"/>
                </a:solidFill>
                <a:latin typeface="Arial"/>
              </a:rPr>
              <a:t>Traitement sur l'appareil, sans service tiers</a:t>
            </a:r>
          </a:p>
        </p:txBody>
      </p:sp>
      <p:cxnSp>
        <p:nvCxnSpPr>
          <p:cNvPr id="10" name="Connector 9"/>
          <p:cNvCxnSpPr/>
          <p:nvPr/>
        </p:nvCxnSpPr>
        <p:spPr>
          <a:xfrm>
            <a:off x="6095847" y="1828800"/>
            <a:ext cx="0" cy="3291840"/>
          </a:xfrm>
          <a:prstGeom prst="line">
            <a:avLst/>
          </a:prstGeom>
          <a:ln w="9525">
            <a:solidFill>
              <a:srgbClr val="CBD3DB"/>
            </a:solidFill>
          </a:ln>
        </p:spPr>
      </p:cxnSp>
      <p:sp>
        <p:nvSpPr>
          <p:cNvPr id="11" name="TextBox 10"/>
          <p:cNvSpPr txBox="1"/>
          <p:nvPr/>
        </p:nvSpPr>
        <p:spPr>
          <a:xfrm>
            <a:off x="6370167" y="1828800"/>
            <a:ext cx="5272887" cy="320040"/>
          </a:xfrm>
          <a:prstGeom prst="rect">
            <a:avLst/>
          </a:prstGeom>
          <a:noFill/>
        </p:spPr>
        <p:txBody>
          <a:bodyPr wrap="square" lIns="0" rIns="0" tIns="0" bIns="0" anchor="t">
            <a:spAutoFit/>
          </a:bodyPr>
          <a:lstStyle/>
          <a:p>
            <a:pPr algn="l"/>
            <a:r>
              <a:rPr sz="1300" b="1" i="0">
                <a:solidFill>
                  <a:srgbClr val="B84A12"/>
                </a:solidFill>
                <a:latin typeface="Arial"/>
              </a:rPr>
              <a:t>NON GARANTI / NON ÉVALUÉ</a:t>
            </a:r>
          </a:p>
        </p:txBody>
      </p:sp>
      <p:sp>
        <p:nvSpPr>
          <p:cNvPr id="12" name="TextBox 11"/>
          <p:cNvSpPr txBox="1"/>
          <p:nvPr/>
        </p:nvSpPr>
        <p:spPr>
          <a:xfrm>
            <a:off x="6370167" y="2286000"/>
            <a:ext cx="5272887" cy="3108960"/>
          </a:xfrm>
          <a:prstGeom prst="rect">
            <a:avLst/>
          </a:prstGeom>
          <a:noFill/>
        </p:spPr>
        <p:txBody>
          <a:bodyPr wrap="square" lIns="0" rIns="0" tIns="0" bIns="0" anchor="t">
            <a:spAutoFit/>
          </a:bodyPr>
          <a:lstStyle/>
          <a:p>
            <a:pPr algn="l">
              <a:spcAft>
                <a:spcPts val="1200"/>
              </a:spcAft>
            </a:pPr>
            <a:r>
              <a:rPr sz="1800" b="0" i="0">
                <a:solidFill>
                  <a:srgbClr val="1B2530"/>
                </a:solidFill>
                <a:latin typeface="Arial"/>
              </a:rPr>
              <a:t>Détection de vivacité, de rejeu ou de spoofing</a:t>
            </a:r>
          </a:p>
          <a:p>
            <a:pPr algn="l">
              <a:spcAft>
                <a:spcPts val="1200"/>
              </a:spcAft>
            </a:pPr>
            <a:r>
              <a:rPr sz="1800" b="0" i="0">
                <a:solidFill>
                  <a:srgbClr val="1B2530"/>
                </a:solidFill>
                <a:latin typeface="Arial"/>
              </a:rPr>
              <a:t>Sort des images exportées en galerie (cloud, partage)</a:t>
            </a:r>
          </a:p>
          <a:p>
            <a:pPr algn="l">
              <a:spcAft>
                <a:spcPts val="1200"/>
              </a:spcAft>
            </a:pPr>
            <a:r>
              <a:rPr sz="1800" b="0" i="0">
                <a:solidFill>
                  <a:srgbClr val="1B2530"/>
                </a:solidFill>
                <a:latin typeface="Arial"/>
              </a:rPr>
              <a:t>Historique des captures conservé sur l'appareil</a:t>
            </a:r>
          </a:p>
          <a:p>
            <a:pPr algn="l">
              <a:spcAft>
                <a:spcPts val="1200"/>
              </a:spcAft>
            </a:pPr>
            <a:r>
              <a:rPr sz="1800" b="0" i="0">
                <a:solidFill>
                  <a:srgbClr val="1B2530"/>
                </a:solidFill>
                <a:latin typeface="Arial"/>
              </a:rPr>
              <a:t>Chiffrement et conformité : non évalués</a:t>
            </a:r>
          </a:p>
        </p:txBody>
      </p:sp>
      <p:sp>
        <p:nvSpPr>
          <p:cNvPr id="13" name="Rectangle 12"/>
          <p:cNvSpPr/>
          <p:nvPr/>
        </p:nvSpPr>
        <p:spPr>
          <a:xfrm>
            <a:off x="548640" y="5349240"/>
            <a:ext cx="11094415" cy="566928"/>
          </a:xfrm>
          <a:prstGeom prst="rect">
            <a:avLst/>
          </a:prstGeom>
          <a:solidFill>
            <a:srgbClr val="EEF2F6"/>
          </a:solidFill>
          <a:ln>
            <a:noFill/>
          </a:ln>
        </p:spPr>
        <p:txBody>
          <a:bodyPr rtlCol="0" anchor="ctr"/>
          <a:lstStyle/>
          <a:p/>
        </p:txBody>
      </p:sp>
      <p:sp>
        <p:nvSpPr>
          <p:cNvPr id="14" name="TextBox 13"/>
          <p:cNvSpPr txBox="1"/>
          <p:nvPr/>
        </p:nvSpPr>
        <p:spPr>
          <a:xfrm>
            <a:off x="777240" y="5349240"/>
            <a:ext cx="10637215" cy="566928"/>
          </a:xfrm>
          <a:prstGeom prst="rect">
            <a:avLst/>
          </a:prstGeom>
          <a:noFill/>
        </p:spPr>
        <p:txBody>
          <a:bodyPr wrap="square" lIns="0" rIns="0" tIns="0" bIns="0" anchor="ctr">
            <a:spAutoFit/>
          </a:bodyPr>
          <a:lstStyle/>
          <a:p>
            <a:pPr algn="l"/>
            <a:r>
              <a:rPr sz="1600" b="1" i="0">
                <a:solidFill>
                  <a:srgbClr val="1F3A5F"/>
                </a:solidFill>
                <a:latin typeface="Arial"/>
              </a:rPr>
              <a:t>Données de test : </a:t>
            </a:r>
            <a:r>
              <a:rPr sz="1600" b="0" i="0">
                <a:solidFill>
                  <a:srgbClr val="1B2530"/>
                </a:solidFill>
                <a:latin typeface="Arial"/>
              </a:rPr>
              <a:t>les captures montrées dans cette soutenance sont masquées dans les pixels (photo, nom, numéros, code-barres).</a:t>
            </a:r>
          </a:p>
        </p:txBody>
      </p:sp>
      <p:sp>
        <p:nvSpPr>
          <p:cNvPr id="15" name="TextBox 14"/>
          <p:cNvSpPr txBox="1"/>
          <p:nvPr/>
        </p:nvSpPr>
        <p:spPr>
          <a:xfrm>
            <a:off x="548640" y="6080760"/>
            <a:ext cx="11094415" cy="274320"/>
          </a:xfrm>
          <a:prstGeom prst="rect">
            <a:avLst/>
          </a:prstGeom>
          <a:noFill/>
        </p:spPr>
        <p:txBody>
          <a:bodyPr wrap="square" lIns="0" rIns="0" tIns="0" bIns="0" anchor="t">
            <a:spAutoFit/>
          </a:bodyPr>
          <a:lstStyle/>
          <a:p>
            <a:pPr algn="l"/>
            <a:r>
              <a:rPr sz="1200" b="0" i="0">
                <a:solidFill>
                  <a:srgbClr val="5B6B7A"/>
                </a:solidFill>
                <a:latin typeface="Arial"/>
              </a:rPr>
              <a:t>Source : rapport §7.2.4 et annexe C. Le §7.2.4 précise la portée de l'exigence de sécurité formulée au §1.1.2.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317175" y="384048"/>
            <a:ext cx="1325880" cy="310896"/>
          </a:xfrm>
          <a:prstGeom prst="rect">
            <a:avLst/>
          </a:prstGeom>
          <a:solidFill>
            <a:srgbClr val="EEF2F6"/>
          </a:solidFill>
          <a:ln>
            <a:noFill/>
          </a:ln>
        </p:spPr>
        <p:txBody>
          <a:bodyPr rtlCol="0" anchor="ctr"/>
          <a:lstStyle/>
          <a:p/>
        </p:txBody>
      </p:sp>
      <p:sp>
        <p:nvSpPr>
          <p:cNvPr id="3" name="TextBox 2"/>
          <p:cNvSpPr txBox="1"/>
          <p:nvPr/>
        </p:nvSpPr>
        <p:spPr>
          <a:xfrm>
            <a:off x="10317175" y="384048"/>
            <a:ext cx="1325880" cy="310896"/>
          </a:xfrm>
          <a:prstGeom prst="rect">
            <a:avLst/>
          </a:prstGeom>
          <a:noFill/>
        </p:spPr>
        <p:txBody>
          <a:bodyPr wrap="square" lIns="0" rIns="0" tIns="0" bIns="0" anchor="ctr">
            <a:spAutoFit/>
          </a:bodyPr>
          <a:lstStyle/>
          <a:p>
            <a:pPr algn="ctr"/>
            <a:r>
              <a:rPr sz="1200" b="1" i="0">
                <a:solidFill>
                  <a:srgbClr val="5B6B7A"/>
                </a:solidFill>
                <a:latin typeface="Arial"/>
              </a:rPr>
              <a:t>Secours D</a:t>
            </a:r>
          </a:p>
        </p:txBody>
      </p:sp>
      <p:cxnSp>
        <p:nvCxnSpPr>
          <p:cNvPr id="4" name="Connector 3"/>
          <p:cNvCxnSpPr/>
          <p:nvPr/>
        </p:nvCxnSpPr>
        <p:spPr>
          <a:xfrm>
            <a:off x="548640" y="6382512"/>
            <a:ext cx="11094415" cy="0"/>
          </a:xfrm>
          <a:prstGeom prst="line">
            <a:avLst/>
          </a:prstGeom>
          <a:ln w="9525">
            <a:solidFill>
              <a:srgbClr val="CBD3DB"/>
            </a:solidFill>
          </a:ln>
        </p:spPr>
      </p:cxnSp>
      <p:sp>
        <p:nvSpPr>
          <p:cNvPr id="5" name="TextBox 4"/>
          <p:cNvSpPr txBox="1"/>
          <p:nvPr/>
        </p:nvSpPr>
        <p:spPr>
          <a:xfrm>
            <a:off x="548640" y="6455664"/>
            <a:ext cx="7315200" cy="228600"/>
          </a:xfrm>
          <a:prstGeom prst="rect">
            <a:avLst/>
          </a:prstGeom>
          <a:noFill/>
        </p:spPr>
        <p:txBody>
          <a:bodyPr wrap="square" lIns="0" rIns="0" tIns="0" bIns="0" anchor="t">
            <a:spAutoFit/>
          </a:bodyPr>
          <a:lstStyle/>
          <a:p>
            <a:pPr algn="l"/>
            <a:r>
              <a:rPr sz="1100" b="0" i="0">
                <a:solidFill>
                  <a:srgbClr val="5B6B7A"/>
                </a:solidFill>
                <a:latin typeface="Arial"/>
              </a:rPr>
              <a:t>Avatar-ID · autocapture de la CIN · Mohammed Amine Chaieb · ENSI 2025/2026</a:t>
            </a:r>
          </a:p>
        </p:txBody>
      </p:sp>
      <p:sp>
        <p:nvSpPr>
          <p:cNvPr id="6" name="TextBox 5"/>
          <p:cNvSpPr txBox="1"/>
          <p:nvPr/>
        </p:nvSpPr>
        <p:spPr>
          <a:xfrm>
            <a:off x="9814255" y="6455664"/>
            <a:ext cx="1828800" cy="228600"/>
          </a:xfrm>
          <a:prstGeom prst="rect">
            <a:avLst/>
          </a:prstGeom>
          <a:noFill/>
        </p:spPr>
        <p:txBody>
          <a:bodyPr wrap="square" lIns="0" rIns="0" tIns="0" bIns="0" anchor="t">
            <a:spAutoFit/>
          </a:bodyPr>
          <a:lstStyle/>
          <a:p>
            <a:pPr algn="r"/>
            <a:r>
              <a:rPr sz="1100" b="0" i="0">
                <a:solidFill>
                  <a:srgbClr val="5B6B7A"/>
                </a:solidFill>
                <a:latin typeface="Arial"/>
              </a:rPr>
              <a:t>Secours D</a:t>
            </a:r>
          </a:p>
        </p:txBody>
      </p:sp>
      <p:sp>
        <p:nvSpPr>
          <p:cNvPr id="7" name="Titre"/>
          <p:cNvSpPr txBox="1"/>
          <p:nvPr/>
        </p:nvSpPr>
        <p:spPr>
          <a:xfrm>
            <a:off x="548640" y="777240"/>
            <a:ext cx="11094415" cy="1005840"/>
          </a:xfrm>
          <a:prstGeom prst="rect">
            <a:avLst/>
          </a:prstGeom>
          <a:noFill/>
        </p:spPr>
        <p:txBody>
          <a:bodyPr wrap="square" lIns="0" rIns="0" tIns="0" bIns="0" anchor="t">
            <a:spAutoFit/>
          </a:bodyPr>
          <a:lstStyle/>
          <a:p>
            <a:pPr algn="l"/>
            <a:r>
              <a:rPr sz="2800" b="1" i="0">
                <a:solidFill>
                  <a:srgbClr val="1F3A5F"/>
                </a:solidFill>
                <a:latin typeface="Arial"/>
              </a:rPr>
              <a:t>OpenCV fournit les primitives ; l'assemblage, les scores et la logique de capture sont développés</a:t>
            </a:r>
          </a:p>
        </p:txBody>
      </p:sp>
      <p:sp>
        <p:nvSpPr>
          <p:cNvPr id="8" name="TextBox 7"/>
          <p:cNvSpPr txBox="1"/>
          <p:nvPr/>
        </p:nvSpPr>
        <p:spPr>
          <a:xfrm>
            <a:off x="548640" y="1783080"/>
            <a:ext cx="3200400" cy="320040"/>
          </a:xfrm>
          <a:prstGeom prst="rect">
            <a:avLst/>
          </a:prstGeom>
          <a:noFill/>
        </p:spPr>
        <p:txBody>
          <a:bodyPr wrap="square" lIns="0" rIns="0" tIns="0" bIns="0" anchor="t">
            <a:spAutoFit/>
          </a:bodyPr>
          <a:lstStyle/>
          <a:p>
            <a:pPr algn="l"/>
            <a:r>
              <a:rPr sz="1300" b="1" i="0">
                <a:solidFill>
                  <a:srgbClr val="5B6B7A"/>
                </a:solidFill>
                <a:latin typeface="Arial"/>
              </a:rPr>
              <a:t>FOURNI (OPENCV, PLUGINS)</a:t>
            </a:r>
          </a:p>
        </p:txBody>
      </p:sp>
      <p:sp>
        <p:nvSpPr>
          <p:cNvPr id="9" name="TextBox 8"/>
          <p:cNvSpPr txBox="1"/>
          <p:nvPr/>
        </p:nvSpPr>
        <p:spPr>
          <a:xfrm>
            <a:off x="548640" y="2194560"/>
            <a:ext cx="3108960" cy="3840480"/>
          </a:xfrm>
          <a:prstGeom prst="rect">
            <a:avLst/>
          </a:prstGeom>
          <a:noFill/>
        </p:spPr>
        <p:txBody>
          <a:bodyPr wrap="square" lIns="0" rIns="0" tIns="0" bIns="0" anchor="t">
            <a:spAutoFit/>
          </a:bodyPr>
          <a:lstStyle/>
          <a:p>
            <a:pPr algn="l">
              <a:spcAft>
                <a:spcPts val="300"/>
              </a:spcAft>
            </a:pPr>
            <a:r>
              <a:rPr sz="1400" b="0" i="0">
                <a:solidFill>
                  <a:srgbClr val="1B2530"/>
                </a:solidFill>
                <a:latin typeface="Arial"/>
              </a:rPr>
              <a:t>Canny, seuillage adaptatif, Otsu</a:t>
            </a:r>
          </a:p>
          <a:p>
            <a:pPr algn="l">
              <a:spcAft>
                <a:spcPts val="300"/>
              </a:spcAft>
            </a:pPr>
            <a:r>
              <a:rPr sz="1400" b="0" i="0">
                <a:solidFill>
                  <a:srgbClr val="1B2530"/>
                </a:solidFill>
                <a:latin typeface="Arial"/>
              </a:rPr>
              <a:t>CLAHE, morphologie</a:t>
            </a:r>
          </a:p>
          <a:p>
            <a:pPr algn="l">
              <a:spcAft>
                <a:spcPts val="300"/>
              </a:spcAft>
            </a:pPr>
            <a:r>
              <a:rPr sz="1400" b="0" i="0">
                <a:solidFill>
                  <a:srgbClr val="1B2530"/>
                </a:solidFill>
                <a:latin typeface="Arial"/>
              </a:rPr>
              <a:t>findContours, approxPolyDP</a:t>
            </a:r>
          </a:p>
          <a:p>
            <a:pPr algn="l">
              <a:spcAft>
                <a:spcPts val="300"/>
              </a:spcAft>
            </a:pPr>
            <a:r>
              <a:rPr sz="1400" b="0" i="0">
                <a:solidFill>
                  <a:srgbClr val="1B2530"/>
                </a:solidFill>
                <a:latin typeface="Arial"/>
              </a:rPr>
              <a:t>warpPerspective</a:t>
            </a:r>
          </a:p>
          <a:p>
            <a:pPr algn="l">
              <a:spcAft>
                <a:spcPts val="300"/>
              </a:spcAft>
            </a:pPr>
            <a:r>
              <a:rPr sz="1400" b="0" i="0">
                <a:solidFill>
                  <a:srgbClr val="1B2530"/>
                </a:solidFill>
                <a:latin typeface="Arial"/>
              </a:rPr>
              <a:t>Laplacien, HoughLinesP</a:t>
            </a:r>
          </a:p>
          <a:p>
            <a:pPr algn="l">
              <a:spcAft>
                <a:spcPts val="300"/>
              </a:spcAft>
            </a:pPr>
            <a:r>
              <a:rPr sz="1400" b="0" i="0">
                <a:solidFill>
                  <a:srgbClr val="1B2530"/>
                </a:solidFill>
                <a:latin typeface="Arial"/>
              </a:rPr>
              <a:t>BarcodeDetector</a:t>
            </a:r>
          </a:p>
          <a:p>
            <a:pPr algn="l">
              <a:spcAft>
                <a:spcPts val="300"/>
              </a:spcAft>
            </a:pPr>
            <a:r>
              <a:rPr sz="1400" b="0" i="0">
                <a:solidFill>
                  <a:srgbClr val="1B2530"/>
                </a:solidFill>
                <a:latin typeface="Arial"/>
              </a:rPr>
              <a:t>cascade de Haar pré-entraînée</a:t>
            </a:r>
          </a:p>
          <a:p>
            <a:pPr algn="l">
              <a:spcAft>
                <a:spcPts val="300"/>
              </a:spcAft>
            </a:pPr>
            <a:r>
              <a:rPr sz="1400" b="0" i="0">
                <a:solidFill>
                  <a:srgbClr val="1B2530"/>
                </a:solidFill>
                <a:latin typeface="Arial"/>
              </a:rPr>
              <a:t>matchTemplate</a:t>
            </a:r>
          </a:p>
          <a:p>
            <a:pPr algn="l">
              <a:spcAft>
                <a:spcPts val="300"/>
              </a:spcAft>
            </a:pPr>
            <a:r>
              <a:rPr sz="1400" b="0" i="0">
                <a:solidFill>
                  <a:srgbClr val="1B2530"/>
                </a:solidFill>
                <a:latin typeface="Arial"/>
              </a:rPr>
              <a:t>camera, gal, image</a:t>
            </a:r>
          </a:p>
        </p:txBody>
      </p:sp>
      <p:sp>
        <p:nvSpPr>
          <p:cNvPr id="10" name="TextBox 9"/>
          <p:cNvSpPr txBox="1"/>
          <p:nvPr/>
        </p:nvSpPr>
        <p:spPr>
          <a:xfrm>
            <a:off x="3886200" y="1783080"/>
            <a:ext cx="3383280" cy="320040"/>
          </a:xfrm>
          <a:prstGeom prst="rect">
            <a:avLst/>
          </a:prstGeom>
          <a:noFill/>
        </p:spPr>
        <p:txBody>
          <a:bodyPr wrap="square" lIns="0" rIns="0" tIns="0" bIns="0" anchor="t">
            <a:spAutoFit/>
          </a:bodyPr>
          <a:lstStyle/>
          <a:p>
            <a:pPr algn="l"/>
            <a:r>
              <a:rPr sz="1300" b="1" i="0">
                <a:solidFill>
                  <a:srgbClr val="2E75B6"/>
                </a:solidFill>
                <a:latin typeface="Arial"/>
              </a:rPr>
              <a:t>DÉVELOPPÉ PENDANT LE STAGE</a:t>
            </a:r>
          </a:p>
        </p:txBody>
      </p:sp>
      <p:sp>
        <p:nvSpPr>
          <p:cNvPr id="11" name="TextBox 10"/>
          <p:cNvSpPr txBox="1"/>
          <p:nvPr/>
        </p:nvSpPr>
        <p:spPr>
          <a:xfrm>
            <a:off x="3886200" y="2194560"/>
            <a:ext cx="3383280" cy="3840480"/>
          </a:xfrm>
          <a:prstGeom prst="rect">
            <a:avLst/>
          </a:prstGeom>
          <a:noFill/>
        </p:spPr>
        <p:txBody>
          <a:bodyPr wrap="square" lIns="0" rIns="0" tIns="0" bIns="0" anchor="t">
            <a:spAutoFit/>
          </a:bodyPr>
          <a:lstStyle/>
          <a:p>
            <a:pPr algn="l">
              <a:spcAft>
                <a:spcPts val="300"/>
              </a:spcAft>
            </a:pPr>
            <a:r>
              <a:rPr sz="1400" b="0" i="0">
                <a:solidFill>
                  <a:srgbClr val="1B2530"/>
                </a:solidFill>
                <a:latin typeface="Arial"/>
              </a:rPr>
              <a:t>conversion YUV420/BGRA → Mat</a:t>
            </a:r>
          </a:p>
          <a:p>
            <a:pPr algn="l">
              <a:spcAft>
                <a:spcPts val="300"/>
              </a:spcAft>
            </a:pPr>
            <a:r>
              <a:rPr sz="1400" b="0" i="0">
                <a:solidFill>
                  <a:srgbClr val="1B2530"/>
                </a:solidFill>
                <a:latin typeface="Arial"/>
              </a:rPr>
              <a:t>DocumentContourDetector : passes, sortie, suivi</a:t>
            </a:r>
          </a:p>
          <a:p>
            <a:pPr algn="l">
              <a:spcAft>
                <a:spcPts val="300"/>
              </a:spcAft>
            </a:pPr>
            <a:r>
              <a:rPr sz="1400" b="0" i="0">
                <a:solidFill>
                  <a:srgbClr val="1B2530"/>
                </a:solidFill>
                <a:latin typeface="Arial"/>
              </a:rPr>
              <a:t>CardQuadGeometry : score</a:t>
            </a:r>
          </a:p>
          <a:p>
            <a:pPr algn="l">
              <a:spcAft>
                <a:spcPts val="300"/>
              </a:spcAft>
            </a:pPr>
            <a:r>
              <a:rPr sz="1400" b="0" i="0">
                <a:solidFill>
                  <a:srgbClr val="1B2530"/>
                </a:solidFill>
                <a:latin typeface="Arial"/>
              </a:rPr>
              <a:t>DetectionIsolateWorker</a:t>
            </a:r>
          </a:p>
          <a:p>
            <a:pPr algn="l">
              <a:spcAft>
                <a:spcPts val="300"/>
              </a:spcAft>
            </a:pPr>
            <a:r>
              <a:rPr sz="1400" b="0" i="0">
                <a:solidFill>
                  <a:srgbClr val="1B2530"/>
                </a:solidFill>
                <a:latin typeface="Arial"/>
              </a:rPr>
              <a:t>StabilityTracker, stabilisateur</a:t>
            </a:r>
          </a:p>
          <a:p>
            <a:pPr algn="l">
              <a:spcAft>
                <a:spcPts val="300"/>
              </a:spcAft>
            </a:pPr>
            <a:r>
              <a:rPr sz="1400" b="0" i="0">
                <a:solidFill>
                  <a:srgbClr val="1B2530"/>
                </a:solidFill>
                <a:latin typeface="Arial"/>
              </a:rPr>
              <a:t>machine à états d'autocapture</a:t>
            </a:r>
          </a:p>
          <a:p>
            <a:pPr algn="l">
              <a:spcAft>
                <a:spcPts val="300"/>
              </a:spcAft>
            </a:pPr>
            <a:r>
              <a:rPr sz="1400" b="0" i="0">
                <a:solidFill>
                  <a:srgbClr val="1B2530"/>
                </a:solidFill>
                <a:latin typeface="Arial"/>
              </a:rPr>
              <a:t>BackOrientationDetector : vote</a:t>
            </a:r>
          </a:p>
          <a:p>
            <a:pPr algn="l">
              <a:spcAft>
                <a:spcPts val="300"/>
              </a:spcAft>
            </a:pPr>
            <a:r>
              <a:rPr sz="1400" b="0" i="0">
                <a:solidFill>
                  <a:srgbClr val="1B2530"/>
                </a:solidFill>
                <a:latin typeface="Arial"/>
              </a:rPr>
              <a:t>CardImageEnhancer, page A4</a:t>
            </a:r>
          </a:p>
          <a:p>
            <a:pPr algn="l">
              <a:spcAft>
                <a:spcPts val="300"/>
              </a:spcAft>
            </a:pPr>
            <a:r>
              <a:rPr sz="1400" b="0" i="0">
                <a:solidFill>
                  <a:srgbClr val="1B2530"/>
                </a:solidFill>
                <a:latin typeface="Arial"/>
              </a:rPr>
              <a:t>écrans, historique, export</a:t>
            </a:r>
          </a:p>
        </p:txBody>
      </p:sp>
      <p:cxnSp>
        <p:nvCxnSpPr>
          <p:cNvPr id="12" name="Connector 11"/>
          <p:cNvCxnSpPr/>
          <p:nvPr/>
        </p:nvCxnSpPr>
        <p:spPr>
          <a:xfrm>
            <a:off x="7360919" y="1783080"/>
            <a:ext cx="0" cy="4160520"/>
          </a:xfrm>
          <a:prstGeom prst="line">
            <a:avLst/>
          </a:prstGeom>
          <a:ln w="9525">
            <a:solidFill>
              <a:srgbClr val="CBD3DB"/>
            </a:solidFill>
          </a:ln>
        </p:spPr>
      </p:cxnSp>
      <p:sp>
        <p:nvSpPr>
          <p:cNvPr id="13" name="TextBox 12"/>
          <p:cNvSpPr txBox="1"/>
          <p:nvPr/>
        </p:nvSpPr>
        <p:spPr>
          <a:xfrm>
            <a:off x="7635240" y="1783080"/>
            <a:ext cx="4007815" cy="320040"/>
          </a:xfrm>
          <a:prstGeom prst="rect">
            <a:avLst/>
          </a:prstGeom>
          <a:noFill/>
        </p:spPr>
        <p:txBody>
          <a:bodyPr wrap="square" lIns="0" rIns="0" tIns="0" bIns="0" anchor="t">
            <a:spAutoFit/>
          </a:bodyPr>
          <a:lstStyle/>
          <a:p>
            <a:pPr algn="l"/>
            <a:r>
              <a:rPr sz="1300" b="1" i="0">
                <a:solidFill>
                  <a:srgbClr val="2E75B6"/>
                </a:solidFill>
                <a:latin typeface="Arial"/>
              </a:rPr>
              <a:t>RÉFÉRENCES</a:t>
            </a:r>
          </a:p>
        </p:txBody>
      </p:sp>
      <p:sp>
        <p:nvSpPr>
          <p:cNvPr id="14" name="TextBox 13"/>
          <p:cNvSpPr txBox="1"/>
          <p:nvPr/>
        </p:nvSpPr>
        <p:spPr>
          <a:xfrm>
            <a:off x="7635240" y="2194560"/>
            <a:ext cx="4007815" cy="3840480"/>
          </a:xfrm>
          <a:prstGeom prst="rect">
            <a:avLst/>
          </a:prstGeom>
          <a:noFill/>
        </p:spPr>
        <p:txBody>
          <a:bodyPr wrap="square" lIns="0" rIns="0" tIns="0" bIns="0" anchor="t">
            <a:spAutoFit/>
          </a:bodyPr>
          <a:lstStyle/>
          <a:p>
            <a:pPr algn="l">
              <a:spcAft>
                <a:spcPts val="400"/>
              </a:spcAft>
            </a:pPr>
            <a:r>
              <a:rPr sz="1300" b="0" i="0">
                <a:solidFill>
                  <a:srgbClr val="1B2530"/>
                </a:solidFill>
                <a:latin typeface="Arial"/>
              </a:rPr>
              <a:t>Canny, IEEE TPAMI, 1986</a:t>
            </a:r>
          </a:p>
          <a:p>
            <a:pPr algn="l">
              <a:spcAft>
                <a:spcPts val="400"/>
              </a:spcAft>
            </a:pPr>
            <a:r>
              <a:rPr sz="1300" b="0" i="0">
                <a:solidFill>
                  <a:srgbClr val="1B2530"/>
                </a:solidFill>
                <a:latin typeface="Arial"/>
              </a:rPr>
              <a:t>Otsu, IEEE TSMC, 1979</a:t>
            </a:r>
          </a:p>
          <a:p>
            <a:pPr algn="l">
              <a:spcAft>
                <a:spcPts val="400"/>
              </a:spcAft>
            </a:pPr>
            <a:r>
              <a:rPr sz="1300" b="0" i="0">
                <a:solidFill>
                  <a:srgbClr val="1B2530"/>
                </a:solidFill>
                <a:latin typeface="Arial"/>
              </a:rPr>
              <a:t>Zuiderveld, CLAHE, Graphics Gems IV, 1994</a:t>
            </a:r>
          </a:p>
          <a:p>
            <a:pPr algn="l">
              <a:spcAft>
                <a:spcPts val="400"/>
              </a:spcAft>
            </a:pPr>
            <a:r>
              <a:rPr sz="1300" b="0" i="0">
                <a:solidFill>
                  <a:srgbClr val="1B2530"/>
                </a:solidFill>
                <a:latin typeface="Arial"/>
              </a:rPr>
              <a:t>Viola &amp; Jones, CVPR, 2001</a:t>
            </a:r>
          </a:p>
          <a:p>
            <a:pPr algn="l">
              <a:spcAft>
                <a:spcPts val="400"/>
              </a:spcAft>
            </a:pPr>
            <a:r>
              <a:rPr sz="1300" b="0" i="0">
                <a:solidFill>
                  <a:srgbClr val="1B2530"/>
                </a:solidFill>
                <a:latin typeface="Arial"/>
              </a:rPr>
              <a:t>Matas et al., Hough probabiliste, CVIU, 2000</a:t>
            </a:r>
          </a:p>
          <a:p>
            <a:pPr algn="l">
              <a:spcAft>
                <a:spcPts val="400"/>
              </a:spcAft>
            </a:pPr>
            <a:r>
              <a:rPr sz="1300" b="0" i="0">
                <a:solidFill>
                  <a:srgbClr val="1B2530"/>
                </a:solidFill>
                <a:latin typeface="Arial"/>
              </a:rPr>
              <a:t>Hartley &amp; Zisserman, 2004</a:t>
            </a:r>
          </a:p>
          <a:p>
            <a:pPr algn="l">
              <a:spcAft>
                <a:spcPts val="400"/>
              </a:spcAft>
            </a:pPr>
            <a:r>
              <a:rPr sz="1300" b="0" i="0">
                <a:solidFill>
                  <a:srgbClr val="1B2530"/>
                </a:solidFill>
                <a:latin typeface="Arial"/>
              </a:rPr>
              <a:t>Martin, Clean Architecture, 2017</a:t>
            </a:r>
          </a:p>
          <a:p>
            <a:pPr algn="l">
              <a:spcAft>
                <a:spcPts val="400"/>
              </a:spcAft>
            </a:pPr>
            <a:r>
              <a:rPr sz="1300" b="0" i="0">
                <a:solidFill>
                  <a:srgbClr val="1B2530"/>
                </a:solidFill>
                <a:latin typeface="Arial"/>
              </a:rPr>
              <a:t>ISO/IEC 7810:2019 (ID-1)</a:t>
            </a:r>
          </a:p>
          <a:p>
            <a:pPr algn="l">
              <a:spcAft>
                <a:spcPts val="400"/>
              </a:spcAft>
            </a:pPr>
            <a:r>
              <a:rPr sz="1300" b="0" i="0">
                <a:solidFill>
                  <a:srgbClr val="1B2530"/>
                </a:solidFill>
                <a:latin typeface="Arial"/>
              </a:rPr>
              <a:t>Google ML Kit, Document Scanner API [15]</a:t>
            </a:r>
          </a:p>
        </p:txBody>
      </p:sp>
      <p:sp>
        <p:nvSpPr>
          <p:cNvPr id="15" name="TextBox 14"/>
          <p:cNvSpPr txBox="1"/>
          <p:nvPr/>
        </p:nvSpPr>
        <p:spPr>
          <a:xfrm>
            <a:off x="548640" y="6080760"/>
            <a:ext cx="11094415" cy="274320"/>
          </a:xfrm>
          <a:prstGeom prst="rect">
            <a:avLst/>
          </a:prstGeom>
          <a:noFill/>
        </p:spPr>
        <p:txBody>
          <a:bodyPr wrap="square" lIns="0" rIns="0" tIns="0" bIns="0" anchor="t">
            <a:spAutoFit/>
          </a:bodyPr>
          <a:lstStyle/>
          <a:p>
            <a:pPr algn="l"/>
            <a:r>
              <a:rPr sz="1200" b="0" i="0">
                <a:solidFill>
                  <a:srgbClr val="5B6B7A"/>
                </a:solidFill>
                <a:latin typeface="Arial"/>
              </a:rPr>
              <a:t>Sources : rapport (bibliographie, chapitres 4 à 8) et code du dépôt detection_cin.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