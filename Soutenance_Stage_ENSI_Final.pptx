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0:30 (cumul 0:30)</a:t>
            </a:r>
          </a:p>
          <a:p/>
          <a:p>
            <a:r>
              <a:t>TEXTE ORAL</a:t>
            </a:r>
          </a:p>
          <a:p>
            <a:r>
              <a:t>Madame, Monsieur les membres du jury, bonjour. Je vais vous présenter le travail de mon stage d'été de six semaines chez Codingaholic, à La Marsa, encadré par M. Jendoubi : un module mobile qui détecte et capture automatiquement le recto puis le verso de la carte d'identité nationale tunisienne, pour l'application Avatar-ID. Je vais suivre le fil contexte, conception, résultats, puis bilan, en une quinzaine de minutes.</a:t>
            </a:r>
          </a:p>
          <a:p/>
          <a:p>
            <a:r>
              <a:t>TRANSITION — « Commençons par situer le module dans Avatar-ID. »</a:t>
            </a:r>
          </a:p>
          <a:p/>
          <a:p>
            <a:r>
              <a:t>QUESTION PROBABLE</a:t>
            </a:r>
          </a:p>
          <a:p>
            <a:r>
              <a:t>– « Quel était votre périmètre exact ? » → la capture : détection, contrôle de qualité, recto/verso, recadrage, amélioration. La vivacité, la comparaison des photos, l'OCR et l'enregistrement sont les étapes suivantes d'Avatar-ID (diapositive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0:40 (cumul 1:55)</a:t>
            </a:r>
          </a:p>
          <a:p/>
          <a:p>
            <a:r>
              <a:t>ANIMATIONS — 2 clics : 1) étapes 2 à 5 d'Avatar-ID, après « Mon module est la première » ; 2) les deux conclusions du bas.</a:t>
            </a:r>
          </a:p>
          <a:p/>
          <a:p>
            <a:r>
              <a:t>TEXTE ORAL</a:t>
            </a:r>
          </a:p>
          <a:p>
            <a:r>
              <a:t>Avatar-ID est une application de vérification d'identité à distance, dans l'esprit du KYC des banques. Elle enchaîne plusieurs étapes. Mon module est la première : il capture le recto puis le verso de la carte. Ensuite, Avatar-ID réalise un test de vivacité, compare la photo de la carte avec le visage de l'utilisateur, lit les champs de la carte par OCR, puis enregistre le résultat. Mon module transmet donc le recto et le verso redressés et orientés. C'est pour cela que la qualité de capture est si importante : une image floue ou de travers dégrade directement la comparaison des visages et la lecture OCR.</a:t>
            </a:r>
          </a:p>
          <a:p/>
          <a:p>
            <a:r>
              <a:t>TRANSITION — « Or, sans guidage, cette première étape échoue souvent. »</a:t>
            </a:r>
          </a:p>
          <a:p/>
          <a:p>
            <a:r>
              <a:t>QUESTIONS PROBABLES (préparation, ne pas lire)</a:t>
            </a:r>
          </a:p>
          <a:p>
            <a:r>
              <a:t>– « Avez-vous développé la vivacité ou l'OCR ? » → non, ce sont les étapes suivantes d'Avatar-ID ; mon périmètre est la capture.</a:t>
            </a:r>
          </a:p>
          <a:p>
            <a:r>
              <a:t>– « Sous quelle forme passez-vous les images ? » → deux images (Uint8List) et, le cas échéant, la page d'impression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1:15)</a:t>
            </a:r>
          </a:p>
          <a:p/>
          <a:p>
            <a:r>
              <a:t>TEXTE ORAL</a:t>
            </a:r>
          </a:p>
          <a:p>
            <a:r>
              <a:t>À la première étape, l'utilisateur doit fournir sa carte d'identité. Si on lui demande simplement une photo, on obtient trop souvent une image floue, une carte de travers, ou deux fois le recto à la place du verso. Chaque défaut coûte un contrôle humain, une nouvelle saisie, et dégrade la comparaison des photos et l'OCR qui suivent. La question que j'ai traitée est donc : comment détecter de manière fiable et en temps réel les contours de la carte dans le flux caméra, quel que soit l'éclairage ou l'arrière-plan, pour ne capturer que des images exploitables, une seule fois par face.</a:t>
            </a:r>
          </a:p>
          <a:p/>
          <a:p>
            <a:r>
              <a:t>TRANSITION — « Concrètement, voici ce que le module devait faire. »</a:t>
            </a:r>
          </a:p>
          <a:p/>
          <a:p>
            <a:r>
              <a:t>QUESTION PROBABLE</a:t>
            </a:r>
          </a:p>
          <a:p>
            <a:r>
              <a:t>– « Pourquoi ne pas utiliser une plateforme KYC existante (Onfido, Jumio…) ? » → données d'identité envoyées à un tiers, coût de licence, dépendance réseau au moment de la capture, peu de personnalisation pour la CIN tunisienne (rapport, tableau 1.1). Avatar-ID a choisi un module interne, sur l'appareil.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2:55)</a:t>
            </a:r>
          </a:p>
          <a:p/>
          <a:p>
            <a:r>
              <a:t>TEXTE ORAL</a:t>
            </a:r>
          </a:p>
          <a:p>
            <a:r>
              <a:t>Le besoin se résume à cinq fonctions : détecter la carte et ses contours, vérifier que l'image est nette, bien exposée et stable, reconnaître le recto puis le verso, déclencher la capture sans bouton, et enfin recadrer et améliorer l'image. Le cahier des charges fixait aussi trois cibles : moins de 100 millisecondes de traitement par image, idéalement ; au moins 90 % de recto/verso bien reconnus en conditions normales, c'est-à-dire en intérieur éclairé, carte à plat, sans reflet ; et environ deux secondes entre le moment où la carte est bien placée et la capture. Le tout sur Android et sur iOS, avec un seul code, en six semaines. Je montrerai plus loin que ces trois cibles sont atteintes.</a:t>
            </a:r>
          </a:p>
          <a:p/>
          <a:p>
            <a:r>
              <a:t>TRANSITION — « La contrainte Android + iOS a directement décidé de la technologie. »</a:t>
            </a:r>
          </a:p>
          <a:p/>
          <a:p>
            <a:r>
              <a:t>QUESTION PROBABLE</a:t>
            </a:r>
          </a:p>
          <a:p>
            <a:r>
              <a:t>– « Les besoins secondaires ? » → reprise manuelle après capture (implémentée), anti-doublon (implémenté), alerte si aucune carte n'est détectée après un délai (prévue en perspective).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3:50)</a:t>
            </a:r>
          </a:p>
          <a:p/>
          <a:p>
            <a:r>
              <a:t>TEXTE ORAL</a:t>
            </a:r>
          </a:p>
          <a:p>
            <a:r>
              <a:t>Trois briques ont été évaluées. Le Document Scanner de Google ML Kit est simple à intégrer, mais il n'existe que sur Android : il aurait fallu une deuxième chaîne de détection pour iOS. Un modèle entraîné sur mesure aurait été le plus robuste, mais il demande plusieurs centaines d'images de CIN annotées ; pour une pièce d'identité, je ne pouvais ni les collecter ni les annoter en six semaines. Il restait OpenCV, multiplateforme, sans entraînement. Le prix à payer, je l'assume : tous les seuils sont réglés de façon empirique. Résultat : un seul pipeline, testé sur Android et sur iOS avec le même comportement.</a:t>
            </a:r>
          </a:p>
          <a:p/>
          <a:p>
            <a:r>
              <a:t>TRANSITION — « Voyons comment j'ai organisé le code autour de cette brique. »</a:t>
            </a:r>
          </a:p>
          <a:p/>
          <a:p>
            <a:r>
              <a:t>QUESTIONS PROBABLES</a:t>
            </a:r>
          </a:p>
          <a:p>
            <a:r>
              <a:t>– « Pourquoi pas du deep learning ? » → pas de jeu de données annoté possible, pas de jeu public pour des raisons de confidentialité, et six semaines pour toute la fonctionnalité (rapport p. 15).</a:t>
            </a:r>
          </a:p>
          <a:p>
            <a:r>
              <a:t>– « Utilisez-vous un modèle appris quelque part ? » → oui, un seul : la cascade de Haar de détection de visage, pré-entraînée et fournie par OpenCV. Je ne l'ai pas entraînée.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0:55 (cumul 4:45)</a:t>
            </a:r>
          </a:p>
          <a:p/>
          <a:p>
            <a:r>
              <a:t>TEXTE ORAL</a:t>
            </a:r>
          </a:p>
          <a:p>
            <a:r>
              <a:t>L'application suit la Clean Architecture, découpée par fonctionnalité : sept modules, plus deux modules transverses. À gauche, le motif d'un module : la présentation dépend du domaine, et la couche données implémente les interfaces du domaine. Le point clé est la couche domaine, en bleu : elle ne dépend ni de Flutter ni d'OpenCV. La machine à états, la décision de capture ou la géométrie du quadrilatère se testent donc sans caméra et sans émulateur. À droite, je montre honnêtement que chaque module ne prend que les couches dont il a besoin : seuls document_detection et image_postprocessing ont les trois.</a:t>
            </a:r>
          </a:p>
          <a:p/>
          <a:p>
            <a:r>
              <a:t>TRANSITION — « Entrons dans le cœur technique : la détection de la carte. »</a:t>
            </a:r>
          </a:p>
          <a:p/>
          <a:p>
            <a:r>
              <a:t>QUESTION PROBABLE</a:t>
            </a:r>
          </a:p>
          <a:p>
            <a:r>
              <a:t>– « Pourquoi feature-first ? » → l'arborescence suit le plan en six étapes, chaque étape livrant un ou deux modules ; et un module ne peut pas casser silencieusement un autre, puisqu'ils ne partagent que des interfaces de domaine explicites (rapport §2.6.1).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1:25 (cumul 6:10)</a:t>
            </a:r>
          </a:p>
          <a:p/>
          <a:p>
            <a:r>
              <a:t>ANIMATIONS — 1 clic : la bande « conçu et développé pendant le stage », au moment de « En bas, ce que j'ai conçu ».</a:t>
            </a:r>
          </a:p>
          <a:p/>
          <a:p>
            <a:r>
              <a:t>TEXTE ORAL</a:t>
            </a:r>
          </a:p>
          <a:p>
            <a:r>
              <a:t>Voici le pipeline, appliqué à chaque image. Un : la frame caméra, en YUV420 sur Android ou BGRA sur iOS, est convertie en matrice OpenCV. Deux : un CLAHE renforce le contraste local. Trois : quatre passes indépendantes produisent chacune un masque de contours : Canny, avec des seuils calculés à partir de la médiane d'intensité ; un seuillage adaptatif gaussien ; une segmentation sur la saturation HSV avec Otsu ; et, en dernier recours, un gradient morphologique. Chaque contour est simplifié en polygone ; s'il a quatre sommets convexes, c'est un candidat. Quatre : un score que j'ai défini, 80 % sur la proportion par rapport au format ID-1 et 20 % sur la taille, retient le meilleur au-dessus de 0,30. Cinq : une homographie redresse la carte en 856 par 540 pixels.</a:t>
            </a:r>
          </a:p>
          <a:p>
            <a:r>
              <a:t>En bas, ce que j'ai conçu autour des primitives d'OpenCV : la sortie anticipée qui évite les passes coûteuses, le suivi qui ne cherche qu'autour de la position précédente, les garde-fous contre un faux quadrilatère qui « verrouillerait » le fond, et l'isolate Dart qui garde l'aperçu fluide : s'il est occupé, la frame suivante est simplement ignorée, sans file d'attente.</a:t>
            </a:r>
          </a:p>
          <a:p/>
          <a:p>
            <a:r>
              <a:t>TRANSITION — « Cette chaîne n'a pas marché du premier coup. »</a:t>
            </a:r>
          </a:p>
          <a:p/>
          <a:p>
            <a:r>
              <a:t>QUESTIONS PROBABLES</a:t>
            </a:r>
          </a:p>
          <a:p>
            <a:r>
              <a:t>– « Et si le polygone n'a pas quatre sommets ? » → rectangle englobant minimal, avec une pénalité de score ×0,85.</a:t>
            </a:r>
          </a:p>
          <a:p>
            <a:r>
              <a:t>– « Pourquoi le terme 1/r dans le score ? » → pour qu'une carte vue à 90° ne soit pas pénalisée.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1:05 (cumul 7:15)</a:t>
            </a:r>
          </a:p>
          <a:p/>
          <a:p>
            <a:r>
              <a:t>ANIMATIONS — 3 clics : 1) les deux causes ; 2) les trois correctifs ; 3) le résultat observé.</a:t>
            </a:r>
          </a:p>
          <a:p/>
          <a:p>
            <a:r>
              <a:t>TEXTE ORAL</a:t>
            </a:r>
          </a:p>
          <a:p>
            <a:r>
              <a:t>La vraie difficulté du projet est apparue pendant les essais : la détection fonctionnait sur fond sombre, mais échouait très souvent avec une carte claire posée sur une table blanche, un cas pourtant courant. J'ai trouvé deux causes. D'abord un bug : les seuils de Canny étaient calculés à partir de la moyenne d'intensité de l'image, et pas de sa médiane ; sur une scène claire, la moyenne monte et les seuils deviennent trop stricts pour un bord faible. Ensuite, un contraste local insuffisant. J'ai appliqué trois correctifs ensemble : la vraie médiane, une passe CLAHE avant la détection, et un nouveau réglage des seuils de score et d'aire. Après ces correctifs, j'ai observé un taux de détection comparable sur les deux fonds.</a:t>
            </a:r>
          </a:p>
          <a:p/>
          <a:p>
            <a:r>
              <a:t>TRANSITION — « Une fois la carte trouvée, il faut décider quand capturer. »</a:t>
            </a:r>
          </a:p>
          <a:p/>
          <a:p>
            <a:r>
              <a:t>QUESTION PROBABLE</a:t>
            </a:r>
          </a:p>
          <a:p>
            <a:r>
              <a:t>– « Lequel des correctifs a le plus compté ? » → je ne l'ai pas isolé ; une étude d'ablation sur un jeu d'images fixe serait la bonne méthode. Le gradient morphologique a été ajouté pour le même cas extrême, en dernier recours.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8:30)</a:t>
            </a:r>
          </a:p>
          <a:p/>
          <a:p>
            <a:r>
              <a:t>ANIMATIONS — 1 clic : les cinq contrôles, après avoir décrit la machine à états.</a:t>
            </a:r>
          </a:p>
          <a:p/>
          <a:p>
            <a:r>
              <a:t>TEXTE ORAL</a:t>
            </a:r>
          </a:p>
          <a:p>
            <a:r>
              <a:t>L'autocapture est une machine à états. On part de searching. Dès que la carte est trouvée, on passe en poorQuality tant qu'un contrôle échoue. Les contrôles sont au nombre de quatre : la netteté, mesurée par la variance du Laplacien après CLAHE, au moins 120 sur l'image redressée ; la luminosité, avec une moyenne entre 60 et 225 et au plus 12 % de pixels saturés, pour détecter un reflet ; la stabilité, avec une dérive des coins inférieure à 2,5 % de la diagonale sur trois frames ; et enfin le contenu, c'est-à-dire la bonne face. Quand tout est bon, on entre en holding ; il faut tenir deux frames bonnes consécutives : c'est un compteur, pas une minuterie. Alors seulement la capture part. Si la carte est perdue, on revient à searching ; si la capture échoue, on réinitialise. À droite, l'écran réel : l'application dit à l'utilisateur ce qui bloque, ici « Ne bougez plus ».</a:t>
            </a:r>
          </a:p>
          <a:p/>
          <a:p>
            <a:r>
              <a:t>TRANSITION — « Le contrôle de contenu repose sur la reconnaissance du recto et du verso. »</a:t>
            </a:r>
          </a:p>
          <a:p/>
          <a:p>
            <a:r>
              <a:t>QUESTIONS PROBABLES</a:t>
            </a:r>
          </a:p>
          <a:p>
            <a:r>
              <a:t>– « Pourquoi 120 ? » → seuil empirique, valable seulement à la résolution de redressement 856 × 540 ; à une autre résolution la variance change (rapport §5.2.1).</a:t>
            </a:r>
          </a:p>
          <a:p>
            <a:r>
              <a:t>– « Pourquoi ≈ 2 s mesurées si deux frames suffisent ? » → à environ 10 analyses par seconde, les compteurs (3 frames de stabilité, 2 de maintien) ne représentent qu'une fraction de seconde ; le reste vient de la confirmation des signaux de contenu et du geste de l'utilisateur. Je ne l'ai pas décomposé finement : c'est un chronométrage manuel.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1:10 (cumul 9:40)</a:t>
            </a:r>
          </a:p>
          <a:p/>
          <a:p>
            <a:r>
              <a:t>TEXTE ORAL</a:t>
            </a:r>
          </a:p>
          <a:p>
            <a:r>
              <a:t>Pour savoir quelle face est présentée, j'exploite la mise en page de la CIN. Au recto, la photo est toujours dans le quart supérieur gauche. J'y cherche un visage avec la cascade de Haar standard d'OpenCV — pré-entraînée, je ne l'ai pas entraînée sur la CIN — en testant les quatre rotations : celle qui trouve le visage me donne en plus l'orientation de la carte. Je confirme ensuite avec le logo et le drapeau par template matching, avec une corrélation d'au moins 0,6 ; ce sont les gabarits que vous voyez, embarqués dans l'application. Le verso n'a pas de visage : trois indices votent sur les quatre rotations — la localisation du code-barres, la texture de l'empreinte mesurée par la variance du Laplacien, et la ligne de séparation trouvée par une transformée de Hough. Conséquence : après le recto, présenter à nouveau le recto ne déclenche rien. Les images montrent les silhouettes de guidage de l'application, pas des détections.</a:t>
            </a:r>
          </a:p>
          <a:p/>
          <a:p>
            <a:r>
              <a:t>TRANSITION — « Voyons maintenant ce que l'utilisateur obtient. »</a:t>
            </a:r>
          </a:p>
          <a:p/>
          <a:p>
            <a:r>
              <a:t>QUESTION PROBABLE</a:t>
            </a:r>
          </a:p>
          <a:p>
            <a:r>
              <a:t>– « Haar est-il robuste pour une photo d'identité ? » → c'est une cascade générique de visage de face ; elle suffit ici car la région est petite et fixe, mais je n'ai pas mesuré son rappel séparément.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1:15 (cumul 10:55) — si la démonstration en direct est prévue, la lancer ici (≈ 45 s) et raccourcir le commentaire.</a:t>
            </a:r>
          </a:p>
          <a:p/>
          <a:p>
            <a:r>
              <a:t>TEXTE ORAL</a:t>
            </a:r>
          </a:p>
          <a:p>
            <a:r>
              <a:t>Voici le parcours tel qu'il apparaît à l'écran, sur des captures de ma session de test où les données de la carte sont masquées. L'utilisateur présente le recto puis le verso : les deux captures partent seules. Il arrive ensuite sur l'écran de vérification : il peut régler le contraste, activer la netteté ou un mode scan noir et blanc. Il peut ajuster chaque face séparément, en glissant les coins du cadre ou en la faisant pivoter, sans perdre l'autre face. Enfin, il exporte vers la galerie le recto, le verso et une page A4 à 300 dpi qui compose les deux faces comme un scanner ; il retrouve ses captures dans l'historique. Pour Avatar-ID, le module restitue les deux images finales et, si besoin, la page A4.</a:t>
            </a:r>
          </a:p>
          <a:p/>
          <a:p>
            <a:r>
              <a:t>TRANSITION — « Comment ai-je vérifié que tout cela fonctionne ? »</a:t>
            </a:r>
          </a:p>
          <a:p/>
          <a:p>
            <a:r>
              <a:t>QUESTIONS PROBABLES</a:t>
            </a:r>
          </a:p>
          <a:p>
            <a:r>
              <a:t>– « Où vont les images exportées ? » → dans la galerie de l'appareil ; à partir de là, elles suivent la vie normale des photos (sauvegarde cloud, partage) : l'utilisateur doit en être informé (rapport §7.2.4).</a:t>
            </a:r>
          </a:p>
          <a:p>
            <a:r>
              <a:t>– « Qu'est-ce qu'Avatar-ID reçoit ? » → deux images (Uint8List) et, le cas échéant, la page d'impression : le module est une brique autonome (rapport §8.2.5).</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11:45)</a:t>
            </a:r>
          </a:p>
          <a:p/>
          <a:p>
            <a:r>
              <a:t>TEXTE ORAL</a:t>
            </a:r>
          </a:p>
          <a:p>
            <a:r>
              <a:t>Pour les tests automatisés, j'ai organisé la suite en quatre paliers, selon ce dont chaque test a besoin pour tourner. Palier A : la logique Dart pure, comme la machine à états, la décision de capture ou la stabilité. Palier B : les plugins simulés avec mocktail, pour la caméra, les permissions et le stockage. Palier C : le vrai binaire OpenCV, sur des images synthétiques générées dans le test. Palier D : les vraies cartes, sur téléphone, avec un protocole de test manuel. Lors de la dernière campagne, 177 cas de test sont passés, sans aucun échec, en seize secondes. C'est la séparation en couches qui rend ces tests rapides.</a:t>
            </a:r>
          </a:p>
          <a:p/>
          <a:p>
            <a:r>
              <a:t>TRANSITION — « Le palier D a produit trois mesures sur appareil réel. »</a:t>
            </a:r>
          </a:p>
          <a:p/>
          <a:p>
            <a:r>
              <a:t>QUESTIONS PROBABLES (préparation, ne pas lire)</a:t>
            </a:r>
          </a:p>
          <a:p>
            <a:r>
              <a:t>– « Combien de fichiers de test ? » → 28 fichiers (15 A, 6 B, 7 C) ; la dernière campagne en a exécuté 21, pour 177 cas réussis. Les autres sont à relancer avec flutter test --reporter expanded.</a:t>
            </a:r>
          </a:p>
          <a:p>
            <a:r>
              <a:t>– « Quelle couverture ? » → elle n'a pas été mesurée ; flutter test --coverage le permet directement.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1:00 (cumul 12:45)</a:t>
            </a:r>
          </a:p>
          <a:p/>
          <a:p>
            <a:r>
              <a:t>ANIMATIONS — 3 clics : une mesure par clic (temps, reconnaissance, délai) ; Android et iOS arrive avec la troisième.</a:t>
            </a:r>
          </a:p>
          <a:p/>
          <a:p>
            <a:r>
              <a:t>TEXTE ORAL</a:t>
            </a:r>
          </a:p>
          <a:p>
            <a:r>
              <a:t>Sur appareil réel, j'ai relevé trois mesures face aux trois cibles. Le traitement d'une image dans l'isolate prend entre 92 et 100 millisecondes, pour une cible de moins de 100. Le recto et le verso sont bien reconnus dans 92 % des cas, pour une cible de 90 % en conditions normales, c'est-à-dire en intérieur éclairé, carte à plat, sans reflet. Et la capture part environ deux secondes après la stabilisation du cadre, ce qui correspond à la cible. Enfin, l'application a été testée sur Android et sur iOS : le même pipeline donne le même comportement sur les deux plateformes, ce qui valide le choix d'OpenCV.</a:t>
            </a:r>
          </a:p>
          <a:p/>
          <a:p>
            <a:r>
              <a:t>TRANSITION — « Ces résultats ouvrent plusieurs pistes d'amélioration. »</a:t>
            </a:r>
          </a:p>
          <a:p/>
          <a:p>
            <a:r>
              <a:t>QUESTIONS PROBABLES (préparation, ne pas lire)</a:t>
            </a:r>
          </a:p>
          <a:p>
            <a:r>
              <a:t>– « Sur quel téléphone, combien d'essais ? » → donner vos notes d'essais (modèles Android et iOS, nombre de cartes).</a:t>
            </a:r>
          </a:p>
          <a:p>
            <a:r>
              <a:t>– « 92–100 ms, c'est la latence de bout en bout ? » → non : c'est le traitement dans l'isolate ; l'aperçu reste fluide car les frames reçues pendant un traitement sont ignorées.</a:t>
            </a:r>
          </a:p>
          <a:p>
            <a:r>
              <a:t>– « Pourquoi ≈ 2 s si deux frames suffisent ? » → à environ dix analyses par seconde, les compteurs (3 frames de stabilité, 2 de maintien) ne font qu'une fraction de seconde ; le reste vient de la confirmation des signaux de contenu et du geste de l'utilisateur.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0:45 (cumul 13:30)</a:t>
            </a:r>
          </a:p>
          <a:p/>
          <a:p>
            <a:r>
              <a:t>TEXTE ORAL</a:t>
            </a:r>
          </a:p>
          <a:p>
            <a:r>
              <a:t>Pour aller vers la production, je vois quatre pistes. D'abord, constituer un jeu d'images de CIN plus large, dans le respect de la confidentialité : il permettrait d'affiner les seuils et, à terme, d'ajouter un modèle appris en complément d'OpenCV. Ensuite, automatiser les tests sur cartes réelles avec des images de référence. Troisièmement, ajouter un message qui prévient l'utilisateur quand aucune carte n'est détectée après un délai. Enfin, la vivacité de la personne est déjà vérifiée en aval par Avatar-ID ; côté carte, une analyse de texture permettrait de repérer une carte affichée sur un écran.</a:t>
            </a:r>
          </a:p>
          <a:p/>
          <a:p>
            <a:r>
              <a:t>TRANSITION — « Pour conclure. »</a:t>
            </a:r>
          </a:p>
          <a:p/>
          <a:p>
            <a:r>
              <a:t>QUESTIONS PROBABLES (préparation, ne pas lire)</a:t>
            </a:r>
          </a:p>
          <a:p>
            <a:r>
              <a:t>– « Une photo d'écran passe-t-elle ? » → les contrôles (capture en direct, deux faces, qualité) réduisent fortement ce risque ; la vivacité de la personne est ensuite vérifiée par Avatar-ID ; une analyse de texture de la carte renforcerait encore la chaîne.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0:50 (cumul 14:20)</a:t>
            </a:r>
          </a:p>
          <a:p/>
          <a:p>
            <a:r>
              <a:t>TEXTE ORAL</a:t>
            </a:r>
          </a:p>
          <a:p>
            <a:r>
              <a:t>En six semaines, j'ai livré un module qui capture seul le recto puis le verso d'une CIN, sur Android comme sur iOS : détection par quatre passes et un score, autocapture sur quatre contrôles, reconnaissance recto/verso avec anti-doublon, puis vérification, page A4, export et historique. Les trois cibles sont atteintes et 177 tests passent sans échec. Mon apport, c'est tout ce qui entoure les primitives d'OpenCV : leur enchaînement, le score, l'isolate, la machine à états, le vote recto/verso et le post-traitement. J'en retiens qu'un choix technique se défend par les contraintes réelles d'un projet.</a:t>
            </a:r>
          </a:p>
          <a:p/>
          <a:p>
            <a:r>
              <a:t>TRANSITION — « Merci de votre attention.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0:10 (cumul 14:30)</a:t>
            </a:r>
          </a:p>
          <a:p/>
          <a:p>
            <a:r>
              <a:t>TEXTE ORAL</a:t>
            </a:r>
          </a:p>
          <a:p>
            <a:r>
              <a:t>Merci de votre attention ; je suis à votre disposition pour vos questions.</a:t>
            </a:r>
          </a:p>
          <a:p/>
          <a:p>
            <a:r>
              <a:t>PENDANT LES QUESTIONS — revenir si besoin à la diapositive 15 (bilan) ; secours A à D après cette diapositive : A seuils, B méthodes de test, C sécurité et confidentialité, D apport personnel et références.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A — à ouvrir seulement si le jury interroge les seuils.</a:t>
            </a:r>
          </a:p>
          <a:p>
            <a:r>
              <a:t>Tous ont été fixés par réglage empirique sur les échantillons de CIN disponibles (rapport §5.5). Le seuil de netteté 120 est calibré sur l'image redressée de 856 × 540 px : à une autre résolution, la variance du Laplacien change et le seuil n'est plus valable. Aucune analyse de sensibilité n'a été faite : c'est une perspective naturelle une fois un jeu d'images constitué.</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B — méthodes de test (rapport, tableau 9.3).</a:t>
            </a:r>
          </a:p>
          <a:p>
            <a:r>
              <a:t>Paliers : A logique pure Dart, B plateforme simulée (mocktail), C OpenCV réel sur images synthétiques, D cartes réelles sur appareil (manuel).</a:t>
            </a:r>
          </a:p>
          <a:p>
            <a:r>
              <a:t>Si l'on vous demande le détail : 28 fichiers de test (15 A, 6 B, 7 C) ; la dernière campagne a exécuté 177 cas, tous réussis.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C — sécurité et confidentialité.</a:t>
            </a:r>
          </a:p>
          <a:p>
            <a:r>
              <a:t>Les contrôles (capture en direct, deux faces, qualité) réduisent fortement le risque de photo d'écran ou d'image préparée ; la vivacité de la personne et la comparaison des photos sont réalisées ensuite par Avatar-ID ; une analyse de texture de la carte reste une piste (rapport §7.2.4). Les images exportées en galerie suivent ensuite la vie normale des photos (sauvegarde cloud, partage). Chiffrement : non traité pendant le stage.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SECOURS D — « Qu'avez-vous développé vous-même ? » et références.</a:t>
            </a:r>
          </a:p>
          <a:p>
            <a:r>
              <a:t>OpenCV fournit les opérateurs ; j'ai conçu leur enchaînement (quatre passes, sortie anticipée, suivi, garde-fous), le score géométrique, l'architecture en isolate, la stabilisation, la machine à états et la décision d'autocapture, le vote sur quatre rotations du verso, le post-traitement et la page A4, ainsi que les écrans. Les références sont celles de la bibliographie du rapport.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Logo manouba"/>
          <p:cNvPicPr>
            <a:picLocks noChangeAspect="1"/>
          </p:cNvPicPr>
          <p:nvPr/>
        </p:nvPicPr>
        <p:blipFill>
          <a:blip r:embed="rId2"/>
          <a:stretch>
            <a:fillRect/>
          </a:stretch>
        </p:blipFill>
        <p:spPr>
          <a:xfrm>
            <a:off x="548640" y="502920"/>
            <a:ext cx="541474" cy="713232"/>
          </a:xfrm>
          <a:prstGeom prst="rect">
            <a:avLst/>
          </a:prstGeom>
        </p:spPr>
      </p:pic>
      <p:pic>
        <p:nvPicPr>
          <p:cNvPr id="3" name="Picture 2" descr="Logo ensi"/>
          <p:cNvPicPr>
            <a:picLocks noChangeAspect="1"/>
          </p:cNvPicPr>
          <p:nvPr/>
        </p:nvPicPr>
        <p:blipFill>
          <a:blip r:embed="rId3"/>
          <a:stretch>
            <a:fillRect/>
          </a:stretch>
        </p:blipFill>
        <p:spPr>
          <a:xfrm>
            <a:off x="1410153" y="502920"/>
            <a:ext cx="594360" cy="713232"/>
          </a:xfrm>
          <a:prstGeom prst="rect">
            <a:avLst/>
          </a:prstGeom>
        </p:spPr>
      </p:pic>
      <p:pic>
        <p:nvPicPr>
          <p:cNvPr id="4" name="Picture 3"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5" name="TextBox 4"/>
          <p:cNvSpPr txBox="1"/>
          <p:nvPr/>
        </p:nvSpPr>
        <p:spPr>
          <a:xfrm>
            <a:off x="548640" y="1783080"/>
            <a:ext cx="6949440" cy="320040"/>
          </a:xfrm>
          <a:prstGeom prst="rect">
            <a:avLst/>
          </a:prstGeom>
          <a:noFill/>
        </p:spPr>
        <p:txBody>
          <a:bodyPr wrap="square" lIns="0" rIns="0" tIns="0" bIns="0" anchor="t">
            <a:spAutoFit/>
          </a:bodyPr>
          <a:lstStyle/>
          <a:p>
            <a:pPr algn="l"/>
            <a:r>
              <a:rPr sz="1400" b="1" i="0">
                <a:solidFill>
                  <a:srgbClr val="2E75B6"/>
                </a:solidFill>
                <a:latin typeface="Arial"/>
              </a:rPr>
              <a:t>SOUTENANCE DE STAGE D'ÉTÉ · 2025/2026</a:t>
            </a:r>
          </a:p>
        </p:txBody>
      </p:sp>
      <p:sp>
        <p:nvSpPr>
          <p:cNvPr id="6" name="Titre"/>
          <p:cNvSpPr txBox="1"/>
          <p:nvPr/>
        </p:nvSpPr>
        <p:spPr>
          <a:xfrm>
            <a:off x="548640" y="2148840"/>
            <a:ext cx="6949440" cy="1645920"/>
          </a:xfrm>
          <a:prstGeom prst="rect">
            <a:avLst/>
          </a:prstGeom>
          <a:noFill/>
        </p:spPr>
        <p:txBody>
          <a:bodyPr wrap="square" lIns="0" rIns="0" tIns="0" bIns="0" anchor="t">
            <a:spAutoFit/>
          </a:bodyPr>
          <a:lstStyle/>
          <a:p>
            <a:pPr algn="l"/>
            <a:r>
              <a:rPr sz="3600" b="1" i="0">
                <a:solidFill>
                  <a:srgbClr val="1F3A5F"/>
                </a:solidFill>
                <a:latin typeface="Arial"/>
              </a:rPr>
              <a:t>Détection automatique et autocapture de la CIN tunisienne</a:t>
            </a:r>
          </a:p>
        </p:txBody>
      </p:sp>
      <p:sp>
        <p:nvSpPr>
          <p:cNvPr id="7" name="TextBox 6"/>
          <p:cNvSpPr txBox="1"/>
          <p:nvPr/>
        </p:nvSpPr>
        <p:spPr>
          <a:xfrm>
            <a:off x="548640" y="3886200"/>
            <a:ext cx="6583680" cy="731520"/>
          </a:xfrm>
          <a:prstGeom prst="rect">
            <a:avLst/>
          </a:prstGeom>
          <a:noFill/>
        </p:spPr>
        <p:txBody>
          <a:bodyPr wrap="square" lIns="0" rIns="0" tIns="0" bIns="0" anchor="t">
            <a:spAutoFit/>
          </a:bodyPr>
          <a:lstStyle/>
          <a:p>
            <a:pPr algn="l"/>
            <a:r>
              <a:rPr sz="2000" b="0" i="0">
                <a:solidFill>
                  <a:srgbClr val="1B2530"/>
                </a:solidFill>
                <a:latin typeface="Arial"/>
              </a:rPr>
              <a:t>Module de capture recto/verso pour Avatar-ID, application Flutter de vérification d'identité à distance</a:t>
            </a:r>
          </a:p>
        </p:txBody>
      </p:sp>
      <p:sp>
        <p:nvSpPr>
          <p:cNvPr id="8" name="TextBox 7"/>
          <p:cNvSpPr txBox="1"/>
          <p:nvPr/>
        </p:nvSpPr>
        <p:spPr>
          <a:xfrm>
            <a:off x="548640" y="4846320"/>
            <a:ext cx="7086600" cy="118872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Codingaholic, La Marsa · encadrant : M. Jendoubi Mohamed Khalil</a:t>
            </a:r>
          </a:p>
          <a:p>
            <a:pPr algn="l">
              <a:spcAft>
                <a:spcPts val="400"/>
              </a:spcAft>
            </a:pPr>
            <a:r>
              <a:rPr sz="1600" b="0" i="0">
                <a:solidFill>
                  <a:srgbClr val="5B6B7A"/>
                </a:solidFill>
                <a:latin typeface="Arial"/>
              </a:rPr>
              <a:t>Université de la Manouba · École Nationale des Sciences de l'Informatique</a:t>
            </a:r>
          </a:p>
        </p:txBody>
      </p:sp>
      <p:sp>
        <p:nvSpPr>
          <p:cNvPr id="9" name="Rounded Rectangle 8"/>
          <p:cNvSpPr/>
          <p:nvPr/>
        </p:nvSpPr>
        <p:spPr>
          <a:xfrm>
            <a:off x="7818120" y="1874519"/>
            <a:ext cx="3794760" cy="2393890"/>
          </a:xfrm>
          <a:prstGeom prst="roundRect">
            <a:avLst>
              <a:gd name="adj" fmla="val 6000"/>
            </a:avLst>
          </a:prstGeom>
          <a:noFill/>
          <a:ln w="15875">
            <a:solidFill>
              <a:srgbClr val="1F3A5F"/>
            </a:solidFill>
          </a:ln>
        </p:spPr>
        <p:txBody>
          <a:bodyPr rtlCol="0" anchor="ctr"/>
          <a:lstStyle/>
          <a:p/>
        </p:txBody>
      </p:sp>
      <p:cxnSp>
        <p:nvCxnSpPr>
          <p:cNvPr id="10" name="Connector 9"/>
          <p:cNvCxnSpPr/>
          <p:nvPr/>
        </p:nvCxnSpPr>
        <p:spPr>
          <a:xfrm>
            <a:off x="7763256" y="1819655"/>
            <a:ext cx="320497" cy="0"/>
          </a:xfrm>
          <a:prstGeom prst="line">
            <a:avLst/>
          </a:prstGeom>
          <a:ln w="31750">
            <a:solidFill>
              <a:srgbClr val="2E75B6"/>
            </a:solidFill>
          </a:ln>
        </p:spPr>
      </p:cxnSp>
      <p:cxnSp>
        <p:nvCxnSpPr>
          <p:cNvPr id="11" name="Connector 10"/>
          <p:cNvCxnSpPr/>
          <p:nvPr/>
        </p:nvCxnSpPr>
        <p:spPr>
          <a:xfrm>
            <a:off x="7763256" y="1819655"/>
            <a:ext cx="0" cy="320498"/>
          </a:xfrm>
          <a:prstGeom prst="line">
            <a:avLst/>
          </a:prstGeom>
          <a:ln w="31750">
            <a:solidFill>
              <a:srgbClr val="2E75B6"/>
            </a:solidFill>
          </a:ln>
        </p:spPr>
      </p:cxnSp>
      <p:cxnSp>
        <p:nvCxnSpPr>
          <p:cNvPr id="12" name="Connector 11"/>
          <p:cNvCxnSpPr/>
          <p:nvPr/>
        </p:nvCxnSpPr>
        <p:spPr>
          <a:xfrm flipH="1">
            <a:off x="11347246" y="1819655"/>
            <a:ext cx="320498" cy="0"/>
          </a:xfrm>
          <a:prstGeom prst="line">
            <a:avLst/>
          </a:prstGeom>
          <a:ln w="31750">
            <a:solidFill>
              <a:srgbClr val="2E75B6"/>
            </a:solidFill>
          </a:ln>
        </p:spPr>
      </p:cxnSp>
      <p:cxnSp>
        <p:nvCxnSpPr>
          <p:cNvPr id="13" name="Connector 12"/>
          <p:cNvCxnSpPr/>
          <p:nvPr/>
        </p:nvCxnSpPr>
        <p:spPr>
          <a:xfrm>
            <a:off x="11667744" y="1819655"/>
            <a:ext cx="0" cy="320498"/>
          </a:xfrm>
          <a:prstGeom prst="line">
            <a:avLst/>
          </a:prstGeom>
          <a:ln w="31750">
            <a:solidFill>
              <a:srgbClr val="2E75B6"/>
            </a:solidFill>
          </a:ln>
        </p:spPr>
      </p:cxnSp>
      <p:cxnSp>
        <p:nvCxnSpPr>
          <p:cNvPr id="14" name="Connector 13"/>
          <p:cNvCxnSpPr/>
          <p:nvPr/>
        </p:nvCxnSpPr>
        <p:spPr>
          <a:xfrm flipH="1">
            <a:off x="11347246" y="4323274"/>
            <a:ext cx="320498" cy="0"/>
          </a:xfrm>
          <a:prstGeom prst="line">
            <a:avLst/>
          </a:prstGeom>
          <a:ln w="31750">
            <a:solidFill>
              <a:srgbClr val="2E75B6"/>
            </a:solidFill>
          </a:ln>
        </p:spPr>
      </p:cxnSp>
      <p:cxnSp>
        <p:nvCxnSpPr>
          <p:cNvPr id="15" name="Connector 14"/>
          <p:cNvCxnSpPr/>
          <p:nvPr/>
        </p:nvCxnSpPr>
        <p:spPr>
          <a:xfrm flipV="1">
            <a:off x="11667744" y="4002777"/>
            <a:ext cx="0" cy="320497"/>
          </a:xfrm>
          <a:prstGeom prst="line">
            <a:avLst/>
          </a:prstGeom>
          <a:ln w="31750">
            <a:solidFill>
              <a:srgbClr val="2E75B6"/>
            </a:solidFill>
          </a:ln>
        </p:spPr>
      </p:cxnSp>
      <p:cxnSp>
        <p:nvCxnSpPr>
          <p:cNvPr id="16" name="Connector 15"/>
          <p:cNvCxnSpPr/>
          <p:nvPr/>
        </p:nvCxnSpPr>
        <p:spPr>
          <a:xfrm>
            <a:off x="7763256" y="4323274"/>
            <a:ext cx="320497" cy="0"/>
          </a:xfrm>
          <a:prstGeom prst="line">
            <a:avLst/>
          </a:prstGeom>
          <a:ln w="31750">
            <a:solidFill>
              <a:srgbClr val="2E75B6"/>
            </a:solidFill>
          </a:ln>
        </p:spPr>
      </p:cxnSp>
      <p:cxnSp>
        <p:nvCxnSpPr>
          <p:cNvPr id="17" name="Connector 16"/>
          <p:cNvCxnSpPr/>
          <p:nvPr/>
        </p:nvCxnSpPr>
        <p:spPr>
          <a:xfrm flipV="1">
            <a:off x="7763256" y="4002777"/>
            <a:ext cx="0" cy="320497"/>
          </a:xfrm>
          <a:prstGeom prst="line">
            <a:avLst/>
          </a:prstGeom>
          <a:ln w="31750">
            <a:solidFill>
              <a:srgbClr val="2E75B6"/>
            </a:solidFill>
          </a:ln>
        </p:spPr>
      </p:cxnSp>
      <p:sp>
        <p:nvSpPr>
          <p:cNvPr id="18" name="TextBox 17"/>
          <p:cNvSpPr txBox="1"/>
          <p:nvPr/>
        </p:nvSpPr>
        <p:spPr>
          <a:xfrm>
            <a:off x="7818120" y="4469578"/>
            <a:ext cx="3794760" cy="548640"/>
          </a:xfrm>
          <a:prstGeom prst="rect">
            <a:avLst/>
          </a:prstGeom>
          <a:noFill/>
        </p:spPr>
        <p:txBody>
          <a:bodyPr wrap="square" lIns="0" rIns="0" tIns="0" bIns="0" anchor="t">
            <a:spAutoFit/>
          </a:bodyPr>
          <a:lstStyle/>
          <a:p>
            <a:pPr algn="ctr"/>
            <a:r>
              <a:rPr sz="1400" b="0" i="0">
                <a:solidFill>
                  <a:srgbClr val="5B6B7A"/>
                </a:solidFill>
                <a:latin typeface="Arial"/>
              </a:rPr>
              <a:t>Format ID-1 · 85,6 × 54 mm · </a:t>
            </a:r>
            <a:r>
              <a:rPr sz="1400" b="1" i="0">
                <a:solidFill>
                  <a:srgbClr val="1F3A5F"/>
                </a:solidFill>
                <a:latin typeface="Arial"/>
              </a:rPr>
              <a:t>r₀ = 1,586</a:t>
            </a:r>
          </a:p>
          <a:p>
            <a:pPr algn="ctr"/>
            <a:r>
              <a:rPr sz="1400" b="0" i="0">
                <a:solidFill>
                  <a:srgbClr val="5B6B7A"/>
                </a:solidFill>
                <a:latin typeface="Arial"/>
              </a:rPr>
              <a:t>les quatre coins que le module doit trouver, seul, dans le flux caméra</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2"/>
                                        </p:tgtEl>
                                        <p:attrNameLst>
                                          <p:attrName>style.visibility</p:attrName>
                                        </p:attrNameLst>
                                      </p:cBhvr>
                                      <p:to>
                                        <p:strVal val="visible"/>
                                      </p:to>
                                    </p:set>
                                    <p:animEffect transition="in" filter="fade">
                                      <p:cBhvr>
                                        <p:cTn id="11" dur="350"/>
                                        <p:tgtEl>
                                          <p:spTgt spid="2"/>
                                        </p:tgtEl>
                                      </p:cBhvr>
                                    </p:animEffect>
                                  </p:childTnLst>
                                </p:cTn>
                              </p:par>
                              <p:par>
                                <p:cTn id="12" presetID="10" presetClass="entr" presetSubtype="0" fill="hold" nodeType="withEffect">
                                  <p:stCondLst>
                                    <p:cond delay="0"/>
                                  </p:stCondLst>
                                  <p:childTnLst>
                                    <p:set>
                                      <p:cBhvr>
                                        <p:cTn id="13" dur="1" fill="hold">
                                          <p:stCondLst>
                                            <p:cond delay="0"/>
                                          </p:stCondLst>
                                        </p:cTn>
                                        <p:tgtEl>
                                          <p:spTgt spid="3"/>
                                        </p:tgtEl>
                                        <p:attrNameLst>
                                          <p:attrName>style.visibility</p:attrName>
                                        </p:attrNameLst>
                                      </p:cBhvr>
                                      <p:to>
                                        <p:strVal val="visible"/>
                                      </p:to>
                                    </p:set>
                                    <p:animEffect transition="in" filter="fade">
                                      <p:cBhvr>
                                        <p:cTn id="14" dur="350"/>
                                        <p:tgtEl>
                                          <p:spTgt spid="3"/>
                                        </p:tgtEl>
                                      </p:cBhvr>
                                    </p:animEffect>
                                  </p:childTnLst>
                                </p:cTn>
                              </p:par>
                              <p:par>
                                <p:cTn id="15" presetID="10"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animEffect transition="in" filter="fade">
                                      <p:cBhvr>
                                        <p:cTn id="17" dur="350"/>
                                        <p:tgtEl>
                                          <p:spTgt spid="4"/>
                                        </p:tgtEl>
                                      </p:cBhvr>
                                    </p:animEffect>
                                  </p:childTnLst>
                                </p:cTn>
                              </p:par>
                            </p:childTnLst>
                          </p:cTn>
                        </p:par>
                        <p:par>
                          <p:cTn id="18" fill="hold">
                            <p:stCondLst>
                              <p:cond delay="500"/>
                            </p:stCondLst>
                            <p:childTnLst>
                              <p:par>
                                <p:cTn id="19" presetID="10" presetClass="entr" presetSubtype="0" fill="hold" nodeType="afterEffect">
                                  <p:stCondLst>
                                    <p:cond delay="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350"/>
                                        <p:tgtEl>
                                          <p:spTgt spid="5"/>
                                        </p:tgtEl>
                                      </p:cBhvr>
                                    </p:animEffect>
                                  </p:childTnLst>
                                </p:cTn>
                              </p:par>
                              <p:par>
                                <p:cTn id="22" presetID="10" presetClass="entr" presetSubtype="0" fill="hold" nodeType="with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350"/>
                                        <p:tgtEl>
                                          <p:spTgt spid="10"/>
                                        </p:tgtEl>
                                      </p:cBhvr>
                                    </p:animEffect>
                                  </p:childTnLst>
                                </p:cTn>
                              </p:par>
                              <p:par>
                                <p:cTn id="25" presetID="10"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par>
                                <p:cTn id="28" presetID="10" presetClass="entr" presetSubtype="0" fill="hold"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350"/>
                                        <p:tgtEl>
                                          <p:spTgt spid="12"/>
                                        </p:tgtEl>
                                      </p:cBhvr>
                                    </p:animEffect>
                                  </p:childTnLst>
                                </p:cTn>
                              </p:par>
                              <p:par>
                                <p:cTn id="31" presetID="10" presetClass="entr" presetSubtype="0" fill="hold"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350"/>
                                        <p:tgtEl>
                                          <p:spTgt spid="13"/>
                                        </p:tgtEl>
                                      </p:cBhvr>
                                    </p:animEffect>
                                  </p:childTnLst>
                                </p:cTn>
                              </p:par>
                              <p:par>
                                <p:cTn id="34" presetID="10"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350"/>
                                        <p:tgtEl>
                                          <p:spTgt spid="9"/>
                                        </p:tgtEl>
                                      </p:cBhvr>
                                    </p:animEffect>
                                  </p:childTnLst>
                                </p:cTn>
                              </p:par>
                            </p:childTnLst>
                          </p:cTn>
                        </p:par>
                        <p:par>
                          <p:cTn id="37" fill="hold">
                            <p:stCondLst>
                              <p:cond delay="750"/>
                            </p:stCondLst>
                            <p:childTnLst>
                              <p:par>
                                <p:cTn id="38" presetID="10" presetClass="entr" presetSubtype="0" fill="hold" nodeType="afterEffect">
                                  <p:stCondLst>
                                    <p:cond delay="0"/>
                                  </p:stCondLst>
                                  <p:childTnLst>
                                    <p:set>
                                      <p:cBhvr>
                                        <p:cTn id="39" dur="1" fill="hold">
                                          <p:stCondLst>
                                            <p:cond delay="0"/>
                                          </p:stCondLst>
                                        </p:cTn>
                                        <p:tgtEl>
                                          <p:spTgt spid="7"/>
                                        </p:tgtEl>
                                        <p:attrNameLst>
                                          <p:attrName>style.visibility</p:attrName>
                                        </p:attrNameLst>
                                      </p:cBhvr>
                                      <p:to>
                                        <p:strVal val="visible"/>
                                      </p:to>
                                    </p:set>
                                    <p:animEffect transition="in" filter="fade">
                                      <p:cBhvr>
                                        <p:cTn id="40" dur="350"/>
                                        <p:tgtEl>
                                          <p:spTgt spid="7"/>
                                        </p:tgtEl>
                                      </p:cBhvr>
                                    </p:animEffect>
                                  </p:childTnLst>
                                </p:cTn>
                              </p:par>
                              <p:par>
                                <p:cTn id="41" presetID="10"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par>
                                <p:cTn id="44" presetID="10" presetClass="entr" presetSubtype="0" fill="hold"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350"/>
                                        <p:tgtEl>
                                          <p:spTgt spid="17"/>
                                        </p:tgtEl>
                                      </p:cBhvr>
                                    </p:animEffect>
                                  </p:childTnLst>
                                </p:cTn>
                              </p:par>
                            </p:childTnLst>
                          </p:cTn>
                        </p:par>
                        <p:par>
                          <p:cTn id="47" fill="hold">
                            <p:stCondLst>
                              <p:cond delay="1000"/>
                            </p:stCondLst>
                            <p:childTnLst>
                              <p:par>
                                <p:cTn id="48" presetID="10" presetClass="entr" presetSubtype="0" fill="hold" nodeType="after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350"/>
                                        <p:tgtEl>
                                          <p:spTgt spid="14"/>
                                        </p:tgtEl>
                                      </p:cBhvr>
                                    </p:animEffect>
                                  </p:childTnLst>
                                </p:cTn>
                              </p:par>
                              <p:par>
                                <p:cTn id="51" presetID="10" presetClass="entr" presetSubtype="0" fill="hold" nodeType="with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350"/>
                                        <p:tgtEl>
                                          <p:spTgt spid="16"/>
                                        </p:tgtEl>
                                      </p:cBhvr>
                                    </p:animEffect>
                                  </p:childTnLst>
                                </p:cTn>
                              </p:par>
                              <p:par>
                                <p:cTn id="54" presetID="10" presetClass="entr" presetSubtype="0" fill="hold" nodeType="withEffect">
                                  <p:stCondLst>
                                    <p:cond delay="0"/>
                                  </p:stCondLst>
                                  <p:childTnLst>
                                    <p:set>
                                      <p:cBhvr>
                                        <p:cTn id="55" dur="1" fill="hold">
                                          <p:stCondLst>
                                            <p:cond delay="0"/>
                                          </p:stCondLst>
                                        </p:cTn>
                                        <p:tgtEl>
                                          <p:spTgt spid="18"/>
                                        </p:tgtEl>
                                        <p:attrNameLst>
                                          <p:attrName>style.visibility</p:attrName>
                                        </p:attrNameLst>
                                      </p:cBhvr>
                                      <p:to>
                                        <p:strVal val="visible"/>
                                      </p:to>
                                    </p:set>
                                    <p:animEffect transition="in" filter="fade">
                                      <p:cBhvr>
                                        <p:cTn id="56" dur="350"/>
                                        <p:tgtEl>
                                          <p:spTgt spid="18"/>
                                        </p:tgtEl>
                                      </p:cBhvr>
                                    </p:animEffect>
                                  </p:childTnLst>
                                </p:cTn>
                              </p:par>
                            </p:childTnLst>
                          </p:cTn>
                        </p:par>
                        <p:par>
                          <p:cTn id="57" fill="hold">
                            <p:stCondLst>
                              <p:cond delay="1250"/>
                            </p:stCondLst>
                            <p:childTnLst>
                              <p:par>
                                <p:cTn id="58" presetID="10" presetClass="entr" presetSubtype="0" fill="hold" nodeType="afterEffect">
                                  <p:stCondLst>
                                    <p:cond delay="0"/>
                                  </p:stCondLst>
                                  <p:childTnLst>
                                    <p:set>
                                      <p:cBhvr>
                                        <p:cTn id="59" dur="1" fill="hold">
                                          <p:stCondLst>
                                            <p:cond delay="0"/>
                                          </p:stCondLst>
                                        </p:cTn>
                                        <p:tgtEl>
                                          <p:spTgt spid="8"/>
                                        </p:tgtEl>
                                        <p:attrNameLst>
                                          <p:attrName>style.visibility</p:attrName>
                                        </p:attrNameLst>
                                      </p:cBhvr>
                                      <p:to>
                                        <p:strVal val="visible"/>
                                      </p:to>
                                    </p:set>
                                    <p:animEffect transition="in" filter="fade">
                                      <p:cBhvr>
                                        <p:cTn id="60"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5" grpId="0"/>
      <p:bldP spid="9" grpId="0"/>
      <p:bldP spid="7" grpId="0"/>
      <p:bldP spid="18" grpId="0"/>
      <p:bldP spid="8" grpId="0"/>
    </p:bld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Mon module est la première étape du parcours Avatar-ID : sa qualité conditionne la suite</a:t>
            </a:r>
          </a:p>
        </p:txBody>
      </p:sp>
      <p:sp>
        <p:nvSpPr>
          <p:cNvPr id="7" name="Rectangle 6"/>
          <p:cNvSpPr/>
          <p:nvPr/>
        </p:nvSpPr>
        <p:spPr>
          <a:xfrm>
            <a:off x="548640" y="2331720"/>
            <a:ext cx="2651760" cy="2103120"/>
          </a:xfrm>
          <a:prstGeom prst="rect">
            <a:avLst/>
          </a:prstGeom>
          <a:solidFill>
            <a:srgbClr val="FFFFFF"/>
          </a:solidFill>
          <a:ln w="28575">
            <a:solidFill>
              <a:srgbClr val="2E75B6"/>
            </a:solidFill>
          </a:ln>
        </p:spPr>
        <p:txBody>
          <a:bodyPr rtlCol="0" anchor="ctr"/>
          <a:lstStyle/>
          <a:p/>
        </p:txBody>
      </p:sp>
      <p:sp>
        <p:nvSpPr>
          <p:cNvPr id="8" name="TextBox 7"/>
          <p:cNvSpPr txBox="1"/>
          <p:nvPr/>
        </p:nvSpPr>
        <p:spPr>
          <a:xfrm>
            <a:off x="685800" y="2441448"/>
            <a:ext cx="2377440"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715768"/>
            <a:ext cx="2468879" cy="685800"/>
          </a:xfrm>
          <a:prstGeom prst="rect">
            <a:avLst/>
          </a:prstGeom>
          <a:noFill/>
        </p:spPr>
        <p:txBody>
          <a:bodyPr wrap="square" lIns="0" rIns="0" tIns="0" bIns="0" anchor="t">
            <a:spAutoFit/>
          </a:bodyPr>
          <a:lstStyle/>
          <a:p>
            <a:pPr algn="l"/>
            <a:r>
              <a:rPr sz="1700" b="1" i="0">
                <a:solidFill>
                  <a:srgbClr val="1F3A5F"/>
                </a:solidFill>
                <a:latin typeface="Arial"/>
              </a:rPr>
              <a:t>Capture de la CIN</a:t>
            </a:r>
          </a:p>
        </p:txBody>
      </p:sp>
      <p:sp>
        <p:nvSpPr>
          <p:cNvPr id="10" name="TextBox 9"/>
          <p:cNvSpPr txBox="1"/>
          <p:nvPr/>
        </p:nvSpPr>
        <p:spPr>
          <a:xfrm>
            <a:off x="685800" y="3108960"/>
            <a:ext cx="2377440" cy="1188720"/>
          </a:xfrm>
          <a:prstGeom prst="rect">
            <a:avLst/>
          </a:prstGeom>
          <a:noFill/>
        </p:spPr>
        <p:txBody>
          <a:bodyPr wrap="square" lIns="0" rIns="0" tIns="0" bIns="0" anchor="t">
            <a:spAutoFit/>
          </a:bodyPr>
          <a:lstStyle/>
          <a:p>
            <a:pPr algn="l">
              <a:spcAft>
                <a:spcPts val="200"/>
              </a:spcAft>
            </a:pPr>
            <a:r>
              <a:rPr sz="1600" b="0" i="0">
                <a:solidFill>
                  <a:srgbClr val="1B2530"/>
                </a:solidFill>
                <a:latin typeface="Arial"/>
              </a:rPr>
              <a:t>détection</a:t>
            </a:r>
          </a:p>
          <a:p>
            <a:pPr algn="l">
              <a:spcAft>
                <a:spcPts val="200"/>
              </a:spcAft>
            </a:pPr>
            <a:r>
              <a:rPr sz="1600" b="0" i="0">
                <a:solidFill>
                  <a:srgbClr val="1B2530"/>
                </a:solidFill>
                <a:latin typeface="Arial"/>
              </a:rPr>
              <a:t>qualité d'image</a:t>
            </a:r>
          </a:p>
          <a:p>
            <a:pPr algn="l">
              <a:spcAft>
                <a:spcPts val="200"/>
              </a:spcAft>
            </a:pPr>
            <a:r>
              <a:rPr sz="1600" b="0" i="0">
                <a:solidFill>
                  <a:srgbClr val="1B2530"/>
                </a:solidFill>
                <a:latin typeface="Arial"/>
              </a:rPr>
              <a:t>recto puis verso</a:t>
            </a:r>
          </a:p>
          <a:p>
            <a:pPr algn="l">
              <a:spcAft>
                <a:spcPts val="200"/>
              </a:spcAft>
            </a:pPr>
            <a:r>
              <a:rPr sz="1600" b="0" i="0">
                <a:solidFill>
                  <a:srgbClr val="1B2530"/>
                </a:solidFill>
                <a:latin typeface="Arial"/>
              </a:rPr>
              <a:t>recadrage, amélioration</a:t>
            </a:r>
          </a:p>
        </p:txBody>
      </p:sp>
      <p:cxnSp>
        <p:nvCxnSpPr>
          <p:cNvPr id="11" name="Connector 10"/>
          <p:cNvCxnSpPr/>
          <p:nvPr/>
        </p:nvCxnSpPr>
        <p:spPr>
          <a:xfrm>
            <a:off x="3236976" y="3383279"/>
            <a:ext cx="162991" cy="0"/>
          </a:xfrm>
          <a:prstGeom prst="line">
            <a:avLst/>
          </a:prstGeom>
          <a:ln w="19050">
            <a:solidFill>
              <a:srgbClr val="1F3A5F"/>
            </a:solidFill>
            <a:tailEnd type="triangle" w="med" h="med"/>
          </a:ln>
        </p:spPr>
      </p:cxnSp>
      <p:sp>
        <p:nvSpPr>
          <p:cNvPr id="12" name="Rectangle 11"/>
          <p:cNvSpPr/>
          <p:nvPr/>
        </p:nvSpPr>
        <p:spPr>
          <a:xfrm>
            <a:off x="3436543" y="2331720"/>
            <a:ext cx="1874519" cy="210312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3573703"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3573703"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Test de vivacité</a:t>
            </a:r>
          </a:p>
        </p:txBody>
      </p:sp>
      <p:sp>
        <p:nvSpPr>
          <p:cNvPr id="15" name="TextBox 14"/>
          <p:cNvSpPr txBox="1"/>
          <p:nvPr/>
        </p:nvSpPr>
        <p:spPr>
          <a:xfrm>
            <a:off x="3573703"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la personne est présente, en direct</a:t>
            </a:r>
          </a:p>
        </p:txBody>
      </p:sp>
      <p:cxnSp>
        <p:nvCxnSpPr>
          <p:cNvPr id="16" name="Connector 15"/>
          <p:cNvCxnSpPr/>
          <p:nvPr/>
        </p:nvCxnSpPr>
        <p:spPr>
          <a:xfrm>
            <a:off x="5347639" y="3383279"/>
            <a:ext cx="162992" cy="0"/>
          </a:xfrm>
          <a:prstGeom prst="line">
            <a:avLst/>
          </a:prstGeom>
          <a:ln w="19050">
            <a:solidFill>
              <a:srgbClr val="1F3A5F"/>
            </a:solidFill>
            <a:tailEnd type="triangle" w="med" h="med"/>
          </a:ln>
        </p:spPr>
      </p:cxnSp>
      <p:sp>
        <p:nvSpPr>
          <p:cNvPr id="17" name="Rectangle 16"/>
          <p:cNvSpPr/>
          <p:nvPr/>
        </p:nvSpPr>
        <p:spPr>
          <a:xfrm>
            <a:off x="5547207" y="2331720"/>
            <a:ext cx="1874519" cy="2103120"/>
          </a:xfrm>
          <a:prstGeom prst="rect">
            <a:avLst/>
          </a:prstGeom>
          <a:solidFill>
            <a:srgbClr val="EEF2F6"/>
          </a:solidFill>
          <a:ln w="12700">
            <a:solidFill>
              <a:srgbClr val="CBD3DB"/>
            </a:solidFill>
          </a:ln>
        </p:spPr>
        <p:txBody>
          <a:bodyPr rtlCol="0" anchor="ctr"/>
          <a:lstStyle/>
          <a:p/>
        </p:txBody>
      </p:sp>
      <p:sp>
        <p:nvSpPr>
          <p:cNvPr id="18" name="TextBox 17"/>
          <p:cNvSpPr txBox="1"/>
          <p:nvPr/>
        </p:nvSpPr>
        <p:spPr>
          <a:xfrm>
            <a:off x="5684367"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5684367"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Comparaison des photos</a:t>
            </a:r>
          </a:p>
        </p:txBody>
      </p:sp>
      <p:sp>
        <p:nvSpPr>
          <p:cNvPr id="20" name="TextBox 19"/>
          <p:cNvSpPr txBox="1"/>
          <p:nvPr/>
        </p:nvSpPr>
        <p:spPr>
          <a:xfrm>
            <a:off x="5684367"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photo de la CIN ↔ visage du test de vivacité</a:t>
            </a:r>
          </a:p>
        </p:txBody>
      </p:sp>
      <p:cxnSp>
        <p:nvCxnSpPr>
          <p:cNvPr id="21" name="Connector 20"/>
          <p:cNvCxnSpPr/>
          <p:nvPr/>
        </p:nvCxnSpPr>
        <p:spPr>
          <a:xfrm>
            <a:off x="7458303" y="3383279"/>
            <a:ext cx="162992" cy="0"/>
          </a:xfrm>
          <a:prstGeom prst="line">
            <a:avLst/>
          </a:prstGeom>
          <a:ln w="19050">
            <a:solidFill>
              <a:srgbClr val="1F3A5F"/>
            </a:solidFill>
            <a:tailEnd type="triangle" w="med" h="med"/>
          </a:ln>
        </p:spPr>
      </p:cxnSp>
      <p:sp>
        <p:nvSpPr>
          <p:cNvPr id="22" name="Rectangle 21"/>
          <p:cNvSpPr/>
          <p:nvPr/>
        </p:nvSpPr>
        <p:spPr>
          <a:xfrm>
            <a:off x="7657871" y="2331720"/>
            <a:ext cx="1874519" cy="2103120"/>
          </a:xfrm>
          <a:prstGeom prst="rect">
            <a:avLst/>
          </a:prstGeom>
          <a:solidFill>
            <a:srgbClr val="EEF2F6"/>
          </a:solidFill>
          <a:ln w="12700">
            <a:solidFill>
              <a:srgbClr val="CBD3DB"/>
            </a:solidFill>
          </a:ln>
        </p:spPr>
        <p:txBody>
          <a:bodyPr rtlCol="0" anchor="ctr"/>
          <a:lstStyle/>
          <a:p/>
        </p:txBody>
      </p:sp>
      <p:sp>
        <p:nvSpPr>
          <p:cNvPr id="23" name="TextBox 22"/>
          <p:cNvSpPr txBox="1"/>
          <p:nvPr/>
        </p:nvSpPr>
        <p:spPr>
          <a:xfrm>
            <a:off x="7795031"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95031"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OCR</a:t>
            </a:r>
          </a:p>
        </p:txBody>
      </p:sp>
      <p:sp>
        <p:nvSpPr>
          <p:cNvPr id="25" name="TextBox 24"/>
          <p:cNvSpPr txBox="1"/>
          <p:nvPr/>
        </p:nvSpPr>
        <p:spPr>
          <a:xfrm>
            <a:off x="7795031"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lecture des champs de la carte</a:t>
            </a:r>
          </a:p>
        </p:txBody>
      </p:sp>
      <p:cxnSp>
        <p:nvCxnSpPr>
          <p:cNvPr id="26" name="Connector 25"/>
          <p:cNvCxnSpPr/>
          <p:nvPr/>
        </p:nvCxnSpPr>
        <p:spPr>
          <a:xfrm>
            <a:off x="9568967" y="3383279"/>
            <a:ext cx="162992" cy="0"/>
          </a:xfrm>
          <a:prstGeom prst="line">
            <a:avLst/>
          </a:prstGeom>
          <a:ln w="19050">
            <a:solidFill>
              <a:srgbClr val="1F3A5F"/>
            </a:solidFill>
            <a:tailEnd type="triangle" w="med" h="med"/>
          </a:ln>
        </p:spPr>
      </p:cxnSp>
      <p:sp>
        <p:nvSpPr>
          <p:cNvPr id="27" name="Rectangle 26"/>
          <p:cNvSpPr/>
          <p:nvPr/>
        </p:nvSpPr>
        <p:spPr>
          <a:xfrm>
            <a:off x="9768535" y="2331720"/>
            <a:ext cx="1874519" cy="210312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44144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715768"/>
            <a:ext cx="1691639" cy="685800"/>
          </a:xfrm>
          <a:prstGeom prst="rect">
            <a:avLst/>
          </a:prstGeom>
          <a:noFill/>
        </p:spPr>
        <p:txBody>
          <a:bodyPr wrap="square" lIns="0" rIns="0" tIns="0" bIns="0" anchor="t">
            <a:spAutoFit/>
          </a:bodyPr>
          <a:lstStyle/>
          <a:p>
            <a:pPr algn="l"/>
            <a:r>
              <a:rPr sz="1600" b="1" i="0">
                <a:solidFill>
                  <a:srgbClr val="1F3A5F"/>
                </a:solidFill>
                <a:latin typeface="Arial"/>
              </a:rPr>
              <a:t>Enregistrement</a:t>
            </a:r>
          </a:p>
        </p:txBody>
      </p:sp>
      <p:sp>
        <p:nvSpPr>
          <p:cNvPr id="30" name="TextBox 29"/>
          <p:cNvSpPr txBox="1"/>
          <p:nvPr/>
        </p:nvSpPr>
        <p:spPr>
          <a:xfrm>
            <a:off x="9905695" y="3383279"/>
            <a:ext cx="1600199" cy="1188720"/>
          </a:xfrm>
          <a:prstGeom prst="rect">
            <a:avLst/>
          </a:prstGeom>
          <a:noFill/>
        </p:spPr>
        <p:txBody>
          <a:bodyPr wrap="square" lIns="0" rIns="0" tIns="0" bIns="0" anchor="t">
            <a:spAutoFit/>
          </a:bodyPr>
          <a:lstStyle/>
          <a:p>
            <a:pPr algn="l">
              <a:spcAft>
                <a:spcPts val="200"/>
              </a:spcAft>
            </a:pPr>
            <a:r>
              <a:rPr sz="1500" b="0" i="0">
                <a:solidFill>
                  <a:srgbClr val="1B2530"/>
                </a:solidFill>
                <a:latin typeface="Arial"/>
              </a:rPr>
              <a:t>sauvegarde du résultat</a:t>
            </a:r>
          </a:p>
        </p:txBody>
      </p:sp>
      <p:cxnSp>
        <p:nvCxnSpPr>
          <p:cNvPr id="31" name="Connector 30"/>
          <p:cNvCxnSpPr/>
          <p:nvPr/>
        </p:nvCxnSpPr>
        <p:spPr>
          <a:xfrm>
            <a:off x="548640" y="2148840"/>
            <a:ext cx="2651760" cy="0"/>
          </a:xfrm>
          <a:prstGeom prst="line">
            <a:avLst/>
          </a:prstGeom>
          <a:ln w="38100">
            <a:solidFill>
              <a:srgbClr val="2E75B6"/>
            </a:solidFill>
          </a:ln>
        </p:spPr>
      </p:cxnSp>
      <p:sp>
        <p:nvSpPr>
          <p:cNvPr id="32" name="TextBox 31"/>
          <p:cNvSpPr txBox="1"/>
          <p:nvPr/>
        </p:nvSpPr>
        <p:spPr>
          <a:xfrm>
            <a:off x="548640" y="1828800"/>
            <a:ext cx="2651760" cy="274320"/>
          </a:xfrm>
          <a:prstGeom prst="rect">
            <a:avLst/>
          </a:prstGeom>
          <a:noFill/>
        </p:spPr>
        <p:txBody>
          <a:bodyPr wrap="square" lIns="0" rIns="0" tIns="0" bIns="0" anchor="t">
            <a:spAutoFit/>
          </a:bodyPr>
          <a:lstStyle/>
          <a:p>
            <a:pPr algn="l"/>
            <a:r>
              <a:rPr sz="1300" b="1" i="0">
                <a:solidFill>
                  <a:srgbClr val="2E75B6"/>
                </a:solidFill>
                <a:latin typeface="Arial"/>
              </a:rPr>
              <a:t>CE STAGE</a:t>
            </a:r>
          </a:p>
        </p:txBody>
      </p:sp>
      <p:cxnSp>
        <p:nvCxnSpPr>
          <p:cNvPr id="33" name="Connector 32"/>
          <p:cNvCxnSpPr/>
          <p:nvPr/>
        </p:nvCxnSpPr>
        <p:spPr>
          <a:xfrm>
            <a:off x="3436543" y="2148840"/>
            <a:ext cx="8206512" cy="0"/>
          </a:xfrm>
          <a:prstGeom prst="line">
            <a:avLst/>
          </a:prstGeom>
          <a:ln w="19050">
            <a:solidFill>
              <a:srgbClr val="5B6B7A"/>
            </a:solidFill>
          </a:ln>
        </p:spPr>
      </p:cxnSp>
      <p:sp>
        <p:nvSpPr>
          <p:cNvPr id="34" name="TextBox 33"/>
          <p:cNvSpPr txBox="1"/>
          <p:nvPr/>
        </p:nvSpPr>
        <p:spPr>
          <a:xfrm>
            <a:off x="3436543" y="1828800"/>
            <a:ext cx="5486400" cy="274320"/>
          </a:xfrm>
          <a:prstGeom prst="rect">
            <a:avLst/>
          </a:prstGeom>
          <a:noFill/>
        </p:spPr>
        <p:txBody>
          <a:bodyPr wrap="square" lIns="0" rIns="0" tIns="0" bIns="0" anchor="t">
            <a:spAutoFit/>
          </a:bodyPr>
          <a:lstStyle/>
          <a:p>
            <a:pPr algn="l"/>
            <a:r>
              <a:rPr sz="1300" b="1" i="0">
                <a:solidFill>
                  <a:srgbClr val="5B6B7A"/>
                </a:solidFill>
                <a:latin typeface="Arial"/>
              </a:rPr>
              <a:t>SUITE DU PARCOURS AVATAR-ID</a:t>
            </a:r>
          </a:p>
        </p:txBody>
      </p:sp>
      <p:sp>
        <p:nvSpPr>
          <p:cNvPr id="35" name="TextBox 34"/>
          <p:cNvSpPr txBox="1"/>
          <p:nvPr/>
        </p:nvSpPr>
        <p:spPr>
          <a:xfrm>
            <a:off x="548640"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Ce que le module transmet : </a:t>
            </a:r>
            <a:r>
              <a:rPr sz="1800" b="0" i="0">
                <a:solidFill>
                  <a:srgbClr val="1B2530"/>
                </a:solidFill>
                <a:latin typeface="Arial"/>
              </a:rPr>
              <a:t>le recto et le verso redressés et orientés, ainsi que la page A4 composée.</a:t>
            </a:r>
          </a:p>
        </p:txBody>
      </p:sp>
      <p:sp>
        <p:nvSpPr>
          <p:cNvPr id="36" name="TextBox 35"/>
          <p:cNvSpPr txBox="1"/>
          <p:nvPr/>
        </p:nvSpPr>
        <p:spPr>
          <a:xfrm>
            <a:off x="6370167" y="4754880"/>
            <a:ext cx="5272887" cy="1280160"/>
          </a:xfrm>
          <a:prstGeom prst="rect">
            <a:avLst/>
          </a:prstGeom>
          <a:noFill/>
        </p:spPr>
        <p:txBody>
          <a:bodyPr wrap="square" lIns="0" rIns="0" tIns="0" bIns="0" anchor="t">
            <a:spAutoFit/>
          </a:bodyPr>
          <a:lstStyle/>
          <a:p>
            <a:pPr algn="l"/>
            <a:r>
              <a:rPr sz="1800" b="1" i="0">
                <a:solidFill>
                  <a:srgbClr val="1F3A5F"/>
                </a:solidFill>
                <a:latin typeface="Arial"/>
              </a:rPr>
              <a:t>Pourquoi la qualité compte : </a:t>
            </a:r>
            <a:r>
              <a:rPr sz="1800" b="0" i="0">
                <a:solidFill>
                  <a:srgbClr val="1B2530"/>
                </a:solidFill>
                <a:latin typeface="Arial"/>
              </a:rPr>
              <a:t>une carte nette, bien cadrée et à l'endroit alimente directement la comparaison des photos et l'OCR.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32"/>
                                        </p:tgtEl>
                                        <p:attrNameLst>
                                          <p:attrName>style.visibility</p:attrName>
                                        </p:attrNameLst>
                                      </p:cBhvr>
                                      <p:to>
                                        <p:strVal val="visible"/>
                                      </p:to>
                                    </p:set>
                                    <p:animEffect transition="in" filter="fade">
                                      <p:cBhvr>
                                        <p:cTn id="11" dur="350"/>
                                        <p:tgtEl>
                                          <p:spTgt spid="32"/>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350"/>
                                        <p:tgtEl>
                                          <p:spTgt spid="31"/>
                                        </p:tgtEl>
                                      </p:cBhvr>
                                    </p:animEffect>
                                  </p:childTnLst>
                                </p:cTn>
                              </p:par>
                              <p:par>
                                <p:cTn id="16" presetID="10" presetClass="entr" presetSubtype="0" fill="hold" nodeType="with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350"/>
                                        <p:tgtEl>
                                          <p:spTgt spid="7"/>
                                        </p:tgtEl>
                                      </p:cBhvr>
                                    </p:animEffect>
                                  </p:childTnLst>
                                </p:cTn>
                              </p:par>
                              <p:par>
                                <p:cTn id="19" presetID="10" presetClass="entr" presetSubtype="0" fill="hold" nodeType="with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350"/>
                                        <p:tgtEl>
                                          <p:spTgt spid="8"/>
                                        </p:tgtEl>
                                      </p:cBhvr>
                                    </p:animEffect>
                                  </p:childTnLst>
                                </p:cTn>
                              </p:par>
                              <p:par>
                                <p:cTn id="22" presetID="10" presetClass="entr" presetSubtype="0" fill="hold" nodeType="with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350"/>
                                        <p:tgtEl>
                                          <p:spTgt spid="10"/>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400"/>
                                        <p:tgtEl>
                                          <p:spTgt spid="11"/>
                                        </p:tgtEl>
                                      </p:cBhvr>
                                    </p:animEffect>
                                  </p:childTnLst>
                                </p:cTn>
                              </p:par>
                              <p:par>
                                <p:cTn id="33" presetID="10" presetClass="entr" presetSubtype="0" fill="hold" nodeType="with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400"/>
                                        <p:tgtEl>
                                          <p:spTgt spid="12"/>
                                        </p:tgtEl>
                                      </p:cBhvr>
                                    </p:animEffect>
                                  </p:childTnLst>
                                </p:cTn>
                              </p:par>
                              <p:par>
                                <p:cTn id="36" presetID="10" presetClass="entr" presetSubtype="0" fill="hold" nodeType="with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400"/>
                                        <p:tgtEl>
                                          <p:spTgt spid="13"/>
                                        </p:tgtEl>
                                      </p:cBhvr>
                                    </p:animEffect>
                                  </p:childTnLst>
                                </p:cTn>
                              </p:par>
                              <p:par>
                                <p:cTn id="39" presetID="10" presetClass="entr" presetSubtype="0" fill="hold" nodeType="with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400"/>
                                        <p:tgtEl>
                                          <p:spTgt spid="14"/>
                                        </p:tgtEl>
                                      </p:cBhvr>
                                    </p:animEffect>
                                  </p:childTnLst>
                                </p:cTn>
                              </p:par>
                              <p:par>
                                <p:cTn id="42" presetID="10" presetClass="entr" presetSubtype="0" fill="hold"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400"/>
                                        <p:tgtEl>
                                          <p:spTgt spid="15"/>
                                        </p:tgtEl>
                                      </p:cBhvr>
                                    </p:animEffect>
                                  </p:childTnLst>
                                </p:cTn>
                              </p:par>
                              <p:par>
                                <p:cTn id="45" presetID="10" presetClass="entr" presetSubtype="0" fill="hold"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400"/>
                                        <p:tgtEl>
                                          <p:spTgt spid="16"/>
                                        </p:tgtEl>
                                      </p:cBhvr>
                                    </p:animEffect>
                                  </p:childTnLst>
                                </p:cTn>
                              </p:par>
                              <p:par>
                                <p:cTn id="48" presetID="10" presetClass="entr" presetSubtype="0" fill="hold"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400"/>
                                        <p:tgtEl>
                                          <p:spTgt spid="17"/>
                                        </p:tgtEl>
                                      </p:cBhvr>
                                    </p:animEffect>
                                  </p:childTnLst>
                                </p:cTn>
                              </p:par>
                              <p:par>
                                <p:cTn id="51" presetID="10" presetClass="entr" presetSubtype="0" fill="hold"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400"/>
                                        <p:tgtEl>
                                          <p:spTgt spid="18"/>
                                        </p:tgtEl>
                                      </p:cBhvr>
                                    </p:animEffect>
                                  </p:childTnLst>
                                </p:cTn>
                              </p:par>
                              <p:par>
                                <p:cTn id="54" presetID="10" presetClass="entr" presetSubtype="0" fill="hold"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400"/>
                                        <p:tgtEl>
                                          <p:spTgt spid="19"/>
                                        </p:tgtEl>
                                      </p:cBhvr>
                                    </p:animEffect>
                                  </p:childTnLst>
                                </p:cTn>
                              </p:par>
                              <p:par>
                                <p:cTn id="57" presetID="10" presetClass="entr" presetSubtype="0" fill="hold"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4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00"/>
                                        <p:tgtEl>
                                          <p:spTgt spid="21"/>
                                        </p:tgtEl>
                                      </p:cBhvr>
                                    </p:animEffect>
                                  </p:childTnLst>
                                </p:cTn>
                              </p:par>
                              <p:par>
                                <p:cTn id="63" presetID="10" presetClass="entr" presetSubtype="0" fill="hold"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00"/>
                                        <p:tgtEl>
                                          <p:spTgt spid="22"/>
                                        </p:tgtEl>
                                      </p:cBhvr>
                                    </p:animEffect>
                                  </p:childTnLst>
                                </p:cTn>
                              </p:par>
                              <p:par>
                                <p:cTn id="66" presetID="10" presetClass="entr" presetSubtype="0" fill="hold" nodeType="withEffect">
                                  <p:stCondLst>
                                    <p:cond delay="0"/>
                                  </p:stCondLst>
                                  <p:childTnLst>
                                    <p:set>
                                      <p:cBhvr>
                                        <p:cTn id="67" dur="1" fill="hold">
                                          <p:stCondLst>
                                            <p:cond delay="0"/>
                                          </p:stCondLst>
                                        </p:cTn>
                                        <p:tgtEl>
                                          <p:spTgt spid="23"/>
                                        </p:tgtEl>
                                        <p:attrNameLst>
                                          <p:attrName>style.visibility</p:attrName>
                                        </p:attrNameLst>
                                      </p:cBhvr>
                                      <p:to>
                                        <p:strVal val="visible"/>
                                      </p:to>
                                    </p:set>
                                    <p:animEffect transition="in" filter="fade">
                                      <p:cBhvr>
                                        <p:cTn id="68" dur="400"/>
                                        <p:tgtEl>
                                          <p:spTgt spid="23"/>
                                        </p:tgtEl>
                                      </p:cBhvr>
                                    </p:animEffect>
                                  </p:childTnLst>
                                </p:cTn>
                              </p:par>
                              <p:par>
                                <p:cTn id="69" presetID="10" presetClass="entr" presetSubtype="0" fill="hold" nodeType="withEffect">
                                  <p:stCondLst>
                                    <p:cond delay="0"/>
                                  </p:stCondLst>
                                  <p:childTnLst>
                                    <p:set>
                                      <p:cBhvr>
                                        <p:cTn id="70" dur="1" fill="hold">
                                          <p:stCondLst>
                                            <p:cond delay="0"/>
                                          </p:stCondLst>
                                        </p:cTn>
                                        <p:tgtEl>
                                          <p:spTgt spid="24"/>
                                        </p:tgtEl>
                                        <p:attrNameLst>
                                          <p:attrName>style.visibility</p:attrName>
                                        </p:attrNameLst>
                                      </p:cBhvr>
                                      <p:to>
                                        <p:strVal val="visible"/>
                                      </p:to>
                                    </p:set>
                                    <p:animEffect transition="in" filter="fade">
                                      <p:cBhvr>
                                        <p:cTn id="71" dur="400"/>
                                        <p:tgtEl>
                                          <p:spTgt spid="24"/>
                                        </p:tgtEl>
                                      </p:cBhvr>
                                    </p:animEffect>
                                  </p:childTnLst>
                                </p:cTn>
                              </p:par>
                              <p:par>
                                <p:cTn id="72" presetID="10" presetClass="entr" presetSubtype="0" fill="hold" nodeType="withEffect">
                                  <p:stCondLst>
                                    <p:cond delay="0"/>
                                  </p:stCondLst>
                                  <p:childTnLst>
                                    <p:set>
                                      <p:cBhvr>
                                        <p:cTn id="73" dur="1" fill="hold">
                                          <p:stCondLst>
                                            <p:cond delay="0"/>
                                          </p:stCondLst>
                                        </p:cTn>
                                        <p:tgtEl>
                                          <p:spTgt spid="25"/>
                                        </p:tgtEl>
                                        <p:attrNameLst>
                                          <p:attrName>style.visibility</p:attrName>
                                        </p:attrNameLst>
                                      </p:cBhvr>
                                      <p:to>
                                        <p:strVal val="visible"/>
                                      </p:to>
                                    </p:set>
                                    <p:animEffect transition="in" filter="fade">
                                      <p:cBhvr>
                                        <p:cTn id="74" dur="400"/>
                                        <p:tgtEl>
                                          <p:spTgt spid="25"/>
                                        </p:tgtEl>
                                      </p:cBhvr>
                                    </p:animEffect>
                                  </p:childTnLst>
                                </p:cTn>
                              </p:par>
                              <p:par>
                                <p:cTn id="75" presetID="10" presetClass="entr" presetSubtype="0" fill="hold" nodeType="withEffect">
                                  <p:stCondLst>
                                    <p:cond delay="0"/>
                                  </p:stCondLst>
                                  <p:childTnLst>
                                    <p:set>
                                      <p:cBhvr>
                                        <p:cTn id="76" dur="1" fill="hold">
                                          <p:stCondLst>
                                            <p:cond delay="0"/>
                                          </p:stCondLst>
                                        </p:cTn>
                                        <p:tgtEl>
                                          <p:spTgt spid="26"/>
                                        </p:tgtEl>
                                        <p:attrNameLst>
                                          <p:attrName>style.visibility</p:attrName>
                                        </p:attrNameLst>
                                      </p:cBhvr>
                                      <p:to>
                                        <p:strVal val="visible"/>
                                      </p:to>
                                    </p:set>
                                    <p:animEffect transition="in" filter="fade">
                                      <p:cBhvr>
                                        <p:cTn id="77" dur="400"/>
                                        <p:tgtEl>
                                          <p:spTgt spid="26"/>
                                        </p:tgtEl>
                                      </p:cBhvr>
                                    </p:animEffect>
                                  </p:childTnLst>
                                </p:cTn>
                              </p:par>
                              <p:par>
                                <p:cTn id="78" presetID="10" presetClass="entr" presetSubtype="0" fill="hold" nodeType="withEffect">
                                  <p:stCondLst>
                                    <p:cond delay="0"/>
                                  </p:stCondLst>
                                  <p:childTnLst>
                                    <p:set>
                                      <p:cBhvr>
                                        <p:cTn id="79" dur="1" fill="hold">
                                          <p:stCondLst>
                                            <p:cond delay="0"/>
                                          </p:stCondLst>
                                        </p:cTn>
                                        <p:tgtEl>
                                          <p:spTgt spid="27"/>
                                        </p:tgtEl>
                                        <p:attrNameLst>
                                          <p:attrName>style.visibility</p:attrName>
                                        </p:attrNameLst>
                                      </p:cBhvr>
                                      <p:to>
                                        <p:strVal val="visible"/>
                                      </p:to>
                                    </p:set>
                                    <p:animEffect transition="in" filter="fade">
                                      <p:cBhvr>
                                        <p:cTn id="80" dur="400"/>
                                        <p:tgtEl>
                                          <p:spTgt spid="27"/>
                                        </p:tgtEl>
                                      </p:cBhvr>
                                    </p:animEffect>
                                  </p:childTnLst>
                                </p:cTn>
                              </p:par>
                              <p:par>
                                <p:cTn id="81" presetID="10" presetClass="entr" presetSubtype="0" fill="hold" nodeType="withEffect">
                                  <p:stCondLst>
                                    <p:cond delay="0"/>
                                  </p:stCondLst>
                                  <p:childTnLst>
                                    <p:set>
                                      <p:cBhvr>
                                        <p:cTn id="82" dur="1" fill="hold">
                                          <p:stCondLst>
                                            <p:cond delay="0"/>
                                          </p:stCondLst>
                                        </p:cTn>
                                        <p:tgtEl>
                                          <p:spTgt spid="28"/>
                                        </p:tgtEl>
                                        <p:attrNameLst>
                                          <p:attrName>style.visibility</p:attrName>
                                        </p:attrNameLst>
                                      </p:cBhvr>
                                      <p:to>
                                        <p:strVal val="visible"/>
                                      </p:to>
                                    </p:set>
                                    <p:animEffect transition="in" filter="fade">
                                      <p:cBhvr>
                                        <p:cTn id="83" dur="400"/>
                                        <p:tgtEl>
                                          <p:spTgt spid="28"/>
                                        </p:tgtEl>
                                      </p:cBhvr>
                                    </p:animEffect>
                                  </p:childTnLst>
                                </p:cTn>
                              </p:par>
                              <p:par>
                                <p:cTn id="84" presetID="10" presetClass="entr" presetSubtype="0" fill="hold" nodeType="withEffect">
                                  <p:stCondLst>
                                    <p:cond delay="0"/>
                                  </p:stCondLst>
                                  <p:childTnLst>
                                    <p:set>
                                      <p:cBhvr>
                                        <p:cTn id="85" dur="1" fill="hold">
                                          <p:stCondLst>
                                            <p:cond delay="0"/>
                                          </p:stCondLst>
                                        </p:cTn>
                                        <p:tgtEl>
                                          <p:spTgt spid="29"/>
                                        </p:tgtEl>
                                        <p:attrNameLst>
                                          <p:attrName>style.visibility</p:attrName>
                                        </p:attrNameLst>
                                      </p:cBhvr>
                                      <p:to>
                                        <p:strVal val="visible"/>
                                      </p:to>
                                    </p:set>
                                    <p:animEffect transition="in" filter="fade">
                                      <p:cBhvr>
                                        <p:cTn id="86" dur="400"/>
                                        <p:tgtEl>
                                          <p:spTgt spid="29"/>
                                        </p:tgtEl>
                                      </p:cBhvr>
                                    </p:animEffect>
                                  </p:childTnLst>
                                </p:cTn>
                              </p:par>
                              <p:par>
                                <p:cTn id="87" presetID="10" presetClass="entr" presetSubtype="0" fill="hold"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400"/>
                                        <p:tgtEl>
                                          <p:spTgt spid="30"/>
                                        </p:tgtEl>
                                      </p:cBhvr>
                                    </p:animEffect>
                                  </p:childTnLst>
                                </p:cTn>
                              </p:par>
                              <p:par>
                                <p:cTn id="90" presetID="10" presetClass="entr" presetSubtype="0" fill="hold" nodeType="withEffect">
                                  <p:stCondLst>
                                    <p:cond delay="0"/>
                                  </p:stCondLst>
                                  <p:childTnLst>
                                    <p:set>
                                      <p:cBhvr>
                                        <p:cTn id="91" dur="1" fill="hold">
                                          <p:stCondLst>
                                            <p:cond delay="0"/>
                                          </p:stCondLst>
                                        </p:cTn>
                                        <p:tgtEl>
                                          <p:spTgt spid="33"/>
                                        </p:tgtEl>
                                        <p:attrNameLst>
                                          <p:attrName>style.visibility</p:attrName>
                                        </p:attrNameLst>
                                      </p:cBhvr>
                                      <p:to>
                                        <p:strVal val="visible"/>
                                      </p:to>
                                    </p:set>
                                    <p:animEffect transition="in" filter="fade">
                                      <p:cBhvr>
                                        <p:cTn id="92" dur="400"/>
                                        <p:tgtEl>
                                          <p:spTgt spid="33"/>
                                        </p:tgtEl>
                                      </p:cBhvr>
                                    </p:animEffect>
                                  </p:childTnLst>
                                </p:cTn>
                              </p:par>
                              <p:par>
                                <p:cTn id="93" presetID="10" presetClass="entr" presetSubtype="0" fill="hold" nodeType="withEffect">
                                  <p:stCondLst>
                                    <p:cond delay="0"/>
                                  </p:stCondLst>
                                  <p:childTnLst>
                                    <p:set>
                                      <p:cBhvr>
                                        <p:cTn id="94" dur="1" fill="hold">
                                          <p:stCondLst>
                                            <p:cond delay="0"/>
                                          </p:stCondLst>
                                        </p:cTn>
                                        <p:tgtEl>
                                          <p:spTgt spid="34"/>
                                        </p:tgtEl>
                                        <p:attrNameLst>
                                          <p:attrName>style.visibility</p:attrName>
                                        </p:attrNameLst>
                                      </p:cBhvr>
                                      <p:to>
                                        <p:strVal val="visible"/>
                                      </p:to>
                                    </p:set>
                                    <p:animEffect transition="in" filter="fade">
                                      <p:cBhvr>
                                        <p:cTn id="95" dur="400"/>
                                        <p:tgtEl>
                                          <p:spTgt spid="34"/>
                                        </p:tgtEl>
                                      </p:cBhvr>
                                    </p:animEffect>
                                  </p:childTnLst>
                                </p:cTn>
                              </p:par>
                            </p:childTnLst>
                          </p:cTn>
                        </p:par>
                      </p:childTnLst>
                    </p:cTn>
                  </p:par>
                  <p:par>
                    <p:cTn id="96" fill="hold">
                      <p:stCondLst>
                        <p:cond delay="indefinite"/>
                      </p:stCondLst>
                      <p:childTnLst>
                        <p:par>
                          <p:cTn id="97" fill="hold">
                            <p:stCondLst>
                              <p:cond delay="0"/>
                            </p:stCondLst>
                            <p:childTnLst>
                              <p:par>
                                <p:cTn id="98" presetID="10" presetClass="entr" presetSubtype="0" fill="hold" nodeType="clickEffect">
                                  <p:stCondLst>
                                    <p:cond delay="0"/>
                                  </p:stCondLst>
                                  <p:childTnLst>
                                    <p:set>
                                      <p:cBhvr>
                                        <p:cTn id="99" dur="1" fill="hold">
                                          <p:stCondLst>
                                            <p:cond delay="0"/>
                                          </p:stCondLst>
                                        </p:cTn>
                                        <p:tgtEl>
                                          <p:spTgt spid="35"/>
                                        </p:tgtEl>
                                        <p:attrNameLst>
                                          <p:attrName>style.visibility</p:attrName>
                                        </p:attrNameLst>
                                      </p:cBhvr>
                                      <p:to>
                                        <p:strVal val="visible"/>
                                      </p:to>
                                    </p:set>
                                    <p:animEffect transition="in" filter="fade">
                                      <p:cBhvr>
                                        <p:cTn id="100" dur="400"/>
                                        <p:tgtEl>
                                          <p:spTgt spid="35"/>
                                        </p:tgtEl>
                                      </p:cBhvr>
                                    </p:animEffect>
                                  </p:childTnLst>
                                </p:cTn>
                              </p:par>
                              <p:par>
                                <p:cTn id="101" presetID="10" presetClass="entr" presetSubtype="0" fill="hold" nodeType="withEffect">
                                  <p:stCondLst>
                                    <p:cond delay="0"/>
                                  </p:stCondLst>
                                  <p:childTnLst>
                                    <p:set>
                                      <p:cBhvr>
                                        <p:cTn id="102" dur="1" fill="hold">
                                          <p:stCondLst>
                                            <p:cond delay="0"/>
                                          </p:stCondLst>
                                        </p:cTn>
                                        <p:tgtEl>
                                          <p:spTgt spid="36"/>
                                        </p:tgtEl>
                                        <p:attrNameLst>
                                          <p:attrName>style.visibility</p:attrName>
                                        </p:attrNameLst>
                                      </p:cBhvr>
                                      <p:to>
                                        <p:strVal val="visible"/>
                                      </p:to>
                                    </p:set>
                                    <p:animEffect transition="in" filter="fade">
                                      <p:cBhvr>
                                        <p:cTn id="103"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32" grpId="0"/>
      <p:bldP spid="7" grpId="0"/>
      <p:bldP spid="8" grpId="0"/>
      <p:bldP spid="9" grpId="0"/>
      <p:bldP spid="10" grpId="0"/>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P spid="29" grpId="0"/>
      <p:bldP spid="30" grpId="0"/>
      <p:bldP spid="34" grpId="0"/>
      <p:bldP spid="35" grpId="0"/>
      <p:bldP spid="36" grpId="0"/>
    </p:bld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photo libre de CIN peut être floue, de travers ou envoyée deux fois</a:t>
            </a:r>
          </a:p>
        </p:txBody>
      </p:sp>
      <p:sp>
        <p:nvSpPr>
          <p:cNvPr id="7" name="Rectangle 6"/>
          <p:cNvSpPr/>
          <p:nvPr/>
        </p:nvSpPr>
        <p:spPr>
          <a:xfrm>
            <a:off x="548640" y="1874519"/>
            <a:ext cx="3520440" cy="2057400"/>
          </a:xfrm>
          <a:prstGeom prst="rect">
            <a:avLst/>
          </a:prstGeom>
          <a:solidFill>
            <a:srgbClr val="EEF2F6"/>
          </a:solidFill>
          <a:ln>
            <a:noFill/>
          </a:ln>
        </p:spPr>
        <p:txBody>
          <a:bodyPr rtlCol="0" anchor="ctr"/>
          <a:lstStyle/>
          <a:p/>
        </p:txBody>
      </p:sp>
      <p:sp>
        <p:nvSpPr>
          <p:cNvPr id="8" name="Rounded Rectangle 7"/>
          <p:cNvSpPr/>
          <p:nvPr/>
        </p:nvSpPr>
        <p:spPr>
          <a:xfrm>
            <a:off x="1563623" y="2328062"/>
            <a:ext cx="1783080" cy="1124840"/>
          </a:xfrm>
          <a:prstGeom prst="roundRect">
            <a:avLst>
              <a:gd name="adj" fmla="val 6000"/>
            </a:avLst>
          </a:prstGeom>
          <a:noFill/>
          <a:ln w="12700">
            <a:solidFill>
              <a:srgbClr val="CBD3DB"/>
            </a:solidFill>
          </a:ln>
        </p:spPr>
        <p:txBody>
          <a:bodyPr rtlCol="0" anchor="ctr"/>
          <a:lstStyle/>
          <a:p/>
        </p:txBody>
      </p:sp>
      <p:sp>
        <p:nvSpPr>
          <p:cNvPr id="9" name="Rounded Rectangle 8"/>
          <p:cNvSpPr/>
          <p:nvPr/>
        </p:nvSpPr>
        <p:spPr>
          <a:xfrm>
            <a:off x="1490472" y="2284171"/>
            <a:ext cx="1783080" cy="1124840"/>
          </a:xfrm>
          <a:prstGeom prst="roundRect">
            <a:avLst>
              <a:gd name="adj" fmla="val 6000"/>
            </a:avLst>
          </a:prstGeom>
          <a:noFill/>
          <a:ln w="12700">
            <a:solidFill>
              <a:srgbClr val="CBD3DB"/>
            </a:solidFill>
          </a:ln>
        </p:spPr>
        <p:txBody>
          <a:bodyPr rtlCol="0" anchor="ctr"/>
          <a:lstStyle/>
          <a:p/>
        </p:txBody>
      </p:sp>
      <p:sp>
        <p:nvSpPr>
          <p:cNvPr id="10" name="Rounded Rectangle 9"/>
          <p:cNvSpPr/>
          <p:nvPr/>
        </p:nvSpPr>
        <p:spPr>
          <a:xfrm>
            <a:off x="1417319" y="2240280"/>
            <a:ext cx="1783080" cy="1124840"/>
          </a:xfrm>
          <a:prstGeom prst="roundRect">
            <a:avLst>
              <a:gd name="adj" fmla="val 6000"/>
            </a:avLst>
          </a:prstGeom>
          <a:noFill/>
          <a:ln w="12700">
            <a:solidFill>
              <a:srgbClr val="1F3A5F"/>
            </a:solidFill>
          </a:ln>
        </p:spPr>
        <p:txBody>
          <a:bodyPr rtlCol="0" anchor="ctr"/>
          <a:lstStyle/>
          <a:p/>
        </p:txBody>
      </p:sp>
      <p:sp>
        <p:nvSpPr>
          <p:cNvPr id="11" name="TextBox 10"/>
          <p:cNvSpPr txBox="1"/>
          <p:nvPr/>
        </p:nvSpPr>
        <p:spPr>
          <a:xfrm>
            <a:off x="548640"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Floue</a:t>
            </a:r>
          </a:p>
          <a:p>
            <a:pPr algn="ctr"/>
            <a:r>
              <a:rPr sz="1600" b="0" i="0">
                <a:solidFill>
                  <a:srgbClr val="5B6B7A"/>
                </a:solidFill>
                <a:latin typeface="Arial"/>
              </a:rPr>
              <a:t>image inexploitable</a:t>
            </a:r>
          </a:p>
        </p:txBody>
      </p:sp>
      <p:sp>
        <p:nvSpPr>
          <p:cNvPr id="12" name="Rectangle 11"/>
          <p:cNvSpPr/>
          <p:nvPr/>
        </p:nvSpPr>
        <p:spPr>
          <a:xfrm>
            <a:off x="4306824" y="1874519"/>
            <a:ext cx="3520440" cy="2057400"/>
          </a:xfrm>
          <a:prstGeom prst="rect">
            <a:avLst/>
          </a:prstGeom>
          <a:solidFill>
            <a:srgbClr val="EEF2F6"/>
          </a:solidFill>
          <a:ln>
            <a:noFill/>
          </a:ln>
        </p:spPr>
        <p:txBody>
          <a:bodyPr rtlCol="0" anchor="ctr"/>
          <a:lstStyle/>
          <a:p/>
        </p:txBody>
      </p:sp>
      <p:sp>
        <p:nvSpPr>
          <p:cNvPr id="13" name="Rounded Rectangle 12"/>
          <p:cNvSpPr/>
          <p:nvPr/>
        </p:nvSpPr>
        <p:spPr>
          <a:xfrm rot="20760000">
            <a:off x="5221224" y="2286000"/>
            <a:ext cx="1783080" cy="1124712"/>
          </a:xfrm>
          <a:prstGeom prst="roundRect">
            <a:avLst>
              <a:gd name="adj" fmla="val 6000"/>
            </a:avLst>
          </a:prstGeom>
          <a:noFill/>
          <a:ln w="15875">
            <a:solidFill>
              <a:srgbClr val="1F3A5F"/>
            </a:solidFill>
          </a:ln>
        </p:spPr>
        <p:txBody>
          <a:bodyPr rtlCol="0" anchor="ctr"/>
          <a:lstStyle/>
          <a:p/>
        </p:txBody>
      </p:sp>
      <p:sp>
        <p:nvSpPr>
          <p:cNvPr id="14" name="TextBox 13"/>
          <p:cNvSpPr txBox="1"/>
          <p:nvPr/>
        </p:nvSpPr>
        <p:spPr>
          <a:xfrm>
            <a:off x="4306824"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 travers</a:t>
            </a:r>
          </a:p>
          <a:p>
            <a:pPr algn="ctr"/>
            <a:r>
              <a:rPr sz="1600" b="0" i="0">
                <a:solidFill>
                  <a:srgbClr val="5B6B7A"/>
                </a:solidFill>
                <a:latin typeface="Arial"/>
              </a:rPr>
              <a:t>carte mal cadrée</a:t>
            </a:r>
          </a:p>
        </p:txBody>
      </p:sp>
      <p:sp>
        <p:nvSpPr>
          <p:cNvPr id="15" name="Rectangle 14"/>
          <p:cNvSpPr/>
          <p:nvPr/>
        </p:nvSpPr>
        <p:spPr>
          <a:xfrm>
            <a:off x="8065008" y="1874519"/>
            <a:ext cx="3520440" cy="2057400"/>
          </a:xfrm>
          <a:prstGeom prst="rect">
            <a:avLst/>
          </a:prstGeom>
          <a:solidFill>
            <a:srgbClr val="EEF2F6"/>
          </a:solidFill>
          <a:ln>
            <a:noFill/>
          </a:ln>
        </p:spPr>
        <p:txBody>
          <a:bodyPr rtlCol="0" anchor="ctr"/>
          <a:lstStyle/>
          <a:p/>
        </p:txBody>
      </p:sp>
      <p:sp>
        <p:nvSpPr>
          <p:cNvPr id="16" name="Rounded Rectangle 15"/>
          <p:cNvSpPr/>
          <p:nvPr/>
        </p:nvSpPr>
        <p:spPr>
          <a:xfrm>
            <a:off x="8750808" y="2212848"/>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7" name="TextBox 16"/>
          <p:cNvSpPr txBox="1"/>
          <p:nvPr/>
        </p:nvSpPr>
        <p:spPr>
          <a:xfrm>
            <a:off x="8750808" y="2532888"/>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18" name="Rounded Rectangle 17"/>
          <p:cNvSpPr/>
          <p:nvPr/>
        </p:nvSpPr>
        <p:spPr>
          <a:xfrm>
            <a:off x="9134856" y="2404872"/>
            <a:ext cx="1691640" cy="1069848"/>
          </a:xfrm>
          <a:prstGeom prst="roundRect">
            <a:avLst>
              <a:gd name="adj" fmla="val 6000"/>
            </a:avLst>
          </a:prstGeom>
          <a:solidFill>
            <a:srgbClr val="FFFFFF"/>
          </a:solidFill>
          <a:ln w="15875">
            <a:solidFill>
              <a:srgbClr val="1F3A5F"/>
            </a:solidFill>
          </a:ln>
        </p:spPr>
        <p:txBody>
          <a:bodyPr rtlCol="0" anchor="ctr"/>
          <a:lstStyle/>
          <a:p/>
        </p:txBody>
      </p:sp>
      <p:sp>
        <p:nvSpPr>
          <p:cNvPr id="19" name="TextBox 18"/>
          <p:cNvSpPr txBox="1"/>
          <p:nvPr/>
        </p:nvSpPr>
        <p:spPr>
          <a:xfrm>
            <a:off x="9134856" y="2724912"/>
            <a:ext cx="1691640" cy="365760"/>
          </a:xfrm>
          <a:prstGeom prst="rect">
            <a:avLst/>
          </a:prstGeom>
          <a:noFill/>
        </p:spPr>
        <p:txBody>
          <a:bodyPr wrap="square" lIns="0" rIns="0" tIns="0" bIns="0" anchor="t">
            <a:spAutoFit/>
          </a:bodyPr>
          <a:lstStyle/>
          <a:p>
            <a:pPr algn="ctr"/>
            <a:r>
              <a:rPr sz="1600" b="0" i="0">
                <a:solidFill>
                  <a:srgbClr val="1F3A5F"/>
                </a:solidFill>
                <a:latin typeface="Arial"/>
              </a:rPr>
              <a:t>recto</a:t>
            </a:r>
          </a:p>
        </p:txBody>
      </p:sp>
      <p:sp>
        <p:nvSpPr>
          <p:cNvPr id="20" name="TextBox 19"/>
          <p:cNvSpPr txBox="1"/>
          <p:nvPr/>
        </p:nvSpPr>
        <p:spPr>
          <a:xfrm>
            <a:off x="8065008" y="4041648"/>
            <a:ext cx="3520440" cy="594360"/>
          </a:xfrm>
          <a:prstGeom prst="rect">
            <a:avLst/>
          </a:prstGeom>
          <a:noFill/>
        </p:spPr>
        <p:txBody>
          <a:bodyPr wrap="square" lIns="0" rIns="0" tIns="0" bIns="0" anchor="t">
            <a:spAutoFit/>
          </a:bodyPr>
          <a:lstStyle/>
          <a:p>
            <a:pPr algn="ctr"/>
            <a:r>
              <a:rPr sz="2000" b="1" i="0">
                <a:solidFill>
                  <a:srgbClr val="1F3A5F"/>
                </a:solidFill>
                <a:latin typeface="Arial"/>
              </a:rPr>
              <a:t>Deux fois le recto</a:t>
            </a:r>
          </a:p>
          <a:p>
            <a:pPr algn="ctr"/>
            <a:r>
              <a:rPr sz="1600" b="0" i="0">
                <a:solidFill>
                  <a:srgbClr val="5B6B7A"/>
                </a:solidFill>
                <a:latin typeface="Arial"/>
              </a:rPr>
              <a:t>verso jamais fourni</a:t>
            </a:r>
          </a:p>
        </p:txBody>
      </p:sp>
      <p:sp>
        <p:nvSpPr>
          <p:cNvPr id="21" name="TextBox 20"/>
          <p:cNvSpPr txBox="1"/>
          <p:nvPr/>
        </p:nvSpPr>
        <p:spPr>
          <a:xfrm>
            <a:off x="548640" y="4846320"/>
            <a:ext cx="7589520" cy="1097280"/>
          </a:xfrm>
          <a:prstGeom prst="rect">
            <a:avLst/>
          </a:prstGeom>
          <a:noFill/>
        </p:spPr>
        <p:txBody>
          <a:bodyPr wrap="square" lIns="0" rIns="0" tIns="0" bIns="0" anchor="t">
            <a:spAutoFit/>
          </a:bodyPr>
          <a:lstStyle/>
          <a:p>
            <a:pPr algn="l"/>
            <a:r>
              <a:rPr sz="2000" b="1" i="0">
                <a:solidFill>
                  <a:srgbClr val="1F3A5F"/>
                </a:solidFill>
                <a:latin typeface="Arial"/>
              </a:rPr>
              <a:t>Problématique — </a:t>
            </a:r>
            <a:r>
              <a:rPr sz="2000" b="0" i="0">
                <a:solidFill>
                  <a:srgbClr val="1B2530"/>
                </a:solidFill>
                <a:latin typeface="Arial"/>
              </a:rPr>
              <a:t>comment détecter de façon fiable et en temps réel les contours d'une CIN dans un flux caméra mobile, quels que soient l'éclairage et l'arrière-plan ?</a:t>
            </a:r>
          </a:p>
        </p:txBody>
      </p:sp>
      <p:sp>
        <p:nvSpPr>
          <p:cNvPr id="22" name="TextBox 21"/>
          <p:cNvSpPr txBox="1"/>
          <p:nvPr/>
        </p:nvSpPr>
        <p:spPr>
          <a:xfrm>
            <a:off x="8503920" y="4846320"/>
            <a:ext cx="3139135" cy="1188720"/>
          </a:xfrm>
          <a:prstGeom prst="rect">
            <a:avLst/>
          </a:prstGeom>
          <a:noFill/>
        </p:spPr>
        <p:txBody>
          <a:bodyPr wrap="square" lIns="0" rIns="0" tIns="0" bIns="0" anchor="t">
            <a:spAutoFit/>
          </a:bodyPr>
          <a:lstStyle/>
          <a:p>
            <a:pPr algn="l">
              <a:spcAft>
                <a:spcPts val="600"/>
              </a:spcAft>
            </a:pPr>
            <a:r>
              <a:rPr sz="1600" b="1" i="0">
                <a:solidFill>
                  <a:srgbClr val="1F3A5F"/>
                </a:solidFill>
                <a:latin typeface="Arial"/>
              </a:rPr>
              <a:t>Sans guidage : </a:t>
            </a:r>
            <a:r>
              <a:rPr sz="1600" b="0" i="0">
                <a:solidFill>
                  <a:srgbClr val="5B6B7A"/>
                </a:solidFill>
                <a:latin typeface="Arial"/>
              </a:rPr>
              <a:t>contrôle humain coûteux, nouvelle saisie, et étapes suivantes (photos, OCR) dégradées.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50"/>
                                        <p:tgtEl>
                                          <p:spTgt spid="9"/>
                                        </p:tgtEl>
                                      </p:cBhvr>
                                    </p:animEffect>
                                  </p:childTnLst>
                                </p:cTn>
                              </p:par>
                              <p:par>
                                <p:cTn id="18" presetID="10" presetClass="entr" presetSubtype="0" fill="hold"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50"/>
                                        <p:tgtEl>
                                          <p:spTgt spid="10"/>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nodeType="withEffect">
                                  <p:stCondLst>
                                    <p:cond delay="0"/>
                                  </p:stCondLst>
                                  <p:childTnLst>
                                    <p:set>
                                      <p:cBhvr>
                                        <p:cTn id="28" dur="1" fill="hold">
                                          <p:stCondLst>
                                            <p:cond delay="0"/>
                                          </p:stCondLst>
                                        </p:cTn>
                                        <p:tgtEl>
                                          <p:spTgt spid="15"/>
                                        </p:tgtEl>
                                        <p:attrNameLst>
                                          <p:attrName>style.visibility</p:attrName>
                                        </p:attrNameLst>
                                      </p:cBhvr>
                                      <p:to>
                                        <p:strVal val="visible"/>
                                      </p:to>
                                    </p:set>
                                    <p:animEffect transition="in" filter="fade">
                                      <p:cBhvr>
                                        <p:cTn id="29" dur="350"/>
                                        <p:tgtEl>
                                          <p:spTgt spid="15"/>
                                        </p:tgtEl>
                                      </p:cBhvr>
                                    </p:animEffect>
                                  </p:childTnLst>
                                </p:cTn>
                              </p:par>
                              <p:par>
                                <p:cTn id="30" presetID="10" presetClass="entr" presetSubtype="0" fill="hold" nodeType="with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5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50"/>
                                        <p:tgtEl>
                                          <p:spTgt spid="17"/>
                                        </p:tgtEl>
                                      </p:cBhvr>
                                    </p:animEffect>
                                  </p:childTnLst>
                                </p:cTn>
                              </p:par>
                              <p:par>
                                <p:cTn id="36" presetID="10" presetClass="entr" presetSubtype="0" fill="hold"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50"/>
                                        <p:tgtEl>
                                          <p:spTgt spid="18"/>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50"/>
                                        <p:tgtEl>
                                          <p:spTgt spid="19"/>
                                        </p:tgtEl>
                                      </p:cBhvr>
                                    </p:animEffect>
                                  </p:childTnLst>
                                </p:cTn>
                              </p:par>
                            </p:childTnLst>
                          </p:cTn>
                        </p:par>
                        <p:par>
                          <p:cTn id="42" fill="hold">
                            <p:stCondLst>
                              <p:cond delay="500"/>
                            </p:stCondLst>
                            <p:childTnLst>
                              <p:par>
                                <p:cTn id="43" presetID="10" presetClass="entr" presetSubtype="0" fill="hold" nodeType="after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350"/>
                                        <p:tgtEl>
                                          <p:spTgt spid="11"/>
                                        </p:tgtEl>
                                      </p:cBhvr>
                                    </p:animEffect>
                                  </p:childTnLst>
                                </p:cTn>
                              </p:par>
                              <p:par>
                                <p:cTn id="46" presetID="10" presetClass="entr" presetSubtype="0" fill="hold" nodeType="withEffect">
                                  <p:stCondLst>
                                    <p:cond delay="0"/>
                                  </p:stCondLst>
                                  <p:childTnLst>
                                    <p:set>
                                      <p:cBhvr>
                                        <p:cTn id="47" dur="1" fill="hold">
                                          <p:stCondLst>
                                            <p:cond delay="0"/>
                                          </p:stCondLst>
                                        </p:cTn>
                                        <p:tgtEl>
                                          <p:spTgt spid="14"/>
                                        </p:tgtEl>
                                        <p:attrNameLst>
                                          <p:attrName>style.visibility</p:attrName>
                                        </p:attrNameLst>
                                      </p:cBhvr>
                                      <p:to>
                                        <p:strVal val="visible"/>
                                      </p:to>
                                    </p:set>
                                    <p:animEffect transition="in" filter="fade">
                                      <p:cBhvr>
                                        <p:cTn id="48" dur="350"/>
                                        <p:tgtEl>
                                          <p:spTgt spid="14"/>
                                        </p:tgtEl>
                                      </p:cBhvr>
                                    </p:animEffect>
                                  </p:childTnLst>
                                </p:cTn>
                              </p:par>
                              <p:par>
                                <p:cTn id="49" presetID="10" presetClass="entr" presetSubtype="0" fill="hold" nodeType="withEffect">
                                  <p:stCondLst>
                                    <p:cond delay="0"/>
                                  </p:stCondLst>
                                  <p:childTnLst>
                                    <p:set>
                                      <p:cBhvr>
                                        <p:cTn id="50" dur="1" fill="hold">
                                          <p:stCondLst>
                                            <p:cond delay="0"/>
                                          </p:stCondLst>
                                        </p:cTn>
                                        <p:tgtEl>
                                          <p:spTgt spid="20"/>
                                        </p:tgtEl>
                                        <p:attrNameLst>
                                          <p:attrName>style.visibility</p:attrName>
                                        </p:attrNameLst>
                                      </p:cBhvr>
                                      <p:to>
                                        <p:strVal val="visible"/>
                                      </p:to>
                                    </p:set>
                                    <p:animEffect transition="in" filter="fade">
                                      <p:cBhvr>
                                        <p:cTn id="51" dur="350"/>
                                        <p:tgtEl>
                                          <p:spTgt spid="20"/>
                                        </p:tgtEl>
                                      </p:cBhvr>
                                    </p:animEffect>
                                  </p:childTnLst>
                                </p:cTn>
                              </p:par>
                            </p:childTnLst>
                          </p:cTn>
                        </p:par>
                        <p:par>
                          <p:cTn id="52" fill="hold">
                            <p:stCondLst>
                              <p:cond delay="750"/>
                            </p:stCondLst>
                            <p:childTnLst>
                              <p:par>
                                <p:cTn id="53" presetID="10" presetClass="entr" presetSubtype="0" fill="hold" nodeType="after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50"/>
                                        <p:tgtEl>
                                          <p:spTgt spid="21"/>
                                        </p:tgtEl>
                                      </p:cBhvr>
                                    </p:animEffect>
                                  </p:childTnLst>
                                </p:cTn>
                              </p:par>
                              <p:par>
                                <p:cTn id="56" presetID="10" presetClass="entr" presetSubtype="0" fill="hold"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fade">
                                      <p:cBhvr>
                                        <p:cTn id="58" dur="3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2" grpId="0"/>
      <p:bldP spid="13" grpId="0"/>
      <p:bldP spid="15" grpId="0"/>
      <p:bldP spid="16" grpId="0"/>
      <p:bldP spid="17" grpId="0"/>
      <p:bldP spid="18" grpId="0"/>
      <p:bldP spid="19" grpId="0"/>
      <p:bldP spid="11" grpId="0"/>
      <p:bldP spid="14" grpId="0"/>
      <p:bldP spid="20" grpId="0"/>
      <p:bldP spid="21" grpId="0"/>
      <p:bldP spid="22" grpId="0"/>
    </p:bld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Cinq fonctions à automatiser, trois cibles chiffrées, deux plateformes</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CE QUE LE MODULE DOIT FAIRE</a:t>
            </a:r>
          </a:p>
        </p:txBody>
      </p:sp>
      <p:sp>
        <p:nvSpPr>
          <p:cNvPr id="8" name="TextBox 7"/>
          <p:cNvSpPr txBox="1"/>
          <p:nvPr/>
        </p:nvSpPr>
        <p:spPr>
          <a:xfrm>
            <a:off x="548640" y="2286000"/>
            <a:ext cx="457200" cy="457200"/>
          </a:xfrm>
          <a:prstGeom prst="rect">
            <a:avLst/>
          </a:prstGeom>
          <a:noFill/>
        </p:spPr>
        <p:txBody>
          <a:bodyPr wrap="square" lIns="0" rIns="0" tIns="0" bIns="0" anchor="t">
            <a:spAutoFit/>
          </a:bodyPr>
          <a:lstStyle/>
          <a:p>
            <a:pPr algn="l"/>
            <a:r>
              <a:rPr sz="2400" b="1" i="0">
                <a:solidFill>
                  <a:srgbClr val="2E75B6"/>
                </a:solidFill>
                <a:latin typeface="Arial"/>
              </a:rPr>
              <a:t>1</a:t>
            </a:r>
          </a:p>
        </p:txBody>
      </p:sp>
      <p:sp>
        <p:nvSpPr>
          <p:cNvPr id="9" name="TextBox 8"/>
          <p:cNvSpPr txBox="1"/>
          <p:nvPr/>
        </p:nvSpPr>
        <p:spPr>
          <a:xfrm>
            <a:off x="1051560" y="2322576"/>
            <a:ext cx="4754880" cy="457200"/>
          </a:xfrm>
          <a:prstGeom prst="rect">
            <a:avLst/>
          </a:prstGeom>
          <a:noFill/>
        </p:spPr>
        <p:txBody>
          <a:bodyPr wrap="square" lIns="0" rIns="0" tIns="0" bIns="0" anchor="t">
            <a:spAutoFit/>
          </a:bodyPr>
          <a:lstStyle/>
          <a:p>
            <a:pPr algn="l"/>
            <a:r>
              <a:rPr sz="2000" b="0" i="0">
                <a:solidFill>
                  <a:srgbClr val="1B2530"/>
                </a:solidFill>
                <a:latin typeface="Arial"/>
              </a:rPr>
              <a:t>Détecter la carte et ses contours</a:t>
            </a:r>
          </a:p>
        </p:txBody>
      </p:sp>
      <p:cxnSp>
        <p:nvCxnSpPr>
          <p:cNvPr id="10" name="Connector 9"/>
          <p:cNvCxnSpPr/>
          <p:nvPr/>
        </p:nvCxnSpPr>
        <p:spPr>
          <a:xfrm>
            <a:off x="548640" y="2852928"/>
            <a:ext cx="5120639" cy="0"/>
          </a:xfrm>
          <a:prstGeom prst="line">
            <a:avLst/>
          </a:prstGeom>
          <a:ln w="6350">
            <a:solidFill>
              <a:srgbClr val="CBD3DB"/>
            </a:solidFill>
          </a:ln>
        </p:spPr>
      </p:cxnSp>
      <p:sp>
        <p:nvSpPr>
          <p:cNvPr id="11" name="TextBox 10"/>
          <p:cNvSpPr txBox="1"/>
          <p:nvPr/>
        </p:nvSpPr>
        <p:spPr>
          <a:xfrm>
            <a:off x="548640" y="2944368"/>
            <a:ext cx="457200" cy="457200"/>
          </a:xfrm>
          <a:prstGeom prst="rect">
            <a:avLst/>
          </a:prstGeom>
          <a:noFill/>
        </p:spPr>
        <p:txBody>
          <a:bodyPr wrap="square" lIns="0" rIns="0" tIns="0" bIns="0" anchor="t">
            <a:spAutoFit/>
          </a:bodyPr>
          <a:lstStyle/>
          <a:p>
            <a:pPr algn="l"/>
            <a:r>
              <a:rPr sz="2400" b="1" i="0">
                <a:solidFill>
                  <a:srgbClr val="2E75B6"/>
                </a:solidFill>
                <a:latin typeface="Arial"/>
              </a:rPr>
              <a:t>2</a:t>
            </a:r>
          </a:p>
        </p:txBody>
      </p:sp>
      <p:sp>
        <p:nvSpPr>
          <p:cNvPr id="12" name="TextBox 11"/>
          <p:cNvSpPr txBox="1"/>
          <p:nvPr/>
        </p:nvSpPr>
        <p:spPr>
          <a:xfrm>
            <a:off x="1051560" y="2980944"/>
            <a:ext cx="4754880" cy="457200"/>
          </a:xfrm>
          <a:prstGeom prst="rect">
            <a:avLst/>
          </a:prstGeom>
          <a:noFill/>
        </p:spPr>
        <p:txBody>
          <a:bodyPr wrap="square" lIns="0" rIns="0" tIns="0" bIns="0" anchor="t">
            <a:spAutoFit/>
          </a:bodyPr>
          <a:lstStyle/>
          <a:p>
            <a:pPr algn="l"/>
            <a:r>
              <a:rPr sz="2000" b="0" i="0">
                <a:solidFill>
                  <a:srgbClr val="1B2530"/>
                </a:solidFill>
                <a:latin typeface="Arial"/>
              </a:rPr>
              <a:t>Contrôler netteté, luminosité, stabilité</a:t>
            </a:r>
          </a:p>
        </p:txBody>
      </p:sp>
      <p:cxnSp>
        <p:nvCxnSpPr>
          <p:cNvPr id="13" name="Connector 12"/>
          <p:cNvCxnSpPr/>
          <p:nvPr/>
        </p:nvCxnSpPr>
        <p:spPr>
          <a:xfrm>
            <a:off x="548640" y="3511296"/>
            <a:ext cx="5120639" cy="0"/>
          </a:xfrm>
          <a:prstGeom prst="line">
            <a:avLst/>
          </a:prstGeom>
          <a:ln w="6350">
            <a:solidFill>
              <a:srgbClr val="CBD3DB"/>
            </a:solidFill>
          </a:ln>
        </p:spPr>
      </p:cxnSp>
      <p:sp>
        <p:nvSpPr>
          <p:cNvPr id="14" name="TextBox 13"/>
          <p:cNvSpPr txBox="1"/>
          <p:nvPr/>
        </p:nvSpPr>
        <p:spPr>
          <a:xfrm>
            <a:off x="548640" y="3602736"/>
            <a:ext cx="457200" cy="457200"/>
          </a:xfrm>
          <a:prstGeom prst="rect">
            <a:avLst/>
          </a:prstGeom>
          <a:noFill/>
        </p:spPr>
        <p:txBody>
          <a:bodyPr wrap="square" lIns="0" rIns="0" tIns="0" bIns="0" anchor="t">
            <a:spAutoFit/>
          </a:bodyPr>
          <a:lstStyle/>
          <a:p>
            <a:pPr algn="l"/>
            <a:r>
              <a:rPr sz="2400" b="1" i="0">
                <a:solidFill>
                  <a:srgbClr val="2E75B6"/>
                </a:solidFill>
                <a:latin typeface="Arial"/>
              </a:rPr>
              <a:t>3</a:t>
            </a:r>
          </a:p>
        </p:txBody>
      </p:sp>
      <p:sp>
        <p:nvSpPr>
          <p:cNvPr id="15" name="TextBox 14"/>
          <p:cNvSpPr txBox="1"/>
          <p:nvPr/>
        </p:nvSpPr>
        <p:spPr>
          <a:xfrm>
            <a:off x="1051560" y="3639312"/>
            <a:ext cx="4754880" cy="457200"/>
          </a:xfrm>
          <a:prstGeom prst="rect">
            <a:avLst/>
          </a:prstGeom>
          <a:noFill/>
        </p:spPr>
        <p:txBody>
          <a:bodyPr wrap="square" lIns="0" rIns="0" tIns="0" bIns="0" anchor="t">
            <a:spAutoFit/>
          </a:bodyPr>
          <a:lstStyle/>
          <a:p>
            <a:pPr algn="l"/>
            <a:r>
              <a:rPr sz="2000" b="0" i="0">
                <a:solidFill>
                  <a:srgbClr val="1B2530"/>
                </a:solidFill>
                <a:latin typeface="Arial"/>
              </a:rPr>
              <a:t>Distinguer recto et verso, dans l'ordre</a:t>
            </a:r>
          </a:p>
        </p:txBody>
      </p:sp>
      <p:cxnSp>
        <p:nvCxnSpPr>
          <p:cNvPr id="16" name="Connector 15"/>
          <p:cNvCxnSpPr/>
          <p:nvPr/>
        </p:nvCxnSpPr>
        <p:spPr>
          <a:xfrm>
            <a:off x="548640" y="4169663"/>
            <a:ext cx="5120639" cy="0"/>
          </a:xfrm>
          <a:prstGeom prst="line">
            <a:avLst/>
          </a:prstGeom>
          <a:ln w="6350">
            <a:solidFill>
              <a:srgbClr val="CBD3DB"/>
            </a:solidFill>
          </a:ln>
        </p:spPr>
      </p:cxnSp>
      <p:sp>
        <p:nvSpPr>
          <p:cNvPr id="17" name="TextBox 16"/>
          <p:cNvSpPr txBox="1"/>
          <p:nvPr/>
        </p:nvSpPr>
        <p:spPr>
          <a:xfrm>
            <a:off x="548640" y="4261104"/>
            <a:ext cx="457200" cy="457200"/>
          </a:xfrm>
          <a:prstGeom prst="rect">
            <a:avLst/>
          </a:prstGeom>
          <a:noFill/>
        </p:spPr>
        <p:txBody>
          <a:bodyPr wrap="square" lIns="0" rIns="0" tIns="0" bIns="0" anchor="t">
            <a:spAutoFit/>
          </a:bodyPr>
          <a:lstStyle/>
          <a:p>
            <a:pPr algn="l"/>
            <a:r>
              <a:rPr sz="2400" b="1" i="0">
                <a:solidFill>
                  <a:srgbClr val="2E75B6"/>
                </a:solidFill>
                <a:latin typeface="Arial"/>
              </a:rPr>
              <a:t>4</a:t>
            </a:r>
          </a:p>
        </p:txBody>
      </p:sp>
      <p:sp>
        <p:nvSpPr>
          <p:cNvPr id="18" name="TextBox 17"/>
          <p:cNvSpPr txBox="1"/>
          <p:nvPr/>
        </p:nvSpPr>
        <p:spPr>
          <a:xfrm>
            <a:off x="1051560" y="4297680"/>
            <a:ext cx="4754880" cy="457200"/>
          </a:xfrm>
          <a:prstGeom prst="rect">
            <a:avLst/>
          </a:prstGeom>
          <a:noFill/>
        </p:spPr>
        <p:txBody>
          <a:bodyPr wrap="square" lIns="0" rIns="0" tIns="0" bIns="0" anchor="t">
            <a:spAutoFit/>
          </a:bodyPr>
          <a:lstStyle/>
          <a:p>
            <a:pPr algn="l"/>
            <a:r>
              <a:rPr sz="2000" b="0" i="0">
                <a:solidFill>
                  <a:srgbClr val="1B2530"/>
                </a:solidFill>
                <a:latin typeface="Arial"/>
              </a:rPr>
              <a:t>Capturer seul, sans bouton</a:t>
            </a:r>
          </a:p>
        </p:txBody>
      </p:sp>
      <p:cxnSp>
        <p:nvCxnSpPr>
          <p:cNvPr id="19" name="Connector 18"/>
          <p:cNvCxnSpPr/>
          <p:nvPr/>
        </p:nvCxnSpPr>
        <p:spPr>
          <a:xfrm>
            <a:off x="548640" y="4828032"/>
            <a:ext cx="5120639" cy="0"/>
          </a:xfrm>
          <a:prstGeom prst="line">
            <a:avLst/>
          </a:prstGeom>
          <a:ln w="6350">
            <a:solidFill>
              <a:srgbClr val="CBD3DB"/>
            </a:solidFill>
          </a:ln>
        </p:spPr>
      </p:cxnSp>
      <p:sp>
        <p:nvSpPr>
          <p:cNvPr id="20" name="TextBox 19"/>
          <p:cNvSpPr txBox="1"/>
          <p:nvPr/>
        </p:nvSpPr>
        <p:spPr>
          <a:xfrm>
            <a:off x="548640" y="4919472"/>
            <a:ext cx="457200" cy="457200"/>
          </a:xfrm>
          <a:prstGeom prst="rect">
            <a:avLst/>
          </a:prstGeom>
          <a:noFill/>
        </p:spPr>
        <p:txBody>
          <a:bodyPr wrap="square" lIns="0" rIns="0" tIns="0" bIns="0" anchor="t">
            <a:spAutoFit/>
          </a:bodyPr>
          <a:lstStyle/>
          <a:p>
            <a:pPr algn="l"/>
            <a:r>
              <a:rPr sz="2400" b="1" i="0">
                <a:solidFill>
                  <a:srgbClr val="2E75B6"/>
                </a:solidFill>
                <a:latin typeface="Arial"/>
              </a:rPr>
              <a:t>5</a:t>
            </a:r>
          </a:p>
        </p:txBody>
      </p:sp>
      <p:sp>
        <p:nvSpPr>
          <p:cNvPr id="21" name="TextBox 20"/>
          <p:cNvSpPr txBox="1"/>
          <p:nvPr/>
        </p:nvSpPr>
        <p:spPr>
          <a:xfrm>
            <a:off x="1051560" y="4956048"/>
            <a:ext cx="4754880" cy="457200"/>
          </a:xfrm>
          <a:prstGeom prst="rect">
            <a:avLst/>
          </a:prstGeom>
          <a:noFill/>
        </p:spPr>
        <p:txBody>
          <a:bodyPr wrap="square" lIns="0" rIns="0" tIns="0" bIns="0" anchor="t">
            <a:spAutoFit/>
          </a:bodyPr>
          <a:lstStyle/>
          <a:p>
            <a:pPr algn="l"/>
            <a:r>
              <a:rPr sz="2000" b="0" i="0">
                <a:solidFill>
                  <a:srgbClr val="1B2530"/>
                </a:solidFill>
                <a:latin typeface="Arial"/>
              </a:rPr>
              <a:t>Recadrer et améliorer l'image</a:t>
            </a:r>
          </a:p>
        </p:txBody>
      </p:sp>
      <p:sp>
        <p:nvSpPr>
          <p:cNvPr id="22" name="TextBox 21"/>
          <p:cNvSpPr txBox="1"/>
          <p:nvPr/>
        </p:nvSpPr>
        <p:spPr>
          <a:xfrm>
            <a:off x="653796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CIBLES DU CAHIER DES CHARGES</a:t>
            </a:r>
          </a:p>
        </p:txBody>
      </p:sp>
      <p:sp>
        <p:nvSpPr>
          <p:cNvPr id="23" name="TextBox 22"/>
          <p:cNvSpPr txBox="1"/>
          <p:nvPr/>
        </p:nvSpPr>
        <p:spPr>
          <a:xfrm>
            <a:off x="6537960" y="2286000"/>
            <a:ext cx="2057400" cy="731520"/>
          </a:xfrm>
          <a:prstGeom prst="rect">
            <a:avLst/>
          </a:prstGeom>
          <a:noFill/>
        </p:spPr>
        <p:txBody>
          <a:bodyPr wrap="square" lIns="0" rIns="0" tIns="0" bIns="0" anchor="ctr">
            <a:spAutoFit/>
          </a:bodyPr>
          <a:lstStyle/>
          <a:p>
            <a:pPr algn="l"/>
            <a:r>
              <a:rPr sz="3600" b="1" i="0">
                <a:solidFill>
                  <a:srgbClr val="1F3A5F"/>
                </a:solidFill>
                <a:latin typeface="Arial"/>
              </a:rPr>
              <a:t>&lt; 100 ms</a:t>
            </a:r>
          </a:p>
        </p:txBody>
      </p:sp>
      <p:sp>
        <p:nvSpPr>
          <p:cNvPr id="24" name="TextBox 23"/>
          <p:cNvSpPr txBox="1"/>
          <p:nvPr/>
        </p:nvSpPr>
        <p:spPr>
          <a:xfrm>
            <a:off x="8686800" y="2286000"/>
            <a:ext cx="2971800" cy="731520"/>
          </a:xfrm>
          <a:prstGeom prst="rect">
            <a:avLst/>
          </a:prstGeom>
          <a:noFill/>
        </p:spPr>
        <p:txBody>
          <a:bodyPr wrap="square" lIns="0" rIns="0" tIns="0" bIns="0" anchor="ctr">
            <a:spAutoFit/>
          </a:bodyPr>
          <a:lstStyle/>
          <a:p>
            <a:pPr algn="l"/>
            <a:r>
              <a:rPr sz="1600" b="0" i="0">
                <a:solidFill>
                  <a:srgbClr val="1B2530"/>
                </a:solidFill>
                <a:latin typeface="Arial"/>
              </a:rPr>
              <a:t>de traitement par image, idéalement</a:t>
            </a:r>
          </a:p>
        </p:txBody>
      </p:sp>
      <p:sp>
        <p:nvSpPr>
          <p:cNvPr id="25" name="TextBox 24"/>
          <p:cNvSpPr txBox="1"/>
          <p:nvPr/>
        </p:nvSpPr>
        <p:spPr>
          <a:xfrm>
            <a:off x="6537960" y="3273552"/>
            <a:ext cx="2057400" cy="731520"/>
          </a:xfrm>
          <a:prstGeom prst="rect">
            <a:avLst/>
          </a:prstGeom>
          <a:noFill/>
        </p:spPr>
        <p:txBody>
          <a:bodyPr wrap="square" lIns="0" rIns="0" tIns="0" bIns="0" anchor="ctr">
            <a:spAutoFit/>
          </a:bodyPr>
          <a:lstStyle/>
          <a:p>
            <a:pPr algn="l"/>
            <a:r>
              <a:rPr sz="3600" b="1" i="0">
                <a:solidFill>
                  <a:srgbClr val="1F3A5F"/>
                </a:solidFill>
                <a:latin typeface="Arial"/>
              </a:rPr>
              <a:t>≥ 90 %</a:t>
            </a:r>
          </a:p>
        </p:txBody>
      </p:sp>
      <p:sp>
        <p:nvSpPr>
          <p:cNvPr id="26" name="TextBox 25"/>
          <p:cNvSpPr txBox="1"/>
          <p:nvPr/>
        </p:nvSpPr>
        <p:spPr>
          <a:xfrm>
            <a:off x="8686800" y="3273552"/>
            <a:ext cx="2971800" cy="731520"/>
          </a:xfrm>
          <a:prstGeom prst="rect">
            <a:avLst/>
          </a:prstGeom>
          <a:noFill/>
        </p:spPr>
        <p:txBody>
          <a:bodyPr wrap="square" lIns="0" rIns="0" tIns="0" bIns="0" anchor="ctr">
            <a:spAutoFit/>
          </a:bodyPr>
          <a:lstStyle/>
          <a:p>
            <a:pPr algn="l"/>
            <a:r>
              <a:rPr sz="1600" b="0" i="0">
                <a:solidFill>
                  <a:srgbClr val="1B2530"/>
                </a:solidFill>
                <a:latin typeface="Arial"/>
              </a:rPr>
              <a:t>de recto/verso bien reconnus, en conditions normales</a:t>
            </a:r>
          </a:p>
        </p:txBody>
      </p:sp>
      <p:sp>
        <p:nvSpPr>
          <p:cNvPr id="27" name="TextBox 26"/>
          <p:cNvSpPr txBox="1"/>
          <p:nvPr/>
        </p:nvSpPr>
        <p:spPr>
          <a:xfrm>
            <a:off x="6537960" y="4261104"/>
            <a:ext cx="2057400" cy="731520"/>
          </a:xfrm>
          <a:prstGeom prst="rect">
            <a:avLst/>
          </a:prstGeom>
          <a:noFill/>
        </p:spPr>
        <p:txBody>
          <a:bodyPr wrap="square" lIns="0" rIns="0" tIns="0" bIns="0" anchor="ctr">
            <a:spAutoFit/>
          </a:bodyPr>
          <a:lstStyle/>
          <a:p>
            <a:pPr algn="l"/>
            <a:r>
              <a:rPr sz="3600" b="1" i="0">
                <a:solidFill>
                  <a:srgbClr val="1F3A5F"/>
                </a:solidFill>
                <a:latin typeface="Arial"/>
              </a:rPr>
              <a:t>≈ 2 s</a:t>
            </a:r>
          </a:p>
        </p:txBody>
      </p:sp>
      <p:sp>
        <p:nvSpPr>
          <p:cNvPr id="28" name="TextBox 27"/>
          <p:cNvSpPr txBox="1"/>
          <p:nvPr/>
        </p:nvSpPr>
        <p:spPr>
          <a:xfrm>
            <a:off x="8686800" y="4261104"/>
            <a:ext cx="2971800" cy="731520"/>
          </a:xfrm>
          <a:prstGeom prst="rect">
            <a:avLst/>
          </a:prstGeom>
          <a:noFill/>
        </p:spPr>
        <p:txBody>
          <a:bodyPr wrap="square" lIns="0" rIns="0" tIns="0" bIns="0" anchor="ctr">
            <a:spAutoFit/>
          </a:bodyPr>
          <a:lstStyle/>
          <a:p>
            <a:pPr algn="l"/>
            <a:r>
              <a:rPr sz="1600" b="0" i="0">
                <a:solidFill>
                  <a:srgbClr val="1B2530"/>
                </a:solidFill>
                <a:latin typeface="Arial"/>
              </a:rPr>
              <a:t>entre carte bien positionnée et capture</a:t>
            </a:r>
          </a:p>
        </p:txBody>
      </p:sp>
      <p:sp>
        <p:nvSpPr>
          <p:cNvPr id="29" name="Rectangle 28"/>
          <p:cNvSpPr/>
          <p:nvPr/>
        </p:nvSpPr>
        <p:spPr>
          <a:xfrm>
            <a:off x="6537960" y="5349240"/>
            <a:ext cx="5105095" cy="566928"/>
          </a:xfrm>
          <a:prstGeom prst="rect">
            <a:avLst/>
          </a:prstGeom>
          <a:solidFill>
            <a:srgbClr val="EEF2F6"/>
          </a:solidFill>
          <a:ln>
            <a:noFill/>
          </a:ln>
        </p:spPr>
        <p:txBody>
          <a:bodyPr rtlCol="0" anchor="ctr"/>
          <a:lstStyle/>
          <a:p/>
        </p:txBody>
      </p:sp>
      <p:sp>
        <p:nvSpPr>
          <p:cNvPr id="30" name="TextBox 29"/>
          <p:cNvSpPr txBox="1"/>
          <p:nvPr/>
        </p:nvSpPr>
        <p:spPr>
          <a:xfrm>
            <a:off x="6720840" y="5349240"/>
            <a:ext cx="4739335" cy="566928"/>
          </a:xfrm>
          <a:prstGeom prst="rect">
            <a:avLst/>
          </a:prstGeom>
          <a:noFill/>
        </p:spPr>
        <p:txBody>
          <a:bodyPr wrap="square" lIns="0" rIns="0" tIns="0" bIns="0" anchor="ctr">
            <a:spAutoFit/>
          </a:bodyPr>
          <a:lstStyle/>
          <a:p>
            <a:pPr algn="l"/>
            <a:r>
              <a:rPr sz="1600" b="1" i="0">
                <a:solidFill>
                  <a:srgbClr val="1F3A5F"/>
                </a:solidFill>
                <a:latin typeface="Arial"/>
              </a:rPr>
              <a:t>Android et iOS</a:t>
            </a:r>
            <a:r>
              <a:rPr sz="1600" b="0" i="0">
                <a:solidFill>
                  <a:srgbClr val="1B2530"/>
                </a:solidFill>
                <a:latin typeface="Arial"/>
              </a:rPr>
              <a:t> · un seul code pour les deux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22"/>
                                        </p:tgtEl>
                                        <p:attrNameLst>
                                          <p:attrName>style.visibility</p:attrName>
                                        </p:attrNameLst>
                                      </p:cBhvr>
                                      <p:to>
                                        <p:strVal val="visible"/>
                                      </p:to>
                                    </p:set>
                                    <p:animEffect transition="in" filter="fade">
                                      <p:cBhvr>
                                        <p:cTn id="14" dur="350"/>
                                        <p:tgtEl>
                                          <p:spTgt spid="22"/>
                                        </p:tgtEl>
                                      </p:cBhvr>
                                    </p:animEffect>
                                  </p:childTnLst>
                                </p:cTn>
                              </p:par>
                            </p:childTnLst>
                          </p:cTn>
                        </p:par>
                        <p:par>
                          <p:cTn id="15" fill="hold">
                            <p:stCondLst>
                              <p:cond delay="500"/>
                            </p:stCondLst>
                            <p:childTnLst>
                              <p:par>
                                <p:cTn id="16" presetID="10" presetClass="entr" presetSubtype="0" fill="hold" nodeType="after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350"/>
                                        <p:tgtEl>
                                          <p:spTgt spid="8"/>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5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35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350"/>
                                        <p:tgtEl>
                                          <p:spTgt spid="9"/>
                                        </p:tgtEl>
                                      </p:cBhvr>
                                    </p:animEffect>
                                  </p:childTnLst>
                                </p:cTn>
                              </p:par>
                            </p:childTnLst>
                          </p:cTn>
                        </p:par>
                        <p:par>
                          <p:cTn id="28" fill="hold">
                            <p:stCondLst>
                              <p:cond delay="750"/>
                            </p:stCondLst>
                            <p:childTnLst>
                              <p:par>
                                <p:cTn id="29" presetID="10" presetClass="entr" presetSubtype="0" fill="hold" nodeType="afterEffect">
                                  <p:stCondLst>
                                    <p:cond delay="0"/>
                                  </p:stCondLst>
                                  <p:childTnLst>
                                    <p:set>
                                      <p:cBhvr>
                                        <p:cTn id="30" dur="1" fill="hold">
                                          <p:stCondLst>
                                            <p:cond delay="0"/>
                                          </p:stCondLst>
                                        </p:cTn>
                                        <p:tgtEl>
                                          <p:spTgt spid="10"/>
                                        </p:tgtEl>
                                        <p:attrNameLst>
                                          <p:attrName>style.visibility</p:attrName>
                                        </p:attrNameLst>
                                      </p:cBhvr>
                                      <p:to>
                                        <p:strVal val="visible"/>
                                      </p:to>
                                    </p:set>
                                    <p:animEffect transition="in" filter="fade">
                                      <p:cBhvr>
                                        <p:cTn id="31" dur="350"/>
                                        <p:tgtEl>
                                          <p:spTgt spid="10"/>
                                        </p:tgtEl>
                                      </p:cBhvr>
                                    </p:animEffect>
                                  </p:childTnLst>
                                </p:cTn>
                              </p:par>
                              <p:par>
                                <p:cTn id="32" presetID="10" presetClass="entr" presetSubtype="0" fill="hold" nodeType="with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childTnLst>
                                </p:cTn>
                              </p:par>
                              <p:par>
                                <p:cTn id="35" presetID="10"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50"/>
                                        <p:tgtEl>
                                          <p:spTgt spid="12"/>
                                        </p:tgtEl>
                                      </p:cBhvr>
                                    </p:animEffect>
                                  </p:childTnLst>
                                </p:cTn>
                              </p:par>
                              <p:par>
                                <p:cTn id="38" presetID="10" presetClass="entr" presetSubtype="0" fill="hold" nodeType="withEffect">
                                  <p:stCondLst>
                                    <p:cond delay="0"/>
                                  </p:stCondLst>
                                  <p:childTnLst>
                                    <p:set>
                                      <p:cBhvr>
                                        <p:cTn id="39" dur="1" fill="hold">
                                          <p:stCondLst>
                                            <p:cond delay="0"/>
                                          </p:stCondLst>
                                        </p:cTn>
                                        <p:tgtEl>
                                          <p:spTgt spid="25"/>
                                        </p:tgtEl>
                                        <p:attrNameLst>
                                          <p:attrName>style.visibility</p:attrName>
                                        </p:attrNameLst>
                                      </p:cBhvr>
                                      <p:to>
                                        <p:strVal val="visible"/>
                                      </p:to>
                                    </p:set>
                                    <p:animEffect transition="in" filter="fade">
                                      <p:cBhvr>
                                        <p:cTn id="40" dur="350"/>
                                        <p:tgtEl>
                                          <p:spTgt spid="25"/>
                                        </p:tgtEl>
                                      </p:cBhvr>
                                    </p:animEffect>
                                  </p:childTnLst>
                                </p:cTn>
                              </p:par>
                              <p:par>
                                <p:cTn id="41" presetID="10"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animEffect transition="in" filter="fade">
                                      <p:cBhvr>
                                        <p:cTn id="43" dur="350"/>
                                        <p:tgtEl>
                                          <p:spTgt spid="26"/>
                                        </p:tgtEl>
                                      </p:cBhvr>
                                    </p:animEffect>
                                  </p:childTnLst>
                                </p:cTn>
                              </p:par>
                              <p:par>
                                <p:cTn id="44" presetID="10" presetClass="entr" presetSubtype="0" fill="hold" nodeType="with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350"/>
                                        <p:tgtEl>
                                          <p:spTgt spid="13"/>
                                        </p:tgtEl>
                                      </p:cBhvr>
                                    </p:animEffect>
                                  </p:childTnLst>
                                </p:cTn>
                              </p:par>
                              <p:par>
                                <p:cTn id="47" presetID="10" presetClass="entr" presetSubtype="0" fill="hold" nodeType="withEffect">
                                  <p:stCondLst>
                                    <p:cond delay="0"/>
                                  </p:stCondLst>
                                  <p:childTnLst>
                                    <p:set>
                                      <p:cBhvr>
                                        <p:cTn id="48" dur="1" fill="hold">
                                          <p:stCondLst>
                                            <p:cond delay="0"/>
                                          </p:stCondLst>
                                        </p:cTn>
                                        <p:tgtEl>
                                          <p:spTgt spid="14"/>
                                        </p:tgtEl>
                                        <p:attrNameLst>
                                          <p:attrName>style.visibility</p:attrName>
                                        </p:attrNameLst>
                                      </p:cBhvr>
                                      <p:to>
                                        <p:strVal val="visible"/>
                                      </p:to>
                                    </p:set>
                                    <p:animEffect transition="in" filter="fade">
                                      <p:cBhvr>
                                        <p:cTn id="49" dur="350"/>
                                        <p:tgtEl>
                                          <p:spTgt spid="14"/>
                                        </p:tgtEl>
                                      </p:cBhvr>
                                    </p:animEffect>
                                  </p:childTnLst>
                                </p:cTn>
                              </p:par>
                              <p:par>
                                <p:cTn id="50" presetID="10" presetClass="entr" presetSubtype="0" fill="hold" nodeType="with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350"/>
                                        <p:tgtEl>
                                          <p:spTgt spid="15"/>
                                        </p:tgtEl>
                                      </p:cBhvr>
                                    </p:animEffect>
                                  </p:childTnLst>
                                </p:cTn>
                              </p:par>
                            </p:childTnLst>
                          </p:cTn>
                        </p:par>
                        <p:par>
                          <p:cTn id="53" fill="hold">
                            <p:stCondLst>
                              <p:cond delay="1000"/>
                            </p:stCondLst>
                            <p:childTnLst>
                              <p:par>
                                <p:cTn id="54" presetID="10" presetClass="entr" presetSubtype="0" fill="hold" nodeType="afterEffect">
                                  <p:stCondLst>
                                    <p:cond delay="0"/>
                                  </p:stCondLst>
                                  <p:childTnLst>
                                    <p:set>
                                      <p:cBhvr>
                                        <p:cTn id="55" dur="1" fill="hold">
                                          <p:stCondLst>
                                            <p:cond delay="0"/>
                                          </p:stCondLst>
                                        </p:cTn>
                                        <p:tgtEl>
                                          <p:spTgt spid="16"/>
                                        </p:tgtEl>
                                        <p:attrNameLst>
                                          <p:attrName>style.visibility</p:attrName>
                                        </p:attrNameLst>
                                      </p:cBhvr>
                                      <p:to>
                                        <p:strVal val="visible"/>
                                      </p:to>
                                    </p:set>
                                    <p:animEffect transition="in" filter="fade">
                                      <p:cBhvr>
                                        <p:cTn id="56" dur="350"/>
                                        <p:tgtEl>
                                          <p:spTgt spid="16"/>
                                        </p:tgtEl>
                                      </p:cBhvr>
                                    </p:animEffect>
                                  </p:childTnLst>
                                </p:cTn>
                              </p:par>
                              <p:par>
                                <p:cTn id="57" presetID="10" presetClass="entr" presetSubtype="0" fill="hold" nodeType="withEffect">
                                  <p:stCondLst>
                                    <p:cond delay="0"/>
                                  </p:stCondLst>
                                  <p:childTnLst>
                                    <p:set>
                                      <p:cBhvr>
                                        <p:cTn id="58" dur="1" fill="hold">
                                          <p:stCondLst>
                                            <p:cond delay="0"/>
                                          </p:stCondLst>
                                        </p:cTn>
                                        <p:tgtEl>
                                          <p:spTgt spid="17"/>
                                        </p:tgtEl>
                                        <p:attrNameLst>
                                          <p:attrName>style.visibility</p:attrName>
                                        </p:attrNameLst>
                                      </p:cBhvr>
                                      <p:to>
                                        <p:strVal val="visible"/>
                                      </p:to>
                                    </p:set>
                                    <p:animEffect transition="in" filter="fade">
                                      <p:cBhvr>
                                        <p:cTn id="59" dur="350"/>
                                        <p:tgtEl>
                                          <p:spTgt spid="17"/>
                                        </p:tgtEl>
                                      </p:cBhvr>
                                    </p:animEffect>
                                  </p:childTnLst>
                                </p:cTn>
                              </p:par>
                              <p:par>
                                <p:cTn id="60" presetID="10" presetClass="entr" presetSubtype="0" fill="hold" nodeType="withEffect">
                                  <p:stCondLst>
                                    <p:cond delay="0"/>
                                  </p:stCondLst>
                                  <p:childTnLst>
                                    <p:set>
                                      <p:cBhvr>
                                        <p:cTn id="61" dur="1" fill="hold">
                                          <p:stCondLst>
                                            <p:cond delay="0"/>
                                          </p:stCondLst>
                                        </p:cTn>
                                        <p:tgtEl>
                                          <p:spTgt spid="27"/>
                                        </p:tgtEl>
                                        <p:attrNameLst>
                                          <p:attrName>style.visibility</p:attrName>
                                        </p:attrNameLst>
                                      </p:cBhvr>
                                      <p:to>
                                        <p:strVal val="visible"/>
                                      </p:to>
                                    </p:set>
                                    <p:animEffect transition="in" filter="fade">
                                      <p:cBhvr>
                                        <p:cTn id="62" dur="350"/>
                                        <p:tgtEl>
                                          <p:spTgt spid="27"/>
                                        </p:tgtEl>
                                      </p:cBhvr>
                                    </p:animEffect>
                                  </p:childTnLst>
                                </p:cTn>
                              </p:par>
                              <p:par>
                                <p:cTn id="63" presetID="10" presetClass="entr" presetSubtype="0" fill="hold" nodeType="withEffect">
                                  <p:stCondLst>
                                    <p:cond delay="0"/>
                                  </p:stCondLst>
                                  <p:childTnLst>
                                    <p:set>
                                      <p:cBhvr>
                                        <p:cTn id="64" dur="1" fill="hold">
                                          <p:stCondLst>
                                            <p:cond delay="0"/>
                                          </p:stCondLst>
                                        </p:cTn>
                                        <p:tgtEl>
                                          <p:spTgt spid="28"/>
                                        </p:tgtEl>
                                        <p:attrNameLst>
                                          <p:attrName>style.visibility</p:attrName>
                                        </p:attrNameLst>
                                      </p:cBhvr>
                                      <p:to>
                                        <p:strVal val="visible"/>
                                      </p:to>
                                    </p:set>
                                    <p:animEffect transition="in" filter="fade">
                                      <p:cBhvr>
                                        <p:cTn id="65" dur="350"/>
                                        <p:tgtEl>
                                          <p:spTgt spid="28"/>
                                        </p:tgtEl>
                                      </p:cBhvr>
                                    </p:animEffect>
                                  </p:childTnLst>
                                </p:cTn>
                              </p:par>
                              <p:par>
                                <p:cTn id="66" presetID="10" presetClass="entr" presetSubtype="0" fill="hold" nodeType="withEffect">
                                  <p:stCondLst>
                                    <p:cond delay="0"/>
                                  </p:stCondLst>
                                  <p:childTnLst>
                                    <p:set>
                                      <p:cBhvr>
                                        <p:cTn id="67" dur="1" fill="hold">
                                          <p:stCondLst>
                                            <p:cond delay="0"/>
                                          </p:stCondLst>
                                        </p:cTn>
                                        <p:tgtEl>
                                          <p:spTgt spid="18"/>
                                        </p:tgtEl>
                                        <p:attrNameLst>
                                          <p:attrName>style.visibility</p:attrName>
                                        </p:attrNameLst>
                                      </p:cBhvr>
                                      <p:to>
                                        <p:strVal val="visible"/>
                                      </p:to>
                                    </p:set>
                                    <p:animEffect transition="in" filter="fade">
                                      <p:cBhvr>
                                        <p:cTn id="68" dur="350"/>
                                        <p:tgtEl>
                                          <p:spTgt spid="18"/>
                                        </p:tgtEl>
                                      </p:cBhvr>
                                    </p:animEffect>
                                  </p:childTnLst>
                                </p:cTn>
                              </p:par>
                            </p:childTnLst>
                          </p:cTn>
                        </p:par>
                        <p:par>
                          <p:cTn id="69" fill="hold">
                            <p:stCondLst>
                              <p:cond delay="1250"/>
                            </p:stCondLst>
                            <p:childTnLst>
                              <p:par>
                                <p:cTn id="70" presetID="10" presetClass="entr" presetSubtype="0" fill="hold" nodeType="afterEffect">
                                  <p:stCondLst>
                                    <p:cond delay="0"/>
                                  </p:stCondLst>
                                  <p:childTnLst>
                                    <p:set>
                                      <p:cBhvr>
                                        <p:cTn id="71" dur="1" fill="hold">
                                          <p:stCondLst>
                                            <p:cond delay="0"/>
                                          </p:stCondLst>
                                        </p:cTn>
                                        <p:tgtEl>
                                          <p:spTgt spid="19"/>
                                        </p:tgtEl>
                                        <p:attrNameLst>
                                          <p:attrName>style.visibility</p:attrName>
                                        </p:attrNameLst>
                                      </p:cBhvr>
                                      <p:to>
                                        <p:strVal val="visible"/>
                                      </p:to>
                                    </p:set>
                                    <p:animEffect transition="in" filter="fade">
                                      <p:cBhvr>
                                        <p:cTn id="72" dur="350"/>
                                        <p:tgtEl>
                                          <p:spTgt spid="19"/>
                                        </p:tgtEl>
                                      </p:cBhvr>
                                    </p:animEffect>
                                  </p:childTnLst>
                                </p:cTn>
                              </p:par>
                              <p:par>
                                <p:cTn id="73" presetID="10" presetClass="entr" presetSubtype="0" fill="hold" nodeType="withEffect">
                                  <p:stCondLst>
                                    <p:cond delay="0"/>
                                  </p:stCondLst>
                                  <p:childTnLst>
                                    <p:set>
                                      <p:cBhvr>
                                        <p:cTn id="74" dur="1" fill="hold">
                                          <p:stCondLst>
                                            <p:cond delay="0"/>
                                          </p:stCondLst>
                                        </p:cTn>
                                        <p:tgtEl>
                                          <p:spTgt spid="20"/>
                                        </p:tgtEl>
                                        <p:attrNameLst>
                                          <p:attrName>style.visibility</p:attrName>
                                        </p:attrNameLst>
                                      </p:cBhvr>
                                      <p:to>
                                        <p:strVal val="visible"/>
                                      </p:to>
                                    </p:set>
                                    <p:animEffect transition="in" filter="fade">
                                      <p:cBhvr>
                                        <p:cTn id="75" dur="350"/>
                                        <p:tgtEl>
                                          <p:spTgt spid="20"/>
                                        </p:tgtEl>
                                      </p:cBhvr>
                                    </p:animEffect>
                                  </p:childTnLst>
                                </p:cTn>
                              </p:par>
                              <p:par>
                                <p:cTn id="76" presetID="10" presetClass="entr" presetSubtype="0" fill="hold" nodeType="with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350"/>
                                        <p:tgtEl>
                                          <p:spTgt spid="21"/>
                                        </p:tgtEl>
                                      </p:cBhvr>
                                    </p:animEffect>
                                  </p:childTnLst>
                                </p:cTn>
                              </p:par>
                            </p:childTnLst>
                          </p:cTn>
                        </p:par>
                        <p:par>
                          <p:cTn id="79" fill="hold">
                            <p:stCondLst>
                              <p:cond delay="1500"/>
                            </p:stCondLst>
                            <p:childTnLst>
                              <p:par>
                                <p:cTn id="80" presetID="10" presetClass="entr" presetSubtype="0" fill="hold" nodeType="afterEffect">
                                  <p:stCondLst>
                                    <p:cond delay="0"/>
                                  </p:stCondLst>
                                  <p:childTnLst>
                                    <p:set>
                                      <p:cBhvr>
                                        <p:cTn id="81" dur="1" fill="hold">
                                          <p:stCondLst>
                                            <p:cond delay="0"/>
                                          </p:stCondLst>
                                        </p:cTn>
                                        <p:tgtEl>
                                          <p:spTgt spid="29"/>
                                        </p:tgtEl>
                                        <p:attrNameLst>
                                          <p:attrName>style.visibility</p:attrName>
                                        </p:attrNameLst>
                                      </p:cBhvr>
                                      <p:to>
                                        <p:strVal val="visible"/>
                                      </p:to>
                                    </p:set>
                                    <p:animEffect transition="in" filter="fade">
                                      <p:cBhvr>
                                        <p:cTn id="82" dur="350"/>
                                        <p:tgtEl>
                                          <p:spTgt spid="29"/>
                                        </p:tgtEl>
                                      </p:cBhvr>
                                    </p:animEffect>
                                  </p:childTnLst>
                                </p:cTn>
                              </p:par>
                              <p:par>
                                <p:cTn id="83" presetID="10" presetClass="entr" presetSubtype="0" fill="hold" nodeType="withEffect">
                                  <p:stCondLst>
                                    <p:cond delay="0"/>
                                  </p:stCondLst>
                                  <p:childTnLst>
                                    <p:set>
                                      <p:cBhvr>
                                        <p:cTn id="84" dur="1" fill="hold">
                                          <p:stCondLst>
                                            <p:cond delay="0"/>
                                          </p:stCondLst>
                                        </p:cTn>
                                        <p:tgtEl>
                                          <p:spTgt spid="30"/>
                                        </p:tgtEl>
                                        <p:attrNameLst>
                                          <p:attrName>style.visibility</p:attrName>
                                        </p:attrNameLst>
                                      </p:cBhvr>
                                      <p:to>
                                        <p:strVal val="visible"/>
                                      </p:to>
                                    </p:set>
                                    <p:animEffect transition="in" filter="fade">
                                      <p:cBhvr>
                                        <p:cTn id="85" dur="35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22" grpId="0"/>
      <p:bldP spid="8" grpId="0"/>
      <p:bldP spid="23" grpId="0"/>
      <p:bldP spid="24" grpId="0"/>
      <p:bldP spid="9" grpId="0"/>
      <p:bldP spid="11" grpId="0"/>
      <p:bldP spid="12" grpId="0"/>
      <p:bldP spid="25" grpId="0"/>
      <p:bldP spid="26" grpId="0"/>
      <p:bldP spid="14" grpId="0"/>
      <p:bldP spid="15" grpId="0"/>
      <p:bldP spid="17" grpId="0"/>
      <p:bldP spid="27" grpId="0"/>
      <p:bldP spid="28" grpId="0"/>
      <p:bldP spid="18" grpId="0"/>
      <p:bldP spid="20" grpId="0"/>
      <p:bldP spid="21" grpId="0"/>
      <p:bldP spid="29" grpId="0"/>
      <p:bldP spid="30"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1" i="0">
                <a:solidFill>
                  <a:srgbClr val="2E75B6"/>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Seul OpenCV tenait Android + iOS en six semaines, sans jeu de données annoté</a:t>
            </a:r>
          </a:p>
        </p:txBody>
      </p:sp>
      <p:graphicFrame>
        <p:nvGraphicFramePr>
          <p:cNvPr id="7" name="Table 6"/>
          <p:cNvGraphicFramePr>
            <a:graphicFrameLocks noGrp="1"/>
          </p:cNvGraphicFramePr>
          <p:nvPr/>
        </p:nvGraphicFramePr>
        <p:xfrm>
          <a:off x="548640" y="1828800"/>
          <a:ext cx="11094415" cy="2907792"/>
        </p:xfrm>
        <a:graphic>
          <a:graphicData uri="http://schemas.openxmlformats.org/drawingml/2006/table">
            <a:tbl>
              <a:tblPr firstRow="0" bandRow="0"/>
              <a:tblGrid>
                <a:gridCol w="2743200"/>
                <a:gridCol w="2743200"/>
                <a:gridCol w="2743200"/>
                <a:gridCol w="2864815"/>
              </a:tblGrid>
              <a:tr h="713232">
                <a:tc>
                  <a:txBody>
                    <a:bodyPr/>
                    <a:lstStyle/>
                    <a:p>
                      <a:r>
                        <a:rPr sz="1700" b="1">
                          <a:solidFill>
                            <a:srgbClr val="1F3A5F"/>
                          </a:solidFill>
                          <a:latin typeface="Arial"/>
                        </a:rPr>
                        <a:t>Critère</a:t>
                      </a:r>
                    </a:p>
                  </a:txBody>
                  <a:tcPr marL="128016" marR="128016" anchor="ctr">
                    <a:solidFill>
                      <a:srgbClr val="EEF2F6"/>
                    </a:solidFill>
                  </a:tcPr>
                </a:tc>
                <a:tc>
                  <a:txBody>
                    <a:bodyPr/>
                    <a:lstStyle/>
                    <a:p>
                      <a:r>
                        <a:rPr sz="1700" b="1">
                          <a:solidFill>
                            <a:srgbClr val="1F3A5F"/>
                          </a:solidFill>
                          <a:latin typeface="Arial"/>
                        </a:rPr>
                        <a:t>ML Kit</a:t>
                      </a:r>
                    </a:p>
                    <a:p>
                      <a:r>
                        <a:rPr sz="1700" b="1">
                          <a:solidFill>
                            <a:srgbClr val="1F3A5F"/>
                          </a:solidFill>
                          <a:latin typeface="Arial"/>
                        </a:rPr>
                        <a:t>Document Scanner</a:t>
                      </a:r>
                    </a:p>
                  </a:txBody>
                  <a:tcPr marL="128016" marR="128016" anchor="ctr">
                    <a:solidFill>
                      <a:srgbClr val="EEF2F6"/>
                    </a:solidFill>
                  </a:tcPr>
                </a:tc>
                <a:tc>
                  <a:txBody>
                    <a:bodyPr/>
                    <a:lstStyle/>
                    <a:p>
                      <a:r>
                        <a:rPr sz="1700" b="1">
                          <a:solidFill>
                            <a:srgbClr val="1F3A5F"/>
                          </a:solidFill>
                          <a:latin typeface="Arial"/>
                        </a:rPr>
                        <a:t>Modèle entraîné</a:t>
                      </a:r>
                    </a:p>
                    <a:p>
                      <a:r>
                        <a:rPr sz="1700" b="1">
                          <a:solidFill>
                            <a:srgbClr val="1F3A5F"/>
                          </a:solidFill>
                          <a:latin typeface="Arial"/>
                        </a:rPr>
                        <a:t>sur mesure</a:t>
                      </a:r>
                    </a:p>
                  </a:txBody>
                  <a:tcPr marL="128016" marR="128016" anchor="ctr">
                    <a:solidFill>
                      <a:srgbClr val="EEF2F6"/>
                    </a:solidFill>
                  </a:tcPr>
                </a:tc>
                <a:tc>
                  <a:txBody>
                    <a:bodyPr/>
                    <a:lstStyle/>
                    <a:p>
                      <a:r>
                        <a:rPr sz="1700" b="1">
                          <a:solidFill>
                            <a:srgbClr val="FFFFFF"/>
                          </a:solidFill>
                          <a:latin typeface="Arial"/>
                        </a:rPr>
                        <a:t>OpenCV</a:t>
                      </a:r>
                    </a:p>
                    <a:p>
                      <a:r>
                        <a:rPr sz="1700" b="1">
                          <a:solidFill>
                            <a:srgbClr val="FFFFFF"/>
                          </a:solidFill>
                          <a:latin typeface="Arial"/>
                        </a:rPr>
                        <a:t>(retenu)</a:t>
                      </a:r>
                    </a:p>
                  </a:txBody>
                  <a:tcPr marL="128016" marR="128016" anchor="ctr">
                    <a:solidFill>
                      <a:srgbClr val="1F3A5F"/>
                    </a:solidFill>
                  </a:tcPr>
                </a:tc>
              </a:tr>
              <a:tr h="548640">
                <a:tc>
                  <a:txBody>
                    <a:bodyPr/>
                    <a:lstStyle/>
                    <a:p>
                      <a:r>
                        <a:rPr sz="1800" b="1">
                          <a:solidFill>
                            <a:srgbClr val="1F3A5F"/>
                          </a:solidFill>
                          <a:latin typeface="Arial"/>
                        </a:rPr>
                        <a:t>Support iOS</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0">
                          <a:solidFill>
                            <a:srgbClr val="1B2530"/>
                          </a:solidFill>
                          <a:latin typeface="Arial"/>
                        </a:rPr>
                        <a:t>Oui, si entraîné</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Jeu de données</a:t>
                      </a:r>
                    </a:p>
                  </a:txBody>
                  <a:tcPr marL="128016" marR="128016" anchor="ctr">
                    <a:solidFill>
                      <a:srgbClr val="FFFFFF"/>
                    </a:solidFill>
                  </a:tcPr>
                </a:tc>
                <a:tc>
                  <a:txBody>
                    <a:bodyPr/>
                    <a:lstStyle/>
                    <a:p>
                      <a:r>
                        <a:rPr sz="1800" b="0">
                          <a:solidFill>
                            <a:srgbClr val="1B2530"/>
                          </a:solidFill>
                          <a:latin typeface="Arial"/>
                        </a:rPr>
                        <a:t>Aucun</a:t>
                      </a:r>
                    </a:p>
                  </a:txBody>
                  <a:tcPr marL="128016" marR="128016" anchor="ctr">
                    <a:solidFill>
                      <a:srgbClr val="FFFFFF"/>
                    </a:solidFill>
                  </a:tcPr>
                </a:tc>
                <a:tc>
                  <a:txBody>
                    <a:bodyPr/>
                    <a:lstStyle/>
                    <a:p>
                      <a:r>
                        <a:rPr sz="1800" b="1">
                          <a:solidFill>
                            <a:srgbClr val="B84A12"/>
                          </a:solidFill>
                          <a:latin typeface="Arial"/>
                        </a:rPr>
                        <a:t>Plusieurs centaines</a:t>
                      </a:r>
                    </a:p>
                    <a:p>
                      <a:r>
                        <a:rPr sz="1800" b="1">
                          <a:solidFill>
                            <a:srgbClr val="B84A12"/>
                          </a:solidFill>
                          <a:latin typeface="Arial"/>
                        </a:rPr>
                        <a:t>d'images annotées</a:t>
                      </a:r>
                    </a:p>
                  </a:txBody>
                  <a:tcPr marL="128016" marR="128016" anchor="ctr">
                    <a:solidFill>
                      <a:srgbClr val="FFFFFF"/>
                    </a:solidFill>
                  </a:tcPr>
                </a:tc>
                <a:tc>
                  <a:txBody>
                    <a:bodyPr/>
                    <a:lstStyle/>
                    <a:p>
                      <a:r>
                        <a:rPr sz="1800" b="1">
                          <a:solidFill>
                            <a:srgbClr val="1F3A5F"/>
                          </a:solidFill>
                          <a:latin typeface="Arial"/>
                        </a:rPr>
                        <a:t>Aucun</a:t>
                      </a:r>
                    </a:p>
                  </a:txBody>
                  <a:tcPr marL="128016" marR="128016" anchor="ctr">
                    <a:solidFill>
                      <a:srgbClr val="EEF2F6"/>
                    </a:solidFill>
                  </a:tcPr>
                </a:tc>
              </a:tr>
              <a:tr h="548640">
                <a:tc>
                  <a:txBody>
                    <a:bodyPr/>
                    <a:lstStyle/>
                    <a:p>
                      <a:r>
                        <a:rPr sz="1800" b="1">
                          <a:solidFill>
                            <a:srgbClr val="1F3A5F"/>
                          </a:solidFill>
                          <a:latin typeface="Arial"/>
                        </a:rPr>
                        <a:t>Tenable en 6 semaines</a:t>
                      </a:r>
                    </a:p>
                  </a:txBody>
                  <a:tcPr marL="128016" marR="128016" anchor="ctr">
                    <a:solidFill>
                      <a:srgbClr val="FFFFFF"/>
                    </a:solidFill>
                  </a:tcPr>
                </a:tc>
                <a:tc>
                  <a:txBody>
                    <a:bodyPr/>
                    <a:lstStyle/>
                    <a:p>
                      <a:r>
                        <a:rPr sz="1800" b="0">
                          <a:solidFill>
                            <a:srgbClr val="1B2530"/>
                          </a:solidFill>
                          <a:latin typeface="Arial"/>
                        </a:rPr>
                        <a:t>Oui</a:t>
                      </a:r>
                    </a:p>
                  </a:txBody>
                  <a:tcPr marL="128016" marR="128016" anchor="ctr">
                    <a:solidFill>
                      <a:srgbClr val="FFFFFF"/>
                    </a:solidFill>
                  </a:tcPr>
                </a:tc>
                <a:tc>
                  <a:txBody>
                    <a:bodyPr/>
                    <a:lstStyle/>
                    <a:p>
                      <a:r>
                        <a:rPr sz="1800" b="1">
                          <a:solidFill>
                            <a:srgbClr val="B84A12"/>
                          </a:solidFill>
                          <a:latin typeface="Arial"/>
                        </a:rPr>
                        <a:t>Non</a:t>
                      </a:r>
                    </a:p>
                  </a:txBody>
                  <a:tcPr marL="128016" marR="128016" anchor="ctr">
                    <a:solidFill>
                      <a:srgbClr val="FFFFFF"/>
                    </a:solidFill>
                  </a:tcPr>
                </a:tc>
                <a:tc>
                  <a:txBody>
                    <a:bodyPr/>
                    <a:lstStyle/>
                    <a:p>
                      <a:r>
                        <a:rPr sz="1800" b="1">
                          <a:solidFill>
                            <a:srgbClr val="1F3A5F"/>
                          </a:solidFill>
                          <a:latin typeface="Arial"/>
                        </a:rPr>
                        <a:t>Oui</a:t>
                      </a:r>
                    </a:p>
                  </a:txBody>
                  <a:tcPr marL="128016" marR="128016" anchor="ctr">
                    <a:solidFill>
                      <a:srgbClr val="EEF2F6"/>
                    </a:solidFill>
                  </a:tcPr>
                </a:tc>
              </a:tr>
              <a:tr h="548640">
                <a:tc>
                  <a:txBody>
                    <a:bodyPr/>
                    <a:lstStyle/>
                    <a:p>
                      <a:r>
                        <a:rPr sz="1800" b="1">
                          <a:solidFill>
                            <a:srgbClr val="1F3A5F"/>
                          </a:solidFill>
                          <a:latin typeface="Arial"/>
                        </a:rPr>
                        <a:t>Effort de réglage</a:t>
                      </a:r>
                    </a:p>
                  </a:txBody>
                  <a:tcPr marL="128016" marR="128016" anchor="ctr">
                    <a:solidFill>
                      <a:srgbClr val="FFFFFF"/>
                    </a:solidFill>
                  </a:tcPr>
                </a:tc>
                <a:tc>
                  <a:txBody>
                    <a:bodyPr/>
                    <a:lstStyle/>
                    <a:p>
                      <a:r>
                        <a:rPr sz="1800" b="0">
                          <a:solidFill>
                            <a:srgbClr val="1B2530"/>
                          </a:solidFill>
                          <a:latin typeface="Arial"/>
                        </a:rPr>
                        <a:t>Faible</a:t>
                      </a:r>
                    </a:p>
                  </a:txBody>
                  <a:tcPr marL="128016" marR="128016" anchor="ctr">
                    <a:solidFill>
                      <a:srgbClr val="FFFFFF"/>
                    </a:solidFill>
                  </a:tcPr>
                </a:tc>
                <a:tc>
                  <a:txBody>
                    <a:bodyPr/>
                    <a:lstStyle/>
                    <a:p>
                      <a:r>
                        <a:rPr sz="1800" b="0">
                          <a:solidFill>
                            <a:srgbClr val="1B2530"/>
                          </a:solidFill>
                          <a:latin typeface="Arial"/>
                        </a:rPr>
                        <a:t>Élevé (entraînement)</a:t>
                      </a:r>
                    </a:p>
                  </a:txBody>
                  <a:tcPr marL="128016" marR="128016" anchor="ctr">
                    <a:solidFill>
                      <a:srgbClr val="FFFFFF"/>
                    </a:solidFill>
                  </a:tcPr>
                </a:tc>
                <a:tc>
                  <a:txBody>
                    <a:bodyPr/>
                    <a:lstStyle/>
                    <a:p>
                      <a:r>
                        <a:rPr sz="1800" b="1">
                          <a:solidFill>
                            <a:srgbClr val="1F3A5F"/>
                          </a:solidFill>
                          <a:latin typeface="Arial"/>
                        </a:rPr>
                        <a:t>Moyen (seuils empiriques)</a:t>
                      </a:r>
                    </a:p>
                  </a:txBody>
                  <a:tcPr marL="128016" marR="128016" anchor="ctr">
                    <a:solidFill>
                      <a:srgbClr val="EEF2F6"/>
                    </a:solidFill>
                  </a:tcPr>
                </a:tc>
              </a:tr>
            </a:tbl>
          </a:graphicData>
        </a:graphic>
      </p:graphicFrame>
      <p:sp>
        <p:nvSpPr>
          <p:cNvPr id="8" name="TextBox 7"/>
          <p:cNvSpPr txBox="1"/>
          <p:nvPr/>
        </p:nvSpPr>
        <p:spPr>
          <a:xfrm>
            <a:off x="548640" y="5138928"/>
            <a:ext cx="1828800" cy="457200"/>
          </a:xfrm>
          <a:prstGeom prst="rect">
            <a:avLst/>
          </a:prstGeom>
          <a:noFill/>
        </p:spPr>
        <p:txBody>
          <a:bodyPr wrap="square" lIns="0" rIns="0" tIns="0" bIns="0" anchor="ctr">
            <a:spAutoFit/>
          </a:bodyPr>
          <a:lstStyle/>
          <a:p>
            <a:pPr algn="l"/>
            <a:r>
              <a:rPr sz="1300" b="1" i="0">
                <a:solidFill>
                  <a:srgbClr val="2E75B6"/>
                </a:solidFill>
                <a:latin typeface="Arial"/>
              </a:rPr>
              <a:t>PILE RETENUE</a:t>
            </a:r>
          </a:p>
        </p:txBody>
      </p:sp>
      <p:pic>
        <p:nvPicPr>
          <p:cNvPr id="9" name="Picture 8" descr="Logo Flutter"/>
          <p:cNvPicPr>
            <a:picLocks noChangeAspect="1"/>
          </p:cNvPicPr>
          <p:nvPr/>
        </p:nvPicPr>
        <p:blipFill>
          <a:blip r:embed="rId2"/>
          <a:stretch>
            <a:fillRect/>
          </a:stretch>
        </p:blipFill>
        <p:spPr>
          <a:xfrm>
            <a:off x="2377440" y="5120640"/>
            <a:ext cx="407365" cy="502920"/>
          </a:xfrm>
          <a:prstGeom prst="rect">
            <a:avLst/>
          </a:prstGeom>
        </p:spPr>
      </p:pic>
      <p:sp>
        <p:nvSpPr>
          <p:cNvPr id="10" name="TextBox 9"/>
          <p:cNvSpPr txBox="1"/>
          <p:nvPr/>
        </p:nvSpPr>
        <p:spPr>
          <a:xfrm>
            <a:off x="292196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Flutter</a:t>
            </a:r>
          </a:p>
        </p:txBody>
      </p:sp>
      <p:pic>
        <p:nvPicPr>
          <p:cNvPr id="11" name="Picture 10" descr="Logo Dart"/>
          <p:cNvPicPr>
            <a:picLocks noChangeAspect="1"/>
          </p:cNvPicPr>
          <p:nvPr/>
        </p:nvPicPr>
        <p:blipFill>
          <a:blip r:embed="rId3"/>
          <a:stretch>
            <a:fillRect/>
          </a:stretch>
        </p:blipFill>
        <p:spPr>
          <a:xfrm>
            <a:off x="4293565" y="5120640"/>
            <a:ext cx="502920" cy="502920"/>
          </a:xfrm>
          <a:prstGeom prst="rect">
            <a:avLst/>
          </a:prstGeom>
        </p:spPr>
      </p:pic>
      <p:sp>
        <p:nvSpPr>
          <p:cNvPr id="12" name="TextBox 11"/>
          <p:cNvSpPr txBox="1"/>
          <p:nvPr/>
        </p:nvSpPr>
        <p:spPr>
          <a:xfrm>
            <a:off x="4933645"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Dart</a:t>
            </a:r>
          </a:p>
        </p:txBody>
      </p:sp>
      <p:pic>
        <p:nvPicPr>
          <p:cNvPr id="13" name="Picture 12" descr="Logo OpenCV"/>
          <p:cNvPicPr>
            <a:picLocks noChangeAspect="1"/>
          </p:cNvPicPr>
          <p:nvPr/>
        </p:nvPicPr>
        <p:blipFill>
          <a:blip r:embed="rId4"/>
          <a:stretch>
            <a:fillRect/>
          </a:stretch>
        </p:blipFill>
        <p:spPr>
          <a:xfrm>
            <a:off x="5939485" y="5120640"/>
            <a:ext cx="540774" cy="502920"/>
          </a:xfrm>
          <a:prstGeom prst="rect">
            <a:avLst/>
          </a:prstGeom>
        </p:spPr>
      </p:pic>
      <p:sp>
        <p:nvSpPr>
          <p:cNvPr id="14" name="TextBox 13"/>
          <p:cNvSpPr txBox="1"/>
          <p:nvPr/>
        </p:nvSpPr>
        <p:spPr>
          <a:xfrm>
            <a:off x="6617419" y="5120640"/>
            <a:ext cx="2926080" cy="502920"/>
          </a:xfrm>
          <a:prstGeom prst="rect">
            <a:avLst/>
          </a:prstGeom>
          <a:noFill/>
        </p:spPr>
        <p:txBody>
          <a:bodyPr wrap="square" lIns="0" rIns="0" tIns="0" bIns="0" anchor="ctr">
            <a:spAutoFit/>
          </a:bodyPr>
          <a:lstStyle/>
          <a:p>
            <a:pPr algn="l"/>
            <a:r>
              <a:rPr sz="1800" b="1" i="0">
                <a:solidFill>
                  <a:srgbClr val="1F3A5F"/>
                </a:solidFill>
                <a:latin typeface="Arial"/>
              </a:rPr>
              <a:t>OpenCV · opencv_dart</a:t>
            </a:r>
          </a:p>
        </p:txBody>
      </p:sp>
      <p:sp>
        <p:nvSpPr>
          <p:cNvPr id="15" name="TextBox 14"/>
          <p:cNvSpPr txBox="1"/>
          <p:nvPr/>
        </p:nvSpPr>
        <p:spPr>
          <a:xfrm>
            <a:off x="548640" y="5833872"/>
            <a:ext cx="11094415" cy="457200"/>
          </a:xfrm>
          <a:prstGeom prst="rect">
            <a:avLst/>
          </a:prstGeom>
          <a:noFill/>
        </p:spPr>
        <p:txBody>
          <a:bodyPr wrap="square" lIns="0" rIns="0" tIns="0" bIns="0" anchor="t">
            <a:spAutoFit/>
          </a:bodyPr>
          <a:lstStyle/>
          <a:p>
            <a:pPr algn="l"/>
            <a:r>
              <a:rPr sz="1600" b="1" i="0">
                <a:solidFill>
                  <a:srgbClr val="B84A12"/>
                </a:solidFill>
                <a:latin typeface="Arial"/>
              </a:rPr>
              <a:t>En orange : le critère qui élimine l'option. </a:t>
            </a:r>
            <a:r>
              <a:rPr sz="1600" b="0" i="0">
                <a:solidFill>
                  <a:srgbClr val="5B6B7A"/>
                </a:solidFill>
                <a:latin typeface="Arial"/>
              </a:rPr>
              <a:t>Vision/VisionKit (iOS) écarté aussi : deux chaînes de détection à maintenir.</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childTnLst>
                          </p:cTn>
                        </p:par>
                        <p:par>
                          <p:cTn id="12" fill="hold">
                            <p:stCondLst>
                              <p:cond delay="500"/>
                            </p:stCondLst>
                            <p:childTnLst>
                              <p:par>
                                <p:cTn id="13" presetID="10" presetClass="entr" presetSubtype="0" fill="hold" nodeType="afterEffect">
                                  <p:stCondLst>
                                    <p:cond delay="0"/>
                                  </p:stCondLst>
                                  <p:childTnLst>
                                    <p:set>
                                      <p:cBhvr>
                                        <p:cTn id="14" dur="1" fill="hold">
                                          <p:stCondLst>
                                            <p:cond delay="0"/>
                                          </p:stCondLst>
                                        </p:cTn>
                                        <p:tgtEl>
                                          <p:spTgt spid="9"/>
                                        </p:tgtEl>
                                        <p:attrNameLst>
                                          <p:attrName>style.visibility</p:attrName>
                                        </p:attrNameLst>
                                      </p:cBhvr>
                                      <p:to>
                                        <p:strVal val="visible"/>
                                      </p:to>
                                    </p:set>
                                    <p:animEffect transition="in" filter="fade">
                                      <p:cBhvr>
                                        <p:cTn id="15" dur="350"/>
                                        <p:tgtEl>
                                          <p:spTgt spid="9"/>
                                        </p:tgtEl>
                                      </p:cBhvr>
                                    </p:animEffect>
                                  </p:childTnLst>
                                </p:cTn>
                              </p:par>
                              <p:par>
                                <p:cTn id="16" presetID="10" presetClass="entr" presetSubtype="0" fill="hold" nodeType="with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350"/>
                                        <p:tgtEl>
                                          <p:spTgt spid="10"/>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3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35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par>
                                <p:cTn id="31" presetID="10"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350"/>
                                        <p:tgtEl>
                                          <p:spTgt spid="8"/>
                                        </p:tgtEl>
                                      </p:cBhvr>
                                    </p:animEffect>
                                  </p:childTnLst>
                                </p:cTn>
                              </p:par>
                            </p:childTnLst>
                          </p:cTn>
                        </p:par>
                        <p:par>
                          <p:cTn id="34" fill="hold">
                            <p:stCondLst>
                              <p:cond delay="750"/>
                            </p:stCondLst>
                            <p:childTnLst>
                              <p:par>
                                <p:cTn id="35" presetID="10" presetClass="entr" presetSubtype="0" fill="hold" nodeType="after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35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12" grpId="0"/>
      <p:bldP spid="14" grpId="0"/>
      <p:bldP spid="8" grpId="0"/>
      <p:bldP spid="15" grpId="0"/>
    </p:bld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6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domaine sans Flutter ni OpenCV rend la logique testable sans caméra</a:t>
            </a:r>
          </a:p>
        </p:txBody>
      </p:sp>
      <p:sp>
        <p:nvSpPr>
          <p:cNvPr id="7" name="TextBox 6"/>
          <p:cNvSpPr txBox="1"/>
          <p:nvPr/>
        </p:nvSpPr>
        <p:spPr>
          <a:xfrm>
            <a:off x="548640" y="1828800"/>
            <a:ext cx="5120640" cy="320040"/>
          </a:xfrm>
          <a:prstGeom prst="rect">
            <a:avLst/>
          </a:prstGeom>
          <a:noFill/>
        </p:spPr>
        <p:txBody>
          <a:bodyPr wrap="square" lIns="0" rIns="0" tIns="0" bIns="0" anchor="t">
            <a:spAutoFit/>
          </a:bodyPr>
          <a:lstStyle/>
          <a:p>
            <a:pPr algn="l"/>
            <a:r>
              <a:rPr sz="1300" b="1" i="0">
                <a:solidFill>
                  <a:srgbClr val="2E75B6"/>
                </a:solidFill>
                <a:latin typeface="Arial"/>
              </a:rPr>
              <a:t>UN MODULE TYPE (CLEAN ARCHITECTURE)</a:t>
            </a:r>
          </a:p>
        </p:txBody>
      </p:sp>
      <p:sp>
        <p:nvSpPr>
          <p:cNvPr id="8" name="Rectangle 7"/>
          <p:cNvSpPr/>
          <p:nvPr/>
        </p:nvSpPr>
        <p:spPr>
          <a:xfrm>
            <a:off x="548640" y="2286000"/>
            <a:ext cx="3840480" cy="868680"/>
          </a:xfrm>
          <a:prstGeom prst="rect">
            <a:avLst/>
          </a:prstGeom>
          <a:noFill/>
          <a:ln w="12700">
            <a:solidFill>
              <a:srgbClr val="CBD3DB"/>
            </a:solidFill>
          </a:ln>
        </p:spPr>
        <p:txBody>
          <a:bodyPr rtlCol="0" anchor="ctr"/>
          <a:lstStyle/>
          <a:p/>
        </p:txBody>
      </p:sp>
      <p:sp>
        <p:nvSpPr>
          <p:cNvPr id="9" name="TextBox 8"/>
          <p:cNvSpPr txBox="1"/>
          <p:nvPr/>
        </p:nvSpPr>
        <p:spPr>
          <a:xfrm>
            <a:off x="731520" y="237744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presentation</a:t>
            </a:r>
          </a:p>
        </p:txBody>
      </p:sp>
      <p:sp>
        <p:nvSpPr>
          <p:cNvPr id="10" name="TextBox 9"/>
          <p:cNvSpPr txBox="1"/>
          <p:nvPr/>
        </p:nvSpPr>
        <p:spPr>
          <a:xfrm>
            <a:off x="731520" y="2743200"/>
            <a:ext cx="3566160" cy="365760"/>
          </a:xfrm>
          <a:prstGeom prst="rect">
            <a:avLst/>
          </a:prstGeom>
          <a:noFill/>
        </p:spPr>
        <p:txBody>
          <a:bodyPr wrap="square" lIns="0" rIns="0" tIns="0" bIns="0" anchor="t">
            <a:spAutoFit/>
          </a:bodyPr>
          <a:lstStyle/>
          <a:p>
            <a:pPr algn="l"/>
            <a:r>
              <a:rPr sz="1600" b="0" i="0">
                <a:solidFill>
                  <a:srgbClr val="1B2530"/>
                </a:solidFill>
                <a:latin typeface="Arial"/>
              </a:rPr>
              <a:t>écrans, view-models (ChangeNotifier)</a:t>
            </a:r>
          </a:p>
        </p:txBody>
      </p:sp>
      <p:sp>
        <p:nvSpPr>
          <p:cNvPr id="11" name="Rectangle 10"/>
          <p:cNvSpPr/>
          <p:nvPr/>
        </p:nvSpPr>
        <p:spPr>
          <a:xfrm>
            <a:off x="548640" y="3520440"/>
            <a:ext cx="3840480" cy="868680"/>
          </a:xfrm>
          <a:prstGeom prst="rect">
            <a:avLst/>
          </a:prstGeom>
          <a:solidFill>
            <a:srgbClr val="EEF2F6"/>
          </a:solidFill>
          <a:ln w="25400">
            <a:solidFill>
              <a:srgbClr val="2E75B6"/>
            </a:solidFill>
          </a:ln>
        </p:spPr>
        <p:txBody>
          <a:bodyPr rtlCol="0" anchor="ctr"/>
          <a:lstStyle/>
          <a:p/>
        </p:txBody>
      </p:sp>
      <p:sp>
        <p:nvSpPr>
          <p:cNvPr id="12" name="TextBox 11"/>
          <p:cNvSpPr txBox="1"/>
          <p:nvPr/>
        </p:nvSpPr>
        <p:spPr>
          <a:xfrm>
            <a:off x="731520" y="361188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domain</a:t>
            </a:r>
          </a:p>
        </p:txBody>
      </p:sp>
      <p:sp>
        <p:nvSpPr>
          <p:cNvPr id="13" name="TextBox 12"/>
          <p:cNvSpPr txBox="1"/>
          <p:nvPr/>
        </p:nvSpPr>
        <p:spPr>
          <a:xfrm>
            <a:off x="731520" y="3977639"/>
            <a:ext cx="3566160" cy="365760"/>
          </a:xfrm>
          <a:prstGeom prst="rect">
            <a:avLst/>
          </a:prstGeom>
          <a:noFill/>
        </p:spPr>
        <p:txBody>
          <a:bodyPr wrap="square" lIns="0" rIns="0" tIns="0" bIns="0" anchor="t">
            <a:spAutoFit/>
          </a:bodyPr>
          <a:lstStyle/>
          <a:p>
            <a:pPr algn="l"/>
            <a:r>
              <a:rPr sz="1600" b="0" i="0">
                <a:solidFill>
                  <a:srgbClr val="1B2530"/>
                </a:solidFill>
                <a:latin typeface="Arial"/>
              </a:rPr>
              <a:t>entités et cas d'usage · Dart pur</a:t>
            </a:r>
          </a:p>
        </p:txBody>
      </p:sp>
      <p:sp>
        <p:nvSpPr>
          <p:cNvPr id="14" name="Rectangle 13"/>
          <p:cNvSpPr/>
          <p:nvPr/>
        </p:nvSpPr>
        <p:spPr>
          <a:xfrm>
            <a:off x="548640" y="4754880"/>
            <a:ext cx="3840480" cy="868680"/>
          </a:xfrm>
          <a:prstGeom prst="rect">
            <a:avLst/>
          </a:prstGeom>
          <a:noFill/>
          <a:ln w="12700">
            <a:solidFill>
              <a:srgbClr val="CBD3DB"/>
            </a:solidFill>
          </a:ln>
        </p:spPr>
        <p:txBody>
          <a:bodyPr rtlCol="0" anchor="ctr"/>
          <a:lstStyle/>
          <a:p/>
        </p:txBody>
      </p:sp>
      <p:sp>
        <p:nvSpPr>
          <p:cNvPr id="15" name="TextBox 14"/>
          <p:cNvSpPr txBox="1"/>
          <p:nvPr/>
        </p:nvSpPr>
        <p:spPr>
          <a:xfrm>
            <a:off x="731520" y="4846320"/>
            <a:ext cx="3566160" cy="365760"/>
          </a:xfrm>
          <a:prstGeom prst="rect">
            <a:avLst/>
          </a:prstGeom>
          <a:noFill/>
        </p:spPr>
        <p:txBody>
          <a:bodyPr wrap="square" lIns="0" rIns="0" tIns="0" bIns="0" anchor="t">
            <a:spAutoFit/>
          </a:bodyPr>
          <a:lstStyle/>
          <a:p>
            <a:pPr algn="l"/>
            <a:r>
              <a:rPr sz="1800" b="1" i="0">
                <a:solidFill>
                  <a:srgbClr val="1F3A5F"/>
                </a:solidFill>
                <a:latin typeface="Courier New"/>
              </a:rPr>
              <a:t>data</a:t>
            </a:r>
          </a:p>
        </p:txBody>
      </p:sp>
      <p:sp>
        <p:nvSpPr>
          <p:cNvPr id="16" name="TextBox 15"/>
          <p:cNvSpPr txBox="1"/>
          <p:nvPr/>
        </p:nvSpPr>
        <p:spPr>
          <a:xfrm>
            <a:off x="731520" y="5212080"/>
            <a:ext cx="3566160" cy="365760"/>
          </a:xfrm>
          <a:prstGeom prst="rect">
            <a:avLst/>
          </a:prstGeom>
          <a:noFill/>
        </p:spPr>
        <p:txBody>
          <a:bodyPr wrap="square" lIns="0" rIns="0" tIns="0" bIns="0" anchor="t">
            <a:spAutoFit/>
          </a:bodyPr>
          <a:lstStyle/>
          <a:p>
            <a:pPr algn="l"/>
            <a:r>
              <a:rPr sz="1600" b="0" i="0">
                <a:solidFill>
                  <a:srgbClr val="1B2530"/>
                </a:solidFill>
                <a:latin typeface="Arial"/>
              </a:rPr>
              <a:t>détecteurs OpenCV, services, dépôts</a:t>
            </a:r>
          </a:p>
        </p:txBody>
      </p:sp>
      <p:cxnSp>
        <p:nvCxnSpPr>
          <p:cNvPr id="17" name="Connector 16"/>
          <p:cNvCxnSpPr/>
          <p:nvPr/>
        </p:nvCxnSpPr>
        <p:spPr>
          <a:xfrm>
            <a:off x="2468880" y="3154680"/>
            <a:ext cx="0" cy="365760"/>
          </a:xfrm>
          <a:prstGeom prst="line">
            <a:avLst/>
          </a:prstGeom>
          <a:ln w="19050">
            <a:solidFill>
              <a:srgbClr val="1F3A5F"/>
            </a:solidFill>
            <a:tailEnd type="triangle" w="med" h="med"/>
          </a:ln>
        </p:spPr>
      </p:cxnSp>
      <p:sp>
        <p:nvSpPr>
          <p:cNvPr id="18" name="TextBox 17"/>
          <p:cNvSpPr txBox="1"/>
          <p:nvPr/>
        </p:nvSpPr>
        <p:spPr>
          <a:xfrm>
            <a:off x="2606040" y="3172968"/>
            <a:ext cx="1828800" cy="320040"/>
          </a:xfrm>
          <a:prstGeom prst="rect">
            <a:avLst/>
          </a:prstGeom>
          <a:noFill/>
        </p:spPr>
        <p:txBody>
          <a:bodyPr wrap="square" lIns="0" rIns="0" tIns="0" bIns="0" anchor="t">
            <a:spAutoFit/>
          </a:bodyPr>
          <a:lstStyle/>
          <a:p>
            <a:pPr algn="l"/>
            <a:r>
              <a:rPr sz="1400" b="0" i="0">
                <a:solidFill>
                  <a:srgbClr val="5B6B7A"/>
                </a:solidFill>
                <a:latin typeface="Arial"/>
              </a:rPr>
              <a:t>dépend de</a:t>
            </a:r>
          </a:p>
        </p:txBody>
      </p:sp>
      <p:cxnSp>
        <p:nvCxnSpPr>
          <p:cNvPr id="19" name="Connector 18"/>
          <p:cNvCxnSpPr/>
          <p:nvPr/>
        </p:nvCxnSpPr>
        <p:spPr>
          <a:xfrm flipV="1">
            <a:off x="2468880" y="4389120"/>
            <a:ext cx="0" cy="365760"/>
          </a:xfrm>
          <a:prstGeom prst="line">
            <a:avLst/>
          </a:prstGeom>
          <a:ln w="19050">
            <a:solidFill>
              <a:srgbClr val="1F3A5F"/>
            </a:solidFill>
            <a:tailEnd type="triangle" w="med" h="med"/>
          </a:ln>
        </p:spPr>
      </p:cxnSp>
      <p:sp>
        <p:nvSpPr>
          <p:cNvPr id="20" name="TextBox 19"/>
          <p:cNvSpPr txBox="1"/>
          <p:nvPr/>
        </p:nvSpPr>
        <p:spPr>
          <a:xfrm>
            <a:off x="2606040" y="4425696"/>
            <a:ext cx="1828800" cy="320040"/>
          </a:xfrm>
          <a:prstGeom prst="rect">
            <a:avLst/>
          </a:prstGeom>
          <a:noFill/>
        </p:spPr>
        <p:txBody>
          <a:bodyPr wrap="square" lIns="0" rIns="0" tIns="0" bIns="0" anchor="t">
            <a:spAutoFit/>
          </a:bodyPr>
          <a:lstStyle/>
          <a:p>
            <a:pPr algn="l"/>
            <a:r>
              <a:rPr sz="1400" b="0" i="0">
                <a:solidFill>
                  <a:srgbClr val="5B6B7A"/>
                </a:solidFill>
                <a:latin typeface="Arial"/>
              </a:rPr>
              <a:t>implémente</a:t>
            </a:r>
          </a:p>
        </p:txBody>
      </p:sp>
      <p:sp>
        <p:nvSpPr>
          <p:cNvPr id="21" name="TextBox 20"/>
          <p:cNvSpPr txBox="1"/>
          <p:nvPr/>
        </p:nvSpPr>
        <p:spPr>
          <a:xfrm>
            <a:off x="5257800" y="1828800"/>
            <a:ext cx="6400800" cy="320040"/>
          </a:xfrm>
          <a:prstGeom prst="rect">
            <a:avLst/>
          </a:prstGeom>
          <a:noFill/>
        </p:spPr>
        <p:txBody>
          <a:bodyPr wrap="square" lIns="0" rIns="0" tIns="0" bIns="0" anchor="t">
            <a:spAutoFit/>
          </a:bodyPr>
          <a:lstStyle/>
          <a:p>
            <a:pPr algn="l"/>
            <a:r>
              <a:rPr sz="1300" b="1" i="0">
                <a:solidFill>
                  <a:srgbClr val="2E75B6"/>
                </a:solidFill>
                <a:latin typeface="Arial"/>
              </a:rPr>
              <a:t>SEPT MODULES FEATURE-FIRST : COUCHES RÉELLEMENT PRÉSENTES</a:t>
            </a:r>
          </a:p>
        </p:txBody>
      </p:sp>
      <p:sp>
        <p:nvSpPr>
          <p:cNvPr id="22" name="TextBox 21"/>
          <p:cNvSpPr txBox="1"/>
          <p:nvPr/>
        </p:nvSpPr>
        <p:spPr>
          <a:xfrm>
            <a:off x="8119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présentation</a:t>
            </a:r>
          </a:p>
        </p:txBody>
      </p:sp>
      <p:sp>
        <p:nvSpPr>
          <p:cNvPr id="23" name="TextBox 22"/>
          <p:cNvSpPr txBox="1"/>
          <p:nvPr/>
        </p:nvSpPr>
        <p:spPr>
          <a:xfrm>
            <a:off x="926287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domaine</a:t>
            </a:r>
          </a:p>
        </p:txBody>
      </p:sp>
      <p:sp>
        <p:nvSpPr>
          <p:cNvPr id="24" name="TextBox 23"/>
          <p:cNvSpPr txBox="1"/>
          <p:nvPr/>
        </p:nvSpPr>
        <p:spPr>
          <a:xfrm>
            <a:off x="10314432" y="2240280"/>
            <a:ext cx="1133856" cy="274320"/>
          </a:xfrm>
          <a:prstGeom prst="rect">
            <a:avLst/>
          </a:prstGeom>
          <a:noFill/>
        </p:spPr>
        <p:txBody>
          <a:bodyPr wrap="square" lIns="0" rIns="0" tIns="0" bIns="0" anchor="t">
            <a:spAutoFit/>
          </a:bodyPr>
          <a:lstStyle/>
          <a:p>
            <a:pPr algn="ctr"/>
            <a:r>
              <a:rPr sz="1400" b="0" i="0">
                <a:solidFill>
                  <a:srgbClr val="5B6B7A"/>
                </a:solidFill>
                <a:latin typeface="Arial"/>
              </a:rPr>
              <a:t>données</a:t>
            </a:r>
          </a:p>
        </p:txBody>
      </p:sp>
      <p:sp>
        <p:nvSpPr>
          <p:cNvPr id="25" name="TextBox 24"/>
          <p:cNvSpPr txBox="1"/>
          <p:nvPr/>
        </p:nvSpPr>
        <p:spPr>
          <a:xfrm>
            <a:off x="5257800" y="2606040"/>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camera_capture</a:t>
            </a:r>
          </a:p>
        </p:txBody>
      </p:sp>
      <p:sp>
        <p:nvSpPr>
          <p:cNvPr id="26" name="Oval 25"/>
          <p:cNvSpPr/>
          <p:nvPr/>
        </p:nvSpPr>
        <p:spPr>
          <a:xfrm>
            <a:off x="8586216" y="2688336"/>
            <a:ext cx="201168" cy="201168"/>
          </a:xfrm>
          <a:prstGeom prst="ellipse">
            <a:avLst/>
          </a:prstGeom>
          <a:solidFill>
            <a:srgbClr val="1F3A5F"/>
          </a:solidFill>
          <a:ln>
            <a:noFill/>
          </a:ln>
        </p:spPr>
        <p:txBody>
          <a:bodyPr rtlCol="0" anchor="ctr"/>
          <a:lstStyle/>
          <a:p/>
        </p:txBody>
      </p:sp>
      <p:cxnSp>
        <p:nvCxnSpPr>
          <p:cNvPr id="27" name="Connector 26"/>
          <p:cNvCxnSpPr/>
          <p:nvPr/>
        </p:nvCxnSpPr>
        <p:spPr>
          <a:xfrm>
            <a:off x="9738360" y="2788920"/>
            <a:ext cx="182880" cy="0"/>
          </a:xfrm>
          <a:prstGeom prst="line">
            <a:avLst/>
          </a:prstGeom>
          <a:ln w="12700">
            <a:solidFill>
              <a:srgbClr val="CBD3DB"/>
            </a:solidFill>
          </a:ln>
        </p:spPr>
      </p:cxnSp>
      <p:cxnSp>
        <p:nvCxnSpPr>
          <p:cNvPr id="28" name="Connector 27"/>
          <p:cNvCxnSpPr/>
          <p:nvPr/>
        </p:nvCxnSpPr>
        <p:spPr>
          <a:xfrm>
            <a:off x="10789920" y="2788920"/>
            <a:ext cx="182880" cy="0"/>
          </a:xfrm>
          <a:prstGeom prst="line">
            <a:avLst/>
          </a:prstGeom>
          <a:ln w="12700">
            <a:solidFill>
              <a:srgbClr val="CBD3DB"/>
            </a:solidFill>
          </a:ln>
        </p:spPr>
      </p:cxnSp>
      <p:cxnSp>
        <p:nvCxnSpPr>
          <p:cNvPr id="29" name="Connector 28"/>
          <p:cNvCxnSpPr/>
          <p:nvPr/>
        </p:nvCxnSpPr>
        <p:spPr>
          <a:xfrm>
            <a:off x="5257800" y="3008376"/>
            <a:ext cx="6172200" cy="0"/>
          </a:xfrm>
          <a:prstGeom prst="line">
            <a:avLst/>
          </a:prstGeom>
          <a:ln w="6350">
            <a:solidFill>
              <a:srgbClr val="CBD3DB"/>
            </a:solidFill>
          </a:ln>
        </p:spPr>
      </p:cxnSp>
      <p:sp>
        <p:nvSpPr>
          <p:cNvPr id="30" name="TextBox 29"/>
          <p:cNvSpPr txBox="1"/>
          <p:nvPr/>
        </p:nvSpPr>
        <p:spPr>
          <a:xfrm>
            <a:off x="5257800" y="303580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document_detection</a:t>
            </a:r>
          </a:p>
        </p:txBody>
      </p:sp>
      <p:sp>
        <p:nvSpPr>
          <p:cNvPr id="31" name="Oval 30"/>
          <p:cNvSpPr/>
          <p:nvPr/>
        </p:nvSpPr>
        <p:spPr>
          <a:xfrm>
            <a:off x="8586216" y="3118104"/>
            <a:ext cx="201168" cy="201168"/>
          </a:xfrm>
          <a:prstGeom prst="ellipse">
            <a:avLst/>
          </a:prstGeom>
          <a:solidFill>
            <a:srgbClr val="1F3A5F"/>
          </a:solidFill>
          <a:ln>
            <a:noFill/>
          </a:ln>
        </p:spPr>
        <p:txBody>
          <a:bodyPr rtlCol="0" anchor="ctr"/>
          <a:lstStyle/>
          <a:p/>
        </p:txBody>
      </p:sp>
      <p:sp>
        <p:nvSpPr>
          <p:cNvPr id="32" name="Oval 31"/>
          <p:cNvSpPr/>
          <p:nvPr/>
        </p:nvSpPr>
        <p:spPr>
          <a:xfrm>
            <a:off x="9729216" y="3118104"/>
            <a:ext cx="201168" cy="201168"/>
          </a:xfrm>
          <a:prstGeom prst="ellipse">
            <a:avLst/>
          </a:prstGeom>
          <a:solidFill>
            <a:srgbClr val="2E75B6"/>
          </a:solidFill>
          <a:ln>
            <a:noFill/>
          </a:ln>
        </p:spPr>
        <p:txBody>
          <a:bodyPr rtlCol="0" anchor="ctr"/>
          <a:lstStyle/>
          <a:p/>
        </p:txBody>
      </p:sp>
      <p:sp>
        <p:nvSpPr>
          <p:cNvPr id="33" name="Oval 32"/>
          <p:cNvSpPr/>
          <p:nvPr/>
        </p:nvSpPr>
        <p:spPr>
          <a:xfrm>
            <a:off x="10780776" y="3118104"/>
            <a:ext cx="201168" cy="201168"/>
          </a:xfrm>
          <a:prstGeom prst="ellipse">
            <a:avLst/>
          </a:prstGeom>
          <a:solidFill>
            <a:srgbClr val="1F3A5F"/>
          </a:solidFill>
          <a:ln>
            <a:noFill/>
          </a:ln>
        </p:spPr>
        <p:txBody>
          <a:bodyPr rtlCol="0" anchor="ctr"/>
          <a:lstStyle/>
          <a:p/>
        </p:txBody>
      </p:sp>
      <p:cxnSp>
        <p:nvCxnSpPr>
          <p:cNvPr id="34" name="Connector 33"/>
          <p:cNvCxnSpPr/>
          <p:nvPr/>
        </p:nvCxnSpPr>
        <p:spPr>
          <a:xfrm>
            <a:off x="5257800" y="3438144"/>
            <a:ext cx="6172200" cy="0"/>
          </a:xfrm>
          <a:prstGeom prst="line">
            <a:avLst/>
          </a:prstGeom>
          <a:ln w="6350">
            <a:solidFill>
              <a:srgbClr val="CBD3DB"/>
            </a:solidFill>
          </a:ln>
        </p:spPr>
      </p:cxnSp>
      <p:sp>
        <p:nvSpPr>
          <p:cNvPr id="35" name="TextBox 34"/>
          <p:cNvSpPr txBox="1"/>
          <p:nvPr/>
        </p:nvSpPr>
        <p:spPr>
          <a:xfrm>
            <a:off x="5257800" y="3465576"/>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image_quality</a:t>
            </a:r>
          </a:p>
        </p:txBody>
      </p:sp>
      <p:cxnSp>
        <p:nvCxnSpPr>
          <p:cNvPr id="36" name="Connector 35"/>
          <p:cNvCxnSpPr/>
          <p:nvPr/>
        </p:nvCxnSpPr>
        <p:spPr>
          <a:xfrm>
            <a:off x="8595360" y="3648456"/>
            <a:ext cx="182880" cy="0"/>
          </a:xfrm>
          <a:prstGeom prst="line">
            <a:avLst/>
          </a:prstGeom>
          <a:ln w="12700">
            <a:solidFill>
              <a:srgbClr val="CBD3DB"/>
            </a:solidFill>
          </a:ln>
        </p:spPr>
      </p:cxnSp>
      <p:cxnSp>
        <p:nvCxnSpPr>
          <p:cNvPr id="37" name="Connector 36"/>
          <p:cNvCxnSpPr/>
          <p:nvPr/>
        </p:nvCxnSpPr>
        <p:spPr>
          <a:xfrm>
            <a:off x="9738360" y="3648456"/>
            <a:ext cx="182880" cy="0"/>
          </a:xfrm>
          <a:prstGeom prst="line">
            <a:avLst/>
          </a:prstGeom>
          <a:ln w="12700">
            <a:solidFill>
              <a:srgbClr val="CBD3DB"/>
            </a:solidFill>
          </a:ln>
        </p:spPr>
      </p:cxnSp>
      <p:sp>
        <p:nvSpPr>
          <p:cNvPr id="38" name="Oval 37"/>
          <p:cNvSpPr/>
          <p:nvPr/>
        </p:nvSpPr>
        <p:spPr>
          <a:xfrm>
            <a:off x="10780776" y="3547872"/>
            <a:ext cx="201168" cy="201168"/>
          </a:xfrm>
          <a:prstGeom prst="ellipse">
            <a:avLst/>
          </a:prstGeom>
          <a:solidFill>
            <a:srgbClr val="1F3A5F"/>
          </a:solidFill>
          <a:ln>
            <a:noFill/>
          </a:ln>
        </p:spPr>
        <p:txBody>
          <a:bodyPr rtlCol="0" anchor="ctr"/>
          <a:lstStyle/>
          <a:p/>
        </p:txBody>
      </p:sp>
      <p:cxnSp>
        <p:nvCxnSpPr>
          <p:cNvPr id="39" name="Connector 38"/>
          <p:cNvCxnSpPr/>
          <p:nvPr/>
        </p:nvCxnSpPr>
        <p:spPr>
          <a:xfrm>
            <a:off x="5257800" y="3867912"/>
            <a:ext cx="6172200" cy="0"/>
          </a:xfrm>
          <a:prstGeom prst="line">
            <a:avLst/>
          </a:prstGeom>
          <a:ln w="6350">
            <a:solidFill>
              <a:srgbClr val="CBD3DB"/>
            </a:solidFill>
          </a:ln>
        </p:spPr>
      </p:cxnSp>
      <p:sp>
        <p:nvSpPr>
          <p:cNvPr id="40" name="TextBox 39"/>
          <p:cNvSpPr txBox="1"/>
          <p:nvPr/>
        </p:nvSpPr>
        <p:spPr>
          <a:xfrm>
            <a:off x="5257800" y="3895344"/>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autocapture</a:t>
            </a:r>
          </a:p>
        </p:txBody>
      </p:sp>
      <p:sp>
        <p:nvSpPr>
          <p:cNvPr id="41" name="Oval 40"/>
          <p:cNvSpPr/>
          <p:nvPr/>
        </p:nvSpPr>
        <p:spPr>
          <a:xfrm>
            <a:off x="8586216" y="3977639"/>
            <a:ext cx="201168" cy="201168"/>
          </a:xfrm>
          <a:prstGeom prst="ellipse">
            <a:avLst/>
          </a:prstGeom>
          <a:solidFill>
            <a:srgbClr val="1F3A5F"/>
          </a:solidFill>
          <a:ln>
            <a:noFill/>
          </a:ln>
        </p:spPr>
        <p:txBody>
          <a:bodyPr rtlCol="0" anchor="ctr"/>
          <a:lstStyle/>
          <a:p/>
        </p:txBody>
      </p:sp>
      <p:sp>
        <p:nvSpPr>
          <p:cNvPr id="42" name="Oval 41"/>
          <p:cNvSpPr/>
          <p:nvPr/>
        </p:nvSpPr>
        <p:spPr>
          <a:xfrm>
            <a:off x="9729216" y="3977639"/>
            <a:ext cx="201168" cy="201168"/>
          </a:xfrm>
          <a:prstGeom prst="ellipse">
            <a:avLst/>
          </a:prstGeom>
          <a:solidFill>
            <a:srgbClr val="2E75B6"/>
          </a:solidFill>
          <a:ln>
            <a:noFill/>
          </a:ln>
        </p:spPr>
        <p:txBody>
          <a:bodyPr rtlCol="0" anchor="ctr"/>
          <a:lstStyle/>
          <a:p/>
        </p:txBody>
      </p:sp>
      <p:cxnSp>
        <p:nvCxnSpPr>
          <p:cNvPr id="43" name="Connector 42"/>
          <p:cNvCxnSpPr/>
          <p:nvPr/>
        </p:nvCxnSpPr>
        <p:spPr>
          <a:xfrm>
            <a:off x="10789920" y="4078224"/>
            <a:ext cx="182880" cy="0"/>
          </a:xfrm>
          <a:prstGeom prst="line">
            <a:avLst/>
          </a:prstGeom>
          <a:ln w="12700">
            <a:solidFill>
              <a:srgbClr val="CBD3DB"/>
            </a:solidFill>
          </a:ln>
        </p:spPr>
      </p:cxnSp>
      <p:cxnSp>
        <p:nvCxnSpPr>
          <p:cNvPr id="44" name="Connector 43"/>
          <p:cNvCxnSpPr/>
          <p:nvPr/>
        </p:nvCxnSpPr>
        <p:spPr>
          <a:xfrm>
            <a:off x="5257800" y="4297680"/>
            <a:ext cx="6172200" cy="0"/>
          </a:xfrm>
          <a:prstGeom prst="line">
            <a:avLst/>
          </a:prstGeom>
          <a:ln w="6350">
            <a:solidFill>
              <a:srgbClr val="CBD3DB"/>
            </a:solidFill>
          </a:ln>
        </p:spPr>
      </p:cxnSp>
      <p:sp>
        <p:nvSpPr>
          <p:cNvPr id="45" name="TextBox 44"/>
          <p:cNvSpPr txBox="1"/>
          <p:nvPr/>
        </p:nvSpPr>
        <p:spPr>
          <a:xfrm>
            <a:off x="5257800" y="4325112"/>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image_postprocessing</a:t>
            </a:r>
          </a:p>
        </p:txBody>
      </p:sp>
      <p:sp>
        <p:nvSpPr>
          <p:cNvPr id="46" name="Oval 45"/>
          <p:cNvSpPr/>
          <p:nvPr/>
        </p:nvSpPr>
        <p:spPr>
          <a:xfrm>
            <a:off x="8586216" y="4407408"/>
            <a:ext cx="201168" cy="201168"/>
          </a:xfrm>
          <a:prstGeom prst="ellipse">
            <a:avLst/>
          </a:prstGeom>
          <a:solidFill>
            <a:srgbClr val="1F3A5F"/>
          </a:solidFill>
          <a:ln>
            <a:noFill/>
          </a:ln>
        </p:spPr>
        <p:txBody>
          <a:bodyPr rtlCol="0" anchor="ctr"/>
          <a:lstStyle/>
          <a:p/>
        </p:txBody>
      </p:sp>
      <p:sp>
        <p:nvSpPr>
          <p:cNvPr id="47" name="Oval 46"/>
          <p:cNvSpPr/>
          <p:nvPr/>
        </p:nvSpPr>
        <p:spPr>
          <a:xfrm>
            <a:off x="9729216" y="4407408"/>
            <a:ext cx="201168" cy="201168"/>
          </a:xfrm>
          <a:prstGeom prst="ellipse">
            <a:avLst/>
          </a:prstGeom>
          <a:solidFill>
            <a:srgbClr val="2E75B6"/>
          </a:solidFill>
          <a:ln>
            <a:noFill/>
          </a:ln>
        </p:spPr>
        <p:txBody>
          <a:bodyPr rtlCol="0" anchor="ctr"/>
          <a:lstStyle/>
          <a:p/>
        </p:txBody>
      </p:sp>
      <p:sp>
        <p:nvSpPr>
          <p:cNvPr id="48" name="Oval 47"/>
          <p:cNvSpPr/>
          <p:nvPr/>
        </p:nvSpPr>
        <p:spPr>
          <a:xfrm>
            <a:off x="10780776" y="4407408"/>
            <a:ext cx="201168" cy="201168"/>
          </a:xfrm>
          <a:prstGeom prst="ellipse">
            <a:avLst/>
          </a:prstGeom>
          <a:solidFill>
            <a:srgbClr val="1F3A5F"/>
          </a:solidFill>
          <a:ln>
            <a:noFill/>
          </a:ln>
        </p:spPr>
        <p:txBody>
          <a:bodyPr rtlCol="0" anchor="ctr"/>
          <a:lstStyle/>
          <a:p/>
        </p:txBody>
      </p:sp>
      <p:cxnSp>
        <p:nvCxnSpPr>
          <p:cNvPr id="49" name="Connector 48"/>
          <p:cNvCxnSpPr/>
          <p:nvPr/>
        </p:nvCxnSpPr>
        <p:spPr>
          <a:xfrm>
            <a:off x="5257800" y="4727448"/>
            <a:ext cx="6172200" cy="0"/>
          </a:xfrm>
          <a:prstGeom prst="line">
            <a:avLst/>
          </a:prstGeom>
          <a:ln w="6350">
            <a:solidFill>
              <a:srgbClr val="CBD3DB"/>
            </a:solidFill>
          </a:ln>
        </p:spPr>
      </p:cxnSp>
      <p:sp>
        <p:nvSpPr>
          <p:cNvPr id="50" name="TextBox 49"/>
          <p:cNvSpPr txBox="1"/>
          <p:nvPr/>
        </p:nvSpPr>
        <p:spPr>
          <a:xfrm>
            <a:off x="5257800" y="4754879"/>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result_preview</a:t>
            </a:r>
          </a:p>
        </p:txBody>
      </p:sp>
      <p:sp>
        <p:nvSpPr>
          <p:cNvPr id="51" name="Oval 50"/>
          <p:cNvSpPr/>
          <p:nvPr/>
        </p:nvSpPr>
        <p:spPr>
          <a:xfrm>
            <a:off x="8586216" y="4837175"/>
            <a:ext cx="201168" cy="201168"/>
          </a:xfrm>
          <a:prstGeom prst="ellipse">
            <a:avLst/>
          </a:prstGeom>
          <a:solidFill>
            <a:srgbClr val="1F3A5F"/>
          </a:solidFill>
          <a:ln>
            <a:noFill/>
          </a:ln>
        </p:spPr>
        <p:txBody>
          <a:bodyPr rtlCol="0" anchor="ctr"/>
          <a:lstStyle/>
          <a:p/>
        </p:txBody>
      </p:sp>
      <p:sp>
        <p:nvSpPr>
          <p:cNvPr id="52" name="Oval 51"/>
          <p:cNvSpPr/>
          <p:nvPr/>
        </p:nvSpPr>
        <p:spPr>
          <a:xfrm>
            <a:off x="9729216" y="4837175"/>
            <a:ext cx="201168" cy="201168"/>
          </a:xfrm>
          <a:prstGeom prst="ellipse">
            <a:avLst/>
          </a:prstGeom>
          <a:solidFill>
            <a:srgbClr val="2E75B6"/>
          </a:solidFill>
          <a:ln>
            <a:noFill/>
          </a:ln>
        </p:spPr>
        <p:txBody>
          <a:bodyPr rtlCol="0" anchor="ctr"/>
          <a:lstStyle/>
          <a:p/>
        </p:txBody>
      </p:sp>
      <p:cxnSp>
        <p:nvCxnSpPr>
          <p:cNvPr id="53" name="Connector 52"/>
          <p:cNvCxnSpPr/>
          <p:nvPr/>
        </p:nvCxnSpPr>
        <p:spPr>
          <a:xfrm>
            <a:off x="10789920" y="4937759"/>
            <a:ext cx="182880" cy="0"/>
          </a:xfrm>
          <a:prstGeom prst="line">
            <a:avLst/>
          </a:prstGeom>
          <a:ln w="12700">
            <a:solidFill>
              <a:srgbClr val="CBD3DB"/>
            </a:solidFill>
          </a:ln>
        </p:spPr>
      </p:cxnSp>
      <p:cxnSp>
        <p:nvCxnSpPr>
          <p:cNvPr id="54" name="Connector 53"/>
          <p:cNvCxnSpPr/>
          <p:nvPr/>
        </p:nvCxnSpPr>
        <p:spPr>
          <a:xfrm>
            <a:off x="5257800" y="5157216"/>
            <a:ext cx="6172200" cy="0"/>
          </a:xfrm>
          <a:prstGeom prst="line">
            <a:avLst/>
          </a:prstGeom>
          <a:ln w="6350">
            <a:solidFill>
              <a:srgbClr val="CBD3DB"/>
            </a:solidFill>
          </a:ln>
        </p:spPr>
      </p:cxnSp>
      <p:sp>
        <p:nvSpPr>
          <p:cNvPr id="55" name="TextBox 54"/>
          <p:cNvSpPr txBox="1"/>
          <p:nvPr/>
        </p:nvSpPr>
        <p:spPr>
          <a:xfrm>
            <a:off x="5257800" y="5184648"/>
            <a:ext cx="3291840" cy="365760"/>
          </a:xfrm>
          <a:prstGeom prst="rect">
            <a:avLst/>
          </a:prstGeom>
          <a:noFill/>
        </p:spPr>
        <p:txBody>
          <a:bodyPr wrap="square" lIns="0" rIns="0" tIns="0" bIns="0" anchor="ctr">
            <a:spAutoFit/>
          </a:bodyPr>
          <a:lstStyle/>
          <a:p>
            <a:pPr algn="l"/>
            <a:r>
              <a:rPr sz="1600" b="0" i="0">
                <a:solidFill>
                  <a:srgbClr val="1B2530"/>
                </a:solidFill>
                <a:latin typeface="Courier New"/>
              </a:rPr>
              <a:t>capture_history</a:t>
            </a:r>
          </a:p>
        </p:txBody>
      </p:sp>
      <p:sp>
        <p:nvSpPr>
          <p:cNvPr id="56" name="Oval 55"/>
          <p:cNvSpPr/>
          <p:nvPr/>
        </p:nvSpPr>
        <p:spPr>
          <a:xfrm>
            <a:off x="8586216" y="5266944"/>
            <a:ext cx="201168" cy="201168"/>
          </a:xfrm>
          <a:prstGeom prst="ellipse">
            <a:avLst/>
          </a:prstGeom>
          <a:solidFill>
            <a:srgbClr val="1F3A5F"/>
          </a:solidFill>
          <a:ln>
            <a:noFill/>
          </a:ln>
        </p:spPr>
        <p:txBody>
          <a:bodyPr rtlCol="0" anchor="ctr"/>
          <a:lstStyle/>
          <a:p/>
        </p:txBody>
      </p:sp>
      <p:cxnSp>
        <p:nvCxnSpPr>
          <p:cNvPr id="57" name="Connector 56"/>
          <p:cNvCxnSpPr/>
          <p:nvPr/>
        </p:nvCxnSpPr>
        <p:spPr>
          <a:xfrm>
            <a:off x="9738360" y="5367528"/>
            <a:ext cx="182880" cy="0"/>
          </a:xfrm>
          <a:prstGeom prst="line">
            <a:avLst/>
          </a:prstGeom>
          <a:ln w="12700">
            <a:solidFill>
              <a:srgbClr val="CBD3DB"/>
            </a:solidFill>
          </a:ln>
        </p:spPr>
      </p:cxnSp>
      <p:cxnSp>
        <p:nvCxnSpPr>
          <p:cNvPr id="58" name="Connector 57"/>
          <p:cNvCxnSpPr/>
          <p:nvPr/>
        </p:nvCxnSpPr>
        <p:spPr>
          <a:xfrm>
            <a:off x="10789920" y="5367528"/>
            <a:ext cx="182880" cy="0"/>
          </a:xfrm>
          <a:prstGeom prst="line">
            <a:avLst/>
          </a:prstGeom>
          <a:ln w="12700">
            <a:solidFill>
              <a:srgbClr val="CBD3DB"/>
            </a:solidFill>
          </a:ln>
        </p:spPr>
      </p:cxnSp>
      <p:cxnSp>
        <p:nvCxnSpPr>
          <p:cNvPr id="59" name="Connector 58"/>
          <p:cNvCxnSpPr/>
          <p:nvPr/>
        </p:nvCxnSpPr>
        <p:spPr>
          <a:xfrm>
            <a:off x="5257800" y="5586984"/>
            <a:ext cx="6172200" cy="0"/>
          </a:xfrm>
          <a:prstGeom prst="line">
            <a:avLst/>
          </a:prstGeom>
          <a:ln w="6350">
            <a:solidFill>
              <a:srgbClr val="CBD3DB"/>
            </a:solidFill>
          </a:ln>
        </p:spPr>
      </p:cxnSp>
      <p:sp>
        <p:nvSpPr>
          <p:cNvPr id="60" name="TextBox 59"/>
          <p:cNvSpPr txBox="1"/>
          <p:nvPr/>
        </p:nvSpPr>
        <p:spPr>
          <a:xfrm>
            <a:off x="5257800" y="5669280"/>
            <a:ext cx="6400800" cy="548640"/>
          </a:xfrm>
          <a:prstGeom prst="rect">
            <a:avLst/>
          </a:prstGeom>
          <a:noFill/>
        </p:spPr>
        <p:txBody>
          <a:bodyPr wrap="square" lIns="0" rIns="0" tIns="0" bIns="0" anchor="t">
            <a:spAutoFit/>
          </a:bodyPr>
          <a:lstStyle/>
          <a:p>
            <a:pPr algn="l"/>
            <a:r>
              <a:rPr sz="1400" b="1" i="0">
                <a:solidFill>
                  <a:srgbClr val="1F3A5F"/>
                </a:solidFill>
                <a:latin typeface="Arial"/>
              </a:rPr>
              <a:t>+ transverses : </a:t>
            </a:r>
            <a:r>
              <a:rPr sz="1400" b="0" i="0">
                <a:solidFill>
                  <a:srgbClr val="5B6B7A"/>
                </a:solidFill>
                <a:latin typeface="Courier New"/>
              </a:rPr>
              <a:t>core/services</a:t>
            </a:r>
            <a:r>
              <a:rPr sz="1400" b="0" i="0">
                <a:solidFill>
                  <a:srgbClr val="5B6B7A"/>
                </a:solidFill>
                <a:latin typeface="Arial"/>
              </a:rPr>
              <a:t> (caméra, cascade, stockage) et </a:t>
            </a:r>
            <a:r>
              <a:rPr sz="1400" b="0" i="0">
                <a:solidFill>
                  <a:srgbClr val="5B6B7A"/>
                </a:solidFill>
                <a:latin typeface="Courier New"/>
              </a:rPr>
              <a:t>shared/utils</a:t>
            </a:r>
            <a:r>
              <a:rPr sz="1400" b="0" i="0">
                <a:solidFill>
                  <a:srgbClr val="5B6B7A"/>
                </a:solidFill>
                <a:latin typeface="Arial"/>
              </a:rPr>
              <a:t> (conversion d'image, stabilisation)</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21"/>
                                        </p:tgtEl>
                                        <p:attrNameLst>
                                          <p:attrName>style.visibility</p:attrName>
                                        </p:attrNameLst>
                                      </p:cBhvr>
                                      <p:to>
                                        <p:strVal val="visible"/>
                                      </p:to>
                                    </p:set>
                                    <p:animEffect transition="in" filter="fade">
                                      <p:cBhvr>
                                        <p:cTn id="14" dur="350"/>
                                        <p:tgtEl>
                                          <p:spTgt spid="21"/>
                                        </p:tgtEl>
                                      </p:cBhvr>
                                    </p:animEffect>
                                  </p:childTnLst>
                                </p:cTn>
                              </p:par>
                            </p:childTnLst>
                          </p:cTn>
                        </p:par>
                        <p:par>
                          <p:cTn id="15" fill="hold">
                            <p:stCondLst>
                              <p:cond delay="500"/>
                            </p:stCondLst>
                            <p:childTnLst>
                              <p:par>
                                <p:cTn id="16" presetID="10" presetClass="entr" presetSubtype="0" fill="hold" nodeType="after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350"/>
                                        <p:tgtEl>
                                          <p:spTgt spid="22"/>
                                        </p:tgtEl>
                                      </p:cBhvr>
                                    </p:animEffect>
                                  </p:childTnLst>
                                </p:cTn>
                              </p:par>
                              <p:par>
                                <p:cTn id="19" presetID="10" presetClass="entr" presetSubtype="0" fill="hold" nodeType="withEffect">
                                  <p:stCondLst>
                                    <p:cond delay="0"/>
                                  </p:stCondLst>
                                  <p:childTnLst>
                                    <p:set>
                                      <p:cBhvr>
                                        <p:cTn id="20" dur="1" fill="hold">
                                          <p:stCondLst>
                                            <p:cond delay="0"/>
                                          </p:stCondLst>
                                        </p:cTn>
                                        <p:tgtEl>
                                          <p:spTgt spid="23"/>
                                        </p:tgtEl>
                                        <p:attrNameLst>
                                          <p:attrName>style.visibility</p:attrName>
                                        </p:attrNameLst>
                                      </p:cBhvr>
                                      <p:to>
                                        <p:strVal val="visible"/>
                                      </p:to>
                                    </p:set>
                                    <p:animEffect transition="in" filter="fade">
                                      <p:cBhvr>
                                        <p:cTn id="21" dur="350"/>
                                        <p:tgtEl>
                                          <p:spTgt spid="23"/>
                                        </p:tgtEl>
                                      </p:cBhvr>
                                    </p:animEffect>
                                  </p:childTnLst>
                                </p:cTn>
                              </p:par>
                              <p:par>
                                <p:cTn id="22" presetID="10" presetClass="entr" presetSubtype="0" fill="hold" nodeType="withEffect">
                                  <p:stCondLst>
                                    <p:cond delay="0"/>
                                  </p:stCondLst>
                                  <p:childTnLst>
                                    <p:set>
                                      <p:cBhvr>
                                        <p:cTn id="23" dur="1" fill="hold">
                                          <p:stCondLst>
                                            <p:cond delay="0"/>
                                          </p:stCondLst>
                                        </p:cTn>
                                        <p:tgtEl>
                                          <p:spTgt spid="24"/>
                                        </p:tgtEl>
                                        <p:attrNameLst>
                                          <p:attrName>style.visibility</p:attrName>
                                        </p:attrNameLst>
                                      </p:cBhvr>
                                      <p:to>
                                        <p:strVal val="visible"/>
                                      </p:to>
                                    </p:set>
                                    <p:animEffect transition="in" filter="fade">
                                      <p:cBhvr>
                                        <p:cTn id="24" dur="350"/>
                                        <p:tgtEl>
                                          <p:spTgt spid="24"/>
                                        </p:tgtEl>
                                      </p:cBhvr>
                                    </p:animEffect>
                                  </p:childTnLst>
                                </p:cTn>
                              </p:par>
                              <p:par>
                                <p:cTn id="25" presetID="10" presetClass="entr" presetSubtype="0" fill="hold" nodeType="withEffect">
                                  <p:stCondLst>
                                    <p:cond delay="0"/>
                                  </p:stCondLst>
                                  <p:childTnLst>
                                    <p:set>
                                      <p:cBhvr>
                                        <p:cTn id="26" dur="1" fill="hold">
                                          <p:stCondLst>
                                            <p:cond delay="0"/>
                                          </p:stCondLst>
                                        </p:cTn>
                                        <p:tgtEl>
                                          <p:spTgt spid="8"/>
                                        </p:tgtEl>
                                        <p:attrNameLst>
                                          <p:attrName>style.visibility</p:attrName>
                                        </p:attrNameLst>
                                      </p:cBhvr>
                                      <p:to>
                                        <p:strVal val="visible"/>
                                      </p:to>
                                    </p:set>
                                    <p:animEffect transition="in" filter="fade">
                                      <p:cBhvr>
                                        <p:cTn id="27" dur="350"/>
                                        <p:tgtEl>
                                          <p:spTgt spid="8"/>
                                        </p:tgtEl>
                                      </p:cBhvr>
                                    </p:animEffect>
                                  </p:childTnLst>
                                </p:cTn>
                              </p:par>
                              <p:par>
                                <p:cTn id="28" presetID="10" presetClass="entr" presetSubtype="0" fill="hold" nodeType="with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350"/>
                                        <p:tgtEl>
                                          <p:spTgt spid="9"/>
                                        </p:tgtEl>
                                      </p:cBhvr>
                                    </p:animEffect>
                                  </p:childTnLst>
                                </p:cTn>
                              </p:par>
                              <p:par>
                                <p:cTn id="31" presetID="10" presetClass="entr" presetSubtype="0" fill="hold" nodeType="withEffect">
                                  <p:stCondLst>
                                    <p:cond delay="0"/>
                                  </p:stCondLst>
                                  <p:childTnLst>
                                    <p:set>
                                      <p:cBhvr>
                                        <p:cTn id="32" dur="1" fill="hold">
                                          <p:stCondLst>
                                            <p:cond delay="0"/>
                                          </p:stCondLst>
                                        </p:cTn>
                                        <p:tgtEl>
                                          <p:spTgt spid="10"/>
                                        </p:tgtEl>
                                        <p:attrNameLst>
                                          <p:attrName>style.visibility</p:attrName>
                                        </p:attrNameLst>
                                      </p:cBhvr>
                                      <p:to>
                                        <p:strVal val="visible"/>
                                      </p:to>
                                    </p:set>
                                    <p:animEffect transition="in" filter="fade">
                                      <p:cBhvr>
                                        <p:cTn id="33" dur="350"/>
                                        <p:tgtEl>
                                          <p:spTgt spid="10"/>
                                        </p:tgtEl>
                                      </p:cBhvr>
                                    </p:animEffect>
                                  </p:childTnLst>
                                </p:cTn>
                              </p:par>
                            </p:childTnLst>
                          </p:cTn>
                        </p:par>
                        <p:par>
                          <p:cTn id="34" fill="hold">
                            <p:stCondLst>
                              <p:cond delay="750"/>
                            </p:stCondLst>
                            <p:childTnLst>
                              <p:par>
                                <p:cTn id="35" presetID="10" presetClass="entr" presetSubtype="0" fill="hold" nodeType="after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350"/>
                                        <p:tgtEl>
                                          <p:spTgt spid="25"/>
                                        </p:tgtEl>
                                      </p:cBhvr>
                                    </p:animEffect>
                                  </p:childTnLst>
                                </p:cTn>
                              </p:par>
                              <p:par>
                                <p:cTn id="38" presetID="10" presetClass="entr" presetSubtype="0" fill="hold"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350"/>
                                        <p:tgtEl>
                                          <p:spTgt spid="26"/>
                                        </p:tgtEl>
                                      </p:cBhvr>
                                    </p:animEffect>
                                  </p:childTnLst>
                                </p:cTn>
                              </p:par>
                              <p:par>
                                <p:cTn id="41" presetID="10" presetClass="entr" presetSubtype="0" fill="hold"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350"/>
                                        <p:tgtEl>
                                          <p:spTgt spid="27"/>
                                        </p:tgtEl>
                                      </p:cBhvr>
                                    </p:animEffect>
                                  </p:childTnLst>
                                </p:cTn>
                              </p:par>
                              <p:par>
                                <p:cTn id="44" presetID="10" presetClass="entr" presetSubtype="0" fill="hold"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350"/>
                                        <p:tgtEl>
                                          <p:spTgt spid="28"/>
                                        </p:tgtEl>
                                      </p:cBhvr>
                                    </p:animEffect>
                                  </p:childTnLst>
                                </p:cTn>
                              </p:par>
                              <p:par>
                                <p:cTn id="47" presetID="10" presetClass="entr" presetSubtype="0" fill="hold" nodeType="withEffect">
                                  <p:stCondLst>
                                    <p:cond delay="0"/>
                                  </p:stCondLst>
                                  <p:childTnLst>
                                    <p:set>
                                      <p:cBhvr>
                                        <p:cTn id="48" dur="1" fill="hold">
                                          <p:stCondLst>
                                            <p:cond delay="0"/>
                                          </p:stCondLst>
                                        </p:cTn>
                                        <p:tgtEl>
                                          <p:spTgt spid="29"/>
                                        </p:tgtEl>
                                        <p:attrNameLst>
                                          <p:attrName>style.visibility</p:attrName>
                                        </p:attrNameLst>
                                      </p:cBhvr>
                                      <p:to>
                                        <p:strVal val="visible"/>
                                      </p:to>
                                    </p:set>
                                    <p:animEffect transition="in" filter="fade">
                                      <p:cBhvr>
                                        <p:cTn id="49" dur="350"/>
                                        <p:tgtEl>
                                          <p:spTgt spid="29"/>
                                        </p:tgtEl>
                                      </p:cBhvr>
                                    </p:animEffect>
                                  </p:childTnLst>
                                </p:cTn>
                              </p:par>
                              <p:par>
                                <p:cTn id="50" presetID="10" presetClass="entr" presetSubtype="0" fill="hold" nodeType="withEffect">
                                  <p:stCondLst>
                                    <p:cond delay="0"/>
                                  </p:stCondLst>
                                  <p:childTnLst>
                                    <p:set>
                                      <p:cBhvr>
                                        <p:cTn id="51" dur="1" fill="hold">
                                          <p:stCondLst>
                                            <p:cond delay="0"/>
                                          </p:stCondLst>
                                        </p:cTn>
                                        <p:tgtEl>
                                          <p:spTgt spid="30"/>
                                        </p:tgtEl>
                                        <p:attrNameLst>
                                          <p:attrName>style.visibility</p:attrName>
                                        </p:attrNameLst>
                                      </p:cBhvr>
                                      <p:to>
                                        <p:strVal val="visible"/>
                                      </p:to>
                                    </p:set>
                                    <p:animEffect transition="in" filter="fade">
                                      <p:cBhvr>
                                        <p:cTn id="52" dur="350"/>
                                        <p:tgtEl>
                                          <p:spTgt spid="30"/>
                                        </p:tgtEl>
                                      </p:cBhvr>
                                    </p:animEffect>
                                  </p:childTnLst>
                                </p:cTn>
                              </p:par>
                              <p:par>
                                <p:cTn id="53" presetID="10" presetClass="entr" presetSubtype="0" fill="hold" nodeType="withEffect">
                                  <p:stCondLst>
                                    <p:cond delay="0"/>
                                  </p:stCondLst>
                                  <p:childTnLst>
                                    <p:set>
                                      <p:cBhvr>
                                        <p:cTn id="54" dur="1" fill="hold">
                                          <p:stCondLst>
                                            <p:cond delay="0"/>
                                          </p:stCondLst>
                                        </p:cTn>
                                        <p:tgtEl>
                                          <p:spTgt spid="31"/>
                                        </p:tgtEl>
                                        <p:attrNameLst>
                                          <p:attrName>style.visibility</p:attrName>
                                        </p:attrNameLst>
                                      </p:cBhvr>
                                      <p:to>
                                        <p:strVal val="visible"/>
                                      </p:to>
                                    </p:set>
                                    <p:animEffect transition="in" filter="fade">
                                      <p:cBhvr>
                                        <p:cTn id="55" dur="350"/>
                                        <p:tgtEl>
                                          <p:spTgt spid="31"/>
                                        </p:tgtEl>
                                      </p:cBhvr>
                                    </p:animEffect>
                                  </p:childTnLst>
                                </p:cTn>
                              </p:par>
                              <p:par>
                                <p:cTn id="56" presetID="10" presetClass="entr" presetSubtype="0" fill="hold" nodeType="withEffect">
                                  <p:stCondLst>
                                    <p:cond delay="0"/>
                                  </p:stCondLst>
                                  <p:childTnLst>
                                    <p:set>
                                      <p:cBhvr>
                                        <p:cTn id="57" dur="1" fill="hold">
                                          <p:stCondLst>
                                            <p:cond delay="0"/>
                                          </p:stCondLst>
                                        </p:cTn>
                                        <p:tgtEl>
                                          <p:spTgt spid="32"/>
                                        </p:tgtEl>
                                        <p:attrNameLst>
                                          <p:attrName>style.visibility</p:attrName>
                                        </p:attrNameLst>
                                      </p:cBhvr>
                                      <p:to>
                                        <p:strVal val="visible"/>
                                      </p:to>
                                    </p:set>
                                    <p:animEffect transition="in" filter="fade">
                                      <p:cBhvr>
                                        <p:cTn id="58" dur="350"/>
                                        <p:tgtEl>
                                          <p:spTgt spid="32"/>
                                        </p:tgtEl>
                                      </p:cBhvr>
                                    </p:animEffect>
                                  </p:childTnLst>
                                </p:cTn>
                              </p:par>
                              <p:par>
                                <p:cTn id="59" presetID="10" presetClass="entr" presetSubtype="0" fill="hold" nodeType="withEffect">
                                  <p:stCondLst>
                                    <p:cond delay="0"/>
                                  </p:stCondLst>
                                  <p:childTnLst>
                                    <p:set>
                                      <p:cBhvr>
                                        <p:cTn id="60" dur="1" fill="hold">
                                          <p:stCondLst>
                                            <p:cond delay="0"/>
                                          </p:stCondLst>
                                        </p:cTn>
                                        <p:tgtEl>
                                          <p:spTgt spid="33"/>
                                        </p:tgtEl>
                                        <p:attrNameLst>
                                          <p:attrName>style.visibility</p:attrName>
                                        </p:attrNameLst>
                                      </p:cBhvr>
                                      <p:to>
                                        <p:strVal val="visible"/>
                                      </p:to>
                                    </p:set>
                                    <p:animEffect transition="in" filter="fade">
                                      <p:cBhvr>
                                        <p:cTn id="61" dur="350"/>
                                        <p:tgtEl>
                                          <p:spTgt spid="33"/>
                                        </p:tgtEl>
                                      </p:cBhvr>
                                    </p:animEffect>
                                  </p:childTnLst>
                                </p:cTn>
                              </p:par>
                              <p:par>
                                <p:cTn id="62" presetID="10" presetClass="entr" presetSubtype="0" fill="hold" nodeType="withEffect">
                                  <p:stCondLst>
                                    <p:cond delay="0"/>
                                  </p:stCondLst>
                                  <p:childTnLst>
                                    <p:set>
                                      <p:cBhvr>
                                        <p:cTn id="63" dur="1" fill="hold">
                                          <p:stCondLst>
                                            <p:cond delay="0"/>
                                          </p:stCondLst>
                                        </p:cTn>
                                        <p:tgtEl>
                                          <p:spTgt spid="17"/>
                                        </p:tgtEl>
                                        <p:attrNameLst>
                                          <p:attrName>style.visibility</p:attrName>
                                        </p:attrNameLst>
                                      </p:cBhvr>
                                      <p:to>
                                        <p:strVal val="visible"/>
                                      </p:to>
                                    </p:set>
                                    <p:animEffect transition="in" filter="fade">
                                      <p:cBhvr>
                                        <p:cTn id="64" dur="350"/>
                                        <p:tgtEl>
                                          <p:spTgt spid="17"/>
                                        </p:tgtEl>
                                      </p:cBhvr>
                                    </p:animEffect>
                                  </p:childTnLst>
                                </p:cTn>
                              </p:par>
                              <p:par>
                                <p:cTn id="65" presetID="10" presetClass="entr" presetSubtype="0" fill="hold" nodeType="with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350"/>
                                        <p:tgtEl>
                                          <p:spTgt spid="18"/>
                                        </p:tgtEl>
                                      </p:cBhvr>
                                    </p:animEffect>
                                  </p:childTnLst>
                                </p:cTn>
                              </p:par>
                              <p:par>
                                <p:cTn id="68" presetID="10" presetClass="entr" presetSubtype="0" fill="hold" nodeType="withEffect">
                                  <p:stCondLst>
                                    <p:cond delay="0"/>
                                  </p:stCondLst>
                                  <p:childTnLst>
                                    <p:set>
                                      <p:cBhvr>
                                        <p:cTn id="69" dur="1" fill="hold">
                                          <p:stCondLst>
                                            <p:cond delay="0"/>
                                          </p:stCondLst>
                                        </p:cTn>
                                        <p:tgtEl>
                                          <p:spTgt spid="34"/>
                                        </p:tgtEl>
                                        <p:attrNameLst>
                                          <p:attrName>style.visibility</p:attrName>
                                        </p:attrNameLst>
                                      </p:cBhvr>
                                      <p:to>
                                        <p:strVal val="visible"/>
                                      </p:to>
                                    </p:set>
                                    <p:animEffect transition="in" filter="fade">
                                      <p:cBhvr>
                                        <p:cTn id="70" dur="350"/>
                                        <p:tgtEl>
                                          <p:spTgt spid="34"/>
                                        </p:tgtEl>
                                      </p:cBhvr>
                                    </p:animEffect>
                                  </p:childTnLst>
                                </p:cTn>
                              </p:par>
                              <p:par>
                                <p:cTn id="71" presetID="10" presetClass="entr" presetSubtype="0" fill="hold" nodeType="withEffect">
                                  <p:stCondLst>
                                    <p:cond delay="0"/>
                                  </p:stCondLst>
                                  <p:childTnLst>
                                    <p:set>
                                      <p:cBhvr>
                                        <p:cTn id="72" dur="1" fill="hold">
                                          <p:stCondLst>
                                            <p:cond delay="0"/>
                                          </p:stCondLst>
                                        </p:cTn>
                                        <p:tgtEl>
                                          <p:spTgt spid="35"/>
                                        </p:tgtEl>
                                        <p:attrNameLst>
                                          <p:attrName>style.visibility</p:attrName>
                                        </p:attrNameLst>
                                      </p:cBhvr>
                                      <p:to>
                                        <p:strVal val="visible"/>
                                      </p:to>
                                    </p:set>
                                    <p:animEffect transition="in" filter="fade">
                                      <p:cBhvr>
                                        <p:cTn id="73" dur="350"/>
                                        <p:tgtEl>
                                          <p:spTgt spid="35"/>
                                        </p:tgtEl>
                                      </p:cBhvr>
                                    </p:animEffect>
                                  </p:childTnLst>
                                </p:cTn>
                              </p:par>
                              <p:par>
                                <p:cTn id="74" presetID="10" presetClass="entr" presetSubtype="0" fill="hold" nodeType="withEffect">
                                  <p:stCondLst>
                                    <p:cond delay="0"/>
                                  </p:stCondLst>
                                  <p:childTnLst>
                                    <p:set>
                                      <p:cBhvr>
                                        <p:cTn id="75" dur="1" fill="hold">
                                          <p:stCondLst>
                                            <p:cond delay="0"/>
                                          </p:stCondLst>
                                        </p:cTn>
                                        <p:tgtEl>
                                          <p:spTgt spid="11"/>
                                        </p:tgtEl>
                                        <p:attrNameLst>
                                          <p:attrName>style.visibility</p:attrName>
                                        </p:attrNameLst>
                                      </p:cBhvr>
                                      <p:to>
                                        <p:strVal val="visible"/>
                                      </p:to>
                                    </p:set>
                                    <p:animEffect transition="in" filter="fade">
                                      <p:cBhvr>
                                        <p:cTn id="76" dur="350"/>
                                        <p:tgtEl>
                                          <p:spTgt spid="11"/>
                                        </p:tgtEl>
                                      </p:cBhvr>
                                    </p:animEffect>
                                  </p:childTnLst>
                                </p:cTn>
                              </p:par>
                              <p:par>
                                <p:cTn id="77" presetID="10" presetClass="entr" presetSubtype="0" fill="hold" nodeType="withEffect">
                                  <p:stCondLst>
                                    <p:cond delay="0"/>
                                  </p:stCondLst>
                                  <p:childTnLst>
                                    <p:set>
                                      <p:cBhvr>
                                        <p:cTn id="78" dur="1" fill="hold">
                                          <p:stCondLst>
                                            <p:cond delay="0"/>
                                          </p:stCondLst>
                                        </p:cTn>
                                        <p:tgtEl>
                                          <p:spTgt spid="12"/>
                                        </p:tgtEl>
                                        <p:attrNameLst>
                                          <p:attrName>style.visibility</p:attrName>
                                        </p:attrNameLst>
                                      </p:cBhvr>
                                      <p:to>
                                        <p:strVal val="visible"/>
                                      </p:to>
                                    </p:set>
                                    <p:animEffect transition="in" filter="fade">
                                      <p:cBhvr>
                                        <p:cTn id="79" dur="350"/>
                                        <p:tgtEl>
                                          <p:spTgt spid="12"/>
                                        </p:tgtEl>
                                      </p:cBhvr>
                                    </p:animEffect>
                                  </p:childTnLst>
                                </p:cTn>
                              </p:par>
                              <p:par>
                                <p:cTn id="80" presetID="10" presetClass="entr" presetSubtype="0" fill="hold" nodeType="withEffect">
                                  <p:stCondLst>
                                    <p:cond delay="0"/>
                                  </p:stCondLst>
                                  <p:childTnLst>
                                    <p:set>
                                      <p:cBhvr>
                                        <p:cTn id="81" dur="1" fill="hold">
                                          <p:stCondLst>
                                            <p:cond delay="0"/>
                                          </p:stCondLst>
                                        </p:cTn>
                                        <p:tgtEl>
                                          <p:spTgt spid="13"/>
                                        </p:tgtEl>
                                        <p:attrNameLst>
                                          <p:attrName>style.visibility</p:attrName>
                                        </p:attrNameLst>
                                      </p:cBhvr>
                                      <p:to>
                                        <p:strVal val="visible"/>
                                      </p:to>
                                    </p:set>
                                    <p:animEffect transition="in" filter="fade">
                                      <p:cBhvr>
                                        <p:cTn id="82" dur="350"/>
                                        <p:tgtEl>
                                          <p:spTgt spid="13"/>
                                        </p:tgtEl>
                                      </p:cBhvr>
                                    </p:animEffect>
                                  </p:childTnLst>
                                </p:cTn>
                              </p:par>
                              <p:par>
                                <p:cTn id="83" presetID="10" presetClass="entr" presetSubtype="0" fill="hold" nodeType="withEffect">
                                  <p:stCondLst>
                                    <p:cond delay="0"/>
                                  </p:stCondLst>
                                  <p:childTnLst>
                                    <p:set>
                                      <p:cBhvr>
                                        <p:cTn id="84" dur="1" fill="hold">
                                          <p:stCondLst>
                                            <p:cond delay="0"/>
                                          </p:stCondLst>
                                        </p:cTn>
                                        <p:tgtEl>
                                          <p:spTgt spid="38"/>
                                        </p:tgtEl>
                                        <p:attrNameLst>
                                          <p:attrName>style.visibility</p:attrName>
                                        </p:attrNameLst>
                                      </p:cBhvr>
                                      <p:to>
                                        <p:strVal val="visible"/>
                                      </p:to>
                                    </p:set>
                                    <p:animEffect transition="in" filter="fade">
                                      <p:cBhvr>
                                        <p:cTn id="85" dur="350"/>
                                        <p:tgtEl>
                                          <p:spTgt spid="38"/>
                                        </p:tgtEl>
                                      </p:cBhvr>
                                    </p:animEffect>
                                  </p:childTnLst>
                                </p:cTn>
                              </p:par>
                              <p:par>
                                <p:cTn id="86" presetID="10" presetClass="entr" presetSubtype="0" fill="hold" nodeType="withEffect">
                                  <p:stCondLst>
                                    <p:cond delay="0"/>
                                  </p:stCondLst>
                                  <p:childTnLst>
                                    <p:set>
                                      <p:cBhvr>
                                        <p:cTn id="87" dur="1" fill="hold">
                                          <p:stCondLst>
                                            <p:cond delay="0"/>
                                          </p:stCondLst>
                                        </p:cTn>
                                        <p:tgtEl>
                                          <p:spTgt spid="36"/>
                                        </p:tgtEl>
                                        <p:attrNameLst>
                                          <p:attrName>style.visibility</p:attrName>
                                        </p:attrNameLst>
                                      </p:cBhvr>
                                      <p:to>
                                        <p:strVal val="visible"/>
                                      </p:to>
                                    </p:set>
                                    <p:animEffect transition="in" filter="fade">
                                      <p:cBhvr>
                                        <p:cTn id="88" dur="350"/>
                                        <p:tgtEl>
                                          <p:spTgt spid="36"/>
                                        </p:tgtEl>
                                      </p:cBhvr>
                                    </p:animEffect>
                                  </p:childTnLst>
                                </p:cTn>
                              </p:par>
                              <p:par>
                                <p:cTn id="89" presetID="10" presetClass="entr" presetSubtype="0" fill="hold" nodeType="with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350"/>
                                        <p:tgtEl>
                                          <p:spTgt spid="37"/>
                                        </p:tgtEl>
                                      </p:cBhvr>
                                    </p:animEffect>
                                  </p:childTnLst>
                                </p:cTn>
                              </p:par>
                              <p:par>
                                <p:cTn id="92" presetID="10" presetClass="entr" presetSubtype="0" fill="hold" nodeType="withEffect">
                                  <p:stCondLst>
                                    <p:cond delay="0"/>
                                  </p:stCondLst>
                                  <p:childTnLst>
                                    <p:set>
                                      <p:cBhvr>
                                        <p:cTn id="93" dur="1" fill="hold">
                                          <p:stCondLst>
                                            <p:cond delay="0"/>
                                          </p:stCondLst>
                                        </p:cTn>
                                        <p:tgtEl>
                                          <p:spTgt spid="39"/>
                                        </p:tgtEl>
                                        <p:attrNameLst>
                                          <p:attrName>style.visibility</p:attrName>
                                        </p:attrNameLst>
                                      </p:cBhvr>
                                      <p:to>
                                        <p:strVal val="visible"/>
                                      </p:to>
                                    </p:set>
                                    <p:animEffect transition="in" filter="fade">
                                      <p:cBhvr>
                                        <p:cTn id="94" dur="350"/>
                                        <p:tgtEl>
                                          <p:spTgt spid="39"/>
                                        </p:tgtEl>
                                      </p:cBhvr>
                                    </p:animEffect>
                                  </p:childTnLst>
                                </p:cTn>
                              </p:par>
                              <p:par>
                                <p:cTn id="95" presetID="10" presetClass="entr" presetSubtype="0" fill="hold" nodeType="withEffect">
                                  <p:stCondLst>
                                    <p:cond delay="0"/>
                                  </p:stCondLst>
                                  <p:childTnLst>
                                    <p:set>
                                      <p:cBhvr>
                                        <p:cTn id="96" dur="1" fill="hold">
                                          <p:stCondLst>
                                            <p:cond delay="0"/>
                                          </p:stCondLst>
                                        </p:cTn>
                                        <p:tgtEl>
                                          <p:spTgt spid="40"/>
                                        </p:tgtEl>
                                        <p:attrNameLst>
                                          <p:attrName>style.visibility</p:attrName>
                                        </p:attrNameLst>
                                      </p:cBhvr>
                                      <p:to>
                                        <p:strVal val="visible"/>
                                      </p:to>
                                    </p:set>
                                    <p:animEffect transition="in" filter="fade">
                                      <p:cBhvr>
                                        <p:cTn id="97" dur="350"/>
                                        <p:tgtEl>
                                          <p:spTgt spid="40"/>
                                        </p:tgtEl>
                                      </p:cBhvr>
                                    </p:animEffect>
                                  </p:childTnLst>
                                </p:cTn>
                              </p:par>
                              <p:par>
                                <p:cTn id="98" presetID="10" presetClass="entr" presetSubtype="0" fill="hold" nodeType="withEffect">
                                  <p:stCondLst>
                                    <p:cond delay="0"/>
                                  </p:stCondLst>
                                  <p:childTnLst>
                                    <p:set>
                                      <p:cBhvr>
                                        <p:cTn id="99" dur="1" fill="hold">
                                          <p:stCondLst>
                                            <p:cond delay="0"/>
                                          </p:stCondLst>
                                        </p:cTn>
                                        <p:tgtEl>
                                          <p:spTgt spid="41"/>
                                        </p:tgtEl>
                                        <p:attrNameLst>
                                          <p:attrName>style.visibility</p:attrName>
                                        </p:attrNameLst>
                                      </p:cBhvr>
                                      <p:to>
                                        <p:strVal val="visible"/>
                                      </p:to>
                                    </p:set>
                                    <p:animEffect transition="in" filter="fade">
                                      <p:cBhvr>
                                        <p:cTn id="100" dur="350"/>
                                        <p:tgtEl>
                                          <p:spTgt spid="41"/>
                                        </p:tgtEl>
                                      </p:cBhvr>
                                    </p:animEffect>
                                  </p:childTnLst>
                                </p:cTn>
                              </p:par>
                              <p:par>
                                <p:cTn id="101" presetID="10" presetClass="entr" presetSubtype="0" fill="hold" nodeType="withEffect">
                                  <p:stCondLst>
                                    <p:cond delay="0"/>
                                  </p:stCondLst>
                                  <p:childTnLst>
                                    <p:set>
                                      <p:cBhvr>
                                        <p:cTn id="102" dur="1" fill="hold">
                                          <p:stCondLst>
                                            <p:cond delay="0"/>
                                          </p:stCondLst>
                                        </p:cTn>
                                        <p:tgtEl>
                                          <p:spTgt spid="42"/>
                                        </p:tgtEl>
                                        <p:attrNameLst>
                                          <p:attrName>style.visibility</p:attrName>
                                        </p:attrNameLst>
                                      </p:cBhvr>
                                      <p:to>
                                        <p:strVal val="visible"/>
                                      </p:to>
                                    </p:set>
                                    <p:animEffect transition="in" filter="fade">
                                      <p:cBhvr>
                                        <p:cTn id="103" dur="350"/>
                                        <p:tgtEl>
                                          <p:spTgt spid="42"/>
                                        </p:tgtEl>
                                      </p:cBhvr>
                                    </p:animEffect>
                                  </p:childTnLst>
                                </p:cTn>
                              </p:par>
                              <p:par>
                                <p:cTn id="104" presetID="10" presetClass="entr" presetSubtype="0" fill="hold" nodeType="withEffect">
                                  <p:stCondLst>
                                    <p:cond delay="0"/>
                                  </p:stCondLst>
                                  <p:childTnLst>
                                    <p:set>
                                      <p:cBhvr>
                                        <p:cTn id="105" dur="1" fill="hold">
                                          <p:stCondLst>
                                            <p:cond delay="0"/>
                                          </p:stCondLst>
                                        </p:cTn>
                                        <p:tgtEl>
                                          <p:spTgt spid="43"/>
                                        </p:tgtEl>
                                        <p:attrNameLst>
                                          <p:attrName>style.visibility</p:attrName>
                                        </p:attrNameLst>
                                      </p:cBhvr>
                                      <p:to>
                                        <p:strVal val="visible"/>
                                      </p:to>
                                    </p:set>
                                    <p:animEffect transition="in" filter="fade">
                                      <p:cBhvr>
                                        <p:cTn id="106" dur="350"/>
                                        <p:tgtEl>
                                          <p:spTgt spid="43"/>
                                        </p:tgtEl>
                                      </p:cBhvr>
                                    </p:animEffect>
                                  </p:childTnLst>
                                </p:cTn>
                              </p:par>
                              <p:par>
                                <p:cTn id="107" presetID="10" presetClass="entr" presetSubtype="0" fill="hold" nodeType="withEffect">
                                  <p:stCondLst>
                                    <p:cond delay="0"/>
                                  </p:stCondLst>
                                  <p:childTnLst>
                                    <p:set>
                                      <p:cBhvr>
                                        <p:cTn id="108" dur="1" fill="hold">
                                          <p:stCondLst>
                                            <p:cond delay="0"/>
                                          </p:stCondLst>
                                        </p:cTn>
                                        <p:tgtEl>
                                          <p:spTgt spid="44"/>
                                        </p:tgtEl>
                                        <p:attrNameLst>
                                          <p:attrName>style.visibility</p:attrName>
                                        </p:attrNameLst>
                                      </p:cBhvr>
                                      <p:to>
                                        <p:strVal val="visible"/>
                                      </p:to>
                                    </p:set>
                                    <p:animEffect transition="in" filter="fade">
                                      <p:cBhvr>
                                        <p:cTn id="109" dur="350"/>
                                        <p:tgtEl>
                                          <p:spTgt spid="44"/>
                                        </p:tgtEl>
                                      </p:cBhvr>
                                    </p:animEffect>
                                  </p:childTnLst>
                                </p:cTn>
                              </p:par>
                              <p:par>
                                <p:cTn id="110" presetID="10" presetClass="entr" presetSubtype="0" fill="hold" nodeType="withEffect">
                                  <p:stCondLst>
                                    <p:cond delay="0"/>
                                  </p:stCondLst>
                                  <p:childTnLst>
                                    <p:set>
                                      <p:cBhvr>
                                        <p:cTn id="111" dur="1" fill="hold">
                                          <p:stCondLst>
                                            <p:cond delay="0"/>
                                          </p:stCondLst>
                                        </p:cTn>
                                        <p:tgtEl>
                                          <p:spTgt spid="45"/>
                                        </p:tgtEl>
                                        <p:attrNameLst>
                                          <p:attrName>style.visibility</p:attrName>
                                        </p:attrNameLst>
                                      </p:cBhvr>
                                      <p:to>
                                        <p:strVal val="visible"/>
                                      </p:to>
                                    </p:set>
                                    <p:animEffect transition="in" filter="fade">
                                      <p:cBhvr>
                                        <p:cTn id="112" dur="350"/>
                                        <p:tgtEl>
                                          <p:spTgt spid="45"/>
                                        </p:tgtEl>
                                      </p:cBhvr>
                                    </p:animEffect>
                                  </p:childTnLst>
                                </p:cTn>
                              </p:par>
                              <p:par>
                                <p:cTn id="113" presetID="10" presetClass="entr" presetSubtype="0" fill="hold" nodeType="withEffect">
                                  <p:stCondLst>
                                    <p:cond delay="0"/>
                                  </p:stCondLst>
                                  <p:childTnLst>
                                    <p:set>
                                      <p:cBhvr>
                                        <p:cTn id="114" dur="1" fill="hold">
                                          <p:stCondLst>
                                            <p:cond delay="0"/>
                                          </p:stCondLst>
                                        </p:cTn>
                                        <p:tgtEl>
                                          <p:spTgt spid="19"/>
                                        </p:tgtEl>
                                        <p:attrNameLst>
                                          <p:attrName>style.visibility</p:attrName>
                                        </p:attrNameLst>
                                      </p:cBhvr>
                                      <p:to>
                                        <p:strVal val="visible"/>
                                      </p:to>
                                    </p:set>
                                    <p:animEffect transition="in" filter="fade">
                                      <p:cBhvr>
                                        <p:cTn id="115" dur="350"/>
                                        <p:tgtEl>
                                          <p:spTgt spid="19"/>
                                        </p:tgtEl>
                                      </p:cBhvr>
                                    </p:animEffect>
                                  </p:childTnLst>
                                </p:cTn>
                              </p:par>
                              <p:par>
                                <p:cTn id="116" presetID="10" presetClass="entr" presetSubtype="0" fill="hold" nodeType="withEffect">
                                  <p:stCondLst>
                                    <p:cond delay="0"/>
                                  </p:stCondLst>
                                  <p:childTnLst>
                                    <p:set>
                                      <p:cBhvr>
                                        <p:cTn id="117" dur="1" fill="hold">
                                          <p:stCondLst>
                                            <p:cond delay="0"/>
                                          </p:stCondLst>
                                        </p:cTn>
                                        <p:tgtEl>
                                          <p:spTgt spid="46"/>
                                        </p:tgtEl>
                                        <p:attrNameLst>
                                          <p:attrName>style.visibility</p:attrName>
                                        </p:attrNameLst>
                                      </p:cBhvr>
                                      <p:to>
                                        <p:strVal val="visible"/>
                                      </p:to>
                                    </p:set>
                                    <p:animEffect transition="in" filter="fade">
                                      <p:cBhvr>
                                        <p:cTn id="118" dur="350"/>
                                        <p:tgtEl>
                                          <p:spTgt spid="46"/>
                                        </p:tgtEl>
                                      </p:cBhvr>
                                    </p:animEffect>
                                  </p:childTnLst>
                                </p:cTn>
                              </p:par>
                              <p:par>
                                <p:cTn id="119" presetID="10" presetClass="entr" presetSubtype="0" fill="hold" nodeType="withEffect">
                                  <p:stCondLst>
                                    <p:cond delay="0"/>
                                  </p:stCondLst>
                                  <p:childTnLst>
                                    <p:set>
                                      <p:cBhvr>
                                        <p:cTn id="120" dur="1" fill="hold">
                                          <p:stCondLst>
                                            <p:cond delay="0"/>
                                          </p:stCondLst>
                                        </p:cTn>
                                        <p:tgtEl>
                                          <p:spTgt spid="47"/>
                                        </p:tgtEl>
                                        <p:attrNameLst>
                                          <p:attrName>style.visibility</p:attrName>
                                        </p:attrNameLst>
                                      </p:cBhvr>
                                      <p:to>
                                        <p:strVal val="visible"/>
                                      </p:to>
                                    </p:set>
                                    <p:animEffect transition="in" filter="fade">
                                      <p:cBhvr>
                                        <p:cTn id="121" dur="350"/>
                                        <p:tgtEl>
                                          <p:spTgt spid="47"/>
                                        </p:tgtEl>
                                      </p:cBhvr>
                                    </p:animEffect>
                                  </p:childTnLst>
                                </p:cTn>
                              </p:par>
                              <p:par>
                                <p:cTn id="122" presetID="10" presetClass="entr" presetSubtype="0" fill="hold" nodeType="withEffect">
                                  <p:stCondLst>
                                    <p:cond delay="0"/>
                                  </p:stCondLst>
                                  <p:childTnLst>
                                    <p:set>
                                      <p:cBhvr>
                                        <p:cTn id="123" dur="1" fill="hold">
                                          <p:stCondLst>
                                            <p:cond delay="0"/>
                                          </p:stCondLst>
                                        </p:cTn>
                                        <p:tgtEl>
                                          <p:spTgt spid="48"/>
                                        </p:tgtEl>
                                        <p:attrNameLst>
                                          <p:attrName>style.visibility</p:attrName>
                                        </p:attrNameLst>
                                      </p:cBhvr>
                                      <p:to>
                                        <p:strVal val="visible"/>
                                      </p:to>
                                    </p:set>
                                    <p:animEffect transition="in" filter="fade">
                                      <p:cBhvr>
                                        <p:cTn id="124" dur="350"/>
                                        <p:tgtEl>
                                          <p:spTgt spid="48"/>
                                        </p:tgtEl>
                                      </p:cBhvr>
                                    </p:animEffect>
                                  </p:childTnLst>
                                </p:cTn>
                              </p:par>
                              <p:par>
                                <p:cTn id="125" presetID="10" presetClass="entr" presetSubtype="0" fill="hold" nodeType="withEffect">
                                  <p:stCondLst>
                                    <p:cond delay="0"/>
                                  </p:stCondLst>
                                  <p:childTnLst>
                                    <p:set>
                                      <p:cBhvr>
                                        <p:cTn id="126" dur="1" fill="hold">
                                          <p:stCondLst>
                                            <p:cond delay="0"/>
                                          </p:stCondLst>
                                        </p:cTn>
                                        <p:tgtEl>
                                          <p:spTgt spid="20"/>
                                        </p:tgtEl>
                                        <p:attrNameLst>
                                          <p:attrName>style.visibility</p:attrName>
                                        </p:attrNameLst>
                                      </p:cBhvr>
                                      <p:to>
                                        <p:strVal val="visible"/>
                                      </p:to>
                                    </p:set>
                                    <p:animEffect transition="in" filter="fade">
                                      <p:cBhvr>
                                        <p:cTn id="127" dur="350"/>
                                        <p:tgtEl>
                                          <p:spTgt spid="20"/>
                                        </p:tgtEl>
                                      </p:cBhvr>
                                    </p:animEffect>
                                  </p:childTnLst>
                                </p:cTn>
                              </p:par>
                            </p:childTnLst>
                          </p:cTn>
                        </p:par>
                        <p:par>
                          <p:cTn id="128" fill="hold">
                            <p:stCondLst>
                              <p:cond delay="1000"/>
                            </p:stCondLst>
                            <p:childTnLst>
                              <p:par>
                                <p:cTn id="129" presetID="10" presetClass="entr" presetSubtype="0" fill="hold" nodeType="afterEffect">
                                  <p:stCondLst>
                                    <p:cond delay="0"/>
                                  </p:stCondLst>
                                  <p:childTnLst>
                                    <p:set>
                                      <p:cBhvr>
                                        <p:cTn id="130" dur="1" fill="hold">
                                          <p:stCondLst>
                                            <p:cond delay="0"/>
                                          </p:stCondLst>
                                        </p:cTn>
                                        <p:tgtEl>
                                          <p:spTgt spid="49"/>
                                        </p:tgtEl>
                                        <p:attrNameLst>
                                          <p:attrName>style.visibility</p:attrName>
                                        </p:attrNameLst>
                                      </p:cBhvr>
                                      <p:to>
                                        <p:strVal val="visible"/>
                                      </p:to>
                                    </p:set>
                                    <p:animEffect transition="in" filter="fade">
                                      <p:cBhvr>
                                        <p:cTn id="131" dur="350"/>
                                        <p:tgtEl>
                                          <p:spTgt spid="49"/>
                                        </p:tgtEl>
                                      </p:cBhvr>
                                    </p:animEffect>
                                  </p:childTnLst>
                                </p:cTn>
                              </p:par>
                              <p:par>
                                <p:cTn id="132" presetID="10" presetClass="entr" presetSubtype="0" fill="hold" nodeType="withEffect">
                                  <p:stCondLst>
                                    <p:cond delay="0"/>
                                  </p:stCondLst>
                                  <p:childTnLst>
                                    <p:set>
                                      <p:cBhvr>
                                        <p:cTn id="133" dur="1" fill="hold">
                                          <p:stCondLst>
                                            <p:cond delay="0"/>
                                          </p:stCondLst>
                                        </p:cTn>
                                        <p:tgtEl>
                                          <p:spTgt spid="50"/>
                                        </p:tgtEl>
                                        <p:attrNameLst>
                                          <p:attrName>style.visibility</p:attrName>
                                        </p:attrNameLst>
                                      </p:cBhvr>
                                      <p:to>
                                        <p:strVal val="visible"/>
                                      </p:to>
                                    </p:set>
                                    <p:animEffect transition="in" filter="fade">
                                      <p:cBhvr>
                                        <p:cTn id="134" dur="350"/>
                                        <p:tgtEl>
                                          <p:spTgt spid="50"/>
                                        </p:tgtEl>
                                      </p:cBhvr>
                                    </p:animEffect>
                                  </p:childTnLst>
                                </p:cTn>
                              </p:par>
                              <p:par>
                                <p:cTn id="135" presetID="10" presetClass="entr" presetSubtype="0" fill="hold" nodeType="withEffect">
                                  <p:stCondLst>
                                    <p:cond delay="0"/>
                                  </p:stCondLst>
                                  <p:childTnLst>
                                    <p:set>
                                      <p:cBhvr>
                                        <p:cTn id="136" dur="1" fill="hold">
                                          <p:stCondLst>
                                            <p:cond delay="0"/>
                                          </p:stCondLst>
                                        </p:cTn>
                                        <p:tgtEl>
                                          <p:spTgt spid="14"/>
                                        </p:tgtEl>
                                        <p:attrNameLst>
                                          <p:attrName>style.visibility</p:attrName>
                                        </p:attrNameLst>
                                      </p:cBhvr>
                                      <p:to>
                                        <p:strVal val="visible"/>
                                      </p:to>
                                    </p:set>
                                    <p:animEffect transition="in" filter="fade">
                                      <p:cBhvr>
                                        <p:cTn id="137" dur="350"/>
                                        <p:tgtEl>
                                          <p:spTgt spid="14"/>
                                        </p:tgtEl>
                                      </p:cBhvr>
                                    </p:animEffect>
                                  </p:childTnLst>
                                </p:cTn>
                              </p:par>
                              <p:par>
                                <p:cTn id="138" presetID="10" presetClass="entr" presetSubtype="0" fill="hold" nodeType="withEffect">
                                  <p:stCondLst>
                                    <p:cond delay="0"/>
                                  </p:stCondLst>
                                  <p:childTnLst>
                                    <p:set>
                                      <p:cBhvr>
                                        <p:cTn id="139" dur="1" fill="hold">
                                          <p:stCondLst>
                                            <p:cond delay="0"/>
                                          </p:stCondLst>
                                        </p:cTn>
                                        <p:tgtEl>
                                          <p:spTgt spid="15"/>
                                        </p:tgtEl>
                                        <p:attrNameLst>
                                          <p:attrName>style.visibility</p:attrName>
                                        </p:attrNameLst>
                                      </p:cBhvr>
                                      <p:to>
                                        <p:strVal val="visible"/>
                                      </p:to>
                                    </p:set>
                                    <p:animEffect transition="in" filter="fade">
                                      <p:cBhvr>
                                        <p:cTn id="140" dur="350"/>
                                        <p:tgtEl>
                                          <p:spTgt spid="15"/>
                                        </p:tgtEl>
                                      </p:cBhvr>
                                    </p:animEffect>
                                  </p:childTnLst>
                                </p:cTn>
                              </p:par>
                              <p:par>
                                <p:cTn id="141" presetID="10" presetClass="entr" presetSubtype="0" fill="hold" nodeType="withEffect">
                                  <p:stCondLst>
                                    <p:cond delay="0"/>
                                  </p:stCondLst>
                                  <p:childTnLst>
                                    <p:set>
                                      <p:cBhvr>
                                        <p:cTn id="142" dur="1" fill="hold">
                                          <p:stCondLst>
                                            <p:cond delay="0"/>
                                          </p:stCondLst>
                                        </p:cTn>
                                        <p:tgtEl>
                                          <p:spTgt spid="16"/>
                                        </p:tgtEl>
                                        <p:attrNameLst>
                                          <p:attrName>style.visibility</p:attrName>
                                        </p:attrNameLst>
                                      </p:cBhvr>
                                      <p:to>
                                        <p:strVal val="visible"/>
                                      </p:to>
                                    </p:set>
                                    <p:animEffect transition="in" filter="fade">
                                      <p:cBhvr>
                                        <p:cTn id="143" dur="350"/>
                                        <p:tgtEl>
                                          <p:spTgt spid="16"/>
                                        </p:tgtEl>
                                      </p:cBhvr>
                                    </p:animEffect>
                                  </p:childTnLst>
                                </p:cTn>
                              </p:par>
                              <p:par>
                                <p:cTn id="144" presetID="10" presetClass="entr" presetSubtype="0" fill="hold" nodeType="withEffect">
                                  <p:stCondLst>
                                    <p:cond delay="0"/>
                                  </p:stCondLst>
                                  <p:childTnLst>
                                    <p:set>
                                      <p:cBhvr>
                                        <p:cTn id="145" dur="1" fill="hold">
                                          <p:stCondLst>
                                            <p:cond delay="0"/>
                                          </p:stCondLst>
                                        </p:cTn>
                                        <p:tgtEl>
                                          <p:spTgt spid="51"/>
                                        </p:tgtEl>
                                        <p:attrNameLst>
                                          <p:attrName>style.visibility</p:attrName>
                                        </p:attrNameLst>
                                      </p:cBhvr>
                                      <p:to>
                                        <p:strVal val="visible"/>
                                      </p:to>
                                    </p:set>
                                    <p:animEffect transition="in" filter="fade">
                                      <p:cBhvr>
                                        <p:cTn id="146" dur="350"/>
                                        <p:tgtEl>
                                          <p:spTgt spid="51"/>
                                        </p:tgtEl>
                                      </p:cBhvr>
                                    </p:animEffect>
                                  </p:childTnLst>
                                </p:cTn>
                              </p:par>
                              <p:par>
                                <p:cTn id="147" presetID="10" presetClass="entr" presetSubtype="0" fill="hold" nodeType="withEffect">
                                  <p:stCondLst>
                                    <p:cond delay="0"/>
                                  </p:stCondLst>
                                  <p:childTnLst>
                                    <p:set>
                                      <p:cBhvr>
                                        <p:cTn id="148" dur="1" fill="hold">
                                          <p:stCondLst>
                                            <p:cond delay="0"/>
                                          </p:stCondLst>
                                        </p:cTn>
                                        <p:tgtEl>
                                          <p:spTgt spid="52"/>
                                        </p:tgtEl>
                                        <p:attrNameLst>
                                          <p:attrName>style.visibility</p:attrName>
                                        </p:attrNameLst>
                                      </p:cBhvr>
                                      <p:to>
                                        <p:strVal val="visible"/>
                                      </p:to>
                                    </p:set>
                                    <p:animEffect transition="in" filter="fade">
                                      <p:cBhvr>
                                        <p:cTn id="149" dur="350"/>
                                        <p:tgtEl>
                                          <p:spTgt spid="52"/>
                                        </p:tgtEl>
                                      </p:cBhvr>
                                    </p:animEffect>
                                  </p:childTnLst>
                                </p:cTn>
                              </p:par>
                              <p:par>
                                <p:cTn id="150" presetID="10" presetClass="entr" presetSubtype="0" fill="hold" nodeType="withEffect">
                                  <p:stCondLst>
                                    <p:cond delay="0"/>
                                  </p:stCondLst>
                                  <p:childTnLst>
                                    <p:set>
                                      <p:cBhvr>
                                        <p:cTn id="151" dur="1" fill="hold">
                                          <p:stCondLst>
                                            <p:cond delay="0"/>
                                          </p:stCondLst>
                                        </p:cTn>
                                        <p:tgtEl>
                                          <p:spTgt spid="53"/>
                                        </p:tgtEl>
                                        <p:attrNameLst>
                                          <p:attrName>style.visibility</p:attrName>
                                        </p:attrNameLst>
                                      </p:cBhvr>
                                      <p:to>
                                        <p:strVal val="visible"/>
                                      </p:to>
                                    </p:set>
                                    <p:animEffect transition="in" filter="fade">
                                      <p:cBhvr>
                                        <p:cTn id="152" dur="350"/>
                                        <p:tgtEl>
                                          <p:spTgt spid="53"/>
                                        </p:tgtEl>
                                      </p:cBhvr>
                                    </p:animEffect>
                                  </p:childTnLst>
                                </p:cTn>
                              </p:par>
                              <p:par>
                                <p:cTn id="153" presetID="10" presetClass="entr" presetSubtype="0" fill="hold" nodeType="withEffect">
                                  <p:stCondLst>
                                    <p:cond delay="0"/>
                                  </p:stCondLst>
                                  <p:childTnLst>
                                    <p:set>
                                      <p:cBhvr>
                                        <p:cTn id="154" dur="1" fill="hold">
                                          <p:stCondLst>
                                            <p:cond delay="0"/>
                                          </p:stCondLst>
                                        </p:cTn>
                                        <p:tgtEl>
                                          <p:spTgt spid="54"/>
                                        </p:tgtEl>
                                        <p:attrNameLst>
                                          <p:attrName>style.visibility</p:attrName>
                                        </p:attrNameLst>
                                      </p:cBhvr>
                                      <p:to>
                                        <p:strVal val="visible"/>
                                      </p:to>
                                    </p:set>
                                    <p:animEffect transition="in" filter="fade">
                                      <p:cBhvr>
                                        <p:cTn id="155" dur="350"/>
                                        <p:tgtEl>
                                          <p:spTgt spid="54"/>
                                        </p:tgtEl>
                                      </p:cBhvr>
                                    </p:animEffect>
                                  </p:childTnLst>
                                </p:cTn>
                              </p:par>
                              <p:par>
                                <p:cTn id="156" presetID="10" presetClass="entr" presetSubtype="0" fill="hold" nodeType="withEffect">
                                  <p:stCondLst>
                                    <p:cond delay="0"/>
                                  </p:stCondLst>
                                  <p:childTnLst>
                                    <p:set>
                                      <p:cBhvr>
                                        <p:cTn id="157" dur="1" fill="hold">
                                          <p:stCondLst>
                                            <p:cond delay="0"/>
                                          </p:stCondLst>
                                        </p:cTn>
                                        <p:tgtEl>
                                          <p:spTgt spid="55"/>
                                        </p:tgtEl>
                                        <p:attrNameLst>
                                          <p:attrName>style.visibility</p:attrName>
                                        </p:attrNameLst>
                                      </p:cBhvr>
                                      <p:to>
                                        <p:strVal val="visible"/>
                                      </p:to>
                                    </p:set>
                                    <p:animEffect transition="in" filter="fade">
                                      <p:cBhvr>
                                        <p:cTn id="158" dur="350"/>
                                        <p:tgtEl>
                                          <p:spTgt spid="55"/>
                                        </p:tgtEl>
                                      </p:cBhvr>
                                    </p:animEffect>
                                  </p:childTnLst>
                                </p:cTn>
                              </p:par>
                              <p:par>
                                <p:cTn id="159" presetID="10" presetClass="entr" presetSubtype="0" fill="hold" nodeType="withEffect">
                                  <p:stCondLst>
                                    <p:cond delay="0"/>
                                  </p:stCondLst>
                                  <p:childTnLst>
                                    <p:set>
                                      <p:cBhvr>
                                        <p:cTn id="160" dur="1" fill="hold">
                                          <p:stCondLst>
                                            <p:cond delay="0"/>
                                          </p:stCondLst>
                                        </p:cTn>
                                        <p:tgtEl>
                                          <p:spTgt spid="56"/>
                                        </p:tgtEl>
                                        <p:attrNameLst>
                                          <p:attrName>style.visibility</p:attrName>
                                        </p:attrNameLst>
                                      </p:cBhvr>
                                      <p:to>
                                        <p:strVal val="visible"/>
                                      </p:to>
                                    </p:set>
                                    <p:animEffect transition="in" filter="fade">
                                      <p:cBhvr>
                                        <p:cTn id="161" dur="350"/>
                                        <p:tgtEl>
                                          <p:spTgt spid="56"/>
                                        </p:tgtEl>
                                      </p:cBhvr>
                                    </p:animEffect>
                                  </p:childTnLst>
                                </p:cTn>
                              </p:par>
                              <p:par>
                                <p:cTn id="162" presetID="10" presetClass="entr" presetSubtype="0" fill="hold" nodeType="withEffect">
                                  <p:stCondLst>
                                    <p:cond delay="0"/>
                                  </p:stCondLst>
                                  <p:childTnLst>
                                    <p:set>
                                      <p:cBhvr>
                                        <p:cTn id="163" dur="1" fill="hold">
                                          <p:stCondLst>
                                            <p:cond delay="0"/>
                                          </p:stCondLst>
                                        </p:cTn>
                                        <p:tgtEl>
                                          <p:spTgt spid="57"/>
                                        </p:tgtEl>
                                        <p:attrNameLst>
                                          <p:attrName>style.visibility</p:attrName>
                                        </p:attrNameLst>
                                      </p:cBhvr>
                                      <p:to>
                                        <p:strVal val="visible"/>
                                      </p:to>
                                    </p:set>
                                    <p:animEffect transition="in" filter="fade">
                                      <p:cBhvr>
                                        <p:cTn id="164" dur="350"/>
                                        <p:tgtEl>
                                          <p:spTgt spid="57"/>
                                        </p:tgtEl>
                                      </p:cBhvr>
                                    </p:animEffect>
                                  </p:childTnLst>
                                </p:cTn>
                              </p:par>
                              <p:par>
                                <p:cTn id="165" presetID="10" presetClass="entr" presetSubtype="0" fill="hold" nodeType="withEffect">
                                  <p:stCondLst>
                                    <p:cond delay="0"/>
                                  </p:stCondLst>
                                  <p:childTnLst>
                                    <p:set>
                                      <p:cBhvr>
                                        <p:cTn id="166" dur="1" fill="hold">
                                          <p:stCondLst>
                                            <p:cond delay="0"/>
                                          </p:stCondLst>
                                        </p:cTn>
                                        <p:tgtEl>
                                          <p:spTgt spid="58"/>
                                        </p:tgtEl>
                                        <p:attrNameLst>
                                          <p:attrName>style.visibility</p:attrName>
                                        </p:attrNameLst>
                                      </p:cBhvr>
                                      <p:to>
                                        <p:strVal val="visible"/>
                                      </p:to>
                                    </p:set>
                                    <p:animEffect transition="in" filter="fade">
                                      <p:cBhvr>
                                        <p:cTn id="167" dur="350"/>
                                        <p:tgtEl>
                                          <p:spTgt spid="58"/>
                                        </p:tgtEl>
                                      </p:cBhvr>
                                    </p:animEffect>
                                  </p:childTnLst>
                                </p:cTn>
                              </p:par>
                              <p:par>
                                <p:cTn id="168" presetID="10" presetClass="entr" presetSubtype="0" fill="hold" nodeType="withEffect">
                                  <p:stCondLst>
                                    <p:cond delay="0"/>
                                  </p:stCondLst>
                                  <p:childTnLst>
                                    <p:set>
                                      <p:cBhvr>
                                        <p:cTn id="169" dur="1" fill="hold">
                                          <p:stCondLst>
                                            <p:cond delay="0"/>
                                          </p:stCondLst>
                                        </p:cTn>
                                        <p:tgtEl>
                                          <p:spTgt spid="59"/>
                                        </p:tgtEl>
                                        <p:attrNameLst>
                                          <p:attrName>style.visibility</p:attrName>
                                        </p:attrNameLst>
                                      </p:cBhvr>
                                      <p:to>
                                        <p:strVal val="visible"/>
                                      </p:to>
                                    </p:set>
                                    <p:animEffect transition="in" filter="fade">
                                      <p:cBhvr>
                                        <p:cTn id="170" dur="350"/>
                                        <p:tgtEl>
                                          <p:spTgt spid="59"/>
                                        </p:tgtEl>
                                      </p:cBhvr>
                                    </p:animEffect>
                                  </p:childTnLst>
                                </p:cTn>
                              </p:par>
                              <p:par>
                                <p:cTn id="171" presetID="10" presetClass="entr" presetSubtype="0" fill="hold" nodeType="withEffect">
                                  <p:stCondLst>
                                    <p:cond delay="0"/>
                                  </p:stCondLst>
                                  <p:childTnLst>
                                    <p:set>
                                      <p:cBhvr>
                                        <p:cTn id="172" dur="1" fill="hold">
                                          <p:stCondLst>
                                            <p:cond delay="0"/>
                                          </p:stCondLst>
                                        </p:cTn>
                                        <p:tgtEl>
                                          <p:spTgt spid="60"/>
                                        </p:tgtEl>
                                        <p:attrNameLst>
                                          <p:attrName>style.visibility</p:attrName>
                                        </p:attrNameLst>
                                      </p:cBhvr>
                                      <p:to>
                                        <p:strVal val="visible"/>
                                      </p:to>
                                    </p:set>
                                    <p:animEffect transition="in" filter="fade">
                                      <p:cBhvr>
                                        <p:cTn id="173" dur="35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21" grpId="0"/>
      <p:bldP spid="22" grpId="0"/>
      <p:bldP spid="23" grpId="0"/>
      <p:bldP spid="24" grpId="0"/>
      <p:bldP spid="8" grpId="0"/>
      <p:bldP spid="9" grpId="0"/>
      <p:bldP spid="10" grpId="0"/>
      <p:bldP spid="25" grpId="0"/>
      <p:bldP spid="26" grpId="0"/>
      <p:bldP spid="30" grpId="0"/>
      <p:bldP spid="31" grpId="0"/>
      <p:bldP spid="32" grpId="0"/>
      <p:bldP spid="33" grpId="0"/>
      <p:bldP spid="18" grpId="0"/>
      <p:bldP spid="35" grpId="0"/>
      <p:bldP spid="11" grpId="0"/>
      <p:bldP spid="12" grpId="0"/>
      <p:bldP spid="13" grpId="0"/>
      <p:bldP spid="38" grpId="0"/>
      <p:bldP spid="40" grpId="0"/>
      <p:bldP spid="41" grpId="0"/>
      <p:bldP spid="42" grpId="0"/>
      <p:bldP spid="45" grpId="0"/>
      <p:bldP spid="46" grpId="0"/>
      <p:bldP spid="47" grpId="0"/>
      <p:bldP spid="48" grpId="0"/>
      <p:bldP spid="20" grpId="0"/>
      <p:bldP spid="50" grpId="0"/>
      <p:bldP spid="14" grpId="0"/>
      <p:bldP spid="15" grpId="0"/>
      <p:bldP spid="16" grpId="0"/>
      <p:bldP spid="51" grpId="0"/>
      <p:bldP spid="52" grpId="0"/>
      <p:bldP spid="55" grpId="0"/>
      <p:bldP spid="56" grpId="0"/>
      <p:bldP spid="60" grpId="0"/>
    </p:bld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7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passes de contours et un score géométrique retiennent le quadrilatère de la carte</a:t>
            </a:r>
          </a:p>
        </p:txBody>
      </p:sp>
      <p:sp>
        <p:nvSpPr>
          <p:cNvPr id="7" name="Rectangle 6"/>
          <p:cNvSpPr/>
          <p:nvPr/>
        </p:nvSpPr>
        <p:spPr>
          <a:xfrm>
            <a:off x="548640" y="1965960"/>
            <a:ext cx="1874519" cy="2148840"/>
          </a:xfrm>
          <a:prstGeom prst="rect">
            <a:avLst/>
          </a:prstGeom>
          <a:solidFill>
            <a:srgbClr val="FFFFFF"/>
          </a:solidFill>
          <a:ln w="25400">
            <a:solidFill>
              <a:srgbClr val="2E75B6"/>
            </a:solidFill>
          </a:ln>
        </p:spPr>
        <p:txBody>
          <a:bodyPr rtlCol="0" anchor="ctr"/>
          <a:lstStyle/>
          <a:p/>
        </p:txBody>
      </p:sp>
      <p:sp>
        <p:nvSpPr>
          <p:cNvPr id="8" name="TextBox 7"/>
          <p:cNvSpPr txBox="1"/>
          <p:nvPr/>
        </p:nvSpPr>
        <p:spPr>
          <a:xfrm>
            <a:off x="685800"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1</a:t>
            </a:r>
          </a:p>
        </p:txBody>
      </p:sp>
      <p:sp>
        <p:nvSpPr>
          <p:cNvPr id="9" name="TextBox 8"/>
          <p:cNvSpPr txBox="1"/>
          <p:nvPr/>
        </p:nvSpPr>
        <p:spPr>
          <a:xfrm>
            <a:off x="685800"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Conversion</a:t>
            </a:r>
          </a:p>
        </p:txBody>
      </p:sp>
      <p:sp>
        <p:nvSpPr>
          <p:cNvPr id="10" name="TextBox 9"/>
          <p:cNvSpPr txBox="1"/>
          <p:nvPr/>
        </p:nvSpPr>
        <p:spPr>
          <a:xfrm>
            <a:off x="685800"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frame YUV420 ou BGRA → Mat OpenCV</a:t>
            </a:r>
          </a:p>
        </p:txBody>
      </p:sp>
      <p:cxnSp>
        <p:nvCxnSpPr>
          <p:cNvPr id="11" name="Connector 10"/>
          <p:cNvCxnSpPr/>
          <p:nvPr/>
        </p:nvCxnSpPr>
        <p:spPr>
          <a:xfrm>
            <a:off x="2459736" y="3040380"/>
            <a:ext cx="140131" cy="0"/>
          </a:xfrm>
          <a:prstGeom prst="line">
            <a:avLst/>
          </a:prstGeom>
          <a:ln w="19050">
            <a:solidFill>
              <a:srgbClr val="1F3A5F"/>
            </a:solidFill>
            <a:tailEnd type="triangle" w="med" h="med"/>
          </a:ln>
        </p:spPr>
      </p:cxnSp>
      <p:sp>
        <p:nvSpPr>
          <p:cNvPr id="12" name="Rectangle 11"/>
          <p:cNvSpPr/>
          <p:nvPr/>
        </p:nvSpPr>
        <p:spPr>
          <a:xfrm>
            <a:off x="2636443" y="1965960"/>
            <a:ext cx="1508760" cy="2148840"/>
          </a:xfrm>
          <a:prstGeom prst="rect">
            <a:avLst/>
          </a:prstGeom>
          <a:solidFill>
            <a:srgbClr val="EEF2F6"/>
          </a:solidFill>
          <a:ln w="12700">
            <a:solidFill>
              <a:srgbClr val="CBD3DB"/>
            </a:solidFill>
          </a:ln>
        </p:spPr>
        <p:txBody>
          <a:bodyPr rtlCol="0" anchor="ctr"/>
          <a:lstStyle/>
          <a:p/>
        </p:txBody>
      </p:sp>
      <p:sp>
        <p:nvSpPr>
          <p:cNvPr id="13" name="TextBox 12"/>
          <p:cNvSpPr txBox="1"/>
          <p:nvPr/>
        </p:nvSpPr>
        <p:spPr>
          <a:xfrm>
            <a:off x="2773603" y="2075688"/>
            <a:ext cx="1234439" cy="274320"/>
          </a:xfrm>
          <a:prstGeom prst="rect">
            <a:avLst/>
          </a:prstGeom>
          <a:noFill/>
        </p:spPr>
        <p:txBody>
          <a:bodyPr wrap="square" lIns="0" rIns="0" tIns="0" bIns="0" anchor="t">
            <a:spAutoFit/>
          </a:bodyPr>
          <a:lstStyle/>
          <a:p>
            <a:pPr algn="l"/>
            <a:r>
              <a:rPr sz="1400" b="1" i="0">
                <a:solidFill>
                  <a:srgbClr val="2E75B6"/>
                </a:solidFill>
                <a:latin typeface="Arial"/>
              </a:rPr>
              <a:t>2</a:t>
            </a:r>
          </a:p>
        </p:txBody>
      </p:sp>
      <p:sp>
        <p:nvSpPr>
          <p:cNvPr id="14" name="TextBox 13"/>
          <p:cNvSpPr txBox="1"/>
          <p:nvPr/>
        </p:nvSpPr>
        <p:spPr>
          <a:xfrm>
            <a:off x="2773603" y="2350008"/>
            <a:ext cx="1280160" cy="365760"/>
          </a:xfrm>
          <a:prstGeom prst="rect">
            <a:avLst/>
          </a:prstGeom>
          <a:noFill/>
        </p:spPr>
        <p:txBody>
          <a:bodyPr wrap="square" lIns="0" rIns="0" tIns="0" bIns="0" anchor="t">
            <a:spAutoFit/>
          </a:bodyPr>
          <a:lstStyle/>
          <a:p>
            <a:pPr algn="l"/>
            <a:r>
              <a:rPr sz="1700" b="1" i="0">
                <a:solidFill>
                  <a:srgbClr val="1F3A5F"/>
                </a:solidFill>
                <a:latin typeface="Arial"/>
              </a:rPr>
              <a:t>CLAHE</a:t>
            </a:r>
          </a:p>
        </p:txBody>
      </p:sp>
      <p:sp>
        <p:nvSpPr>
          <p:cNvPr id="15" name="TextBox 14"/>
          <p:cNvSpPr txBox="1"/>
          <p:nvPr/>
        </p:nvSpPr>
        <p:spPr>
          <a:xfrm>
            <a:off x="2773603" y="2770632"/>
            <a:ext cx="1234439" cy="1280160"/>
          </a:xfrm>
          <a:prstGeom prst="rect">
            <a:avLst/>
          </a:prstGeom>
          <a:noFill/>
        </p:spPr>
        <p:txBody>
          <a:bodyPr wrap="square" lIns="0" rIns="0" tIns="0" bIns="0" anchor="t">
            <a:spAutoFit/>
          </a:bodyPr>
          <a:lstStyle/>
          <a:p>
            <a:pPr algn="l"/>
            <a:r>
              <a:rPr sz="1600" b="0" i="0">
                <a:solidFill>
                  <a:srgbClr val="1B2530"/>
                </a:solidFill>
                <a:latin typeface="Arial"/>
              </a:rPr>
              <a:t>contraste local</a:t>
            </a:r>
          </a:p>
          <a:p>
            <a:pPr algn="l"/>
            <a:r>
              <a:rPr sz="1600" b="0" i="0">
                <a:solidFill>
                  <a:srgbClr val="1B2530"/>
                </a:solidFill>
                <a:latin typeface="Arial"/>
              </a:rPr>
              <a:t>renforcé</a:t>
            </a:r>
          </a:p>
        </p:txBody>
      </p:sp>
      <p:cxnSp>
        <p:nvCxnSpPr>
          <p:cNvPr id="16" name="Connector 15"/>
          <p:cNvCxnSpPr/>
          <p:nvPr/>
        </p:nvCxnSpPr>
        <p:spPr>
          <a:xfrm>
            <a:off x="4181779" y="3040380"/>
            <a:ext cx="140132" cy="0"/>
          </a:xfrm>
          <a:prstGeom prst="line">
            <a:avLst/>
          </a:prstGeom>
          <a:ln w="19050">
            <a:solidFill>
              <a:srgbClr val="1F3A5F"/>
            </a:solidFill>
            <a:tailEnd type="triangle" w="med" h="med"/>
          </a:ln>
        </p:spPr>
      </p:cxnSp>
      <p:sp>
        <p:nvSpPr>
          <p:cNvPr id="17" name="Rectangle 16"/>
          <p:cNvSpPr/>
          <p:nvPr/>
        </p:nvSpPr>
        <p:spPr>
          <a:xfrm>
            <a:off x="4358487" y="1965960"/>
            <a:ext cx="3063240" cy="2148840"/>
          </a:xfrm>
          <a:prstGeom prst="rect">
            <a:avLst/>
          </a:prstGeom>
          <a:solidFill>
            <a:srgbClr val="FFFFFF"/>
          </a:solidFill>
          <a:ln w="25400">
            <a:solidFill>
              <a:srgbClr val="2E75B6"/>
            </a:solidFill>
          </a:ln>
        </p:spPr>
        <p:txBody>
          <a:bodyPr rtlCol="0" anchor="ctr"/>
          <a:lstStyle/>
          <a:p/>
        </p:txBody>
      </p:sp>
      <p:sp>
        <p:nvSpPr>
          <p:cNvPr id="18" name="TextBox 17"/>
          <p:cNvSpPr txBox="1"/>
          <p:nvPr/>
        </p:nvSpPr>
        <p:spPr>
          <a:xfrm>
            <a:off x="4495647" y="2075688"/>
            <a:ext cx="2788920" cy="274320"/>
          </a:xfrm>
          <a:prstGeom prst="rect">
            <a:avLst/>
          </a:prstGeom>
          <a:noFill/>
        </p:spPr>
        <p:txBody>
          <a:bodyPr wrap="square" lIns="0" rIns="0" tIns="0" bIns="0" anchor="t">
            <a:spAutoFit/>
          </a:bodyPr>
          <a:lstStyle/>
          <a:p>
            <a:pPr algn="l"/>
            <a:r>
              <a:rPr sz="1400" b="1" i="0">
                <a:solidFill>
                  <a:srgbClr val="2E75B6"/>
                </a:solidFill>
                <a:latin typeface="Arial"/>
              </a:rPr>
              <a:t>3</a:t>
            </a:r>
          </a:p>
        </p:txBody>
      </p:sp>
      <p:sp>
        <p:nvSpPr>
          <p:cNvPr id="19" name="TextBox 18"/>
          <p:cNvSpPr txBox="1"/>
          <p:nvPr/>
        </p:nvSpPr>
        <p:spPr>
          <a:xfrm>
            <a:off x="4495647" y="2350008"/>
            <a:ext cx="2834640" cy="365760"/>
          </a:xfrm>
          <a:prstGeom prst="rect">
            <a:avLst/>
          </a:prstGeom>
          <a:noFill/>
        </p:spPr>
        <p:txBody>
          <a:bodyPr wrap="square" lIns="0" rIns="0" tIns="0" bIns="0" anchor="t">
            <a:spAutoFit/>
          </a:bodyPr>
          <a:lstStyle/>
          <a:p>
            <a:pPr algn="l"/>
            <a:r>
              <a:rPr sz="1700" b="1" i="0">
                <a:solidFill>
                  <a:srgbClr val="1F3A5F"/>
                </a:solidFill>
                <a:latin typeface="Arial"/>
              </a:rPr>
              <a:t>4 passes → masques</a:t>
            </a:r>
          </a:p>
        </p:txBody>
      </p:sp>
      <p:sp>
        <p:nvSpPr>
          <p:cNvPr id="20" name="TextBox 19"/>
          <p:cNvSpPr txBox="1"/>
          <p:nvPr/>
        </p:nvSpPr>
        <p:spPr>
          <a:xfrm>
            <a:off x="4495647" y="2770632"/>
            <a:ext cx="2788920" cy="1280160"/>
          </a:xfrm>
          <a:prstGeom prst="rect">
            <a:avLst/>
          </a:prstGeom>
          <a:noFill/>
        </p:spPr>
        <p:txBody>
          <a:bodyPr wrap="square" lIns="0" rIns="0" tIns="0" bIns="0" anchor="t">
            <a:spAutoFit/>
          </a:bodyPr>
          <a:lstStyle/>
          <a:p>
            <a:pPr algn="l"/>
            <a:r>
              <a:rPr sz="1600" b="0" i="0">
                <a:solidFill>
                  <a:srgbClr val="1B2530"/>
                </a:solidFill>
                <a:latin typeface="Arial"/>
              </a:rPr>
              <a:t>Canny (seuils ×0,66/×1,33 de la médiane) · seuillage adaptatif · saturation HSV + Otsu · gradient morphologique</a:t>
            </a:r>
          </a:p>
        </p:txBody>
      </p:sp>
      <p:cxnSp>
        <p:nvCxnSpPr>
          <p:cNvPr id="21" name="Connector 20"/>
          <p:cNvCxnSpPr/>
          <p:nvPr/>
        </p:nvCxnSpPr>
        <p:spPr>
          <a:xfrm>
            <a:off x="7458303" y="3040380"/>
            <a:ext cx="140132" cy="0"/>
          </a:xfrm>
          <a:prstGeom prst="line">
            <a:avLst/>
          </a:prstGeom>
          <a:ln w="19050">
            <a:solidFill>
              <a:srgbClr val="1F3A5F"/>
            </a:solidFill>
            <a:tailEnd type="triangle" w="med" h="med"/>
          </a:ln>
        </p:spPr>
      </p:cxnSp>
      <p:sp>
        <p:nvSpPr>
          <p:cNvPr id="22" name="Rectangle 21"/>
          <p:cNvSpPr/>
          <p:nvPr/>
        </p:nvSpPr>
        <p:spPr>
          <a:xfrm>
            <a:off x="7635011" y="1965960"/>
            <a:ext cx="1920240" cy="2148840"/>
          </a:xfrm>
          <a:prstGeom prst="rect">
            <a:avLst/>
          </a:prstGeom>
          <a:solidFill>
            <a:srgbClr val="FFFFFF"/>
          </a:solidFill>
          <a:ln w="25400">
            <a:solidFill>
              <a:srgbClr val="2E75B6"/>
            </a:solidFill>
          </a:ln>
        </p:spPr>
        <p:txBody>
          <a:bodyPr rtlCol="0" anchor="ctr"/>
          <a:lstStyle/>
          <a:p/>
        </p:txBody>
      </p:sp>
      <p:sp>
        <p:nvSpPr>
          <p:cNvPr id="23" name="TextBox 22"/>
          <p:cNvSpPr txBox="1"/>
          <p:nvPr/>
        </p:nvSpPr>
        <p:spPr>
          <a:xfrm>
            <a:off x="7772171" y="2075688"/>
            <a:ext cx="1645920" cy="274320"/>
          </a:xfrm>
          <a:prstGeom prst="rect">
            <a:avLst/>
          </a:prstGeom>
          <a:noFill/>
        </p:spPr>
        <p:txBody>
          <a:bodyPr wrap="square" lIns="0" rIns="0" tIns="0" bIns="0" anchor="t">
            <a:spAutoFit/>
          </a:bodyPr>
          <a:lstStyle/>
          <a:p>
            <a:pPr algn="l"/>
            <a:r>
              <a:rPr sz="1400" b="1" i="0">
                <a:solidFill>
                  <a:srgbClr val="2E75B6"/>
                </a:solidFill>
                <a:latin typeface="Arial"/>
              </a:rPr>
              <a:t>4</a:t>
            </a:r>
          </a:p>
        </p:txBody>
      </p:sp>
      <p:sp>
        <p:nvSpPr>
          <p:cNvPr id="24" name="TextBox 23"/>
          <p:cNvSpPr txBox="1"/>
          <p:nvPr/>
        </p:nvSpPr>
        <p:spPr>
          <a:xfrm>
            <a:off x="7772171" y="2350008"/>
            <a:ext cx="1691640" cy="365760"/>
          </a:xfrm>
          <a:prstGeom prst="rect">
            <a:avLst/>
          </a:prstGeom>
          <a:noFill/>
        </p:spPr>
        <p:txBody>
          <a:bodyPr wrap="square" lIns="0" rIns="0" tIns="0" bIns="0" anchor="t">
            <a:spAutoFit/>
          </a:bodyPr>
          <a:lstStyle/>
          <a:p>
            <a:pPr algn="l"/>
            <a:r>
              <a:rPr sz="1700" b="1" i="0">
                <a:solidFill>
                  <a:srgbClr val="1F3A5F"/>
                </a:solidFill>
                <a:latin typeface="Arial"/>
              </a:rPr>
              <a:t>Score</a:t>
            </a:r>
          </a:p>
        </p:txBody>
      </p:sp>
      <p:sp>
        <p:nvSpPr>
          <p:cNvPr id="25" name="TextBox 24"/>
          <p:cNvSpPr txBox="1"/>
          <p:nvPr/>
        </p:nvSpPr>
        <p:spPr>
          <a:xfrm>
            <a:off x="7772171" y="2770632"/>
            <a:ext cx="1645920" cy="1280160"/>
          </a:xfrm>
          <a:prstGeom prst="rect">
            <a:avLst/>
          </a:prstGeom>
          <a:noFill/>
        </p:spPr>
        <p:txBody>
          <a:bodyPr wrap="square" lIns="0" rIns="0" tIns="0" bIns="0" anchor="t">
            <a:spAutoFit/>
          </a:bodyPr>
          <a:lstStyle/>
          <a:p>
            <a:pPr algn="l"/>
            <a:r>
              <a:rPr sz="1600" b="0" i="0">
                <a:solidFill>
                  <a:srgbClr val="1B2530"/>
                </a:solidFill>
                <a:latin typeface="Arial"/>
              </a:rPr>
              <a:t>0,8 × proportion</a:t>
            </a:r>
          </a:p>
          <a:p>
            <a:pPr algn="l"/>
            <a:r>
              <a:rPr sz="1600" b="0" i="0">
                <a:solidFill>
                  <a:srgbClr val="1B2530"/>
                </a:solidFill>
                <a:latin typeface="Arial"/>
              </a:rPr>
              <a:t>+ 0,2 × taille</a:t>
            </a:r>
          </a:p>
          <a:p>
            <a:pPr algn="l"/>
            <a:r>
              <a:rPr sz="1600" b="0" i="0">
                <a:solidFill>
                  <a:srgbClr val="1B2530"/>
                </a:solidFill>
                <a:latin typeface="Arial"/>
              </a:rPr>
              <a:t>retenu si ≥ 0,30</a:t>
            </a:r>
          </a:p>
          <a:p>
            <a:pPr algn="l"/>
            <a:r>
              <a:rPr sz="1600" b="0" i="0">
                <a:solidFill>
                  <a:srgbClr val="1B2530"/>
                </a:solidFill>
                <a:latin typeface="Arial"/>
              </a:rPr>
              <a:t>×0,85 si quad approché</a:t>
            </a:r>
          </a:p>
        </p:txBody>
      </p:sp>
      <p:cxnSp>
        <p:nvCxnSpPr>
          <p:cNvPr id="26" name="Connector 25"/>
          <p:cNvCxnSpPr/>
          <p:nvPr/>
        </p:nvCxnSpPr>
        <p:spPr>
          <a:xfrm>
            <a:off x="9591827" y="3040380"/>
            <a:ext cx="140132" cy="0"/>
          </a:xfrm>
          <a:prstGeom prst="line">
            <a:avLst/>
          </a:prstGeom>
          <a:ln w="19050">
            <a:solidFill>
              <a:srgbClr val="1F3A5F"/>
            </a:solidFill>
            <a:tailEnd type="triangle" w="med" h="med"/>
          </a:ln>
        </p:spPr>
      </p:cxnSp>
      <p:sp>
        <p:nvSpPr>
          <p:cNvPr id="27" name="Rectangle 26"/>
          <p:cNvSpPr/>
          <p:nvPr/>
        </p:nvSpPr>
        <p:spPr>
          <a:xfrm>
            <a:off x="9768535" y="1965960"/>
            <a:ext cx="1874519" cy="2148840"/>
          </a:xfrm>
          <a:prstGeom prst="rect">
            <a:avLst/>
          </a:prstGeom>
          <a:solidFill>
            <a:srgbClr val="EEF2F6"/>
          </a:solidFill>
          <a:ln w="12700">
            <a:solidFill>
              <a:srgbClr val="CBD3DB"/>
            </a:solidFill>
          </a:ln>
        </p:spPr>
        <p:txBody>
          <a:bodyPr rtlCol="0" anchor="ctr"/>
          <a:lstStyle/>
          <a:p/>
        </p:txBody>
      </p:sp>
      <p:sp>
        <p:nvSpPr>
          <p:cNvPr id="28" name="TextBox 27"/>
          <p:cNvSpPr txBox="1"/>
          <p:nvPr/>
        </p:nvSpPr>
        <p:spPr>
          <a:xfrm>
            <a:off x="9905695" y="2075688"/>
            <a:ext cx="1600199" cy="274320"/>
          </a:xfrm>
          <a:prstGeom prst="rect">
            <a:avLst/>
          </a:prstGeom>
          <a:noFill/>
        </p:spPr>
        <p:txBody>
          <a:bodyPr wrap="square" lIns="0" rIns="0" tIns="0" bIns="0" anchor="t">
            <a:spAutoFit/>
          </a:bodyPr>
          <a:lstStyle/>
          <a:p>
            <a:pPr algn="l"/>
            <a:r>
              <a:rPr sz="1400" b="1" i="0">
                <a:solidFill>
                  <a:srgbClr val="2E75B6"/>
                </a:solidFill>
                <a:latin typeface="Arial"/>
              </a:rPr>
              <a:t>5</a:t>
            </a:r>
          </a:p>
        </p:txBody>
      </p:sp>
      <p:sp>
        <p:nvSpPr>
          <p:cNvPr id="29" name="TextBox 28"/>
          <p:cNvSpPr txBox="1"/>
          <p:nvPr/>
        </p:nvSpPr>
        <p:spPr>
          <a:xfrm>
            <a:off x="9905695" y="2350008"/>
            <a:ext cx="1645919" cy="365760"/>
          </a:xfrm>
          <a:prstGeom prst="rect">
            <a:avLst/>
          </a:prstGeom>
          <a:noFill/>
        </p:spPr>
        <p:txBody>
          <a:bodyPr wrap="square" lIns="0" rIns="0" tIns="0" bIns="0" anchor="t">
            <a:spAutoFit/>
          </a:bodyPr>
          <a:lstStyle/>
          <a:p>
            <a:pPr algn="l"/>
            <a:r>
              <a:rPr sz="1700" b="1" i="0">
                <a:solidFill>
                  <a:srgbClr val="1F3A5F"/>
                </a:solidFill>
                <a:latin typeface="Arial"/>
              </a:rPr>
              <a:t>Redressement</a:t>
            </a:r>
          </a:p>
        </p:txBody>
      </p:sp>
      <p:sp>
        <p:nvSpPr>
          <p:cNvPr id="30" name="TextBox 29"/>
          <p:cNvSpPr txBox="1"/>
          <p:nvPr/>
        </p:nvSpPr>
        <p:spPr>
          <a:xfrm>
            <a:off x="9905695" y="2770632"/>
            <a:ext cx="1600199" cy="1280160"/>
          </a:xfrm>
          <a:prstGeom prst="rect">
            <a:avLst/>
          </a:prstGeom>
          <a:noFill/>
        </p:spPr>
        <p:txBody>
          <a:bodyPr wrap="square" lIns="0" rIns="0" tIns="0" bIns="0" anchor="t">
            <a:spAutoFit/>
          </a:bodyPr>
          <a:lstStyle/>
          <a:p>
            <a:pPr algn="l"/>
            <a:r>
              <a:rPr sz="1600" b="0" i="0">
                <a:solidFill>
                  <a:srgbClr val="1B2530"/>
                </a:solidFill>
                <a:latin typeface="Arial"/>
              </a:rPr>
              <a:t>homographie</a:t>
            </a:r>
          </a:p>
          <a:p>
            <a:pPr algn="l"/>
            <a:r>
              <a:rPr sz="1600" b="0" i="0">
                <a:solidFill>
                  <a:srgbClr val="1B2530"/>
                </a:solidFill>
                <a:latin typeface="Arial"/>
              </a:rPr>
              <a:t>→ 856 × 540 px</a:t>
            </a:r>
          </a:p>
          <a:p>
            <a:pPr algn="l"/>
            <a:r>
              <a:rPr sz="1600" b="0" i="0">
                <a:solidFill>
                  <a:srgbClr val="1B2530"/>
                </a:solidFill>
                <a:latin typeface="Arial"/>
              </a:rPr>
              <a:t>quad resserré de 1,5 %</a:t>
            </a:r>
          </a:p>
        </p:txBody>
      </p:sp>
      <p:sp>
        <p:nvSpPr>
          <p:cNvPr id="31" name="TextBox 30"/>
          <p:cNvSpPr txBox="1"/>
          <p:nvPr/>
        </p:nvSpPr>
        <p:spPr>
          <a:xfrm>
            <a:off x="548640" y="4434840"/>
            <a:ext cx="11094415" cy="320040"/>
          </a:xfrm>
          <a:prstGeom prst="rect">
            <a:avLst/>
          </a:prstGeom>
          <a:noFill/>
        </p:spPr>
        <p:txBody>
          <a:bodyPr wrap="square" lIns="0" rIns="0" tIns="0" bIns="0" anchor="t">
            <a:spAutoFit/>
          </a:bodyPr>
          <a:lstStyle/>
          <a:p>
            <a:pPr algn="l"/>
            <a:r>
              <a:rPr sz="1300" b="1" i="0">
                <a:solidFill>
                  <a:srgbClr val="2E75B6"/>
                </a:solidFill>
                <a:latin typeface="Arial"/>
              </a:rPr>
              <a:t>CONÇU ET DÉVELOPPÉ PENDANT LE STAGE, AUTOUR DES PRIMITIVES OPENCV</a:t>
            </a:r>
          </a:p>
        </p:txBody>
      </p:sp>
      <p:cxnSp>
        <p:nvCxnSpPr>
          <p:cNvPr id="32" name="Connector 31"/>
          <p:cNvCxnSpPr/>
          <p:nvPr/>
        </p:nvCxnSpPr>
        <p:spPr>
          <a:xfrm>
            <a:off x="548640" y="4864607"/>
            <a:ext cx="0" cy="987552"/>
          </a:xfrm>
          <a:prstGeom prst="line">
            <a:avLst/>
          </a:prstGeom>
          <a:ln w="25400">
            <a:solidFill>
              <a:srgbClr val="2E75B6"/>
            </a:solidFill>
          </a:ln>
        </p:spPr>
      </p:cxnSp>
      <p:sp>
        <p:nvSpPr>
          <p:cNvPr id="33" name="TextBox 32"/>
          <p:cNvSpPr txBox="1"/>
          <p:nvPr/>
        </p:nvSpPr>
        <p:spPr>
          <a:xfrm>
            <a:off x="685800"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Sortie anticipée</a:t>
            </a:r>
          </a:p>
          <a:p>
            <a:pPr algn="l"/>
            <a:r>
              <a:rPr sz="1600" b="0" i="0">
                <a:solidFill>
                  <a:srgbClr val="1B2530"/>
                </a:solidFill>
                <a:latin typeface="Arial"/>
              </a:rPr>
              <a:t>les passes suivantes ne tournent que si aucun candidat n'atteint 0,65</a:t>
            </a:r>
          </a:p>
        </p:txBody>
      </p:sp>
      <p:cxnSp>
        <p:nvCxnSpPr>
          <p:cNvPr id="34" name="Connector 33"/>
          <p:cNvCxnSpPr/>
          <p:nvPr/>
        </p:nvCxnSpPr>
        <p:spPr>
          <a:xfrm>
            <a:off x="3390823" y="4864607"/>
            <a:ext cx="0" cy="987552"/>
          </a:xfrm>
          <a:prstGeom prst="line">
            <a:avLst/>
          </a:prstGeom>
          <a:ln w="25400">
            <a:solidFill>
              <a:srgbClr val="2E75B6"/>
            </a:solidFill>
          </a:ln>
        </p:spPr>
      </p:cxnSp>
      <p:sp>
        <p:nvSpPr>
          <p:cNvPr id="35" name="TextBox 34"/>
          <p:cNvSpPr txBox="1"/>
          <p:nvPr/>
        </p:nvSpPr>
        <p:spPr>
          <a:xfrm>
            <a:off x="3527983"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Suivi</a:t>
            </a:r>
          </a:p>
          <a:p>
            <a:pPr algn="l"/>
            <a:r>
              <a:rPr sz="1600" b="0" i="0">
                <a:solidFill>
                  <a:srgbClr val="1B2530"/>
                </a:solidFill>
                <a:latin typeface="Arial"/>
              </a:rPr>
              <a:t>carte trouvée : recherche limitée à ±20 % autour du quad précédent</a:t>
            </a:r>
          </a:p>
        </p:txBody>
      </p:sp>
      <p:cxnSp>
        <p:nvCxnSpPr>
          <p:cNvPr id="36" name="Connector 35"/>
          <p:cNvCxnSpPr/>
          <p:nvPr/>
        </p:nvCxnSpPr>
        <p:spPr>
          <a:xfrm>
            <a:off x="6233007" y="4864607"/>
            <a:ext cx="0" cy="987552"/>
          </a:xfrm>
          <a:prstGeom prst="line">
            <a:avLst/>
          </a:prstGeom>
          <a:ln w="25400">
            <a:solidFill>
              <a:srgbClr val="2E75B6"/>
            </a:solidFill>
          </a:ln>
        </p:spPr>
      </p:cxnSp>
      <p:sp>
        <p:nvSpPr>
          <p:cNvPr id="37" name="TextBox 36"/>
          <p:cNvSpPr txBox="1"/>
          <p:nvPr/>
        </p:nvSpPr>
        <p:spPr>
          <a:xfrm>
            <a:off x="6370167"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Garde-fous</a:t>
            </a:r>
          </a:p>
          <a:p>
            <a:pPr algn="l"/>
            <a:r>
              <a:rPr sz="1600" b="0" i="0">
                <a:solidFill>
                  <a:srgbClr val="1B2530"/>
                </a:solidFill>
                <a:latin typeface="Arial"/>
              </a:rPr>
              <a:t>rejet des quads collés au bord ou couvrant plus de 75 % de l'image</a:t>
            </a:r>
          </a:p>
        </p:txBody>
      </p:sp>
      <p:cxnSp>
        <p:nvCxnSpPr>
          <p:cNvPr id="38" name="Connector 37"/>
          <p:cNvCxnSpPr/>
          <p:nvPr/>
        </p:nvCxnSpPr>
        <p:spPr>
          <a:xfrm>
            <a:off x="9075191" y="4864607"/>
            <a:ext cx="0" cy="987552"/>
          </a:xfrm>
          <a:prstGeom prst="line">
            <a:avLst/>
          </a:prstGeom>
          <a:ln w="25400">
            <a:solidFill>
              <a:srgbClr val="2E75B6"/>
            </a:solidFill>
          </a:ln>
        </p:spPr>
      </p:cxnSp>
      <p:sp>
        <p:nvSpPr>
          <p:cNvPr id="39" name="TextBox 38"/>
          <p:cNvSpPr txBox="1"/>
          <p:nvPr/>
        </p:nvSpPr>
        <p:spPr>
          <a:xfrm>
            <a:off x="9212351" y="4846320"/>
            <a:ext cx="2384983" cy="1097280"/>
          </a:xfrm>
          <a:prstGeom prst="rect">
            <a:avLst/>
          </a:prstGeom>
          <a:noFill/>
        </p:spPr>
        <p:txBody>
          <a:bodyPr wrap="square" lIns="0" rIns="0" tIns="0" bIns="0" anchor="t">
            <a:spAutoFit/>
          </a:bodyPr>
          <a:lstStyle/>
          <a:p>
            <a:pPr algn="l"/>
            <a:r>
              <a:rPr sz="1600" b="1" i="0">
                <a:solidFill>
                  <a:srgbClr val="1F3A5F"/>
                </a:solidFill>
                <a:latin typeface="Arial"/>
              </a:rPr>
              <a:t>Isolate Dart</a:t>
            </a:r>
          </a:p>
          <a:p>
            <a:pPr algn="l"/>
            <a:r>
              <a:rPr sz="1600" b="0" i="0">
                <a:solidFill>
                  <a:srgbClr val="1B2530"/>
                </a:solidFill>
                <a:latin typeface="Arial"/>
              </a:rPr>
              <a:t>pipeline hors du thread d'interface ; frame ignorée si l'isolate est occupé</a:t>
            </a:r>
          </a:p>
        </p:txBody>
      </p:sp>
      <p:sp>
        <p:nvSpPr>
          <p:cNvPr id="40" name="Rectangle 39"/>
          <p:cNvSpPr/>
          <p:nvPr/>
        </p:nvSpPr>
        <p:spPr>
          <a:xfrm>
            <a:off x="548640" y="6053328"/>
            <a:ext cx="274320" cy="182880"/>
          </a:xfrm>
          <a:prstGeom prst="rect">
            <a:avLst/>
          </a:prstGeom>
          <a:solidFill>
            <a:srgbClr val="EEF2F6"/>
          </a:solidFill>
          <a:ln w="12700">
            <a:solidFill>
              <a:srgbClr val="CBD3DB"/>
            </a:solidFill>
          </a:ln>
        </p:spPr>
        <p:txBody>
          <a:bodyPr rtlCol="0" anchor="ctr"/>
          <a:lstStyle/>
          <a:p/>
        </p:txBody>
      </p:sp>
      <p:sp>
        <p:nvSpPr>
          <p:cNvPr id="41" name="TextBox 40"/>
          <p:cNvSpPr txBox="1"/>
          <p:nvPr/>
        </p:nvSpPr>
        <p:spPr>
          <a:xfrm>
            <a:off x="914400" y="6035040"/>
            <a:ext cx="2926080" cy="228600"/>
          </a:xfrm>
          <a:prstGeom prst="rect">
            <a:avLst/>
          </a:prstGeom>
          <a:noFill/>
        </p:spPr>
        <p:txBody>
          <a:bodyPr wrap="square" lIns="0" rIns="0" tIns="0" bIns="0" anchor="t">
            <a:spAutoFit/>
          </a:bodyPr>
          <a:lstStyle/>
          <a:p>
            <a:pPr algn="l"/>
            <a:r>
              <a:rPr sz="1200" b="0" i="0">
                <a:solidFill>
                  <a:srgbClr val="5B6B7A"/>
                </a:solidFill>
                <a:latin typeface="Arial"/>
              </a:rPr>
              <a:t>primitive OpenCV</a:t>
            </a:r>
          </a:p>
        </p:txBody>
      </p:sp>
      <p:sp>
        <p:nvSpPr>
          <p:cNvPr id="42" name="Rectangle 41"/>
          <p:cNvSpPr/>
          <p:nvPr/>
        </p:nvSpPr>
        <p:spPr>
          <a:xfrm>
            <a:off x="2560320" y="6053328"/>
            <a:ext cx="274320" cy="182880"/>
          </a:xfrm>
          <a:prstGeom prst="rect">
            <a:avLst/>
          </a:prstGeom>
          <a:solidFill>
            <a:srgbClr val="FFFFFF"/>
          </a:solidFill>
          <a:ln w="19050">
            <a:solidFill>
              <a:srgbClr val="2E75B6"/>
            </a:solidFill>
          </a:ln>
        </p:spPr>
        <p:txBody>
          <a:bodyPr rtlCol="0" anchor="ctr"/>
          <a:lstStyle/>
          <a:p/>
        </p:txBody>
      </p:sp>
      <p:sp>
        <p:nvSpPr>
          <p:cNvPr id="43" name="TextBox 42"/>
          <p:cNvSpPr txBox="1"/>
          <p:nvPr/>
        </p:nvSpPr>
        <p:spPr>
          <a:xfrm>
            <a:off x="2926080" y="6035040"/>
            <a:ext cx="4572000" cy="228600"/>
          </a:xfrm>
          <a:prstGeom prst="rect">
            <a:avLst/>
          </a:prstGeom>
          <a:noFill/>
        </p:spPr>
        <p:txBody>
          <a:bodyPr wrap="square" lIns="0" rIns="0" tIns="0" bIns="0" anchor="t">
            <a:spAutoFit/>
          </a:bodyPr>
          <a:lstStyle/>
          <a:p>
            <a:pPr algn="l"/>
            <a:r>
              <a:rPr sz="1200" b="0" i="0">
                <a:solidFill>
                  <a:srgbClr val="5B6B7A"/>
                </a:solidFill>
                <a:latin typeface="Arial"/>
              </a:rPr>
              <a:t>conçu dans le stage (la passe 3 combine les deux)</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50"/>
                                        <p:tgtEl>
                                          <p:spTgt spid="9"/>
                                        </p:tgtEl>
                                      </p:cBhvr>
                                    </p:animEffect>
                                  </p:childTnLst>
                                </p:cTn>
                              </p:par>
                              <p:par>
                                <p:cTn id="18" presetID="10" presetClass="entr" presetSubtype="0" fill="hold"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50"/>
                                        <p:tgtEl>
                                          <p:spTgt spid="10"/>
                                        </p:tgtEl>
                                      </p:cBhvr>
                                    </p:animEffect>
                                  </p:childTnLst>
                                </p:cTn>
                              </p:par>
                              <p:par>
                                <p:cTn id="21" presetID="10" presetClass="entr" presetSubtype="0" fill="hold" nodeType="withEffect">
                                  <p:stCondLst>
                                    <p:cond delay="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350"/>
                                        <p:tgtEl>
                                          <p:spTgt spid="12"/>
                                        </p:tgtEl>
                                      </p:cBhvr>
                                    </p:animEffect>
                                  </p:childTnLst>
                                </p:cTn>
                              </p:par>
                              <p:par>
                                <p:cTn id="24" presetID="10" presetClass="entr" presetSubtype="0" fill="hold" nodeType="withEffect">
                                  <p:stCondLst>
                                    <p:cond delay="0"/>
                                  </p:stCondLst>
                                  <p:childTnLst>
                                    <p:set>
                                      <p:cBhvr>
                                        <p:cTn id="25" dur="1" fill="hold">
                                          <p:stCondLst>
                                            <p:cond delay="0"/>
                                          </p:stCondLst>
                                        </p:cTn>
                                        <p:tgtEl>
                                          <p:spTgt spid="13"/>
                                        </p:tgtEl>
                                        <p:attrNameLst>
                                          <p:attrName>style.visibility</p:attrName>
                                        </p:attrNameLst>
                                      </p:cBhvr>
                                      <p:to>
                                        <p:strVal val="visible"/>
                                      </p:to>
                                    </p:set>
                                    <p:animEffect transition="in" filter="fade">
                                      <p:cBhvr>
                                        <p:cTn id="26" dur="350"/>
                                        <p:tgtEl>
                                          <p:spTgt spid="13"/>
                                        </p:tgtEl>
                                      </p:cBhvr>
                                    </p:animEffect>
                                  </p:childTnLst>
                                </p:cTn>
                              </p:par>
                              <p:par>
                                <p:cTn id="27" presetID="10" presetClass="entr" presetSubtype="0" fill="hold" nodeType="withEffect">
                                  <p:stCondLst>
                                    <p:cond delay="0"/>
                                  </p:stCondLst>
                                  <p:childTnLst>
                                    <p:set>
                                      <p:cBhvr>
                                        <p:cTn id="28" dur="1" fill="hold">
                                          <p:stCondLst>
                                            <p:cond delay="0"/>
                                          </p:stCondLst>
                                        </p:cTn>
                                        <p:tgtEl>
                                          <p:spTgt spid="14"/>
                                        </p:tgtEl>
                                        <p:attrNameLst>
                                          <p:attrName>style.visibility</p:attrName>
                                        </p:attrNameLst>
                                      </p:cBhvr>
                                      <p:to>
                                        <p:strVal val="visible"/>
                                      </p:to>
                                    </p:set>
                                    <p:animEffect transition="in" filter="fade">
                                      <p:cBhvr>
                                        <p:cTn id="29" dur="350"/>
                                        <p:tgtEl>
                                          <p:spTgt spid="14"/>
                                        </p:tgtEl>
                                      </p:cBhvr>
                                    </p:animEffect>
                                  </p:childTnLst>
                                </p:cTn>
                              </p:par>
                              <p:par>
                                <p:cTn id="30" presetID="10" presetClass="entr" presetSubtype="0" fill="hold" nodeType="withEffect">
                                  <p:stCondLst>
                                    <p:cond delay="0"/>
                                  </p:stCondLst>
                                  <p:childTnLst>
                                    <p:set>
                                      <p:cBhvr>
                                        <p:cTn id="31" dur="1" fill="hold">
                                          <p:stCondLst>
                                            <p:cond delay="0"/>
                                          </p:stCondLst>
                                        </p:cTn>
                                        <p:tgtEl>
                                          <p:spTgt spid="15"/>
                                        </p:tgtEl>
                                        <p:attrNameLst>
                                          <p:attrName>style.visibility</p:attrName>
                                        </p:attrNameLst>
                                      </p:cBhvr>
                                      <p:to>
                                        <p:strVal val="visible"/>
                                      </p:to>
                                    </p:set>
                                    <p:animEffect transition="in" filter="fade">
                                      <p:cBhvr>
                                        <p:cTn id="32" dur="350"/>
                                        <p:tgtEl>
                                          <p:spTgt spid="15"/>
                                        </p:tgtEl>
                                      </p:cBhvr>
                                    </p:animEffect>
                                  </p:childTnLst>
                                </p:cTn>
                              </p:par>
                              <p:par>
                                <p:cTn id="33" presetID="10" presetClass="entr" presetSubtype="0" fill="hold" nodeType="with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350"/>
                                        <p:tgtEl>
                                          <p:spTgt spid="17"/>
                                        </p:tgtEl>
                                      </p:cBhvr>
                                    </p:animEffect>
                                  </p:childTnLst>
                                </p:cTn>
                              </p:par>
                              <p:par>
                                <p:cTn id="36" presetID="10" presetClass="entr" presetSubtype="0" fill="hold" nodeType="withEffect">
                                  <p:stCondLst>
                                    <p:cond delay="0"/>
                                  </p:stCondLst>
                                  <p:childTnLst>
                                    <p:set>
                                      <p:cBhvr>
                                        <p:cTn id="37" dur="1" fill="hold">
                                          <p:stCondLst>
                                            <p:cond delay="0"/>
                                          </p:stCondLst>
                                        </p:cTn>
                                        <p:tgtEl>
                                          <p:spTgt spid="18"/>
                                        </p:tgtEl>
                                        <p:attrNameLst>
                                          <p:attrName>style.visibility</p:attrName>
                                        </p:attrNameLst>
                                      </p:cBhvr>
                                      <p:to>
                                        <p:strVal val="visible"/>
                                      </p:to>
                                    </p:set>
                                    <p:animEffect transition="in" filter="fade">
                                      <p:cBhvr>
                                        <p:cTn id="38" dur="350"/>
                                        <p:tgtEl>
                                          <p:spTgt spid="18"/>
                                        </p:tgtEl>
                                      </p:cBhvr>
                                    </p:animEffect>
                                  </p:childTnLst>
                                </p:cTn>
                              </p:par>
                              <p:par>
                                <p:cTn id="39" presetID="10"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fade">
                                      <p:cBhvr>
                                        <p:cTn id="41" dur="350"/>
                                        <p:tgtEl>
                                          <p:spTgt spid="19"/>
                                        </p:tgtEl>
                                      </p:cBhvr>
                                    </p:animEffect>
                                  </p:childTnLst>
                                </p:cTn>
                              </p:par>
                              <p:par>
                                <p:cTn id="42" presetID="10" presetClass="entr" presetSubtype="0" fill="hold" nodeType="withEffect">
                                  <p:stCondLst>
                                    <p:cond delay="0"/>
                                  </p:stCondLst>
                                  <p:childTnLst>
                                    <p:set>
                                      <p:cBhvr>
                                        <p:cTn id="43" dur="1" fill="hold">
                                          <p:stCondLst>
                                            <p:cond delay="0"/>
                                          </p:stCondLst>
                                        </p:cTn>
                                        <p:tgtEl>
                                          <p:spTgt spid="20"/>
                                        </p:tgtEl>
                                        <p:attrNameLst>
                                          <p:attrName>style.visibility</p:attrName>
                                        </p:attrNameLst>
                                      </p:cBhvr>
                                      <p:to>
                                        <p:strVal val="visible"/>
                                      </p:to>
                                    </p:set>
                                    <p:animEffect transition="in" filter="fade">
                                      <p:cBhvr>
                                        <p:cTn id="44" dur="350"/>
                                        <p:tgtEl>
                                          <p:spTgt spid="20"/>
                                        </p:tgtEl>
                                      </p:cBhvr>
                                    </p:animEffect>
                                  </p:childTnLst>
                                </p:cTn>
                              </p:par>
                              <p:par>
                                <p:cTn id="45" presetID="10" presetClass="entr" presetSubtype="0" fill="hold" nodeType="withEffect">
                                  <p:stCondLst>
                                    <p:cond delay="0"/>
                                  </p:stCondLst>
                                  <p:childTnLst>
                                    <p:set>
                                      <p:cBhvr>
                                        <p:cTn id="46" dur="1" fill="hold">
                                          <p:stCondLst>
                                            <p:cond delay="0"/>
                                          </p:stCondLst>
                                        </p:cTn>
                                        <p:tgtEl>
                                          <p:spTgt spid="22"/>
                                        </p:tgtEl>
                                        <p:attrNameLst>
                                          <p:attrName>style.visibility</p:attrName>
                                        </p:attrNameLst>
                                      </p:cBhvr>
                                      <p:to>
                                        <p:strVal val="visible"/>
                                      </p:to>
                                    </p:set>
                                    <p:animEffect transition="in" filter="fade">
                                      <p:cBhvr>
                                        <p:cTn id="47" dur="350"/>
                                        <p:tgtEl>
                                          <p:spTgt spid="22"/>
                                        </p:tgtEl>
                                      </p:cBhvr>
                                    </p:animEffect>
                                  </p:childTnLst>
                                </p:cTn>
                              </p:par>
                              <p:par>
                                <p:cTn id="48" presetID="10" presetClass="entr" presetSubtype="0" fill="hold" nodeType="withEffect">
                                  <p:stCondLst>
                                    <p:cond delay="0"/>
                                  </p:stCondLst>
                                  <p:childTnLst>
                                    <p:set>
                                      <p:cBhvr>
                                        <p:cTn id="49" dur="1" fill="hold">
                                          <p:stCondLst>
                                            <p:cond delay="0"/>
                                          </p:stCondLst>
                                        </p:cTn>
                                        <p:tgtEl>
                                          <p:spTgt spid="23"/>
                                        </p:tgtEl>
                                        <p:attrNameLst>
                                          <p:attrName>style.visibility</p:attrName>
                                        </p:attrNameLst>
                                      </p:cBhvr>
                                      <p:to>
                                        <p:strVal val="visible"/>
                                      </p:to>
                                    </p:set>
                                    <p:animEffect transition="in" filter="fade">
                                      <p:cBhvr>
                                        <p:cTn id="50" dur="350"/>
                                        <p:tgtEl>
                                          <p:spTgt spid="23"/>
                                        </p:tgtEl>
                                      </p:cBhvr>
                                    </p:animEffect>
                                  </p:childTnLst>
                                </p:cTn>
                              </p:par>
                              <p:par>
                                <p:cTn id="51" presetID="10" presetClass="entr" presetSubtype="0" fill="hold" nodeType="withEffect">
                                  <p:stCondLst>
                                    <p:cond delay="0"/>
                                  </p:stCondLst>
                                  <p:childTnLst>
                                    <p:set>
                                      <p:cBhvr>
                                        <p:cTn id="52" dur="1" fill="hold">
                                          <p:stCondLst>
                                            <p:cond delay="0"/>
                                          </p:stCondLst>
                                        </p:cTn>
                                        <p:tgtEl>
                                          <p:spTgt spid="24"/>
                                        </p:tgtEl>
                                        <p:attrNameLst>
                                          <p:attrName>style.visibility</p:attrName>
                                        </p:attrNameLst>
                                      </p:cBhvr>
                                      <p:to>
                                        <p:strVal val="visible"/>
                                      </p:to>
                                    </p:set>
                                    <p:animEffect transition="in" filter="fade">
                                      <p:cBhvr>
                                        <p:cTn id="53" dur="350"/>
                                        <p:tgtEl>
                                          <p:spTgt spid="24"/>
                                        </p:tgtEl>
                                      </p:cBhvr>
                                    </p:animEffect>
                                  </p:childTnLst>
                                </p:cTn>
                              </p:par>
                              <p:par>
                                <p:cTn id="54" presetID="10" presetClass="entr" presetSubtype="0" fill="hold" nodeType="withEffect">
                                  <p:stCondLst>
                                    <p:cond delay="0"/>
                                  </p:stCondLst>
                                  <p:childTnLst>
                                    <p:set>
                                      <p:cBhvr>
                                        <p:cTn id="55" dur="1" fill="hold">
                                          <p:stCondLst>
                                            <p:cond delay="0"/>
                                          </p:stCondLst>
                                        </p:cTn>
                                        <p:tgtEl>
                                          <p:spTgt spid="25"/>
                                        </p:tgtEl>
                                        <p:attrNameLst>
                                          <p:attrName>style.visibility</p:attrName>
                                        </p:attrNameLst>
                                      </p:cBhvr>
                                      <p:to>
                                        <p:strVal val="visible"/>
                                      </p:to>
                                    </p:set>
                                    <p:animEffect transition="in" filter="fade">
                                      <p:cBhvr>
                                        <p:cTn id="56" dur="350"/>
                                        <p:tgtEl>
                                          <p:spTgt spid="25"/>
                                        </p:tgtEl>
                                      </p:cBhvr>
                                    </p:animEffect>
                                  </p:childTnLst>
                                </p:cTn>
                              </p:par>
                              <p:par>
                                <p:cTn id="57" presetID="10" presetClass="entr" presetSubtype="0" fill="hold" nodeType="withEffect">
                                  <p:stCondLst>
                                    <p:cond delay="0"/>
                                  </p:stCondLst>
                                  <p:childTnLst>
                                    <p:set>
                                      <p:cBhvr>
                                        <p:cTn id="58" dur="1" fill="hold">
                                          <p:stCondLst>
                                            <p:cond delay="0"/>
                                          </p:stCondLst>
                                        </p:cTn>
                                        <p:tgtEl>
                                          <p:spTgt spid="27"/>
                                        </p:tgtEl>
                                        <p:attrNameLst>
                                          <p:attrName>style.visibility</p:attrName>
                                        </p:attrNameLst>
                                      </p:cBhvr>
                                      <p:to>
                                        <p:strVal val="visible"/>
                                      </p:to>
                                    </p:set>
                                    <p:animEffect transition="in" filter="fade">
                                      <p:cBhvr>
                                        <p:cTn id="59" dur="350"/>
                                        <p:tgtEl>
                                          <p:spTgt spid="27"/>
                                        </p:tgtEl>
                                      </p:cBhvr>
                                    </p:animEffect>
                                  </p:childTnLst>
                                </p:cTn>
                              </p:par>
                              <p:par>
                                <p:cTn id="60" presetID="10" presetClass="entr" presetSubtype="0" fill="hold" nodeType="withEffect">
                                  <p:stCondLst>
                                    <p:cond delay="0"/>
                                  </p:stCondLst>
                                  <p:childTnLst>
                                    <p:set>
                                      <p:cBhvr>
                                        <p:cTn id="61" dur="1" fill="hold">
                                          <p:stCondLst>
                                            <p:cond delay="0"/>
                                          </p:stCondLst>
                                        </p:cTn>
                                        <p:tgtEl>
                                          <p:spTgt spid="28"/>
                                        </p:tgtEl>
                                        <p:attrNameLst>
                                          <p:attrName>style.visibility</p:attrName>
                                        </p:attrNameLst>
                                      </p:cBhvr>
                                      <p:to>
                                        <p:strVal val="visible"/>
                                      </p:to>
                                    </p:set>
                                    <p:animEffect transition="in" filter="fade">
                                      <p:cBhvr>
                                        <p:cTn id="62" dur="350"/>
                                        <p:tgtEl>
                                          <p:spTgt spid="28"/>
                                        </p:tgtEl>
                                      </p:cBhvr>
                                    </p:animEffect>
                                  </p:childTnLst>
                                </p:cTn>
                              </p:par>
                              <p:par>
                                <p:cTn id="63" presetID="10" presetClass="entr" presetSubtype="0" fill="hold" nodeType="withEffect">
                                  <p:stCondLst>
                                    <p:cond delay="0"/>
                                  </p:stCondLst>
                                  <p:childTnLst>
                                    <p:set>
                                      <p:cBhvr>
                                        <p:cTn id="64" dur="1" fill="hold">
                                          <p:stCondLst>
                                            <p:cond delay="0"/>
                                          </p:stCondLst>
                                        </p:cTn>
                                        <p:tgtEl>
                                          <p:spTgt spid="29"/>
                                        </p:tgtEl>
                                        <p:attrNameLst>
                                          <p:attrName>style.visibility</p:attrName>
                                        </p:attrNameLst>
                                      </p:cBhvr>
                                      <p:to>
                                        <p:strVal val="visible"/>
                                      </p:to>
                                    </p:set>
                                    <p:animEffect transition="in" filter="fade">
                                      <p:cBhvr>
                                        <p:cTn id="65" dur="350"/>
                                        <p:tgtEl>
                                          <p:spTgt spid="29"/>
                                        </p:tgtEl>
                                      </p:cBhvr>
                                    </p:animEffect>
                                  </p:childTnLst>
                                </p:cTn>
                              </p:par>
                              <p:par>
                                <p:cTn id="66" presetID="10" presetClass="entr" presetSubtype="0" fill="hold" nodeType="withEffect">
                                  <p:stCondLst>
                                    <p:cond delay="0"/>
                                  </p:stCondLst>
                                  <p:childTnLst>
                                    <p:set>
                                      <p:cBhvr>
                                        <p:cTn id="67" dur="1" fill="hold">
                                          <p:stCondLst>
                                            <p:cond delay="0"/>
                                          </p:stCondLst>
                                        </p:cTn>
                                        <p:tgtEl>
                                          <p:spTgt spid="30"/>
                                        </p:tgtEl>
                                        <p:attrNameLst>
                                          <p:attrName>style.visibility</p:attrName>
                                        </p:attrNameLst>
                                      </p:cBhvr>
                                      <p:to>
                                        <p:strVal val="visible"/>
                                      </p:to>
                                    </p:set>
                                    <p:animEffect transition="in" filter="fade">
                                      <p:cBhvr>
                                        <p:cTn id="68" dur="350"/>
                                        <p:tgtEl>
                                          <p:spTgt spid="30"/>
                                        </p:tgtEl>
                                      </p:cBhvr>
                                    </p:animEffect>
                                  </p:childTnLst>
                                </p:cTn>
                              </p:par>
                            </p:childTnLst>
                          </p:cTn>
                        </p:par>
                        <p:par>
                          <p:cTn id="69" fill="hold">
                            <p:stCondLst>
                              <p:cond delay="500"/>
                            </p:stCondLst>
                            <p:childTnLst>
                              <p:par>
                                <p:cTn id="70" presetID="10" presetClass="entr" presetSubtype="0" fill="hold" nodeType="afterEffect">
                                  <p:stCondLst>
                                    <p:cond delay="0"/>
                                  </p:stCondLst>
                                  <p:childTnLst>
                                    <p:set>
                                      <p:cBhvr>
                                        <p:cTn id="71" dur="1" fill="hold">
                                          <p:stCondLst>
                                            <p:cond delay="0"/>
                                          </p:stCondLst>
                                        </p:cTn>
                                        <p:tgtEl>
                                          <p:spTgt spid="11"/>
                                        </p:tgtEl>
                                        <p:attrNameLst>
                                          <p:attrName>style.visibility</p:attrName>
                                        </p:attrNameLst>
                                      </p:cBhvr>
                                      <p:to>
                                        <p:strVal val="visible"/>
                                      </p:to>
                                    </p:set>
                                    <p:animEffect transition="in" filter="fade">
                                      <p:cBhvr>
                                        <p:cTn id="72" dur="350"/>
                                        <p:tgtEl>
                                          <p:spTgt spid="11"/>
                                        </p:tgtEl>
                                      </p:cBhvr>
                                    </p:animEffect>
                                  </p:childTnLst>
                                </p:cTn>
                              </p:par>
                              <p:par>
                                <p:cTn id="73" presetID="10" presetClass="entr" presetSubtype="0" fill="hold" nodeType="withEffect">
                                  <p:stCondLst>
                                    <p:cond delay="0"/>
                                  </p:stCondLst>
                                  <p:childTnLst>
                                    <p:set>
                                      <p:cBhvr>
                                        <p:cTn id="74" dur="1" fill="hold">
                                          <p:stCondLst>
                                            <p:cond delay="0"/>
                                          </p:stCondLst>
                                        </p:cTn>
                                        <p:tgtEl>
                                          <p:spTgt spid="16"/>
                                        </p:tgtEl>
                                        <p:attrNameLst>
                                          <p:attrName>style.visibility</p:attrName>
                                        </p:attrNameLst>
                                      </p:cBhvr>
                                      <p:to>
                                        <p:strVal val="visible"/>
                                      </p:to>
                                    </p:set>
                                    <p:animEffect transition="in" filter="fade">
                                      <p:cBhvr>
                                        <p:cTn id="75" dur="350"/>
                                        <p:tgtEl>
                                          <p:spTgt spid="16"/>
                                        </p:tgtEl>
                                      </p:cBhvr>
                                    </p:animEffect>
                                  </p:childTnLst>
                                </p:cTn>
                              </p:par>
                              <p:par>
                                <p:cTn id="76" presetID="10" presetClass="entr" presetSubtype="0" fill="hold" nodeType="withEffect">
                                  <p:stCondLst>
                                    <p:cond delay="0"/>
                                  </p:stCondLst>
                                  <p:childTnLst>
                                    <p:set>
                                      <p:cBhvr>
                                        <p:cTn id="77" dur="1" fill="hold">
                                          <p:stCondLst>
                                            <p:cond delay="0"/>
                                          </p:stCondLst>
                                        </p:cTn>
                                        <p:tgtEl>
                                          <p:spTgt spid="21"/>
                                        </p:tgtEl>
                                        <p:attrNameLst>
                                          <p:attrName>style.visibility</p:attrName>
                                        </p:attrNameLst>
                                      </p:cBhvr>
                                      <p:to>
                                        <p:strVal val="visible"/>
                                      </p:to>
                                    </p:set>
                                    <p:animEffect transition="in" filter="fade">
                                      <p:cBhvr>
                                        <p:cTn id="78" dur="350"/>
                                        <p:tgtEl>
                                          <p:spTgt spid="21"/>
                                        </p:tgtEl>
                                      </p:cBhvr>
                                    </p:animEffect>
                                  </p:childTnLst>
                                </p:cTn>
                              </p:par>
                              <p:par>
                                <p:cTn id="79" presetID="10" presetClass="entr" presetSubtype="0" fill="hold"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350"/>
                                        <p:tgtEl>
                                          <p:spTgt spid="26"/>
                                        </p:tgtEl>
                                      </p:cBhvr>
                                    </p:animEffect>
                                  </p:childTnLst>
                                </p:cTn>
                              </p:par>
                            </p:childTnLst>
                          </p:cTn>
                        </p:par>
                        <p:par>
                          <p:cTn id="82" fill="hold">
                            <p:stCondLst>
                              <p:cond delay="750"/>
                            </p:stCondLst>
                            <p:childTnLst>
                              <p:par>
                                <p:cTn id="83" presetID="10" presetClass="entr" presetSubtype="0" fill="hold" nodeType="afterEffect">
                                  <p:stCondLst>
                                    <p:cond delay="0"/>
                                  </p:stCondLst>
                                  <p:childTnLst>
                                    <p:set>
                                      <p:cBhvr>
                                        <p:cTn id="84" dur="1" fill="hold">
                                          <p:stCondLst>
                                            <p:cond delay="0"/>
                                          </p:stCondLst>
                                        </p:cTn>
                                        <p:tgtEl>
                                          <p:spTgt spid="41"/>
                                        </p:tgtEl>
                                        <p:attrNameLst>
                                          <p:attrName>style.visibility</p:attrName>
                                        </p:attrNameLst>
                                      </p:cBhvr>
                                      <p:to>
                                        <p:strVal val="visible"/>
                                      </p:to>
                                    </p:set>
                                    <p:animEffect transition="in" filter="fade">
                                      <p:cBhvr>
                                        <p:cTn id="85" dur="350"/>
                                        <p:tgtEl>
                                          <p:spTgt spid="41"/>
                                        </p:tgtEl>
                                      </p:cBhvr>
                                    </p:animEffect>
                                  </p:childTnLst>
                                </p:cTn>
                              </p:par>
                              <p:par>
                                <p:cTn id="86" presetID="10" presetClass="entr" presetSubtype="0" fill="hold" nodeType="withEffect">
                                  <p:stCondLst>
                                    <p:cond delay="0"/>
                                  </p:stCondLst>
                                  <p:childTnLst>
                                    <p:set>
                                      <p:cBhvr>
                                        <p:cTn id="87" dur="1" fill="hold">
                                          <p:stCondLst>
                                            <p:cond delay="0"/>
                                          </p:stCondLst>
                                        </p:cTn>
                                        <p:tgtEl>
                                          <p:spTgt spid="43"/>
                                        </p:tgtEl>
                                        <p:attrNameLst>
                                          <p:attrName>style.visibility</p:attrName>
                                        </p:attrNameLst>
                                      </p:cBhvr>
                                      <p:to>
                                        <p:strVal val="visible"/>
                                      </p:to>
                                    </p:set>
                                    <p:animEffect transition="in" filter="fade">
                                      <p:cBhvr>
                                        <p:cTn id="88" dur="350"/>
                                        <p:tgtEl>
                                          <p:spTgt spid="43"/>
                                        </p:tgtEl>
                                      </p:cBhvr>
                                    </p:animEffect>
                                  </p:childTnLst>
                                </p:cTn>
                              </p:par>
                              <p:par>
                                <p:cTn id="89" presetID="10" presetClass="entr" presetSubtype="0" fill="hold" nodeType="withEffect">
                                  <p:stCondLst>
                                    <p:cond delay="0"/>
                                  </p:stCondLst>
                                  <p:childTnLst>
                                    <p:set>
                                      <p:cBhvr>
                                        <p:cTn id="90" dur="1" fill="hold">
                                          <p:stCondLst>
                                            <p:cond delay="0"/>
                                          </p:stCondLst>
                                        </p:cTn>
                                        <p:tgtEl>
                                          <p:spTgt spid="40"/>
                                        </p:tgtEl>
                                        <p:attrNameLst>
                                          <p:attrName>style.visibility</p:attrName>
                                        </p:attrNameLst>
                                      </p:cBhvr>
                                      <p:to>
                                        <p:strVal val="visible"/>
                                      </p:to>
                                    </p:set>
                                    <p:animEffect transition="in" filter="fade">
                                      <p:cBhvr>
                                        <p:cTn id="91" dur="350"/>
                                        <p:tgtEl>
                                          <p:spTgt spid="40"/>
                                        </p:tgtEl>
                                      </p:cBhvr>
                                    </p:animEffect>
                                  </p:childTnLst>
                                </p:cTn>
                              </p:par>
                              <p:par>
                                <p:cTn id="92" presetID="10" presetClass="entr" presetSubtype="0" fill="hold" nodeType="withEffect">
                                  <p:stCondLst>
                                    <p:cond delay="0"/>
                                  </p:stCondLst>
                                  <p:childTnLst>
                                    <p:set>
                                      <p:cBhvr>
                                        <p:cTn id="93" dur="1" fill="hold">
                                          <p:stCondLst>
                                            <p:cond delay="0"/>
                                          </p:stCondLst>
                                        </p:cTn>
                                        <p:tgtEl>
                                          <p:spTgt spid="42"/>
                                        </p:tgtEl>
                                        <p:attrNameLst>
                                          <p:attrName>style.visibility</p:attrName>
                                        </p:attrNameLst>
                                      </p:cBhvr>
                                      <p:to>
                                        <p:strVal val="visible"/>
                                      </p:to>
                                    </p:set>
                                    <p:animEffect transition="in" filter="fade">
                                      <p:cBhvr>
                                        <p:cTn id="94" dur="350"/>
                                        <p:tgtEl>
                                          <p:spTgt spid="42"/>
                                        </p:tgtEl>
                                      </p:cBhvr>
                                    </p:animEffect>
                                  </p:childTnLst>
                                </p:cTn>
                              </p:par>
                            </p:childTnLst>
                          </p:cTn>
                        </p:par>
                      </p:childTnLst>
                    </p:cTn>
                  </p:par>
                  <p:par>
                    <p:cTn id="95" fill="hold">
                      <p:stCondLst>
                        <p:cond delay="indefinite"/>
                      </p:stCondLst>
                      <p:childTnLst>
                        <p:par>
                          <p:cTn id="96" fill="hold">
                            <p:stCondLst>
                              <p:cond delay="0"/>
                            </p:stCondLst>
                            <p:childTnLst>
                              <p:par>
                                <p:cTn id="97" presetID="10" presetClass="entr" presetSubtype="0" fill="hold" nodeType="clickEffect">
                                  <p:stCondLst>
                                    <p:cond delay="0"/>
                                  </p:stCondLst>
                                  <p:childTnLst>
                                    <p:set>
                                      <p:cBhvr>
                                        <p:cTn id="98" dur="1" fill="hold">
                                          <p:stCondLst>
                                            <p:cond delay="0"/>
                                          </p:stCondLst>
                                        </p:cTn>
                                        <p:tgtEl>
                                          <p:spTgt spid="31"/>
                                        </p:tgtEl>
                                        <p:attrNameLst>
                                          <p:attrName>style.visibility</p:attrName>
                                        </p:attrNameLst>
                                      </p:cBhvr>
                                      <p:to>
                                        <p:strVal val="visible"/>
                                      </p:to>
                                    </p:set>
                                    <p:animEffect transition="in" filter="fade">
                                      <p:cBhvr>
                                        <p:cTn id="99" dur="400"/>
                                        <p:tgtEl>
                                          <p:spTgt spid="31"/>
                                        </p:tgtEl>
                                      </p:cBhvr>
                                    </p:animEffect>
                                  </p:childTnLst>
                                </p:cTn>
                              </p:par>
                              <p:par>
                                <p:cTn id="100" presetID="10" presetClass="entr" presetSubtype="0" fill="hold" nodeType="withEffect">
                                  <p:stCondLst>
                                    <p:cond delay="0"/>
                                  </p:stCondLst>
                                  <p:childTnLst>
                                    <p:set>
                                      <p:cBhvr>
                                        <p:cTn id="101" dur="1" fill="hold">
                                          <p:stCondLst>
                                            <p:cond delay="0"/>
                                          </p:stCondLst>
                                        </p:cTn>
                                        <p:tgtEl>
                                          <p:spTgt spid="32"/>
                                        </p:tgtEl>
                                        <p:attrNameLst>
                                          <p:attrName>style.visibility</p:attrName>
                                        </p:attrNameLst>
                                      </p:cBhvr>
                                      <p:to>
                                        <p:strVal val="visible"/>
                                      </p:to>
                                    </p:set>
                                    <p:animEffect transition="in" filter="fade">
                                      <p:cBhvr>
                                        <p:cTn id="102" dur="400"/>
                                        <p:tgtEl>
                                          <p:spTgt spid="32"/>
                                        </p:tgtEl>
                                      </p:cBhvr>
                                    </p:animEffect>
                                  </p:childTnLst>
                                </p:cTn>
                              </p:par>
                              <p:par>
                                <p:cTn id="103" presetID="10" presetClass="entr" presetSubtype="0" fill="hold" nodeType="withEffect">
                                  <p:stCondLst>
                                    <p:cond delay="0"/>
                                  </p:stCondLst>
                                  <p:childTnLst>
                                    <p:set>
                                      <p:cBhvr>
                                        <p:cTn id="104" dur="1" fill="hold">
                                          <p:stCondLst>
                                            <p:cond delay="0"/>
                                          </p:stCondLst>
                                        </p:cTn>
                                        <p:tgtEl>
                                          <p:spTgt spid="33"/>
                                        </p:tgtEl>
                                        <p:attrNameLst>
                                          <p:attrName>style.visibility</p:attrName>
                                        </p:attrNameLst>
                                      </p:cBhvr>
                                      <p:to>
                                        <p:strVal val="visible"/>
                                      </p:to>
                                    </p:set>
                                    <p:animEffect transition="in" filter="fade">
                                      <p:cBhvr>
                                        <p:cTn id="105" dur="400"/>
                                        <p:tgtEl>
                                          <p:spTgt spid="33"/>
                                        </p:tgtEl>
                                      </p:cBhvr>
                                    </p:animEffect>
                                  </p:childTnLst>
                                </p:cTn>
                              </p:par>
                              <p:par>
                                <p:cTn id="106" presetID="10" presetClass="entr" presetSubtype="0" fill="hold" nodeType="withEffect">
                                  <p:stCondLst>
                                    <p:cond delay="0"/>
                                  </p:stCondLst>
                                  <p:childTnLst>
                                    <p:set>
                                      <p:cBhvr>
                                        <p:cTn id="107" dur="1" fill="hold">
                                          <p:stCondLst>
                                            <p:cond delay="0"/>
                                          </p:stCondLst>
                                        </p:cTn>
                                        <p:tgtEl>
                                          <p:spTgt spid="34"/>
                                        </p:tgtEl>
                                        <p:attrNameLst>
                                          <p:attrName>style.visibility</p:attrName>
                                        </p:attrNameLst>
                                      </p:cBhvr>
                                      <p:to>
                                        <p:strVal val="visible"/>
                                      </p:to>
                                    </p:set>
                                    <p:animEffect transition="in" filter="fade">
                                      <p:cBhvr>
                                        <p:cTn id="108" dur="400"/>
                                        <p:tgtEl>
                                          <p:spTgt spid="34"/>
                                        </p:tgtEl>
                                      </p:cBhvr>
                                    </p:animEffect>
                                  </p:childTnLst>
                                </p:cTn>
                              </p:par>
                              <p:par>
                                <p:cTn id="109" presetID="10" presetClass="entr" presetSubtype="0" fill="hold" nodeType="withEffect">
                                  <p:stCondLst>
                                    <p:cond delay="0"/>
                                  </p:stCondLst>
                                  <p:childTnLst>
                                    <p:set>
                                      <p:cBhvr>
                                        <p:cTn id="110" dur="1" fill="hold">
                                          <p:stCondLst>
                                            <p:cond delay="0"/>
                                          </p:stCondLst>
                                        </p:cTn>
                                        <p:tgtEl>
                                          <p:spTgt spid="35"/>
                                        </p:tgtEl>
                                        <p:attrNameLst>
                                          <p:attrName>style.visibility</p:attrName>
                                        </p:attrNameLst>
                                      </p:cBhvr>
                                      <p:to>
                                        <p:strVal val="visible"/>
                                      </p:to>
                                    </p:set>
                                    <p:animEffect transition="in" filter="fade">
                                      <p:cBhvr>
                                        <p:cTn id="111" dur="400"/>
                                        <p:tgtEl>
                                          <p:spTgt spid="35"/>
                                        </p:tgtEl>
                                      </p:cBhvr>
                                    </p:animEffect>
                                  </p:childTnLst>
                                </p:cTn>
                              </p:par>
                              <p:par>
                                <p:cTn id="112" presetID="10" presetClass="entr" presetSubtype="0" fill="hold" nodeType="withEffect">
                                  <p:stCondLst>
                                    <p:cond delay="0"/>
                                  </p:stCondLst>
                                  <p:childTnLst>
                                    <p:set>
                                      <p:cBhvr>
                                        <p:cTn id="113" dur="1" fill="hold">
                                          <p:stCondLst>
                                            <p:cond delay="0"/>
                                          </p:stCondLst>
                                        </p:cTn>
                                        <p:tgtEl>
                                          <p:spTgt spid="36"/>
                                        </p:tgtEl>
                                        <p:attrNameLst>
                                          <p:attrName>style.visibility</p:attrName>
                                        </p:attrNameLst>
                                      </p:cBhvr>
                                      <p:to>
                                        <p:strVal val="visible"/>
                                      </p:to>
                                    </p:set>
                                    <p:animEffect transition="in" filter="fade">
                                      <p:cBhvr>
                                        <p:cTn id="114" dur="400"/>
                                        <p:tgtEl>
                                          <p:spTgt spid="36"/>
                                        </p:tgtEl>
                                      </p:cBhvr>
                                    </p:animEffect>
                                  </p:childTnLst>
                                </p:cTn>
                              </p:par>
                              <p:par>
                                <p:cTn id="115" presetID="10" presetClass="entr" presetSubtype="0" fill="hold" nodeType="withEffect">
                                  <p:stCondLst>
                                    <p:cond delay="0"/>
                                  </p:stCondLst>
                                  <p:childTnLst>
                                    <p:set>
                                      <p:cBhvr>
                                        <p:cTn id="116" dur="1" fill="hold">
                                          <p:stCondLst>
                                            <p:cond delay="0"/>
                                          </p:stCondLst>
                                        </p:cTn>
                                        <p:tgtEl>
                                          <p:spTgt spid="37"/>
                                        </p:tgtEl>
                                        <p:attrNameLst>
                                          <p:attrName>style.visibility</p:attrName>
                                        </p:attrNameLst>
                                      </p:cBhvr>
                                      <p:to>
                                        <p:strVal val="visible"/>
                                      </p:to>
                                    </p:set>
                                    <p:animEffect transition="in" filter="fade">
                                      <p:cBhvr>
                                        <p:cTn id="117" dur="400"/>
                                        <p:tgtEl>
                                          <p:spTgt spid="37"/>
                                        </p:tgtEl>
                                      </p:cBhvr>
                                    </p:animEffect>
                                  </p:childTnLst>
                                </p:cTn>
                              </p:par>
                              <p:par>
                                <p:cTn id="118" presetID="10" presetClass="entr" presetSubtype="0" fill="hold" nodeType="withEffect">
                                  <p:stCondLst>
                                    <p:cond delay="0"/>
                                  </p:stCondLst>
                                  <p:childTnLst>
                                    <p:set>
                                      <p:cBhvr>
                                        <p:cTn id="119" dur="1" fill="hold">
                                          <p:stCondLst>
                                            <p:cond delay="0"/>
                                          </p:stCondLst>
                                        </p:cTn>
                                        <p:tgtEl>
                                          <p:spTgt spid="38"/>
                                        </p:tgtEl>
                                        <p:attrNameLst>
                                          <p:attrName>style.visibility</p:attrName>
                                        </p:attrNameLst>
                                      </p:cBhvr>
                                      <p:to>
                                        <p:strVal val="visible"/>
                                      </p:to>
                                    </p:set>
                                    <p:animEffect transition="in" filter="fade">
                                      <p:cBhvr>
                                        <p:cTn id="120" dur="400"/>
                                        <p:tgtEl>
                                          <p:spTgt spid="38"/>
                                        </p:tgtEl>
                                      </p:cBhvr>
                                    </p:animEffect>
                                  </p:childTnLst>
                                </p:cTn>
                              </p:par>
                              <p:par>
                                <p:cTn id="121" presetID="10" presetClass="entr" presetSubtype="0" fill="hold" nodeType="withEffect">
                                  <p:stCondLst>
                                    <p:cond delay="0"/>
                                  </p:stCondLst>
                                  <p:childTnLst>
                                    <p:set>
                                      <p:cBhvr>
                                        <p:cTn id="122" dur="1" fill="hold">
                                          <p:stCondLst>
                                            <p:cond delay="0"/>
                                          </p:stCondLst>
                                        </p:cTn>
                                        <p:tgtEl>
                                          <p:spTgt spid="39"/>
                                        </p:tgtEl>
                                        <p:attrNameLst>
                                          <p:attrName>style.visibility</p:attrName>
                                        </p:attrNameLst>
                                      </p:cBhvr>
                                      <p:to>
                                        <p:strVal val="visible"/>
                                      </p:to>
                                    </p:set>
                                    <p:animEffect transition="in" filter="fade">
                                      <p:cBhvr>
                                        <p:cTn id="123"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P spid="29" grpId="0"/>
      <p:bldP spid="30" grpId="0"/>
      <p:bldP spid="41" grpId="0"/>
      <p:bldP spid="43" grpId="0"/>
      <p:bldP spid="40" grpId="0"/>
      <p:bldP spid="42" grpId="0"/>
      <p:bldP spid="31" grpId="0"/>
      <p:bldP spid="33" grpId="0"/>
      <p:bldP spid="35" grpId="0"/>
      <p:bldP spid="37" grpId="0"/>
      <p:bldP spid="39" grpId="0"/>
    </p:bld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8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Sur fond clair, la détection échouait ; médiane, CLAHE et réglage des seuils l'ont corrigée</a:t>
            </a:r>
          </a:p>
        </p:txBody>
      </p:sp>
      <p:sp>
        <p:nvSpPr>
          <p:cNvPr id="7" name="TextBox 6"/>
          <p:cNvSpPr txBox="1"/>
          <p:nvPr/>
        </p:nvSpPr>
        <p:spPr>
          <a:xfrm>
            <a:off x="54864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SYMPTÔME</a:t>
            </a:r>
          </a:p>
        </p:txBody>
      </p:sp>
      <p:sp>
        <p:nvSpPr>
          <p:cNvPr id="8" name="TextBox 7"/>
          <p:cNvSpPr txBox="1"/>
          <p:nvPr/>
        </p:nvSpPr>
        <p:spPr>
          <a:xfrm>
            <a:off x="434340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DEUX CAUSES</a:t>
            </a:r>
          </a:p>
        </p:txBody>
      </p:sp>
      <p:sp>
        <p:nvSpPr>
          <p:cNvPr id="9" name="TextBox 8"/>
          <p:cNvSpPr txBox="1"/>
          <p:nvPr/>
        </p:nvSpPr>
        <p:spPr>
          <a:xfrm>
            <a:off x="8138160" y="1874519"/>
            <a:ext cx="3474720" cy="320040"/>
          </a:xfrm>
          <a:prstGeom prst="rect">
            <a:avLst/>
          </a:prstGeom>
          <a:noFill/>
        </p:spPr>
        <p:txBody>
          <a:bodyPr wrap="square" lIns="0" rIns="0" tIns="0" bIns="0" anchor="t">
            <a:spAutoFit/>
          </a:bodyPr>
          <a:lstStyle/>
          <a:p>
            <a:pPr algn="l"/>
            <a:r>
              <a:rPr sz="1300" b="1" i="0">
                <a:solidFill>
                  <a:srgbClr val="2E75B6"/>
                </a:solidFill>
                <a:latin typeface="Arial"/>
              </a:rPr>
              <a:t>TROIS CORRECTIFS</a:t>
            </a:r>
          </a:p>
        </p:txBody>
      </p:sp>
      <p:cxnSp>
        <p:nvCxnSpPr>
          <p:cNvPr id="10" name="Connector 9"/>
          <p:cNvCxnSpPr/>
          <p:nvPr/>
        </p:nvCxnSpPr>
        <p:spPr>
          <a:xfrm>
            <a:off x="4114800" y="1874519"/>
            <a:ext cx="0" cy="3246121"/>
          </a:xfrm>
          <a:prstGeom prst="line">
            <a:avLst/>
          </a:prstGeom>
          <a:ln w="9525">
            <a:solidFill>
              <a:srgbClr val="CBD3DB"/>
            </a:solidFill>
          </a:ln>
        </p:spPr>
      </p:cxnSp>
      <p:cxnSp>
        <p:nvCxnSpPr>
          <p:cNvPr id="11" name="Connector 10"/>
          <p:cNvCxnSpPr/>
          <p:nvPr/>
        </p:nvCxnSpPr>
        <p:spPr>
          <a:xfrm>
            <a:off x="7909560" y="1874519"/>
            <a:ext cx="0" cy="3246121"/>
          </a:xfrm>
          <a:prstGeom prst="line">
            <a:avLst/>
          </a:prstGeom>
          <a:ln w="9525">
            <a:solidFill>
              <a:srgbClr val="CBD3DB"/>
            </a:solidFill>
          </a:ln>
        </p:spPr>
      </p:cxnSp>
      <p:sp>
        <p:nvSpPr>
          <p:cNvPr id="12" name="TextBox 11"/>
          <p:cNvSpPr txBox="1"/>
          <p:nvPr/>
        </p:nvSpPr>
        <p:spPr>
          <a:xfrm>
            <a:off x="548640" y="2286000"/>
            <a:ext cx="3383280" cy="1554480"/>
          </a:xfrm>
          <a:prstGeom prst="rect">
            <a:avLst/>
          </a:prstGeom>
          <a:noFill/>
        </p:spPr>
        <p:txBody>
          <a:bodyPr wrap="square" lIns="0" rIns="0" tIns="0" bIns="0" anchor="t">
            <a:spAutoFit/>
          </a:bodyPr>
          <a:lstStyle/>
          <a:p>
            <a:pPr algn="l"/>
            <a:r>
              <a:rPr sz="2000" b="0" i="0">
                <a:solidFill>
                  <a:srgbClr val="1B2530"/>
                </a:solidFill>
                <a:latin typeface="Arial"/>
              </a:rPr>
              <a:t>Carte claire sur table blanche : détection souvent en échec, alors qu'elle marchait sur fond sombre.</a:t>
            </a:r>
          </a:p>
        </p:txBody>
      </p:sp>
      <p:sp>
        <p:nvSpPr>
          <p:cNvPr id="13" name="Rectangle 12"/>
          <p:cNvSpPr/>
          <p:nvPr/>
        </p:nvSpPr>
        <p:spPr>
          <a:xfrm>
            <a:off x="548640" y="3931920"/>
            <a:ext cx="1600200" cy="960120"/>
          </a:xfrm>
          <a:prstGeom prst="rect">
            <a:avLst/>
          </a:prstGeom>
          <a:solidFill>
            <a:srgbClr val="2B313A"/>
          </a:solidFill>
          <a:ln>
            <a:noFill/>
          </a:ln>
        </p:spPr>
        <p:txBody>
          <a:bodyPr rtlCol="0" anchor="ctr"/>
          <a:lstStyle/>
          <a:p/>
        </p:txBody>
      </p:sp>
      <p:sp>
        <p:nvSpPr>
          <p:cNvPr id="14" name="Rounded Rectangle 13"/>
          <p:cNvSpPr/>
          <p:nvPr/>
        </p:nvSpPr>
        <p:spPr>
          <a:xfrm>
            <a:off x="841247" y="4078224"/>
            <a:ext cx="1014984" cy="640080"/>
          </a:xfrm>
          <a:prstGeom prst="roundRect">
            <a:avLst>
              <a:gd name="adj" fmla="val 8000"/>
            </a:avLst>
          </a:prstGeom>
          <a:solidFill>
            <a:srgbClr val="FFFFFF"/>
          </a:solidFill>
          <a:ln w="12700">
            <a:solidFill>
              <a:srgbClr val="FFFFFF"/>
            </a:solidFill>
          </a:ln>
        </p:spPr>
        <p:txBody>
          <a:bodyPr rtlCol="0" anchor="ctr"/>
          <a:lstStyle/>
          <a:p/>
        </p:txBody>
      </p:sp>
      <p:sp>
        <p:nvSpPr>
          <p:cNvPr id="15" name="TextBox 14"/>
          <p:cNvSpPr txBox="1"/>
          <p:nvPr/>
        </p:nvSpPr>
        <p:spPr>
          <a:xfrm>
            <a:off x="54864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sombre : bord net</a:t>
            </a:r>
          </a:p>
        </p:txBody>
      </p:sp>
      <p:sp>
        <p:nvSpPr>
          <p:cNvPr id="16" name="Rectangle 15"/>
          <p:cNvSpPr/>
          <p:nvPr/>
        </p:nvSpPr>
        <p:spPr>
          <a:xfrm>
            <a:off x="2286000" y="3931920"/>
            <a:ext cx="1600200" cy="960120"/>
          </a:xfrm>
          <a:prstGeom prst="rect">
            <a:avLst/>
          </a:prstGeom>
          <a:solidFill>
            <a:srgbClr val="F1F3F5"/>
          </a:solidFill>
          <a:ln w="9525">
            <a:solidFill>
              <a:srgbClr val="CBD3DB"/>
            </a:solidFill>
          </a:ln>
        </p:spPr>
        <p:txBody>
          <a:bodyPr rtlCol="0" anchor="ctr"/>
          <a:lstStyle/>
          <a:p/>
        </p:txBody>
      </p:sp>
      <p:sp>
        <p:nvSpPr>
          <p:cNvPr id="17" name="Rounded Rectangle 16"/>
          <p:cNvSpPr/>
          <p:nvPr/>
        </p:nvSpPr>
        <p:spPr>
          <a:xfrm>
            <a:off x="2578608" y="4078224"/>
            <a:ext cx="1014984" cy="640080"/>
          </a:xfrm>
          <a:prstGeom prst="roundRect">
            <a:avLst>
              <a:gd name="adj" fmla="val 8000"/>
            </a:avLst>
          </a:prstGeom>
          <a:solidFill>
            <a:srgbClr val="FAFBFC"/>
          </a:solidFill>
          <a:ln w="12700">
            <a:solidFill>
              <a:srgbClr val="E4E8EC"/>
            </a:solidFill>
          </a:ln>
        </p:spPr>
        <p:txBody>
          <a:bodyPr rtlCol="0" anchor="ctr"/>
          <a:lstStyle/>
          <a:p/>
        </p:txBody>
      </p:sp>
      <p:sp>
        <p:nvSpPr>
          <p:cNvPr id="18" name="TextBox 17"/>
          <p:cNvSpPr txBox="1"/>
          <p:nvPr/>
        </p:nvSpPr>
        <p:spPr>
          <a:xfrm>
            <a:off x="2286000" y="4937760"/>
            <a:ext cx="1600200" cy="274320"/>
          </a:xfrm>
          <a:prstGeom prst="rect">
            <a:avLst/>
          </a:prstGeom>
          <a:noFill/>
        </p:spPr>
        <p:txBody>
          <a:bodyPr wrap="square" lIns="0" rIns="0" tIns="0" bIns="0" anchor="t">
            <a:spAutoFit/>
          </a:bodyPr>
          <a:lstStyle/>
          <a:p>
            <a:pPr algn="ctr"/>
            <a:r>
              <a:rPr sz="1200" b="0" i="0">
                <a:solidFill>
                  <a:srgbClr val="5B6B7A"/>
                </a:solidFill>
                <a:latin typeface="Arial"/>
              </a:rPr>
              <a:t>fond clair : bord faible</a:t>
            </a:r>
          </a:p>
        </p:txBody>
      </p:sp>
      <p:sp>
        <p:nvSpPr>
          <p:cNvPr id="19" name="TextBox 18"/>
          <p:cNvSpPr txBox="1"/>
          <p:nvPr/>
        </p:nvSpPr>
        <p:spPr>
          <a:xfrm>
            <a:off x="4343400" y="2286000"/>
            <a:ext cx="3429000" cy="2926080"/>
          </a:xfrm>
          <a:prstGeom prst="rect">
            <a:avLst/>
          </a:prstGeom>
          <a:noFill/>
        </p:spPr>
        <p:txBody>
          <a:bodyPr wrap="square" lIns="0" rIns="0" tIns="0" bIns="0" anchor="t">
            <a:spAutoFit/>
          </a:bodyPr>
          <a:lstStyle/>
          <a:p>
            <a:pPr algn="l">
              <a:spcAft>
                <a:spcPts val="1400"/>
              </a:spcAft>
            </a:pPr>
            <a:r>
              <a:rPr sz="1800" b="1" i="0">
                <a:solidFill>
                  <a:srgbClr val="1F3A5F"/>
                </a:solidFill>
                <a:latin typeface="Arial"/>
              </a:rPr>
              <a:t>Bug : </a:t>
            </a:r>
            <a:r>
              <a:rPr sz="1800" b="0" i="0">
                <a:solidFill>
                  <a:srgbClr val="1B2530"/>
                </a:solidFill>
                <a:latin typeface="Arial"/>
              </a:rPr>
              <a:t>seuils de Canny calculés sur la </a:t>
            </a:r>
            <a:r>
              <a:rPr sz="1800" b="1" i="0">
                <a:solidFill>
                  <a:srgbClr val="1B2530"/>
                </a:solidFill>
                <a:latin typeface="Arial"/>
              </a:rPr>
              <a:t>moyenne</a:t>
            </a:r>
            <a:r>
              <a:rPr sz="1800" b="0" i="0">
                <a:solidFill>
                  <a:srgbClr val="1B2530"/>
                </a:solidFill>
                <a:latin typeface="Arial"/>
              </a:rPr>
              <a:t> et non sur la médiane : trop hauts dès que la scène est claire.</a:t>
            </a:r>
          </a:p>
          <a:p>
            <a:pPr algn="l">
              <a:spcAft>
                <a:spcPts val="1400"/>
              </a:spcAft>
            </a:pPr>
            <a:r>
              <a:rPr sz="1800" b="1" i="0">
                <a:solidFill>
                  <a:srgbClr val="1F3A5F"/>
                </a:solidFill>
                <a:latin typeface="Arial"/>
              </a:rPr>
              <a:t>Contraste local</a:t>
            </a:r>
            <a:r>
              <a:rPr sz="1800" b="0" i="0">
                <a:solidFill>
                  <a:srgbClr val="1B2530"/>
                </a:solidFill>
                <a:latin typeface="Arial"/>
              </a:rPr>
              <a:t> trop faible entre la carte et le fond.</a:t>
            </a:r>
          </a:p>
        </p:txBody>
      </p:sp>
      <p:sp>
        <p:nvSpPr>
          <p:cNvPr id="20" name="TextBox 19"/>
          <p:cNvSpPr txBox="1"/>
          <p:nvPr/>
        </p:nvSpPr>
        <p:spPr>
          <a:xfrm>
            <a:off x="8138160" y="2286000"/>
            <a:ext cx="3429000" cy="2926080"/>
          </a:xfrm>
          <a:prstGeom prst="rect">
            <a:avLst/>
          </a:prstGeom>
          <a:noFill/>
        </p:spPr>
        <p:txBody>
          <a:bodyPr wrap="square" lIns="0" rIns="0" tIns="0" bIns="0" anchor="t">
            <a:spAutoFit/>
          </a:bodyPr>
          <a:lstStyle/>
          <a:p>
            <a:pPr algn="l">
              <a:spcAft>
                <a:spcPts val="1400"/>
              </a:spcAft>
            </a:pPr>
            <a:r>
              <a:rPr sz="1800" b="1" i="0">
                <a:solidFill>
                  <a:srgbClr val="2E75B6"/>
                </a:solidFill>
                <a:latin typeface="Arial"/>
              </a:rPr>
              <a:t>1  </a:t>
            </a:r>
            <a:r>
              <a:rPr sz="1800" b="0" i="0">
                <a:solidFill>
                  <a:srgbClr val="1B2530"/>
                </a:solidFill>
                <a:latin typeface="Arial"/>
              </a:rPr>
              <a:t>seuils dérivés de la vraie médiane</a:t>
            </a:r>
          </a:p>
          <a:p>
            <a:pPr algn="l">
              <a:spcAft>
                <a:spcPts val="1400"/>
              </a:spcAft>
            </a:pPr>
            <a:r>
              <a:rPr sz="1800" b="1" i="0">
                <a:solidFill>
                  <a:srgbClr val="2E75B6"/>
                </a:solidFill>
                <a:latin typeface="Arial"/>
              </a:rPr>
              <a:t>2  </a:t>
            </a:r>
            <a:r>
              <a:rPr sz="1800" b="0" i="0">
                <a:solidFill>
                  <a:srgbClr val="1B2530"/>
                </a:solidFill>
                <a:latin typeface="Arial"/>
              </a:rPr>
              <a:t>passe CLAHE avant la détection</a:t>
            </a:r>
          </a:p>
          <a:p>
            <a:pPr algn="l">
              <a:spcAft>
                <a:spcPts val="1400"/>
              </a:spcAft>
            </a:pPr>
            <a:r>
              <a:rPr sz="1800" b="1" i="0">
                <a:solidFill>
                  <a:srgbClr val="2E75B6"/>
                </a:solidFill>
                <a:latin typeface="Arial"/>
              </a:rPr>
              <a:t>3  </a:t>
            </a:r>
            <a:r>
              <a:rPr sz="1800" b="0" i="0">
                <a:solidFill>
                  <a:srgbClr val="1B2530"/>
                </a:solidFill>
                <a:latin typeface="Arial"/>
              </a:rPr>
              <a:t>réglage des seuils de score et d'aire du quadrilatère</a:t>
            </a:r>
          </a:p>
        </p:txBody>
      </p:sp>
      <p:sp>
        <p:nvSpPr>
          <p:cNvPr id="21" name="Rectangle 20"/>
          <p:cNvSpPr/>
          <p:nvPr/>
        </p:nvSpPr>
        <p:spPr>
          <a:xfrm>
            <a:off x="548640" y="5349240"/>
            <a:ext cx="11094415" cy="685800"/>
          </a:xfrm>
          <a:prstGeom prst="rect">
            <a:avLst/>
          </a:prstGeom>
          <a:solidFill>
            <a:srgbClr val="EEF2F6"/>
          </a:solidFill>
          <a:ln>
            <a:noFill/>
          </a:ln>
        </p:spPr>
        <p:txBody>
          <a:bodyPr rtlCol="0" anchor="ctr"/>
          <a:lstStyle/>
          <a:p/>
        </p:txBody>
      </p:sp>
      <p:sp>
        <p:nvSpPr>
          <p:cNvPr id="22" name="TextBox 21"/>
          <p:cNvSpPr txBox="1"/>
          <p:nvPr/>
        </p:nvSpPr>
        <p:spPr>
          <a:xfrm>
            <a:off x="777240" y="5349240"/>
            <a:ext cx="10637215" cy="685800"/>
          </a:xfrm>
          <a:prstGeom prst="rect">
            <a:avLst/>
          </a:prstGeom>
          <a:noFill/>
        </p:spPr>
        <p:txBody>
          <a:bodyPr wrap="square" lIns="0" rIns="0" tIns="0" bIns="0" anchor="ctr">
            <a:spAutoFit/>
          </a:bodyPr>
          <a:lstStyle/>
          <a:p>
            <a:pPr algn="l"/>
            <a:r>
              <a:rPr sz="1800" b="1" i="0">
                <a:solidFill>
                  <a:srgbClr val="1F3A5F"/>
                </a:solidFill>
                <a:latin typeface="Arial"/>
              </a:rPr>
              <a:t>Résultat observé : </a:t>
            </a:r>
            <a:r>
              <a:rPr sz="1800" b="0" i="0">
                <a:solidFill>
                  <a:srgbClr val="1B2530"/>
                </a:solidFill>
                <a:latin typeface="Arial"/>
              </a:rPr>
              <a:t>taux de détection comparable sur fond clair et sur fond sombre.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50"/>
                                        <p:tgtEl>
                                          <p:spTgt spid="9"/>
                                        </p:tgtEl>
                                      </p:cBhvr>
                                    </p:animEffect>
                                  </p:childTnLst>
                                </p:cTn>
                              </p:par>
                              <p:par>
                                <p:cTn id="18" presetID="10" presetClass="entr" presetSubtype="0" fill="hold"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50"/>
                                        <p:tgtEl>
                                          <p:spTgt spid="10"/>
                                        </p:tgtEl>
                                      </p:cBhvr>
                                    </p:animEffect>
                                  </p:childTnLst>
                                </p:cTn>
                              </p:par>
                              <p:par>
                                <p:cTn id="21" presetID="10"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350"/>
                                        <p:tgtEl>
                                          <p:spTgt spid="11"/>
                                        </p:tgtEl>
                                      </p:cBhvr>
                                    </p:animEffect>
                                  </p:childTnLst>
                                </p:cTn>
                              </p:par>
                            </p:childTnLst>
                          </p:cTn>
                        </p:par>
                        <p:par>
                          <p:cTn id="24" fill="hold">
                            <p:stCondLst>
                              <p:cond delay="500"/>
                            </p:stCondLst>
                            <p:childTnLst>
                              <p:par>
                                <p:cTn id="25" presetID="10" presetClass="entr" presetSubtype="0" fill="hold" nodeType="after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350"/>
                                        <p:tgtEl>
                                          <p:spTgt spid="12"/>
                                        </p:tgtEl>
                                      </p:cBhvr>
                                    </p:animEffect>
                                  </p:childTnLst>
                                </p:cTn>
                              </p:par>
                            </p:childTnLst>
                          </p:cTn>
                        </p:par>
                        <p:par>
                          <p:cTn id="28" fill="hold">
                            <p:stCondLst>
                              <p:cond delay="750"/>
                            </p:stCondLst>
                            <p:childTnLst>
                              <p:par>
                                <p:cTn id="29" presetID="10" presetClass="entr" presetSubtype="0" fill="hold" nodeType="after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350"/>
                                        <p:tgtEl>
                                          <p:spTgt spid="13"/>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35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par>
                                <p:cTn id="38" presetID="10" presetClass="entr" presetSubtype="0" fill="hold"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350"/>
                                        <p:tgtEl>
                                          <p:spTgt spid="17"/>
                                        </p:tgtEl>
                                      </p:cBhvr>
                                    </p:animEffect>
                                  </p:childTnLst>
                                </p:cTn>
                              </p:par>
                            </p:childTnLst>
                          </p:cTn>
                        </p:par>
                        <p:par>
                          <p:cTn id="41" fill="hold">
                            <p:stCondLst>
                              <p:cond delay="1000"/>
                            </p:stCondLst>
                            <p:childTnLst>
                              <p:par>
                                <p:cTn id="42" presetID="10" presetClass="entr" presetSubtype="0" fill="hold" nodeType="after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350"/>
                                        <p:tgtEl>
                                          <p:spTgt spid="15"/>
                                        </p:tgtEl>
                                      </p:cBhvr>
                                    </p:animEffect>
                                  </p:childTnLst>
                                </p:cTn>
                              </p:par>
                              <p:par>
                                <p:cTn id="45" presetID="10" presetClass="entr" presetSubtype="0" fill="hold"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35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400"/>
                                        <p:tgtEl>
                                          <p:spTgt spid="19"/>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400"/>
                                        <p:tgtEl>
                                          <p:spTgt spid="20"/>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400"/>
                                        <p:tgtEl>
                                          <p:spTgt spid="21"/>
                                        </p:tgtEl>
                                      </p:cBhvr>
                                    </p:animEffect>
                                  </p:childTnLst>
                                </p:cTn>
                              </p:par>
                              <p:par>
                                <p:cTn id="63" presetID="10" presetClass="entr" presetSubtype="0" fill="hold" nodeType="withEffect">
                                  <p:stCondLst>
                                    <p:cond delay="0"/>
                                  </p:stCondLst>
                                  <p:childTnLst>
                                    <p:set>
                                      <p:cBhvr>
                                        <p:cTn id="64" dur="1" fill="hold">
                                          <p:stCondLst>
                                            <p:cond delay="0"/>
                                          </p:stCondLst>
                                        </p:cTn>
                                        <p:tgtEl>
                                          <p:spTgt spid="22"/>
                                        </p:tgtEl>
                                        <p:attrNameLst>
                                          <p:attrName>style.visibility</p:attrName>
                                        </p:attrNameLst>
                                      </p:cBhvr>
                                      <p:to>
                                        <p:strVal val="visible"/>
                                      </p:to>
                                    </p:set>
                                    <p:animEffect transition="in" filter="fade">
                                      <p:cBhvr>
                                        <p:cTn id="65"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2" grpId="0"/>
      <p:bldP spid="13" grpId="0"/>
      <p:bldP spid="14" grpId="0"/>
      <p:bldP spid="16" grpId="0"/>
      <p:bldP spid="17" grpId="0"/>
      <p:bldP spid="15" grpId="0"/>
      <p:bldP spid="18" grpId="0"/>
      <p:bldP spid="19" grpId="0"/>
      <p:bldP spid="20" grpId="0"/>
      <p:bldP spid="21" grpId="0"/>
      <p:bldP spid="22"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9 / 16</a:t>
            </a:r>
          </a:p>
        </p:txBody>
      </p:sp>
      <p:sp>
        <p:nvSpPr>
          <p:cNvPr id="6" name="Titre"/>
          <p:cNvSpPr txBox="1"/>
          <p:nvPr/>
        </p:nvSpPr>
        <p:spPr>
          <a:xfrm>
            <a:off x="548640" y="777240"/>
            <a:ext cx="8412480" cy="1005840"/>
          </a:xfrm>
          <a:prstGeom prst="rect">
            <a:avLst/>
          </a:prstGeom>
          <a:noFill/>
        </p:spPr>
        <p:txBody>
          <a:bodyPr wrap="square" lIns="0" rIns="0" tIns="0" bIns="0" anchor="t">
            <a:spAutoFit/>
          </a:bodyPr>
          <a:lstStyle/>
          <a:p>
            <a:pPr algn="l"/>
            <a:r>
              <a:rPr sz="2800" b="1" i="0">
                <a:solidFill>
                  <a:srgbClr val="1F3A5F"/>
                </a:solidFill>
                <a:latin typeface="Arial"/>
              </a:rPr>
              <a:t>La capture part seule après deux frames consécutives nettes, bien exposées et stables</a:t>
            </a:r>
          </a:p>
        </p:txBody>
      </p:sp>
      <p:sp>
        <p:nvSpPr>
          <p:cNvPr id="7" name="Rectangle 6"/>
          <p:cNvSpPr/>
          <p:nvPr/>
        </p:nvSpPr>
        <p:spPr>
          <a:xfrm>
            <a:off x="548640" y="2240280"/>
            <a:ext cx="1353312" cy="566928"/>
          </a:xfrm>
          <a:prstGeom prst="rect">
            <a:avLst/>
          </a:prstGeom>
          <a:solidFill>
            <a:srgbClr val="EEF2F6"/>
          </a:solidFill>
          <a:ln w="12700">
            <a:solidFill>
              <a:srgbClr val="CBD3DB"/>
            </a:solidFill>
          </a:ln>
        </p:spPr>
        <p:txBody>
          <a:bodyPr rtlCol="0" anchor="ctr"/>
          <a:lstStyle/>
          <a:p/>
        </p:txBody>
      </p:sp>
      <p:sp>
        <p:nvSpPr>
          <p:cNvPr id="8" name="TextBox 7"/>
          <p:cNvSpPr txBox="1"/>
          <p:nvPr/>
        </p:nvSpPr>
        <p:spPr>
          <a:xfrm>
            <a:off x="548640"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searching</a:t>
            </a:r>
          </a:p>
        </p:txBody>
      </p:sp>
      <p:cxnSp>
        <p:nvCxnSpPr>
          <p:cNvPr id="9" name="Connector 8"/>
          <p:cNvCxnSpPr/>
          <p:nvPr/>
        </p:nvCxnSpPr>
        <p:spPr>
          <a:xfrm>
            <a:off x="1929384" y="2523744"/>
            <a:ext cx="356616" cy="0"/>
          </a:xfrm>
          <a:prstGeom prst="line">
            <a:avLst/>
          </a:prstGeom>
          <a:ln w="19050">
            <a:solidFill>
              <a:srgbClr val="1F3A5F"/>
            </a:solidFill>
            <a:tailEnd type="triangle" w="med" h="med"/>
          </a:ln>
        </p:spPr>
      </p:cxnSp>
      <p:sp>
        <p:nvSpPr>
          <p:cNvPr id="10" name="Rectangle 9"/>
          <p:cNvSpPr/>
          <p:nvPr/>
        </p:nvSpPr>
        <p:spPr>
          <a:xfrm>
            <a:off x="2313432" y="2240280"/>
            <a:ext cx="1353312" cy="566928"/>
          </a:xfrm>
          <a:prstGeom prst="rect">
            <a:avLst/>
          </a:prstGeom>
          <a:solidFill>
            <a:srgbClr val="EEF2F6"/>
          </a:solidFill>
          <a:ln w="12700">
            <a:solidFill>
              <a:srgbClr val="CBD3DB"/>
            </a:solidFill>
          </a:ln>
        </p:spPr>
        <p:txBody>
          <a:bodyPr rtlCol="0" anchor="ctr"/>
          <a:lstStyle/>
          <a:p/>
        </p:txBody>
      </p:sp>
      <p:sp>
        <p:nvSpPr>
          <p:cNvPr id="11" name="TextBox 10"/>
          <p:cNvSpPr txBox="1"/>
          <p:nvPr/>
        </p:nvSpPr>
        <p:spPr>
          <a:xfrm>
            <a:off x="2313432"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poorQuality</a:t>
            </a:r>
          </a:p>
        </p:txBody>
      </p:sp>
      <p:cxnSp>
        <p:nvCxnSpPr>
          <p:cNvPr id="12" name="Connector 11"/>
          <p:cNvCxnSpPr/>
          <p:nvPr/>
        </p:nvCxnSpPr>
        <p:spPr>
          <a:xfrm>
            <a:off x="3694176" y="2523744"/>
            <a:ext cx="356615" cy="0"/>
          </a:xfrm>
          <a:prstGeom prst="line">
            <a:avLst/>
          </a:prstGeom>
          <a:ln w="19050">
            <a:solidFill>
              <a:srgbClr val="1F3A5F"/>
            </a:solidFill>
            <a:tailEnd type="triangle" w="med" h="med"/>
          </a:ln>
        </p:spPr>
      </p:cxnSp>
      <p:sp>
        <p:nvSpPr>
          <p:cNvPr id="13" name="Rectangle 12"/>
          <p:cNvSpPr/>
          <p:nvPr/>
        </p:nvSpPr>
        <p:spPr>
          <a:xfrm>
            <a:off x="4078224" y="2240280"/>
            <a:ext cx="1353312" cy="566928"/>
          </a:xfrm>
          <a:prstGeom prst="rect">
            <a:avLst/>
          </a:prstGeom>
          <a:solidFill>
            <a:srgbClr val="FFFFFF"/>
          </a:solidFill>
          <a:ln w="25400">
            <a:solidFill>
              <a:srgbClr val="2E75B6"/>
            </a:solidFill>
          </a:ln>
        </p:spPr>
        <p:txBody>
          <a:bodyPr rtlCol="0" anchor="ctr"/>
          <a:lstStyle/>
          <a:p/>
        </p:txBody>
      </p:sp>
      <p:sp>
        <p:nvSpPr>
          <p:cNvPr id="14" name="TextBox 13"/>
          <p:cNvSpPr txBox="1"/>
          <p:nvPr/>
        </p:nvSpPr>
        <p:spPr>
          <a:xfrm>
            <a:off x="4078224"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holding</a:t>
            </a:r>
          </a:p>
        </p:txBody>
      </p:sp>
      <p:cxnSp>
        <p:nvCxnSpPr>
          <p:cNvPr id="15" name="Connector 14"/>
          <p:cNvCxnSpPr/>
          <p:nvPr/>
        </p:nvCxnSpPr>
        <p:spPr>
          <a:xfrm>
            <a:off x="5458968" y="2523744"/>
            <a:ext cx="356615" cy="0"/>
          </a:xfrm>
          <a:prstGeom prst="line">
            <a:avLst/>
          </a:prstGeom>
          <a:ln w="19050">
            <a:solidFill>
              <a:srgbClr val="1F3A5F"/>
            </a:solidFill>
            <a:tailEnd type="triangle" w="med" h="med"/>
          </a:ln>
        </p:spPr>
      </p:cxnSp>
      <p:sp>
        <p:nvSpPr>
          <p:cNvPr id="16" name="Rectangle 15"/>
          <p:cNvSpPr/>
          <p:nvPr/>
        </p:nvSpPr>
        <p:spPr>
          <a:xfrm>
            <a:off x="5843016" y="2240280"/>
            <a:ext cx="1353312" cy="566928"/>
          </a:xfrm>
          <a:prstGeom prst="rect">
            <a:avLst/>
          </a:prstGeom>
          <a:solidFill>
            <a:srgbClr val="EEF2F6"/>
          </a:solidFill>
          <a:ln w="12700">
            <a:solidFill>
              <a:srgbClr val="CBD3DB"/>
            </a:solidFill>
          </a:ln>
        </p:spPr>
        <p:txBody>
          <a:bodyPr rtlCol="0" anchor="ctr"/>
          <a:lstStyle/>
          <a:p/>
        </p:txBody>
      </p:sp>
      <p:sp>
        <p:nvSpPr>
          <p:cNvPr id="17" name="TextBox 16"/>
          <p:cNvSpPr txBox="1"/>
          <p:nvPr/>
        </p:nvSpPr>
        <p:spPr>
          <a:xfrm>
            <a:off x="5843016"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triggerCapture</a:t>
            </a:r>
          </a:p>
        </p:txBody>
      </p:sp>
      <p:cxnSp>
        <p:nvCxnSpPr>
          <p:cNvPr id="18" name="Connector 17"/>
          <p:cNvCxnSpPr/>
          <p:nvPr/>
        </p:nvCxnSpPr>
        <p:spPr>
          <a:xfrm>
            <a:off x="7223759" y="2523744"/>
            <a:ext cx="356617" cy="0"/>
          </a:xfrm>
          <a:prstGeom prst="line">
            <a:avLst/>
          </a:prstGeom>
          <a:ln w="19050">
            <a:solidFill>
              <a:srgbClr val="1F3A5F"/>
            </a:solidFill>
            <a:tailEnd type="triangle" w="med" h="med"/>
          </a:ln>
        </p:spPr>
      </p:cxnSp>
      <p:sp>
        <p:nvSpPr>
          <p:cNvPr id="19" name="Rectangle 18"/>
          <p:cNvSpPr/>
          <p:nvPr/>
        </p:nvSpPr>
        <p:spPr>
          <a:xfrm>
            <a:off x="7607808" y="2240280"/>
            <a:ext cx="1353312" cy="566928"/>
          </a:xfrm>
          <a:prstGeom prst="rect">
            <a:avLst/>
          </a:prstGeom>
          <a:solidFill>
            <a:srgbClr val="EEF2F6"/>
          </a:solidFill>
          <a:ln w="12700">
            <a:solidFill>
              <a:srgbClr val="CBD3DB"/>
            </a:solidFill>
          </a:ln>
        </p:spPr>
        <p:txBody>
          <a:bodyPr rtlCol="0" anchor="ctr"/>
          <a:lstStyle/>
          <a:p/>
        </p:txBody>
      </p:sp>
      <p:sp>
        <p:nvSpPr>
          <p:cNvPr id="20" name="TextBox 19"/>
          <p:cNvSpPr txBox="1"/>
          <p:nvPr/>
        </p:nvSpPr>
        <p:spPr>
          <a:xfrm>
            <a:off x="7607808" y="2240280"/>
            <a:ext cx="1353312" cy="566928"/>
          </a:xfrm>
          <a:prstGeom prst="rect">
            <a:avLst/>
          </a:prstGeom>
          <a:noFill/>
        </p:spPr>
        <p:txBody>
          <a:bodyPr wrap="square" lIns="0" rIns="0" tIns="0" bIns="0" anchor="ctr">
            <a:spAutoFit/>
          </a:bodyPr>
          <a:lstStyle/>
          <a:p>
            <a:pPr algn="ctr"/>
            <a:r>
              <a:rPr sz="1200" b="1" i="0">
                <a:solidFill>
                  <a:srgbClr val="1F3A5F"/>
                </a:solidFill>
                <a:latin typeface="Courier New"/>
              </a:rPr>
              <a:t>captured</a:t>
            </a:r>
          </a:p>
        </p:txBody>
      </p:sp>
      <p:sp>
        <p:nvSpPr>
          <p:cNvPr id="21" name="TextBox 20"/>
          <p:cNvSpPr txBox="1"/>
          <p:nvPr/>
        </p:nvSpPr>
        <p:spPr>
          <a:xfrm>
            <a:off x="1513332"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carte trouvée</a:t>
            </a:r>
          </a:p>
        </p:txBody>
      </p:sp>
      <p:sp>
        <p:nvSpPr>
          <p:cNvPr id="22" name="TextBox 21"/>
          <p:cNvSpPr txBox="1"/>
          <p:nvPr/>
        </p:nvSpPr>
        <p:spPr>
          <a:xfrm>
            <a:off x="3278123"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contrôles OK</a:t>
            </a:r>
          </a:p>
        </p:txBody>
      </p:sp>
      <p:sp>
        <p:nvSpPr>
          <p:cNvPr id="23" name="TextBox 22"/>
          <p:cNvSpPr txBox="1"/>
          <p:nvPr/>
        </p:nvSpPr>
        <p:spPr>
          <a:xfrm>
            <a:off x="5042915" y="1947672"/>
            <a:ext cx="1188720" cy="256032"/>
          </a:xfrm>
          <a:prstGeom prst="rect">
            <a:avLst/>
          </a:prstGeom>
          <a:noFill/>
        </p:spPr>
        <p:txBody>
          <a:bodyPr wrap="square" lIns="0" rIns="0" tIns="0" bIns="0" anchor="t">
            <a:spAutoFit/>
          </a:bodyPr>
          <a:lstStyle/>
          <a:p>
            <a:pPr algn="ctr"/>
            <a:r>
              <a:rPr sz="1100" b="0" i="0">
                <a:solidFill>
                  <a:srgbClr val="5B6B7A"/>
                </a:solidFill>
                <a:latin typeface="Arial"/>
              </a:rPr>
              <a:t>2 frames OK</a:t>
            </a:r>
          </a:p>
        </p:txBody>
      </p:sp>
      <p:cxnSp>
        <p:nvCxnSpPr>
          <p:cNvPr id="24" name="Connector 23"/>
          <p:cNvCxnSpPr/>
          <p:nvPr/>
        </p:nvCxnSpPr>
        <p:spPr>
          <a:xfrm>
            <a:off x="4754880" y="2807208"/>
            <a:ext cx="0" cy="256032"/>
          </a:xfrm>
          <a:prstGeom prst="line">
            <a:avLst/>
          </a:prstGeom>
          <a:ln w="12700">
            <a:solidFill>
              <a:srgbClr val="5B6B7A"/>
            </a:solidFill>
          </a:ln>
        </p:spPr>
      </p:cxnSp>
      <p:cxnSp>
        <p:nvCxnSpPr>
          <p:cNvPr id="25" name="Connector 24"/>
          <p:cNvCxnSpPr/>
          <p:nvPr/>
        </p:nvCxnSpPr>
        <p:spPr>
          <a:xfrm flipH="1">
            <a:off x="2990087" y="3063240"/>
            <a:ext cx="1764793" cy="0"/>
          </a:xfrm>
          <a:prstGeom prst="line">
            <a:avLst/>
          </a:prstGeom>
          <a:ln w="12700">
            <a:solidFill>
              <a:srgbClr val="5B6B7A"/>
            </a:solidFill>
          </a:ln>
        </p:spPr>
      </p:cxnSp>
      <p:cxnSp>
        <p:nvCxnSpPr>
          <p:cNvPr id="26" name="Connector 25"/>
          <p:cNvCxnSpPr/>
          <p:nvPr/>
        </p:nvCxnSpPr>
        <p:spPr>
          <a:xfrm flipV="1">
            <a:off x="2990087" y="2825496"/>
            <a:ext cx="0" cy="237744"/>
          </a:xfrm>
          <a:prstGeom prst="line">
            <a:avLst/>
          </a:prstGeom>
          <a:ln w="12700">
            <a:solidFill>
              <a:srgbClr val="5B6B7A"/>
            </a:solidFill>
            <a:tailEnd type="triangle" w="med" h="med"/>
          </a:ln>
        </p:spPr>
      </p:cxnSp>
      <p:sp>
        <p:nvSpPr>
          <p:cNvPr id="27" name="TextBox 26"/>
          <p:cNvSpPr txBox="1"/>
          <p:nvPr/>
        </p:nvSpPr>
        <p:spPr>
          <a:xfrm>
            <a:off x="3081527" y="3090672"/>
            <a:ext cx="1581912" cy="274320"/>
          </a:xfrm>
          <a:prstGeom prst="rect">
            <a:avLst/>
          </a:prstGeom>
          <a:noFill/>
        </p:spPr>
        <p:txBody>
          <a:bodyPr wrap="square" lIns="0" rIns="0" tIns="0" bIns="0" anchor="t">
            <a:spAutoFit/>
          </a:bodyPr>
          <a:lstStyle/>
          <a:p>
            <a:pPr algn="ctr"/>
            <a:r>
              <a:rPr sz="1200" b="0" i="0">
                <a:solidFill>
                  <a:srgbClr val="5B6B7A"/>
                </a:solidFill>
                <a:latin typeface="Arial"/>
              </a:rPr>
              <a:t>un contrôle échoue</a:t>
            </a:r>
          </a:p>
        </p:txBody>
      </p:sp>
      <p:cxnSp>
        <p:nvCxnSpPr>
          <p:cNvPr id="28" name="Connector 27"/>
          <p:cNvCxnSpPr/>
          <p:nvPr/>
        </p:nvCxnSpPr>
        <p:spPr>
          <a:xfrm>
            <a:off x="8284464" y="2807208"/>
            <a:ext cx="0" cy="658368"/>
          </a:xfrm>
          <a:prstGeom prst="line">
            <a:avLst/>
          </a:prstGeom>
          <a:ln w="12700">
            <a:solidFill>
              <a:srgbClr val="5B6B7A"/>
            </a:solidFill>
          </a:ln>
        </p:spPr>
      </p:cxnSp>
      <p:cxnSp>
        <p:nvCxnSpPr>
          <p:cNvPr id="29" name="Connector 28"/>
          <p:cNvCxnSpPr/>
          <p:nvPr/>
        </p:nvCxnSpPr>
        <p:spPr>
          <a:xfrm flipH="1">
            <a:off x="1225295" y="3465576"/>
            <a:ext cx="7059169" cy="0"/>
          </a:xfrm>
          <a:prstGeom prst="line">
            <a:avLst/>
          </a:prstGeom>
          <a:ln w="12700">
            <a:solidFill>
              <a:srgbClr val="5B6B7A"/>
            </a:solidFill>
          </a:ln>
        </p:spPr>
      </p:cxnSp>
      <p:cxnSp>
        <p:nvCxnSpPr>
          <p:cNvPr id="30" name="Connector 29"/>
          <p:cNvCxnSpPr/>
          <p:nvPr/>
        </p:nvCxnSpPr>
        <p:spPr>
          <a:xfrm flipV="1">
            <a:off x="1225295" y="2825496"/>
            <a:ext cx="0" cy="640080"/>
          </a:xfrm>
          <a:prstGeom prst="line">
            <a:avLst/>
          </a:prstGeom>
          <a:ln w="12700">
            <a:solidFill>
              <a:srgbClr val="5B6B7A"/>
            </a:solidFill>
            <a:tailEnd type="triangle" w="med" h="med"/>
          </a:ln>
        </p:spPr>
      </p:cxnSp>
      <p:sp>
        <p:nvSpPr>
          <p:cNvPr id="31" name="TextBox 30"/>
          <p:cNvSpPr txBox="1"/>
          <p:nvPr/>
        </p:nvSpPr>
        <p:spPr>
          <a:xfrm>
            <a:off x="1316736" y="3493008"/>
            <a:ext cx="6876288" cy="274320"/>
          </a:xfrm>
          <a:prstGeom prst="rect">
            <a:avLst/>
          </a:prstGeom>
          <a:noFill/>
        </p:spPr>
        <p:txBody>
          <a:bodyPr wrap="square" lIns="0" rIns="0" tIns="0" bIns="0" anchor="t">
            <a:spAutoFit/>
          </a:bodyPr>
          <a:lstStyle/>
          <a:p>
            <a:pPr algn="ctr"/>
            <a:r>
              <a:rPr sz="1200" b="0" i="0">
                <a:solidFill>
                  <a:srgbClr val="5B6B7A"/>
                </a:solidFill>
                <a:latin typeface="Arial"/>
              </a:rPr>
              <a:t>face suivante, ou échec de la capture → reset</a:t>
            </a:r>
          </a:p>
        </p:txBody>
      </p:sp>
      <p:sp>
        <p:nvSpPr>
          <p:cNvPr id="32" name="TextBox 31"/>
          <p:cNvSpPr txBox="1"/>
          <p:nvPr/>
        </p:nvSpPr>
        <p:spPr>
          <a:xfrm>
            <a:off x="548640" y="3931920"/>
            <a:ext cx="1645920" cy="457200"/>
          </a:xfrm>
          <a:prstGeom prst="rect">
            <a:avLst/>
          </a:prstGeom>
          <a:noFill/>
        </p:spPr>
        <p:txBody>
          <a:bodyPr wrap="square" lIns="0" rIns="0" tIns="0" bIns="0" anchor="t">
            <a:spAutoFit/>
          </a:bodyPr>
          <a:lstStyle/>
          <a:p>
            <a:pPr algn="l"/>
            <a:r>
              <a:rPr sz="1800" b="1" i="0">
                <a:solidFill>
                  <a:srgbClr val="1F3A5F"/>
                </a:solidFill>
                <a:latin typeface="Arial"/>
              </a:rPr>
              <a:t>Netteté</a:t>
            </a:r>
          </a:p>
        </p:txBody>
      </p:sp>
      <p:sp>
        <p:nvSpPr>
          <p:cNvPr id="33" name="TextBox 32"/>
          <p:cNvSpPr txBox="1"/>
          <p:nvPr/>
        </p:nvSpPr>
        <p:spPr>
          <a:xfrm>
            <a:off x="2240280" y="3950207"/>
            <a:ext cx="6583680" cy="502920"/>
          </a:xfrm>
          <a:prstGeom prst="rect">
            <a:avLst/>
          </a:prstGeom>
          <a:noFill/>
        </p:spPr>
        <p:txBody>
          <a:bodyPr wrap="square" lIns="0" rIns="0" tIns="0" bIns="0" anchor="t">
            <a:spAutoFit/>
          </a:bodyPr>
          <a:lstStyle/>
          <a:p>
            <a:pPr algn="l"/>
            <a:r>
              <a:rPr sz="1600" b="0" i="0">
                <a:solidFill>
                  <a:srgbClr val="1B2530"/>
                </a:solidFill>
                <a:latin typeface="Arial"/>
              </a:rPr>
              <a:t>variance du Laplacien, après CLAHE, ≥ 120 (à 856 × 540 px)</a:t>
            </a:r>
          </a:p>
        </p:txBody>
      </p:sp>
      <p:sp>
        <p:nvSpPr>
          <p:cNvPr id="34" name="TextBox 33"/>
          <p:cNvSpPr txBox="1"/>
          <p:nvPr/>
        </p:nvSpPr>
        <p:spPr>
          <a:xfrm>
            <a:off x="548640" y="4389120"/>
            <a:ext cx="1645920" cy="457200"/>
          </a:xfrm>
          <a:prstGeom prst="rect">
            <a:avLst/>
          </a:prstGeom>
          <a:noFill/>
        </p:spPr>
        <p:txBody>
          <a:bodyPr wrap="square" lIns="0" rIns="0" tIns="0" bIns="0" anchor="t">
            <a:spAutoFit/>
          </a:bodyPr>
          <a:lstStyle/>
          <a:p>
            <a:pPr algn="l"/>
            <a:r>
              <a:rPr sz="1800" b="1" i="0">
                <a:solidFill>
                  <a:srgbClr val="1F3A5F"/>
                </a:solidFill>
                <a:latin typeface="Arial"/>
              </a:rPr>
              <a:t>Luminosité</a:t>
            </a:r>
          </a:p>
        </p:txBody>
      </p:sp>
      <p:sp>
        <p:nvSpPr>
          <p:cNvPr id="35" name="TextBox 34"/>
          <p:cNvSpPr txBox="1"/>
          <p:nvPr/>
        </p:nvSpPr>
        <p:spPr>
          <a:xfrm>
            <a:off x="2240280" y="4407407"/>
            <a:ext cx="6583680" cy="502920"/>
          </a:xfrm>
          <a:prstGeom prst="rect">
            <a:avLst/>
          </a:prstGeom>
          <a:noFill/>
        </p:spPr>
        <p:txBody>
          <a:bodyPr wrap="square" lIns="0" rIns="0" tIns="0" bIns="0" anchor="t">
            <a:spAutoFit/>
          </a:bodyPr>
          <a:lstStyle/>
          <a:p>
            <a:pPr algn="l"/>
            <a:r>
              <a:rPr sz="1600" b="0" i="0">
                <a:solidFill>
                  <a:srgbClr val="1B2530"/>
                </a:solidFill>
                <a:latin typeface="Arial"/>
              </a:rPr>
              <a:t>moyenne dans [60 ; 225] et ≤ 12 % de pixels ≥ 250</a:t>
            </a:r>
          </a:p>
        </p:txBody>
      </p:sp>
      <p:sp>
        <p:nvSpPr>
          <p:cNvPr id="36" name="TextBox 35"/>
          <p:cNvSpPr txBox="1"/>
          <p:nvPr/>
        </p:nvSpPr>
        <p:spPr>
          <a:xfrm>
            <a:off x="548640" y="4846320"/>
            <a:ext cx="1645920" cy="457200"/>
          </a:xfrm>
          <a:prstGeom prst="rect">
            <a:avLst/>
          </a:prstGeom>
          <a:noFill/>
        </p:spPr>
        <p:txBody>
          <a:bodyPr wrap="square" lIns="0" rIns="0" tIns="0" bIns="0" anchor="t">
            <a:spAutoFit/>
          </a:bodyPr>
          <a:lstStyle/>
          <a:p>
            <a:pPr algn="l"/>
            <a:r>
              <a:rPr sz="1800" b="1" i="0">
                <a:solidFill>
                  <a:srgbClr val="1F3A5F"/>
                </a:solidFill>
                <a:latin typeface="Arial"/>
              </a:rPr>
              <a:t>Stabilité</a:t>
            </a:r>
          </a:p>
        </p:txBody>
      </p:sp>
      <p:sp>
        <p:nvSpPr>
          <p:cNvPr id="37" name="TextBox 36"/>
          <p:cNvSpPr txBox="1"/>
          <p:nvPr/>
        </p:nvSpPr>
        <p:spPr>
          <a:xfrm>
            <a:off x="2240280" y="4864607"/>
            <a:ext cx="6583680" cy="502920"/>
          </a:xfrm>
          <a:prstGeom prst="rect">
            <a:avLst/>
          </a:prstGeom>
          <a:noFill/>
        </p:spPr>
        <p:txBody>
          <a:bodyPr wrap="square" lIns="0" rIns="0" tIns="0" bIns="0" anchor="t">
            <a:spAutoFit/>
          </a:bodyPr>
          <a:lstStyle/>
          <a:p>
            <a:pPr algn="l"/>
            <a:r>
              <a:rPr sz="1600" b="0" i="0">
                <a:solidFill>
                  <a:srgbClr val="1B2530"/>
                </a:solidFill>
                <a:latin typeface="Arial"/>
              </a:rPr>
              <a:t>dérive des coins ≤ 2,5 % de la diagonale, sur 3 frames</a:t>
            </a:r>
          </a:p>
        </p:txBody>
      </p:sp>
      <p:sp>
        <p:nvSpPr>
          <p:cNvPr id="38" name="TextBox 37"/>
          <p:cNvSpPr txBox="1"/>
          <p:nvPr/>
        </p:nvSpPr>
        <p:spPr>
          <a:xfrm>
            <a:off x="548640" y="5303520"/>
            <a:ext cx="1645920" cy="457200"/>
          </a:xfrm>
          <a:prstGeom prst="rect">
            <a:avLst/>
          </a:prstGeom>
          <a:noFill/>
        </p:spPr>
        <p:txBody>
          <a:bodyPr wrap="square" lIns="0" rIns="0" tIns="0" bIns="0" anchor="t">
            <a:spAutoFit/>
          </a:bodyPr>
          <a:lstStyle/>
          <a:p>
            <a:pPr algn="l"/>
            <a:r>
              <a:rPr sz="1800" b="1" i="0">
                <a:solidFill>
                  <a:srgbClr val="1F3A5F"/>
                </a:solidFill>
                <a:latin typeface="Arial"/>
              </a:rPr>
              <a:t>Contenu</a:t>
            </a:r>
          </a:p>
        </p:txBody>
      </p:sp>
      <p:sp>
        <p:nvSpPr>
          <p:cNvPr id="39" name="TextBox 38"/>
          <p:cNvSpPr txBox="1"/>
          <p:nvPr/>
        </p:nvSpPr>
        <p:spPr>
          <a:xfrm>
            <a:off x="2240280" y="5321807"/>
            <a:ext cx="6583680" cy="502920"/>
          </a:xfrm>
          <a:prstGeom prst="rect">
            <a:avLst/>
          </a:prstGeom>
          <a:noFill/>
        </p:spPr>
        <p:txBody>
          <a:bodyPr wrap="square" lIns="0" rIns="0" tIns="0" bIns="0" anchor="t">
            <a:spAutoFit/>
          </a:bodyPr>
          <a:lstStyle/>
          <a:p>
            <a:pPr algn="l"/>
            <a:r>
              <a:rPr sz="1600" b="0" i="0">
                <a:solidFill>
                  <a:srgbClr val="1B2530"/>
                </a:solidFill>
                <a:latin typeface="Arial"/>
              </a:rPr>
              <a:t>la face attendue est reconnue (diapositive suivante)</a:t>
            </a:r>
          </a:p>
        </p:txBody>
      </p:sp>
      <p:sp>
        <p:nvSpPr>
          <p:cNvPr id="40" name="TextBox 39"/>
          <p:cNvSpPr txBox="1"/>
          <p:nvPr/>
        </p:nvSpPr>
        <p:spPr>
          <a:xfrm>
            <a:off x="548640" y="5760720"/>
            <a:ext cx="1645920" cy="457200"/>
          </a:xfrm>
          <a:prstGeom prst="rect">
            <a:avLst/>
          </a:prstGeom>
          <a:noFill/>
        </p:spPr>
        <p:txBody>
          <a:bodyPr wrap="square" lIns="0" rIns="0" tIns="0" bIns="0" anchor="t">
            <a:spAutoFit/>
          </a:bodyPr>
          <a:lstStyle/>
          <a:p>
            <a:pPr algn="l"/>
            <a:r>
              <a:rPr sz="1800" b="1" i="0">
                <a:solidFill>
                  <a:srgbClr val="1F3A5F"/>
                </a:solidFill>
                <a:latin typeface="Arial"/>
              </a:rPr>
              <a:t>Maintien</a:t>
            </a:r>
          </a:p>
        </p:txBody>
      </p:sp>
      <p:sp>
        <p:nvSpPr>
          <p:cNvPr id="41" name="TextBox 40"/>
          <p:cNvSpPr txBox="1"/>
          <p:nvPr/>
        </p:nvSpPr>
        <p:spPr>
          <a:xfrm>
            <a:off x="2240280" y="5779007"/>
            <a:ext cx="6583680" cy="502920"/>
          </a:xfrm>
          <a:prstGeom prst="rect">
            <a:avLst/>
          </a:prstGeom>
          <a:noFill/>
        </p:spPr>
        <p:txBody>
          <a:bodyPr wrap="square" lIns="0" rIns="0" tIns="0" bIns="0" anchor="t">
            <a:spAutoFit/>
          </a:bodyPr>
          <a:lstStyle/>
          <a:p>
            <a:pPr algn="l"/>
            <a:r>
              <a:rPr sz="1600" b="0" i="0">
                <a:solidFill>
                  <a:srgbClr val="1B2530"/>
                </a:solidFill>
                <a:latin typeface="Arial"/>
              </a:rPr>
              <a:t>2 frames consécutives : un compteur, pas une minuterie</a:t>
            </a:r>
          </a:p>
        </p:txBody>
      </p:sp>
      <p:pic>
        <p:nvPicPr>
          <p:cNvPr id="42" name="Picture 41" descr="Écran recto réel : cadre-guide et message « Ne bougez plus… » ; données masquées"/>
          <p:cNvPicPr>
            <a:picLocks noChangeAspect="1"/>
          </p:cNvPicPr>
          <p:nvPr/>
        </p:nvPicPr>
        <p:blipFill>
          <a:blip r:embed="rId2"/>
          <a:stretch>
            <a:fillRect/>
          </a:stretch>
        </p:blipFill>
        <p:spPr>
          <a:xfrm>
            <a:off x="9372600" y="1737360"/>
            <a:ext cx="2324040" cy="4160520"/>
          </a:xfrm>
          <a:prstGeom prst="rect">
            <a:avLst/>
          </a:prstGeom>
          <a:ln w="9525">
            <a:solidFill>
              <a:srgbClr val="CBD3DB"/>
            </a:solidFill>
          </a:ln>
        </p:spPr>
      </p:pic>
      <p:sp>
        <p:nvSpPr>
          <p:cNvPr id="43" name="TextBox 42"/>
          <p:cNvSpPr txBox="1"/>
          <p:nvPr/>
        </p:nvSpPr>
        <p:spPr>
          <a:xfrm>
            <a:off x="9372600" y="5943600"/>
            <a:ext cx="2331720" cy="384048"/>
          </a:xfrm>
          <a:prstGeom prst="rect">
            <a:avLst/>
          </a:prstGeom>
          <a:noFill/>
        </p:spPr>
        <p:txBody>
          <a:bodyPr wrap="square" lIns="0" rIns="0" tIns="0" bIns="0" anchor="t">
            <a:spAutoFit/>
          </a:bodyPr>
          <a:lstStyle/>
          <a:p>
            <a:pPr algn="l"/>
            <a:r>
              <a:rPr sz="1200" b="0" i="0">
                <a:solidFill>
                  <a:srgbClr val="5B6B7A"/>
                </a:solidFill>
                <a:latin typeface="Arial"/>
              </a:rPr>
              <a:t>Écran réel : message de qualité « Ne bougez plus…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42"/>
                                        </p:tgtEl>
                                        <p:attrNameLst>
                                          <p:attrName>style.visibility</p:attrName>
                                        </p:attrNameLst>
                                      </p:cBhvr>
                                      <p:to>
                                        <p:strVal val="visible"/>
                                      </p:to>
                                    </p:set>
                                    <p:animEffect transition="in" filter="fade">
                                      <p:cBhvr>
                                        <p:cTn id="11" dur="350"/>
                                        <p:tgtEl>
                                          <p:spTgt spid="42"/>
                                        </p:tgtEl>
                                      </p:cBhvr>
                                    </p:animEffect>
                                  </p:childTnLst>
                                </p:cTn>
                              </p:par>
                              <p:par>
                                <p:cTn id="12" presetID="10"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350"/>
                                        <p:tgtEl>
                                          <p:spTgt spid="7"/>
                                        </p:tgtEl>
                                      </p:cBhvr>
                                    </p:animEffect>
                                  </p:childTnLst>
                                </p:cTn>
                              </p:par>
                              <p:par>
                                <p:cTn id="15" presetID="10"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animEffect transition="in" filter="fade">
                                      <p:cBhvr>
                                        <p:cTn id="17" dur="350"/>
                                        <p:tgtEl>
                                          <p:spTgt spid="8"/>
                                        </p:tgtEl>
                                      </p:cBhvr>
                                    </p:animEffect>
                                  </p:childTnLst>
                                </p:cTn>
                              </p:par>
                              <p:par>
                                <p:cTn id="18" presetID="10" presetClass="entr" presetSubtype="0" fill="hold" nodeType="withEffect">
                                  <p:stCondLst>
                                    <p:cond delay="0"/>
                                  </p:stCondLst>
                                  <p:childTnLst>
                                    <p:set>
                                      <p:cBhvr>
                                        <p:cTn id="19" dur="1" fill="hold">
                                          <p:stCondLst>
                                            <p:cond delay="0"/>
                                          </p:stCondLst>
                                        </p:cTn>
                                        <p:tgtEl>
                                          <p:spTgt spid="9"/>
                                        </p:tgtEl>
                                        <p:attrNameLst>
                                          <p:attrName>style.visibility</p:attrName>
                                        </p:attrNameLst>
                                      </p:cBhvr>
                                      <p:to>
                                        <p:strVal val="visible"/>
                                      </p:to>
                                    </p:set>
                                    <p:animEffect transition="in" filter="fade">
                                      <p:cBhvr>
                                        <p:cTn id="20" dur="350"/>
                                        <p:tgtEl>
                                          <p:spTgt spid="9"/>
                                        </p:tgtEl>
                                      </p:cBhvr>
                                    </p:animEffect>
                                  </p:childTnLst>
                                </p:cTn>
                              </p:par>
                              <p:par>
                                <p:cTn id="21" presetID="10" presetClass="entr" presetSubtype="0" fill="hold"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350"/>
                                        <p:tgtEl>
                                          <p:spTgt spid="10"/>
                                        </p:tgtEl>
                                      </p:cBhvr>
                                    </p:animEffect>
                                  </p:childTnLst>
                                </p:cTn>
                              </p:par>
                              <p:par>
                                <p:cTn id="24" presetID="10"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35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12"/>
                                        </p:tgtEl>
                                        <p:attrNameLst>
                                          <p:attrName>style.visibility</p:attrName>
                                        </p:attrNameLst>
                                      </p:cBhvr>
                                      <p:to>
                                        <p:strVal val="visible"/>
                                      </p:to>
                                    </p:set>
                                    <p:animEffect transition="in" filter="fade">
                                      <p:cBhvr>
                                        <p:cTn id="29" dur="350"/>
                                        <p:tgtEl>
                                          <p:spTgt spid="12"/>
                                        </p:tgtEl>
                                      </p:cBhvr>
                                    </p:animEffect>
                                  </p:childTnLst>
                                </p:cTn>
                              </p:par>
                              <p:par>
                                <p:cTn id="30" presetID="10" presetClass="entr" presetSubtype="0" fill="hold" nodeType="with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350"/>
                                        <p:tgtEl>
                                          <p:spTgt spid="13"/>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350"/>
                                        <p:tgtEl>
                                          <p:spTgt spid="14"/>
                                        </p:tgtEl>
                                      </p:cBhvr>
                                    </p:animEffect>
                                  </p:childTnLst>
                                </p:cTn>
                              </p:par>
                              <p:par>
                                <p:cTn id="36" presetID="10" presetClass="entr" presetSubtype="0" fill="hold"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350"/>
                                        <p:tgtEl>
                                          <p:spTgt spid="15"/>
                                        </p:tgtEl>
                                      </p:cBhvr>
                                    </p:animEffect>
                                  </p:childTnLst>
                                </p:cTn>
                              </p:par>
                              <p:par>
                                <p:cTn id="39" presetID="10" presetClass="entr" presetSubtype="0" fill="hold" nodeType="with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350"/>
                                        <p:tgtEl>
                                          <p:spTgt spid="16"/>
                                        </p:tgtEl>
                                      </p:cBhvr>
                                    </p:animEffect>
                                  </p:childTnLst>
                                </p:cTn>
                              </p:par>
                              <p:par>
                                <p:cTn id="42" presetID="10"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350"/>
                                        <p:tgtEl>
                                          <p:spTgt spid="17"/>
                                        </p:tgtEl>
                                      </p:cBhvr>
                                    </p:animEffect>
                                  </p:childTnLst>
                                </p:cTn>
                              </p:par>
                              <p:par>
                                <p:cTn id="45" presetID="10" presetClass="entr" presetSubtype="0" fill="hold"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350"/>
                                        <p:tgtEl>
                                          <p:spTgt spid="18"/>
                                        </p:tgtEl>
                                      </p:cBhvr>
                                    </p:animEffect>
                                  </p:childTnLst>
                                </p:cTn>
                              </p:par>
                              <p:par>
                                <p:cTn id="48" presetID="10" presetClass="entr" presetSubtype="0" fill="hold" nodeType="withEffect">
                                  <p:stCondLst>
                                    <p:cond delay="0"/>
                                  </p:stCondLst>
                                  <p:childTnLst>
                                    <p:set>
                                      <p:cBhvr>
                                        <p:cTn id="49" dur="1" fill="hold">
                                          <p:stCondLst>
                                            <p:cond delay="0"/>
                                          </p:stCondLst>
                                        </p:cTn>
                                        <p:tgtEl>
                                          <p:spTgt spid="19"/>
                                        </p:tgtEl>
                                        <p:attrNameLst>
                                          <p:attrName>style.visibility</p:attrName>
                                        </p:attrNameLst>
                                      </p:cBhvr>
                                      <p:to>
                                        <p:strVal val="visible"/>
                                      </p:to>
                                    </p:set>
                                    <p:animEffect transition="in" filter="fade">
                                      <p:cBhvr>
                                        <p:cTn id="50" dur="350"/>
                                        <p:tgtEl>
                                          <p:spTgt spid="19"/>
                                        </p:tgtEl>
                                      </p:cBhvr>
                                    </p:animEffect>
                                  </p:childTnLst>
                                </p:cTn>
                              </p:par>
                              <p:par>
                                <p:cTn id="51" presetID="10" presetClass="entr" presetSubtype="0" fill="hold" nodeType="withEffect">
                                  <p:stCondLst>
                                    <p:cond delay="0"/>
                                  </p:stCondLst>
                                  <p:childTnLst>
                                    <p:set>
                                      <p:cBhvr>
                                        <p:cTn id="52" dur="1" fill="hold">
                                          <p:stCondLst>
                                            <p:cond delay="0"/>
                                          </p:stCondLst>
                                        </p:cTn>
                                        <p:tgtEl>
                                          <p:spTgt spid="20"/>
                                        </p:tgtEl>
                                        <p:attrNameLst>
                                          <p:attrName>style.visibility</p:attrName>
                                        </p:attrNameLst>
                                      </p:cBhvr>
                                      <p:to>
                                        <p:strVal val="visible"/>
                                      </p:to>
                                    </p:set>
                                    <p:animEffect transition="in" filter="fade">
                                      <p:cBhvr>
                                        <p:cTn id="53" dur="350"/>
                                        <p:tgtEl>
                                          <p:spTgt spid="20"/>
                                        </p:tgtEl>
                                      </p:cBhvr>
                                    </p:animEffect>
                                  </p:childTnLst>
                                </p:cTn>
                              </p:par>
                              <p:par>
                                <p:cTn id="54" presetID="10" presetClass="entr" presetSubtype="0" fill="hold" nodeType="withEffect">
                                  <p:stCondLst>
                                    <p:cond delay="0"/>
                                  </p:stCondLst>
                                  <p:childTnLst>
                                    <p:set>
                                      <p:cBhvr>
                                        <p:cTn id="55" dur="1" fill="hold">
                                          <p:stCondLst>
                                            <p:cond delay="0"/>
                                          </p:stCondLst>
                                        </p:cTn>
                                        <p:tgtEl>
                                          <p:spTgt spid="21"/>
                                        </p:tgtEl>
                                        <p:attrNameLst>
                                          <p:attrName>style.visibility</p:attrName>
                                        </p:attrNameLst>
                                      </p:cBhvr>
                                      <p:to>
                                        <p:strVal val="visible"/>
                                      </p:to>
                                    </p:set>
                                    <p:animEffect transition="in" filter="fade">
                                      <p:cBhvr>
                                        <p:cTn id="56" dur="350"/>
                                        <p:tgtEl>
                                          <p:spTgt spid="21"/>
                                        </p:tgtEl>
                                      </p:cBhvr>
                                    </p:animEffect>
                                  </p:childTnLst>
                                </p:cTn>
                              </p:par>
                              <p:par>
                                <p:cTn id="57" presetID="10" presetClass="entr" presetSubtype="0" fill="hold" nodeType="with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fade">
                                      <p:cBhvr>
                                        <p:cTn id="59" dur="350"/>
                                        <p:tgtEl>
                                          <p:spTgt spid="22"/>
                                        </p:tgtEl>
                                      </p:cBhvr>
                                    </p:animEffect>
                                  </p:childTnLst>
                                </p:cTn>
                              </p:par>
                              <p:par>
                                <p:cTn id="60" presetID="10" presetClass="entr" presetSubtype="0" fill="hold" nodeType="withEffect">
                                  <p:stCondLst>
                                    <p:cond delay="0"/>
                                  </p:stCondLst>
                                  <p:childTnLst>
                                    <p:set>
                                      <p:cBhvr>
                                        <p:cTn id="61" dur="1" fill="hold">
                                          <p:stCondLst>
                                            <p:cond delay="0"/>
                                          </p:stCondLst>
                                        </p:cTn>
                                        <p:tgtEl>
                                          <p:spTgt spid="23"/>
                                        </p:tgtEl>
                                        <p:attrNameLst>
                                          <p:attrName>style.visibility</p:attrName>
                                        </p:attrNameLst>
                                      </p:cBhvr>
                                      <p:to>
                                        <p:strVal val="visible"/>
                                      </p:to>
                                    </p:set>
                                    <p:animEffect transition="in" filter="fade">
                                      <p:cBhvr>
                                        <p:cTn id="62" dur="350"/>
                                        <p:tgtEl>
                                          <p:spTgt spid="23"/>
                                        </p:tgtEl>
                                      </p:cBhvr>
                                    </p:animEffect>
                                  </p:childTnLst>
                                </p:cTn>
                              </p:par>
                              <p:par>
                                <p:cTn id="63" presetID="10" presetClass="entr" presetSubtype="0" fill="hold" nodeType="withEffect">
                                  <p:stCondLst>
                                    <p:cond delay="0"/>
                                  </p:stCondLst>
                                  <p:childTnLst>
                                    <p:set>
                                      <p:cBhvr>
                                        <p:cTn id="64" dur="1" fill="hold">
                                          <p:stCondLst>
                                            <p:cond delay="0"/>
                                          </p:stCondLst>
                                        </p:cTn>
                                        <p:tgtEl>
                                          <p:spTgt spid="24"/>
                                        </p:tgtEl>
                                        <p:attrNameLst>
                                          <p:attrName>style.visibility</p:attrName>
                                        </p:attrNameLst>
                                      </p:cBhvr>
                                      <p:to>
                                        <p:strVal val="visible"/>
                                      </p:to>
                                    </p:set>
                                    <p:animEffect transition="in" filter="fade">
                                      <p:cBhvr>
                                        <p:cTn id="65" dur="350"/>
                                        <p:tgtEl>
                                          <p:spTgt spid="24"/>
                                        </p:tgtEl>
                                      </p:cBhvr>
                                    </p:animEffect>
                                  </p:childTnLst>
                                </p:cTn>
                              </p:par>
                              <p:par>
                                <p:cTn id="66" presetID="10" presetClass="entr" presetSubtype="0" fill="hold" nodeType="withEffect">
                                  <p:stCondLst>
                                    <p:cond delay="0"/>
                                  </p:stCondLst>
                                  <p:childTnLst>
                                    <p:set>
                                      <p:cBhvr>
                                        <p:cTn id="67" dur="1" fill="hold">
                                          <p:stCondLst>
                                            <p:cond delay="0"/>
                                          </p:stCondLst>
                                        </p:cTn>
                                        <p:tgtEl>
                                          <p:spTgt spid="25"/>
                                        </p:tgtEl>
                                        <p:attrNameLst>
                                          <p:attrName>style.visibility</p:attrName>
                                        </p:attrNameLst>
                                      </p:cBhvr>
                                      <p:to>
                                        <p:strVal val="visible"/>
                                      </p:to>
                                    </p:set>
                                    <p:animEffect transition="in" filter="fade">
                                      <p:cBhvr>
                                        <p:cTn id="68" dur="350"/>
                                        <p:tgtEl>
                                          <p:spTgt spid="25"/>
                                        </p:tgtEl>
                                      </p:cBhvr>
                                    </p:animEffect>
                                  </p:childTnLst>
                                </p:cTn>
                              </p:par>
                              <p:par>
                                <p:cTn id="69" presetID="10" presetClass="entr" presetSubtype="0" fill="hold" nodeType="withEffect">
                                  <p:stCondLst>
                                    <p:cond delay="0"/>
                                  </p:stCondLst>
                                  <p:childTnLst>
                                    <p:set>
                                      <p:cBhvr>
                                        <p:cTn id="70" dur="1" fill="hold">
                                          <p:stCondLst>
                                            <p:cond delay="0"/>
                                          </p:stCondLst>
                                        </p:cTn>
                                        <p:tgtEl>
                                          <p:spTgt spid="26"/>
                                        </p:tgtEl>
                                        <p:attrNameLst>
                                          <p:attrName>style.visibility</p:attrName>
                                        </p:attrNameLst>
                                      </p:cBhvr>
                                      <p:to>
                                        <p:strVal val="visible"/>
                                      </p:to>
                                    </p:set>
                                    <p:animEffect transition="in" filter="fade">
                                      <p:cBhvr>
                                        <p:cTn id="71" dur="350"/>
                                        <p:tgtEl>
                                          <p:spTgt spid="26"/>
                                        </p:tgtEl>
                                      </p:cBhvr>
                                    </p:animEffect>
                                  </p:childTnLst>
                                </p:cTn>
                              </p:par>
                              <p:par>
                                <p:cTn id="72" presetID="10" presetClass="entr" presetSubtype="0" fill="hold" nodeType="withEffect">
                                  <p:stCondLst>
                                    <p:cond delay="0"/>
                                  </p:stCondLst>
                                  <p:childTnLst>
                                    <p:set>
                                      <p:cBhvr>
                                        <p:cTn id="73" dur="1" fill="hold">
                                          <p:stCondLst>
                                            <p:cond delay="0"/>
                                          </p:stCondLst>
                                        </p:cTn>
                                        <p:tgtEl>
                                          <p:spTgt spid="27"/>
                                        </p:tgtEl>
                                        <p:attrNameLst>
                                          <p:attrName>style.visibility</p:attrName>
                                        </p:attrNameLst>
                                      </p:cBhvr>
                                      <p:to>
                                        <p:strVal val="visible"/>
                                      </p:to>
                                    </p:set>
                                    <p:animEffect transition="in" filter="fade">
                                      <p:cBhvr>
                                        <p:cTn id="74" dur="350"/>
                                        <p:tgtEl>
                                          <p:spTgt spid="27"/>
                                        </p:tgtEl>
                                      </p:cBhvr>
                                    </p:animEffect>
                                  </p:childTnLst>
                                </p:cTn>
                              </p:par>
                              <p:par>
                                <p:cTn id="75" presetID="10" presetClass="entr" presetSubtype="0" fill="hold" nodeType="withEffect">
                                  <p:stCondLst>
                                    <p:cond delay="0"/>
                                  </p:stCondLst>
                                  <p:childTnLst>
                                    <p:set>
                                      <p:cBhvr>
                                        <p:cTn id="76" dur="1" fill="hold">
                                          <p:stCondLst>
                                            <p:cond delay="0"/>
                                          </p:stCondLst>
                                        </p:cTn>
                                        <p:tgtEl>
                                          <p:spTgt spid="28"/>
                                        </p:tgtEl>
                                        <p:attrNameLst>
                                          <p:attrName>style.visibility</p:attrName>
                                        </p:attrNameLst>
                                      </p:cBhvr>
                                      <p:to>
                                        <p:strVal val="visible"/>
                                      </p:to>
                                    </p:set>
                                    <p:animEffect transition="in" filter="fade">
                                      <p:cBhvr>
                                        <p:cTn id="77" dur="350"/>
                                        <p:tgtEl>
                                          <p:spTgt spid="28"/>
                                        </p:tgtEl>
                                      </p:cBhvr>
                                    </p:animEffect>
                                  </p:childTnLst>
                                </p:cTn>
                              </p:par>
                              <p:par>
                                <p:cTn id="78" presetID="10" presetClass="entr" presetSubtype="0" fill="hold" nodeType="withEffect">
                                  <p:stCondLst>
                                    <p:cond delay="0"/>
                                  </p:stCondLst>
                                  <p:childTnLst>
                                    <p:set>
                                      <p:cBhvr>
                                        <p:cTn id="79" dur="1" fill="hold">
                                          <p:stCondLst>
                                            <p:cond delay="0"/>
                                          </p:stCondLst>
                                        </p:cTn>
                                        <p:tgtEl>
                                          <p:spTgt spid="29"/>
                                        </p:tgtEl>
                                        <p:attrNameLst>
                                          <p:attrName>style.visibility</p:attrName>
                                        </p:attrNameLst>
                                      </p:cBhvr>
                                      <p:to>
                                        <p:strVal val="visible"/>
                                      </p:to>
                                    </p:set>
                                    <p:animEffect transition="in" filter="fade">
                                      <p:cBhvr>
                                        <p:cTn id="80" dur="350"/>
                                        <p:tgtEl>
                                          <p:spTgt spid="29"/>
                                        </p:tgtEl>
                                      </p:cBhvr>
                                    </p:animEffect>
                                  </p:childTnLst>
                                </p:cTn>
                              </p:par>
                              <p:par>
                                <p:cTn id="81" presetID="10" presetClass="entr" presetSubtype="0" fill="hold"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fade">
                                      <p:cBhvr>
                                        <p:cTn id="83" dur="350"/>
                                        <p:tgtEl>
                                          <p:spTgt spid="30"/>
                                        </p:tgtEl>
                                      </p:cBhvr>
                                    </p:animEffect>
                                  </p:childTnLst>
                                </p:cTn>
                              </p:par>
                              <p:par>
                                <p:cTn id="84" presetID="10" presetClass="entr" presetSubtype="0" fill="hold" nodeType="withEffect">
                                  <p:stCondLst>
                                    <p:cond delay="0"/>
                                  </p:stCondLst>
                                  <p:childTnLst>
                                    <p:set>
                                      <p:cBhvr>
                                        <p:cTn id="85" dur="1" fill="hold">
                                          <p:stCondLst>
                                            <p:cond delay="0"/>
                                          </p:stCondLst>
                                        </p:cTn>
                                        <p:tgtEl>
                                          <p:spTgt spid="31"/>
                                        </p:tgtEl>
                                        <p:attrNameLst>
                                          <p:attrName>style.visibility</p:attrName>
                                        </p:attrNameLst>
                                      </p:cBhvr>
                                      <p:to>
                                        <p:strVal val="visible"/>
                                      </p:to>
                                    </p:set>
                                    <p:animEffect transition="in" filter="fade">
                                      <p:cBhvr>
                                        <p:cTn id="86" dur="350"/>
                                        <p:tgtEl>
                                          <p:spTgt spid="31"/>
                                        </p:tgtEl>
                                      </p:cBhvr>
                                    </p:animEffect>
                                  </p:childTnLst>
                                </p:cTn>
                              </p:par>
                            </p:childTnLst>
                          </p:cTn>
                        </p:par>
                        <p:par>
                          <p:cTn id="87" fill="hold">
                            <p:stCondLst>
                              <p:cond delay="500"/>
                            </p:stCondLst>
                            <p:childTnLst>
                              <p:par>
                                <p:cTn id="88" presetID="10" presetClass="entr" presetSubtype="0" fill="hold" nodeType="afterEffect">
                                  <p:stCondLst>
                                    <p:cond delay="0"/>
                                  </p:stCondLst>
                                  <p:childTnLst>
                                    <p:set>
                                      <p:cBhvr>
                                        <p:cTn id="89" dur="1" fill="hold">
                                          <p:stCondLst>
                                            <p:cond delay="0"/>
                                          </p:stCondLst>
                                        </p:cTn>
                                        <p:tgtEl>
                                          <p:spTgt spid="43"/>
                                        </p:tgtEl>
                                        <p:attrNameLst>
                                          <p:attrName>style.visibility</p:attrName>
                                        </p:attrNameLst>
                                      </p:cBhvr>
                                      <p:to>
                                        <p:strVal val="visible"/>
                                      </p:to>
                                    </p:set>
                                    <p:animEffect transition="in" filter="fade">
                                      <p:cBhvr>
                                        <p:cTn id="90" dur="350"/>
                                        <p:tgtEl>
                                          <p:spTgt spid="43"/>
                                        </p:tgtEl>
                                      </p:cBhvr>
                                    </p:animEffect>
                                  </p:childTnLst>
                                </p:cTn>
                              </p:par>
                            </p:childTnLst>
                          </p:cTn>
                        </p:par>
                      </p:childTnLst>
                    </p:cTn>
                  </p:par>
                  <p:par>
                    <p:cTn id="91" fill="hold">
                      <p:stCondLst>
                        <p:cond delay="indefinite"/>
                      </p:stCondLst>
                      <p:childTnLst>
                        <p:par>
                          <p:cTn id="92" fill="hold">
                            <p:stCondLst>
                              <p:cond delay="0"/>
                            </p:stCondLst>
                            <p:childTnLst>
                              <p:par>
                                <p:cTn id="93" presetID="10" presetClass="entr" presetSubtype="0" fill="hold" nodeType="clickEffect">
                                  <p:stCondLst>
                                    <p:cond delay="0"/>
                                  </p:stCondLst>
                                  <p:childTnLst>
                                    <p:set>
                                      <p:cBhvr>
                                        <p:cTn id="94" dur="1" fill="hold">
                                          <p:stCondLst>
                                            <p:cond delay="0"/>
                                          </p:stCondLst>
                                        </p:cTn>
                                        <p:tgtEl>
                                          <p:spTgt spid="32"/>
                                        </p:tgtEl>
                                        <p:attrNameLst>
                                          <p:attrName>style.visibility</p:attrName>
                                        </p:attrNameLst>
                                      </p:cBhvr>
                                      <p:to>
                                        <p:strVal val="visible"/>
                                      </p:to>
                                    </p:set>
                                    <p:animEffect transition="in" filter="fade">
                                      <p:cBhvr>
                                        <p:cTn id="95" dur="400"/>
                                        <p:tgtEl>
                                          <p:spTgt spid="32"/>
                                        </p:tgtEl>
                                      </p:cBhvr>
                                    </p:animEffect>
                                  </p:childTnLst>
                                </p:cTn>
                              </p:par>
                              <p:par>
                                <p:cTn id="96" presetID="10" presetClass="entr" presetSubtype="0" fill="hold" nodeType="with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400"/>
                                        <p:tgtEl>
                                          <p:spTgt spid="33"/>
                                        </p:tgtEl>
                                      </p:cBhvr>
                                    </p:animEffect>
                                  </p:childTnLst>
                                </p:cTn>
                              </p:par>
                              <p:par>
                                <p:cTn id="99" presetID="10" presetClass="entr" presetSubtype="0" fill="hold"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400"/>
                                        <p:tgtEl>
                                          <p:spTgt spid="34"/>
                                        </p:tgtEl>
                                      </p:cBhvr>
                                    </p:animEffect>
                                  </p:childTnLst>
                                </p:cTn>
                              </p:par>
                              <p:par>
                                <p:cTn id="102" presetID="10" presetClass="entr" presetSubtype="0" fill="hold" nodeType="withEffect">
                                  <p:stCondLst>
                                    <p:cond delay="0"/>
                                  </p:stCondLst>
                                  <p:childTnLst>
                                    <p:set>
                                      <p:cBhvr>
                                        <p:cTn id="103" dur="1" fill="hold">
                                          <p:stCondLst>
                                            <p:cond delay="0"/>
                                          </p:stCondLst>
                                        </p:cTn>
                                        <p:tgtEl>
                                          <p:spTgt spid="35"/>
                                        </p:tgtEl>
                                        <p:attrNameLst>
                                          <p:attrName>style.visibility</p:attrName>
                                        </p:attrNameLst>
                                      </p:cBhvr>
                                      <p:to>
                                        <p:strVal val="visible"/>
                                      </p:to>
                                    </p:set>
                                    <p:animEffect transition="in" filter="fade">
                                      <p:cBhvr>
                                        <p:cTn id="104" dur="400"/>
                                        <p:tgtEl>
                                          <p:spTgt spid="35"/>
                                        </p:tgtEl>
                                      </p:cBhvr>
                                    </p:animEffect>
                                  </p:childTnLst>
                                </p:cTn>
                              </p:par>
                              <p:par>
                                <p:cTn id="105" presetID="10" presetClass="entr" presetSubtype="0" fill="hold" nodeType="withEffect">
                                  <p:stCondLst>
                                    <p:cond delay="0"/>
                                  </p:stCondLst>
                                  <p:childTnLst>
                                    <p:set>
                                      <p:cBhvr>
                                        <p:cTn id="106" dur="1" fill="hold">
                                          <p:stCondLst>
                                            <p:cond delay="0"/>
                                          </p:stCondLst>
                                        </p:cTn>
                                        <p:tgtEl>
                                          <p:spTgt spid="36"/>
                                        </p:tgtEl>
                                        <p:attrNameLst>
                                          <p:attrName>style.visibility</p:attrName>
                                        </p:attrNameLst>
                                      </p:cBhvr>
                                      <p:to>
                                        <p:strVal val="visible"/>
                                      </p:to>
                                    </p:set>
                                    <p:animEffect transition="in" filter="fade">
                                      <p:cBhvr>
                                        <p:cTn id="107" dur="400"/>
                                        <p:tgtEl>
                                          <p:spTgt spid="36"/>
                                        </p:tgtEl>
                                      </p:cBhvr>
                                    </p:animEffect>
                                  </p:childTnLst>
                                </p:cTn>
                              </p:par>
                              <p:par>
                                <p:cTn id="108" presetID="10" presetClass="entr" presetSubtype="0" fill="hold" nodeType="withEffect">
                                  <p:stCondLst>
                                    <p:cond delay="0"/>
                                  </p:stCondLst>
                                  <p:childTnLst>
                                    <p:set>
                                      <p:cBhvr>
                                        <p:cTn id="109" dur="1" fill="hold">
                                          <p:stCondLst>
                                            <p:cond delay="0"/>
                                          </p:stCondLst>
                                        </p:cTn>
                                        <p:tgtEl>
                                          <p:spTgt spid="37"/>
                                        </p:tgtEl>
                                        <p:attrNameLst>
                                          <p:attrName>style.visibility</p:attrName>
                                        </p:attrNameLst>
                                      </p:cBhvr>
                                      <p:to>
                                        <p:strVal val="visible"/>
                                      </p:to>
                                    </p:set>
                                    <p:animEffect transition="in" filter="fade">
                                      <p:cBhvr>
                                        <p:cTn id="110" dur="400"/>
                                        <p:tgtEl>
                                          <p:spTgt spid="37"/>
                                        </p:tgtEl>
                                      </p:cBhvr>
                                    </p:animEffect>
                                  </p:childTnLst>
                                </p:cTn>
                              </p:par>
                              <p:par>
                                <p:cTn id="111" presetID="10" presetClass="entr" presetSubtype="0" fill="hold" nodeType="withEffect">
                                  <p:stCondLst>
                                    <p:cond delay="0"/>
                                  </p:stCondLst>
                                  <p:childTnLst>
                                    <p:set>
                                      <p:cBhvr>
                                        <p:cTn id="112" dur="1" fill="hold">
                                          <p:stCondLst>
                                            <p:cond delay="0"/>
                                          </p:stCondLst>
                                        </p:cTn>
                                        <p:tgtEl>
                                          <p:spTgt spid="38"/>
                                        </p:tgtEl>
                                        <p:attrNameLst>
                                          <p:attrName>style.visibility</p:attrName>
                                        </p:attrNameLst>
                                      </p:cBhvr>
                                      <p:to>
                                        <p:strVal val="visible"/>
                                      </p:to>
                                    </p:set>
                                    <p:animEffect transition="in" filter="fade">
                                      <p:cBhvr>
                                        <p:cTn id="113" dur="400"/>
                                        <p:tgtEl>
                                          <p:spTgt spid="38"/>
                                        </p:tgtEl>
                                      </p:cBhvr>
                                    </p:animEffect>
                                  </p:childTnLst>
                                </p:cTn>
                              </p:par>
                              <p:par>
                                <p:cTn id="114" presetID="10" presetClass="entr" presetSubtype="0" fill="hold" nodeType="with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400"/>
                                        <p:tgtEl>
                                          <p:spTgt spid="39"/>
                                        </p:tgtEl>
                                      </p:cBhvr>
                                    </p:animEffect>
                                  </p:childTnLst>
                                </p:cTn>
                              </p:par>
                              <p:par>
                                <p:cTn id="117" presetID="10" presetClass="entr" presetSubtype="0" fill="hold" nodeType="with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400"/>
                                        <p:tgtEl>
                                          <p:spTgt spid="40"/>
                                        </p:tgtEl>
                                      </p:cBhvr>
                                    </p:animEffect>
                                  </p:childTnLst>
                                </p:cTn>
                              </p:par>
                              <p:par>
                                <p:cTn id="120" presetID="10" presetClass="entr" presetSubtype="0" fill="hold" nodeType="withEffect">
                                  <p:stCondLst>
                                    <p:cond delay="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10" grpId="0"/>
      <p:bldP spid="11" grpId="0"/>
      <p:bldP spid="13" grpId="0"/>
      <p:bldP spid="14" grpId="0"/>
      <p:bldP spid="16" grpId="0"/>
      <p:bldP spid="17" grpId="0"/>
      <p:bldP spid="19" grpId="0"/>
      <p:bldP spid="20" grpId="0"/>
      <p:bldP spid="21" grpId="0"/>
      <p:bldP spid="22" grpId="0"/>
      <p:bldP spid="23" grpId="0"/>
      <p:bldP spid="27" grpId="0"/>
      <p:bldP spid="31" grpId="0"/>
      <p:bldP spid="43" grpId="0"/>
      <p:bldP spid="32" grpId="0"/>
      <p:bldP spid="33" grpId="0"/>
      <p:bldP spid="34" grpId="0"/>
      <p:bldP spid="35" grpId="0"/>
      <p:bldP spid="36" grpId="0"/>
      <p:bldP spid="37" grpId="0"/>
      <p:bldP spid="38" grpId="0"/>
      <p:bldP spid="39" grpId="0"/>
      <p:bldP spid="40" grpId="0"/>
      <p:bldP spid="41" grpId="0"/>
    </p:bld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1" i="0">
                <a:solidFill>
                  <a:srgbClr val="2E75B6"/>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10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 visage et deux gabarits identifient le recto ; trois indices votent pour le verso</a:t>
            </a:r>
          </a:p>
        </p:txBody>
      </p:sp>
      <p:pic>
        <p:nvPicPr>
          <p:cNvPr id="7" name="Picture 6" descr="Écran Recto : silhouettes de guidage de l'application ; données masquées"/>
          <p:cNvPicPr>
            <a:picLocks noChangeAspect="1"/>
          </p:cNvPicPr>
          <p:nvPr/>
        </p:nvPicPr>
        <p:blipFill>
          <a:blip r:embed="rId2"/>
          <a:stretch>
            <a:fillRect/>
          </a:stretch>
        </p:blipFill>
        <p:spPr>
          <a:xfrm>
            <a:off x="548640" y="1828800"/>
            <a:ext cx="2094190" cy="3749039"/>
          </a:xfrm>
          <a:prstGeom prst="rect">
            <a:avLst/>
          </a:prstGeom>
          <a:ln w="9525">
            <a:solidFill>
              <a:srgbClr val="CBD3DB"/>
            </a:solidFill>
          </a:ln>
        </p:spPr>
      </p:pic>
      <p:sp>
        <p:nvSpPr>
          <p:cNvPr id="8" name="TextBox 7"/>
          <p:cNvSpPr txBox="1"/>
          <p:nvPr/>
        </p:nvSpPr>
        <p:spPr>
          <a:xfrm>
            <a:off x="291715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RECTO</a:t>
            </a:r>
          </a:p>
        </p:txBody>
      </p:sp>
      <p:sp>
        <p:nvSpPr>
          <p:cNvPr id="9" name="TextBox 8"/>
          <p:cNvSpPr txBox="1"/>
          <p:nvPr/>
        </p:nvSpPr>
        <p:spPr>
          <a:xfrm>
            <a:off x="291715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Visage : </a:t>
            </a:r>
            <a:r>
              <a:rPr sz="1600" b="0" i="0">
                <a:solidFill>
                  <a:srgbClr val="1B2530"/>
                </a:solidFill>
                <a:latin typeface="Arial"/>
              </a:rPr>
              <a:t>cascade de Haar standard d'OpenCV, pré-entraînée, testée sur 4 rotations (échelle 1,05, 8 voisins) : elle donne aussi l'orientation.</a:t>
            </a:r>
          </a:p>
          <a:p>
            <a:pPr algn="l">
              <a:spcAft>
                <a:spcPts val="1000"/>
              </a:spcAft>
            </a:pPr>
            <a:r>
              <a:rPr sz="1600" b="1" i="0">
                <a:solidFill>
                  <a:srgbClr val="1F3A5F"/>
                </a:solidFill>
                <a:latin typeface="Arial"/>
              </a:rPr>
              <a:t>Logo + drapeau : </a:t>
            </a:r>
            <a:r>
              <a:rPr sz="1600" b="0" i="0">
                <a:solidFill>
                  <a:srgbClr val="1B2530"/>
                </a:solidFill>
                <a:latin typeface="Arial"/>
              </a:rPr>
              <a:t>template matching, corrélation ≥ 0,6, CLAHE sur gabarit et région.</a:t>
            </a:r>
          </a:p>
        </p:txBody>
      </p:sp>
      <p:pic>
        <p:nvPicPr>
          <p:cNvPr id="10" name="Picture 9" descr="Écran Verso : silhouettes de guidage de l'application ; données masquées"/>
          <p:cNvPicPr>
            <a:picLocks noChangeAspect="1"/>
          </p:cNvPicPr>
          <p:nvPr/>
        </p:nvPicPr>
        <p:blipFill>
          <a:blip r:embed="rId3"/>
          <a:stretch>
            <a:fillRect/>
          </a:stretch>
        </p:blipFill>
        <p:spPr>
          <a:xfrm>
            <a:off x="6217920" y="1828800"/>
            <a:ext cx="2094190" cy="3749039"/>
          </a:xfrm>
          <a:prstGeom prst="rect">
            <a:avLst/>
          </a:prstGeom>
          <a:ln w="9525">
            <a:solidFill>
              <a:srgbClr val="CBD3DB"/>
            </a:solidFill>
          </a:ln>
        </p:spPr>
      </p:pic>
      <p:sp>
        <p:nvSpPr>
          <p:cNvPr id="11" name="TextBox 10"/>
          <p:cNvSpPr txBox="1"/>
          <p:nvPr/>
        </p:nvSpPr>
        <p:spPr>
          <a:xfrm>
            <a:off x="8586430" y="1828800"/>
            <a:ext cx="3026449" cy="320040"/>
          </a:xfrm>
          <a:prstGeom prst="rect">
            <a:avLst/>
          </a:prstGeom>
          <a:noFill/>
        </p:spPr>
        <p:txBody>
          <a:bodyPr wrap="square" lIns="0" rIns="0" tIns="0" bIns="0" anchor="t">
            <a:spAutoFit/>
          </a:bodyPr>
          <a:lstStyle/>
          <a:p>
            <a:pPr algn="l"/>
            <a:r>
              <a:rPr sz="1300" b="1" i="0">
                <a:solidFill>
                  <a:srgbClr val="2E75B6"/>
                </a:solidFill>
                <a:latin typeface="Arial"/>
              </a:rPr>
              <a:t>VERSO</a:t>
            </a:r>
          </a:p>
        </p:txBody>
      </p:sp>
      <p:sp>
        <p:nvSpPr>
          <p:cNvPr id="12" name="TextBox 11"/>
          <p:cNvSpPr txBox="1"/>
          <p:nvPr/>
        </p:nvSpPr>
        <p:spPr>
          <a:xfrm>
            <a:off x="8586430" y="2240280"/>
            <a:ext cx="2935009" cy="3291840"/>
          </a:xfrm>
          <a:prstGeom prst="rect">
            <a:avLst/>
          </a:prstGeom>
          <a:noFill/>
        </p:spPr>
        <p:txBody>
          <a:bodyPr wrap="square" lIns="0" rIns="0" tIns="0" bIns="0" anchor="t">
            <a:spAutoFit/>
          </a:bodyPr>
          <a:lstStyle/>
          <a:p>
            <a:pPr algn="l">
              <a:spcAft>
                <a:spcPts val="1000"/>
              </a:spcAft>
            </a:pPr>
            <a:r>
              <a:rPr sz="1600" b="1" i="0">
                <a:solidFill>
                  <a:srgbClr val="1F3A5F"/>
                </a:solidFill>
                <a:latin typeface="Arial"/>
              </a:rPr>
              <a:t>Code-barres : </a:t>
            </a:r>
            <a:r>
              <a:rPr sz="1600" b="0" i="0">
                <a:solidFill>
                  <a:srgbClr val="1B2530"/>
                </a:solidFill>
                <a:latin typeface="Arial"/>
              </a:rPr>
              <a:t>localisé, non décodé.</a:t>
            </a:r>
          </a:p>
          <a:p>
            <a:pPr algn="l">
              <a:spcAft>
                <a:spcPts val="1000"/>
              </a:spcAft>
            </a:pPr>
            <a:r>
              <a:rPr sz="1600" b="1" i="0">
                <a:solidFill>
                  <a:srgbClr val="1F3A5F"/>
                </a:solidFill>
                <a:latin typeface="Arial"/>
              </a:rPr>
              <a:t>Empreinte : </a:t>
            </a:r>
            <a:r>
              <a:rPr sz="1600" b="0" i="0">
                <a:solidFill>
                  <a:srgbClr val="1B2530"/>
                </a:solidFill>
                <a:latin typeface="Arial"/>
              </a:rPr>
              <a:t>variance du Laplacien dans [150 ; 4 000].</a:t>
            </a:r>
          </a:p>
          <a:p>
            <a:pPr algn="l">
              <a:spcAft>
                <a:spcPts val="1000"/>
              </a:spcAft>
            </a:pPr>
            <a:r>
              <a:rPr sz="1600" b="1" i="0">
                <a:solidFill>
                  <a:srgbClr val="1F3A5F"/>
                </a:solidFill>
                <a:latin typeface="Arial"/>
              </a:rPr>
              <a:t>Ligne de séparation : </a:t>
            </a:r>
            <a:r>
              <a:rPr sz="1600" b="0" i="0">
                <a:solidFill>
                  <a:srgbClr val="1B2530"/>
                </a:solidFill>
                <a:latin typeface="Arial"/>
              </a:rPr>
              <a:t>Hough probabiliste, bas de la carte.</a:t>
            </a:r>
          </a:p>
          <a:p>
            <a:pPr algn="l">
              <a:spcAft>
                <a:spcPts val="1000"/>
              </a:spcAft>
            </a:pPr>
            <a:r>
              <a:rPr sz="1600" b="1" i="0">
                <a:solidFill>
                  <a:srgbClr val="1F3A5F"/>
                </a:solidFill>
                <a:latin typeface="Arial"/>
              </a:rPr>
              <a:t>Vote </a:t>
            </a:r>
            <a:r>
              <a:rPr sz="1600" b="0" i="0">
                <a:solidFill>
                  <a:srgbClr val="1B2530"/>
                </a:solidFill>
                <a:latin typeface="Arial"/>
              </a:rPr>
              <a:t>sur 4 rotations : la mieux soutenue gagne.</a:t>
            </a:r>
          </a:p>
        </p:txBody>
      </p:sp>
      <p:pic>
        <p:nvPicPr>
          <p:cNvPr id="13" name="Picture 12" descr="Gabarit de référence : logo"/>
          <p:cNvPicPr>
            <a:picLocks noChangeAspect="1"/>
          </p:cNvPicPr>
          <p:nvPr/>
        </p:nvPicPr>
        <p:blipFill>
          <a:blip r:embed="rId4"/>
          <a:stretch>
            <a:fillRect/>
          </a:stretch>
        </p:blipFill>
        <p:spPr>
          <a:xfrm>
            <a:off x="2917150" y="4800600"/>
            <a:ext cx="483177" cy="685800"/>
          </a:xfrm>
          <a:prstGeom prst="rect">
            <a:avLst/>
          </a:prstGeom>
          <a:ln w="9525">
            <a:solidFill>
              <a:srgbClr val="CBD3DB"/>
            </a:solidFill>
          </a:ln>
        </p:spPr>
      </p:pic>
      <p:pic>
        <p:nvPicPr>
          <p:cNvPr id="14" name="Picture 13" descr="Gabarit de référence : drapeau"/>
          <p:cNvPicPr>
            <a:picLocks noChangeAspect="1"/>
          </p:cNvPicPr>
          <p:nvPr/>
        </p:nvPicPr>
        <p:blipFill>
          <a:blip r:embed="rId5"/>
          <a:stretch>
            <a:fillRect/>
          </a:stretch>
        </p:blipFill>
        <p:spPr>
          <a:xfrm>
            <a:off x="3602950" y="4800600"/>
            <a:ext cx="779526" cy="502920"/>
          </a:xfrm>
          <a:prstGeom prst="rect">
            <a:avLst/>
          </a:prstGeom>
          <a:ln w="9525">
            <a:solidFill>
              <a:srgbClr val="CBD3DB"/>
            </a:solidFill>
          </a:ln>
        </p:spPr>
      </p:pic>
      <p:sp>
        <p:nvSpPr>
          <p:cNvPr id="15" name="TextBox 14"/>
          <p:cNvSpPr txBox="1"/>
          <p:nvPr/>
        </p:nvSpPr>
        <p:spPr>
          <a:xfrm>
            <a:off x="4517350" y="4800600"/>
            <a:ext cx="1828800" cy="685800"/>
          </a:xfrm>
          <a:prstGeom prst="rect">
            <a:avLst/>
          </a:prstGeom>
          <a:noFill/>
        </p:spPr>
        <p:txBody>
          <a:bodyPr wrap="square" lIns="0" rIns="0" tIns="0" bIns="0" anchor="ctr">
            <a:spAutoFit/>
          </a:bodyPr>
          <a:lstStyle/>
          <a:p>
            <a:pPr algn="l"/>
            <a:r>
              <a:rPr sz="1200" b="0" i="0">
                <a:solidFill>
                  <a:srgbClr val="5B6B7A"/>
                </a:solidFill>
                <a:latin typeface="Arial"/>
              </a:rPr>
              <a:t>gabarits de référence embarqués</a:t>
            </a:r>
          </a:p>
        </p:txBody>
      </p:sp>
      <p:sp>
        <p:nvSpPr>
          <p:cNvPr id="16" name="Rectangle 15"/>
          <p:cNvSpPr/>
          <p:nvPr/>
        </p:nvSpPr>
        <p:spPr>
          <a:xfrm>
            <a:off x="548640" y="5715000"/>
            <a:ext cx="11094415" cy="457200"/>
          </a:xfrm>
          <a:prstGeom prst="rect">
            <a:avLst/>
          </a:prstGeom>
          <a:solidFill>
            <a:srgbClr val="EEF2F6"/>
          </a:solidFill>
          <a:ln>
            <a:noFill/>
          </a:ln>
        </p:spPr>
        <p:txBody>
          <a:bodyPr rtlCol="0" anchor="ctr"/>
          <a:lstStyle/>
          <a:p/>
        </p:txBody>
      </p:sp>
      <p:sp>
        <p:nvSpPr>
          <p:cNvPr id="17" name="TextBox 16"/>
          <p:cNvSpPr txBox="1"/>
          <p:nvPr/>
        </p:nvSpPr>
        <p:spPr>
          <a:xfrm>
            <a:off x="777240" y="5715000"/>
            <a:ext cx="10637215" cy="457200"/>
          </a:xfrm>
          <a:prstGeom prst="rect">
            <a:avLst/>
          </a:prstGeom>
          <a:noFill/>
        </p:spPr>
        <p:txBody>
          <a:bodyPr wrap="square" lIns="0" rIns="0" tIns="0" bIns="0" anchor="ctr">
            <a:spAutoFit/>
          </a:bodyPr>
          <a:lstStyle/>
          <a:p>
            <a:pPr algn="l"/>
            <a:r>
              <a:rPr sz="1600" b="1" i="0">
                <a:solidFill>
                  <a:srgbClr val="1F3A5F"/>
                </a:solidFill>
                <a:latin typeface="Arial"/>
              </a:rPr>
              <a:t>Anti-doublon : </a:t>
            </a:r>
            <a:r>
              <a:rPr sz="1600" b="0" i="0">
                <a:solidFill>
                  <a:srgbClr val="1B2530"/>
                </a:solidFill>
                <a:latin typeface="Arial"/>
              </a:rPr>
              <a:t>après le recto, seule une face qui réunit les trois indices du verso peut déclencher la capture.</a:t>
            </a:r>
          </a:p>
        </p:txBody>
      </p:sp>
      <p:sp>
        <p:nvSpPr>
          <p:cNvPr id="18" name="TextBox 17"/>
          <p:cNvSpPr txBox="1"/>
          <p:nvPr/>
        </p:nvSpPr>
        <p:spPr>
          <a:xfrm>
            <a:off x="548640" y="6199632"/>
            <a:ext cx="7315200" cy="182880"/>
          </a:xfrm>
          <a:prstGeom prst="rect">
            <a:avLst/>
          </a:prstGeom>
          <a:noFill/>
        </p:spPr>
        <p:txBody>
          <a:bodyPr wrap="square" lIns="0" rIns="0" tIns="0" bIns="0" anchor="t">
            <a:spAutoFit/>
          </a:bodyPr>
          <a:lstStyle/>
          <a:p>
            <a:pPr algn="l"/>
            <a:r>
              <a:rPr sz="400" b="0" i="0">
                <a:solidFill>
                  <a:srgbClr val="1B2530"/>
                </a:solidFill>
                <a:latin typeface="Arial"/>
              </a:rPr>
              <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childTnLst>
                                </p:cTn>
                              </p:par>
                              <p:par>
                                <p:cTn id="15" presetID="10"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nodeType="withEffect">
                                  <p:stCondLst>
                                    <p:cond delay="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350"/>
                                        <p:tgtEl>
                                          <p:spTgt spid="11"/>
                                        </p:tgtEl>
                                      </p:cBhvr>
                                    </p:animEffect>
                                  </p:childTnLst>
                                </p:cTn>
                              </p:par>
                            </p:childTnLst>
                          </p:cTn>
                        </p:par>
                        <p:par>
                          <p:cTn id="21" fill="hold">
                            <p:stCondLst>
                              <p:cond delay="500"/>
                            </p:stCondLst>
                            <p:childTnLst>
                              <p:par>
                                <p:cTn id="22" presetID="10" presetClass="entr" presetSubtype="0" fill="hold"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2"/>
                                        </p:tgtEl>
                                        <p:attrNameLst>
                                          <p:attrName>style.visibility</p:attrName>
                                        </p:attrNameLst>
                                      </p:cBhvr>
                                      <p:to>
                                        <p:strVal val="visible"/>
                                      </p:to>
                                    </p:set>
                                    <p:animEffect transition="in" filter="fade">
                                      <p:cBhvr>
                                        <p:cTn id="27" dur="350"/>
                                        <p:tgtEl>
                                          <p:spTgt spid="12"/>
                                        </p:tgtEl>
                                      </p:cBhvr>
                                    </p:animEffect>
                                  </p:childTnLst>
                                </p:cTn>
                              </p:par>
                            </p:childTnLst>
                          </p:cTn>
                        </p:par>
                        <p:par>
                          <p:cTn id="28" fill="hold">
                            <p:stCondLst>
                              <p:cond delay="750"/>
                            </p:stCondLst>
                            <p:childTnLst>
                              <p:par>
                                <p:cTn id="29" presetID="10" presetClass="entr" presetSubtype="0" fill="hold" nodeType="after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350"/>
                                        <p:tgtEl>
                                          <p:spTgt spid="13"/>
                                        </p:tgtEl>
                                      </p:cBhvr>
                                    </p:animEffect>
                                  </p:childTnLst>
                                </p:cTn>
                              </p:par>
                              <p:par>
                                <p:cTn id="32" presetID="10" presetClass="entr" presetSubtype="0" fill="hold"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35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350"/>
                                        <p:tgtEl>
                                          <p:spTgt spid="15"/>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fade">
                                      <p:cBhvr>
                                        <p:cTn id="41" dur="350"/>
                                        <p:tgtEl>
                                          <p:spTgt spid="16"/>
                                        </p:tgtEl>
                                      </p:cBhvr>
                                    </p:animEffect>
                                  </p:childTnLst>
                                </p:cTn>
                              </p:par>
                              <p:par>
                                <p:cTn id="42" presetID="10" presetClass="entr" presetSubtype="0" fill="hold"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350"/>
                                        <p:tgtEl>
                                          <p:spTgt spid="17"/>
                                        </p:tgtEl>
                                      </p:cBhvr>
                                    </p:animEffect>
                                  </p:childTnLst>
                                </p:cTn>
                              </p:par>
                            </p:childTnLst>
                          </p:cTn>
                        </p:par>
                        <p:par>
                          <p:cTn id="45" fill="hold">
                            <p:stCondLst>
                              <p:cond delay="1250"/>
                            </p:stCondLst>
                            <p:childTnLst>
                              <p:par>
                                <p:cTn id="46" presetID="10" presetClass="entr" presetSubtype="0" fill="hold" nodeType="after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35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1" grpId="0"/>
      <p:bldP spid="9" grpId="0"/>
      <p:bldP spid="12" grpId="0"/>
      <p:bldP spid="15" grpId="0"/>
      <p:bldP spid="16" grpId="0"/>
      <p:bldP spid="17" grpId="0"/>
      <p:bldP spid="18" grpId="0"/>
    </p:bld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11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Après les deux captures, l'utilisateur vérifie, ajuste et exporte chaque face</a:t>
            </a:r>
          </a:p>
        </p:txBody>
      </p:sp>
      <p:sp>
        <p:nvSpPr>
          <p:cNvPr id="7" name="TextBox 6"/>
          <p:cNvSpPr txBox="1"/>
          <p:nvPr/>
        </p:nvSpPr>
        <p:spPr>
          <a:xfrm>
            <a:off x="548640" y="1874519"/>
            <a:ext cx="411480" cy="457200"/>
          </a:xfrm>
          <a:prstGeom prst="rect">
            <a:avLst/>
          </a:prstGeom>
          <a:noFill/>
        </p:spPr>
        <p:txBody>
          <a:bodyPr wrap="square" lIns="0" rIns="0" tIns="0" bIns="0" anchor="t">
            <a:spAutoFit/>
          </a:bodyPr>
          <a:lstStyle/>
          <a:p>
            <a:pPr algn="l"/>
            <a:r>
              <a:rPr sz="2200" b="1" i="0">
                <a:solidFill>
                  <a:srgbClr val="2E75B6"/>
                </a:solidFill>
                <a:latin typeface="Arial"/>
              </a:rPr>
              <a:t>1</a:t>
            </a:r>
          </a:p>
        </p:txBody>
      </p:sp>
      <p:sp>
        <p:nvSpPr>
          <p:cNvPr id="8" name="TextBox 7"/>
          <p:cNvSpPr txBox="1"/>
          <p:nvPr/>
        </p:nvSpPr>
        <p:spPr>
          <a:xfrm>
            <a:off x="1005840" y="1874519"/>
            <a:ext cx="3749039" cy="731520"/>
          </a:xfrm>
          <a:prstGeom prst="rect">
            <a:avLst/>
          </a:prstGeom>
          <a:noFill/>
        </p:spPr>
        <p:txBody>
          <a:bodyPr wrap="square" lIns="0" rIns="0" tIns="0" bIns="0" anchor="t">
            <a:spAutoFit/>
          </a:bodyPr>
          <a:lstStyle/>
          <a:p>
            <a:pPr algn="l"/>
            <a:r>
              <a:rPr sz="1600" b="1" i="0">
                <a:solidFill>
                  <a:srgbClr val="1F3A5F"/>
                </a:solidFill>
                <a:latin typeface="Arial"/>
              </a:rPr>
              <a:t>Recto, puis verso</a:t>
            </a:r>
          </a:p>
          <a:p>
            <a:pPr algn="l"/>
            <a:r>
              <a:rPr sz="1600" b="0" i="0">
                <a:solidFill>
                  <a:srgbClr val="1B2530"/>
                </a:solidFill>
                <a:latin typeface="Arial"/>
              </a:rPr>
              <a:t>capturés seuls, traités sur l'appareil</a:t>
            </a:r>
          </a:p>
        </p:txBody>
      </p:sp>
      <p:sp>
        <p:nvSpPr>
          <p:cNvPr id="9" name="TextBox 8"/>
          <p:cNvSpPr txBox="1"/>
          <p:nvPr/>
        </p:nvSpPr>
        <p:spPr>
          <a:xfrm>
            <a:off x="548640" y="2697479"/>
            <a:ext cx="411480" cy="457200"/>
          </a:xfrm>
          <a:prstGeom prst="rect">
            <a:avLst/>
          </a:prstGeom>
          <a:noFill/>
        </p:spPr>
        <p:txBody>
          <a:bodyPr wrap="square" lIns="0" rIns="0" tIns="0" bIns="0" anchor="t">
            <a:spAutoFit/>
          </a:bodyPr>
          <a:lstStyle/>
          <a:p>
            <a:pPr algn="l"/>
            <a:r>
              <a:rPr sz="2200" b="1" i="0">
                <a:solidFill>
                  <a:srgbClr val="2E75B6"/>
                </a:solidFill>
                <a:latin typeface="Arial"/>
              </a:rPr>
              <a:t>2</a:t>
            </a:r>
          </a:p>
        </p:txBody>
      </p:sp>
      <p:sp>
        <p:nvSpPr>
          <p:cNvPr id="10" name="TextBox 9"/>
          <p:cNvSpPr txBox="1"/>
          <p:nvPr/>
        </p:nvSpPr>
        <p:spPr>
          <a:xfrm>
            <a:off x="1005840" y="2697479"/>
            <a:ext cx="3749039" cy="731520"/>
          </a:xfrm>
          <a:prstGeom prst="rect">
            <a:avLst/>
          </a:prstGeom>
          <a:noFill/>
        </p:spPr>
        <p:txBody>
          <a:bodyPr wrap="square" lIns="0" rIns="0" tIns="0" bIns="0" anchor="t">
            <a:spAutoFit/>
          </a:bodyPr>
          <a:lstStyle/>
          <a:p>
            <a:pPr algn="l"/>
            <a:r>
              <a:rPr sz="1600" b="1" i="0">
                <a:solidFill>
                  <a:srgbClr val="1F3A5F"/>
                </a:solidFill>
                <a:latin typeface="Arial"/>
              </a:rPr>
              <a:t>Vérification</a:t>
            </a:r>
          </a:p>
          <a:p>
            <a:pPr algn="l"/>
            <a:r>
              <a:rPr sz="1600" b="0" i="0">
                <a:solidFill>
                  <a:srgbClr val="1B2530"/>
                </a:solidFill>
                <a:latin typeface="Arial"/>
              </a:rPr>
              <a:t>contraste, netteté, mode scan (N&amp;B)</a:t>
            </a:r>
          </a:p>
        </p:txBody>
      </p:sp>
      <p:sp>
        <p:nvSpPr>
          <p:cNvPr id="11" name="TextBox 10"/>
          <p:cNvSpPr txBox="1"/>
          <p:nvPr/>
        </p:nvSpPr>
        <p:spPr>
          <a:xfrm>
            <a:off x="548640" y="3520439"/>
            <a:ext cx="411480" cy="457200"/>
          </a:xfrm>
          <a:prstGeom prst="rect">
            <a:avLst/>
          </a:prstGeom>
          <a:noFill/>
        </p:spPr>
        <p:txBody>
          <a:bodyPr wrap="square" lIns="0" rIns="0" tIns="0" bIns="0" anchor="t">
            <a:spAutoFit/>
          </a:bodyPr>
          <a:lstStyle/>
          <a:p>
            <a:pPr algn="l"/>
            <a:r>
              <a:rPr sz="2200" b="1" i="0">
                <a:solidFill>
                  <a:srgbClr val="2E75B6"/>
                </a:solidFill>
                <a:latin typeface="Arial"/>
              </a:rPr>
              <a:t>3</a:t>
            </a:r>
          </a:p>
        </p:txBody>
      </p:sp>
      <p:sp>
        <p:nvSpPr>
          <p:cNvPr id="12" name="TextBox 11"/>
          <p:cNvSpPr txBox="1"/>
          <p:nvPr/>
        </p:nvSpPr>
        <p:spPr>
          <a:xfrm>
            <a:off x="1005840" y="3520439"/>
            <a:ext cx="3749039" cy="731520"/>
          </a:xfrm>
          <a:prstGeom prst="rect">
            <a:avLst/>
          </a:prstGeom>
          <a:noFill/>
        </p:spPr>
        <p:txBody>
          <a:bodyPr wrap="square" lIns="0" rIns="0" tIns="0" bIns="0" anchor="t">
            <a:spAutoFit/>
          </a:bodyPr>
          <a:lstStyle/>
          <a:p>
            <a:pPr algn="l"/>
            <a:r>
              <a:rPr sz="1600" b="1" i="0">
                <a:solidFill>
                  <a:srgbClr val="1F3A5F"/>
                </a:solidFill>
                <a:latin typeface="Arial"/>
              </a:rPr>
              <a:t>Ajustement</a:t>
            </a:r>
          </a:p>
          <a:p>
            <a:pPr algn="l"/>
            <a:r>
              <a:rPr sz="1600" b="0" i="0">
                <a:solidFill>
                  <a:srgbClr val="1B2530"/>
                </a:solidFill>
                <a:latin typeface="Arial"/>
              </a:rPr>
              <a:t>recadrage par les coins, rotation de 90°</a:t>
            </a:r>
          </a:p>
        </p:txBody>
      </p:sp>
      <p:sp>
        <p:nvSpPr>
          <p:cNvPr id="13" name="TextBox 12"/>
          <p:cNvSpPr txBox="1"/>
          <p:nvPr/>
        </p:nvSpPr>
        <p:spPr>
          <a:xfrm>
            <a:off x="548640" y="4343400"/>
            <a:ext cx="411480" cy="457200"/>
          </a:xfrm>
          <a:prstGeom prst="rect">
            <a:avLst/>
          </a:prstGeom>
          <a:noFill/>
        </p:spPr>
        <p:txBody>
          <a:bodyPr wrap="square" lIns="0" rIns="0" tIns="0" bIns="0" anchor="t">
            <a:spAutoFit/>
          </a:bodyPr>
          <a:lstStyle/>
          <a:p>
            <a:pPr algn="l"/>
            <a:r>
              <a:rPr sz="2200" b="1" i="0">
                <a:solidFill>
                  <a:srgbClr val="2E75B6"/>
                </a:solidFill>
                <a:latin typeface="Arial"/>
              </a:rPr>
              <a:t>4</a:t>
            </a:r>
          </a:p>
        </p:txBody>
      </p:sp>
      <p:sp>
        <p:nvSpPr>
          <p:cNvPr id="14" name="TextBox 13"/>
          <p:cNvSpPr txBox="1"/>
          <p:nvPr/>
        </p:nvSpPr>
        <p:spPr>
          <a:xfrm>
            <a:off x="1005840" y="4343400"/>
            <a:ext cx="3749039" cy="731520"/>
          </a:xfrm>
          <a:prstGeom prst="rect">
            <a:avLst/>
          </a:prstGeom>
          <a:noFill/>
        </p:spPr>
        <p:txBody>
          <a:bodyPr wrap="square" lIns="0" rIns="0" tIns="0" bIns="0" anchor="t">
            <a:spAutoFit/>
          </a:bodyPr>
          <a:lstStyle/>
          <a:p>
            <a:pPr algn="l"/>
            <a:r>
              <a:rPr sz="1600" b="1" i="0">
                <a:solidFill>
                  <a:srgbClr val="1F3A5F"/>
                </a:solidFill>
                <a:latin typeface="Arial"/>
              </a:rPr>
              <a:t>Export</a:t>
            </a:r>
          </a:p>
          <a:p>
            <a:pPr algn="l"/>
            <a:r>
              <a:rPr sz="1600" b="0" i="0">
                <a:solidFill>
                  <a:srgbClr val="1B2530"/>
                </a:solidFill>
                <a:latin typeface="Arial"/>
              </a:rPr>
              <a:t>galerie : recto, verso et page A4</a:t>
            </a:r>
          </a:p>
        </p:txBody>
      </p:sp>
      <p:sp>
        <p:nvSpPr>
          <p:cNvPr id="15" name="TextBox 14"/>
          <p:cNvSpPr txBox="1"/>
          <p:nvPr/>
        </p:nvSpPr>
        <p:spPr>
          <a:xfrm>
            <a:off x="548640" y="5166360"/>
            <a:ext cx="411480" cy="457200"/>
          </a:xfrm>
          <a:prstGeom prst="rect">
            <a:avLst/>
          </a:prstGeom>
          <a:noFill/>
        </p:spPr>
        <p:txBody>
          <a:bodyPr wrap="square" lIns="0" rIns="0" tIns="0" bIns="0" anchor="t">
            <a:spAutoFit/>
          </a:bodyPr>
          <a:lstStyle/>
          <a:p>
            <a:pPr algn="l"/>
            <a:r>
              <a:rPr sz="2200" b="1" i="0">
                <a:solidFill>
                  <a:srgbClr val="2E75B6"/>
                </a:solidFill>
                <a:latin typeface="Arial"/>
              </a:rPr>
              <a:t>5</a:t>
            </a:r>
          </a:p>
        </p:txBody>
      </p:sp>
      <p:sp>
        <p:nvSpPr>
          <p:cNvPr id="16" name="TextBox 15"/>
          <p:cNvSpPr txBox="1"/>
          <p:nvPr/>
        </p:nvSpPr>
        <p:spPr>
          <a:xfrm>
            <a:off x="1005840" y="5166360"/>
            <a:ext cx="3749039" cy="731520"/>
          </a:xfrm>
          <a:prstGeom prst="rect">
            <a:avLst/>
          </a:prstGeom>
          <a:noFill/>
        </p:spPr>
        <p:txBody>
          <a:bodyPr wrap="square" lIns="0" rIns="0" tIns="0" bIns="0" anchor="t">
            <a:spAutoFit/>
          </a:bodyPr>
          <a:lstStyle/>
          <a:p>
            <a:pPr algn="l"/>
            <a:r>
              <a:rPr sz="1600" b="1" i="0">
                <a:solidFill>
                  <a:srgbClr val="1F3A5F"/>
                </a:solidFill>
                <a:latin typeface="Arial"/>
              </a:rPr>
              <a:t>Historique</a:t>
            </a:r>
          </a:p>
          <a:p>
            <a:pPr algn="l"/>
            <a:r>
              <a:rPr sz="1600" b="0" i="0">
                <a:solidFill>
                  <a:srgbClr val="1B2530"/>
                </a:solidFill>
                <a:latin typeface="Arial"/>
              </a:rPr>
              <a:t>consultation, partage, suppression</a:t>
            </a:r>
          </a:p>
        </p:txBody>
      </p:sp>
      <p:pic>
        <p:nvPicPr>
          <p:cNvPr id="17" name="Picture 16" descr="Vérification, amélioration ; données masquées"/>
          <p:cNvPicPr>
            <a:picLocks noChangeAspect="1"/>
          </p:cNvPicPr>
          <p:nvPr/>
        </p:nvPicPr>
        <p:blipFill>
          <a:blip r:embed="rId2"/>
          <a:stretch>
            <a:fillRect/>
          </a:stretch>
        </p:blipFill>
        <p:spPr>
          <a:xfrm>
            <a:off x="4892040" y="1783080"/>
            <a:ext cx="1840159" cy="4114800"/>
          </a:xfrm>
          <a:prstGeom prst="rect">
            <a:avLst/>
          </a:prstGeom>
          <a:ln w="9525">
            <a:solidFill>
              <a:srgbClr val="CBD3DB"/>
            </a:solidFill>
          </a:ln>
        </p:spPr>
      </p:pic>
      <p:sp>
        <p:nvSpPr>
          <p:cNvPr id="18" name="TextBox 17"/>
          <p:cNvSpPr txBox="1"/>
          <p:nvPr/>
        </p:nvSpPr>
        <p:spPr>
          <a:xfrm>
            <a:off x="4892040"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Vérification, amélioration</a:t>
            </a:r>
          </a:p>
        </p:txBody>
      </p:sp>
      <p:pic>
        <p:nvPicPr>
          <p:cNvPr id="19" name="Picture 18" descr="Recadrage du verso ; données masquées"/>
          <p:cNvPicPr>
            <a:picLocks noChangeAspect="1"/>
          </p:cNvPicPr>
          <p:nvPr/>
        </p:nvPicPr>
        <p:blipFill>
          <a:blip r:embed="rId3"/>
          <a:stretch>
            <a:fillRect/>
          </a:stretch>
        </p:blipFill>
        <p:spPr>
          <a:xfrm>
            <a:off x="7116247" y="1783080"/>
            <a:ext cx="1840159" cy="4114800"/>
          </a:xfrm>
          <a:prstGeom prst="rect">
            <a:avLst/>
          </a:prstGeom>
          <a:ln w="9525">
            <a:solidFill>
              <a:srgbClr val="CBD3DB"/>
            </a:solidFill>
          </a:ln>
        </p:spPr>
      </p:pic>
      <p:sp>
        <p:nvSpPr>
          <p:cNvPr id="20" name="TextBox 19"/>
          <p:cNvSpPr txBox="1"/>
          <p:nvPr/>
        </p:nvSpPr>
        <p:spPr>
          <a:xfrm>
            <a:off x="7116247" y="5971032"/>
            <a:ext cx="2114479" cy="274320"/>
          </a:xfrm>
          <a:prstGeom prst="rect">
            <a:avLst/>
          </a:prstGeom>
          <a:noFill/>
        </p:spPr>
        <p:txBody>
          <a:bodyPr wrap="square" lIns="0" rIns="0" tIns="0" bIns="0" anchor="t">
            <a:spAutoFit/>
          </a:bodyPr>
          <a:lstStyle/>
          <a:p>
            <a:pPr algn="l"/>
            <a:r>
              <a:rPr sz="1200" b="0" i="0">
                <a:solidFill>
                  <a:srgbClr val="5B6B7A"/>
                </a:solidFill>
                <a:latin typeface="Arial"/>
              </a:rPr>
              <a:t>Recadrage du verso</a:t>
            </a:r>
          </a:p>
        </p:txBody>
      </p:sp>
      <p:pic>
        <p:nvPicPr>
          <p:cNvPr id="21" name="Picture 20" descr="Page A4 à 300 dpi ; données masquées"/>
          <p:cNvPicPr>
            <a:picLocks noChangeAspect="1"/>
          </p:cNvPicPr>
          <p:nvPr/>
        </p:nvPicPr>
        <p:blipFill>
          <a:blip r:embed="rId4"/>
          <a:stretch>
            <a:fillRect/>
          </a:stretch>
        </p:blipFill>
        <p:spPr>
          <a:xfrm>
            <a:off x="9340454" y="1783080"/>
            <a:ext cx="1838801" cy="4114800"/>
          </a:xfrm>
          <a:prstGeom prst="rect">
            <a:avLst/>
          </a:prstGeom>
          <a:ln w="9525">
            <a:solidFill>
              <a:srgbClr val="CBD3DB"/>
            </a:solidFill>
          </a:ln>
        </p:spPr>
      </p:pic>
      <p:sp>
        <p:nvSpPr>
          <p:cNvPr id="22" name="TextBox 21"/>
          <p:cNvSpPr txBox="1"/>
          <p:nvPr/>
        </p:nvSpPr>
        <p:spPr>
          <a:xfrm>
            <a:off x="9340454" y="5971032"/>
            <a:ext cx="2113121" cy="274320"/>
          </a:xfrm>
          <a:prstGeom prst="rect">
            <a:avLst/>
          </a:prstGeom>
          <a:noFill/>
        </p:spPr>
        <p:txBody>
          <a:bodyPr wrap="square" lIns="0" rIns="0" tIns="0" bIns="0" anchor="t">
            <a:spAutoFit/>
          </a:bodyPr>
          <a:lstStyle/>
          <a:p>
            <a:pPr algn="l"/>
            <a:r>
              <a:rPr sz="1200" b="0" i="0">
                <a:solidFill>
                  <a:srgbClr val="5B6B7A"/>
                </a:solidFill>
                <a:latin typeface="Arial"/>
              </a:rPr>
              <a:t>Page A4 à 300 dpi</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350"/>
                                        <p:tgtEl>
                                          <p:spTgt spid="17"/>
                                        </p:tgtEl>
                                      </p:cBhvr>
                                    </p:animEffect>
                                  </p:childTnLst>
                                </p:cTn>
                              </p:par>
                              <p:par>
                                <p:cTn id="12" presetID="10" presetClass="entr" presetSubtype="0" fill="hold" nodeType="withEffect">
                                  <p:stCondLst>
                                    <p:cond delay="0"/>
                                  </p:stCondLst>
                                  <p:childTnLst>
                                    <p:set>
                                      <p:cBhvr>
                                        <p:cTn id="13" dur="1" fill="hold">
                                          <p:stCondLst>
                                            <p:cond delay="0"/>
                                          </p:stCondLst>
                                        </p:cTn>
                                        <p:tgtEl>
                                          <p:spTgt spid="19"/>
                                        </p:tgtEl>
                                        <p:attrNameLst>
                                          <p:attrName>style.visibility</p:attrName>
                                        </p:attrNameLst>
                                      </p:cBhvr>
                                      <p:to>
                                        <p:strVal val="visible"/>
                                      </p:to>
                                    </p:set>
                                    <p:animEffect transition="in" filter="fade">
                                      <p:cBhvr>
                                        <p:cTn id="14" dur="350"/>
                                        <p:tgtEl>
                                          <p:spTgt spid="19"/>
                                        </p:tgtEl>
                                      </p:cBhvr>
                                    </p:animEffect>
                                  </p:childTnLst>
                                </p:cTn>
                              </p:par>
                              <p:par>
                                <p:cTn id="15" presetID="10" presetClass="entr" presetSubtype="0" fill="hold" nodeType="with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fade">
                                      <p:cBhvr>
                                        <p:cTn id="17" dur="350"/>
                                        <p:tgtEl>
                                          <p:spTgt spid="21"/>
                                        </p:tgtEl>
                                      </p:cBhvr>
                                    </p:animEffect>
                                  </p:childTnLst>
                                </p:cTn>
                              </p:par>
                              <p:par>
                                <p:cTn id="18" presetID="10"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350"/>
                                        <p:tgtEl>
                                          <p:spTgt spid="7"/>
                                        </p:tgtEl>
                                      </p:cBhvr>
                                    </p:animEffect>
                                  </p:childTnLst>
                                </p:cTn>
                              </p:par>
                              <p:par>
                                <p:cTn id="21" presetID="10" presetClass="entr" presetSubtype="0" fill="hold" nodeType="with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350"/>
                                        <p:tgtEl>
                                          <p:spTgt spid="8"/>
                                        </p:tgtEl>
                                      </p:cBhvr>
                                    </p:animEffect>
                                  </p:childTnLst>
                                </p:cTn>
                              </p:par>
                            </p:childTnLst>
                          </p:cTn>
                        </p:par>
                        <p:par>
                          <p:cTn id="24" fill="hold">
                            <p:stCondLst>
                              <p:cond delay="500"/>
                            </p:stCondLst>
                            <p:childTnLst>
                              <p:par>
                                <p:cTn id="25" presetID="10" presetClass="entr" presetSubtype="0" fill="hold" nodeType="afterEffect">
                                  <p:stCondLst>
                                    <p:cond delay="0"/>
                                  </p:stCondLst>
                                  <p:childTnLst>
                                    <p:set>
                                      <p:cBhvr>
                                        <p:cTn id="26" dur="1" fill="hold">
                                          <p:stCondLst>
                                            <p:cond delay="0"/>
                                          </p:stCondLst>
                                        </p:cTn>
                                        <p:tgtEl>
                                          <p:spTgt spid="9"/>
                                        </p:tgtEl>
                                        <p:attrNameLst>
                                          <p:attrName>style.visibility</p:attrName>
                                        </p:attrNameLst>
                                      </p:cBhvr>
                                      <p:to>
                                        <p:strVal val="visible"/>
                                      </p:to>
                                    </p:set>
                                    <p:animEffect transition="in" filter="fade">
                                      <p:cBhvr>
                                        <p:cTn id="27" dur="350"/>
                                        <p:tgtEl>
                                          <p:spTgt spid="9"/>
                                        </p:tgtEl>
                                      </p:cBhvr>
                                    </p:animEffect>
                                  </p:childTnLst>
                                </p:cTn>
                              </p:par>
                              <p:par>
                                <p:cTn id="28" presetID="10" presetClass="entr" presetSubtype="0" fill="hold" nodeType="with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350"/>
                                        <p:tgtEl>
                                          <p:spTgt spid="10"/>
                                        </p:tgtEl>
                                      </p:cBhvr>
                                    </p:animEffect>
                                  </p:childTnLst>
                                </p:cTn>
                              </p:par>
                            </p:childTnLst>
                          </p:cTn>
                        </p:par>
                        <p:par>
                          <p:cTn id="31" fill="hold">
                            <p:stCondLst>
                              <p:cond delay="750"/>
                            </p:stCondLst>
                            <p:childTnLst>
                              <p:par>
                                <p:cTn id="32" presetID="10" presetClass="entr" presetSubtype="0" fill="hold" nodeType="afterEffect">
                                  <p:stCondLst>
                                    <p:cond delay="0"/>
                                  </p:stCondLst>
                                  <p:childTnLst>
                                    <p:set>
                                      <p:cBhvr>
                                        <p:cTn id="33" dur="1" fill="hold">
                                          <p:stCondLst>
                                            <p:cond delay="0"/>
                                          </p:stCondLst>
                                        </p:cTn>
                                        <p:tgtEl>
                                          <p:spTgt spid="11"/>
                                        </p:tgtEl>
                                        <p:attrNameLst>
                                          <p:attrName>style.visibility</p:attrName>
                                        </p:attrNameLst>
                                      </p:cBhvr>
                                      <p:to>
                                        <p:strVal val="visible"/>
                                      </p:to>
                                    </p:set>
                                    <p:animEffect transition="in" filter="fade">
                                      <p:cBhvr>
                                        <p:cTn id="34" dur="350"/>
                                        <p:tgtEl>
                                          <p:spTgt spid="11"/>
                                        </p:tgtEl>
                                      </p:cBhvr>
                                    </p:animEffect>
                                  </p:childTnLst>
                                </p:cTn>
                              </p:par>
                              <p:par>
                                <p:cTn id="35" presetID="10" presetClass="entr" presetSubtype="0" fill="hold" nodeType="withEffect">
                                  <p:stCondLst>
                                    <p:cond delay="0"/>
                                  </p:stCondLst>
                                  <p:childTnLst>
                                    <p:set>
                                      <p:cBhvr>
                                        <p:cTn id="36" dur="1" fill="hold">
                                          <p:stCondLst>
                                            <p:cond delay="0"/>
                                          </p:stCondLst>
                                        </p:cTn>
                                        <p:tgtEl>
                                          <p:spTgt spid="12"/>
                                        </p:tgtEl>
                                        <p:attrNameLst>
                                          <p:attrName>style.visibility</p:attrName>
                                        </p:attrNameLst>
                                      </p:cBhvr>
                                      <p:to>
                                        <p:strVal val="visible"/>
                                      </p:to>
                                    </p:set>
                                    <p:animEffect transition="in" filter="fade">
                                      <p:cBhvr>
                                        <p:cTn id="37" dur="350"/>
                                        <p:tgtEl>
                                          <p:spTgt spid="12"/>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35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350"/>
                                        <p:tgtEl>
                                          <p:spTgt spid="14"/>
                                        </p:tgtEl>
                                      </p:cBhvr>
                                    </p:animEffect>
                                  </p:childTnLst>
                                </p:cTn>
                              </p:par>
                            </p:childTnLst>
                          </p:cTn>
                        </p:par>
                        <p:par>
                          <p:cTn id="45" fill="hold">
                            <p:stCondLst>
                              <p:cond delay="1250"/>
                            </p:stCondLst>
                            <p:childTnLst>
                              <p:par>
                                <p:cTn id="46" presetID="10" presetClass="entr" presetSubtype="0" fill="hold" nodeType="after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350"/>
                                        <p:tgtEl>
                                          <p:spTgt spid="15"/>
                                        </p:tgtEl>
                                      </p:cBhvr>
                                    </p:animEffect>
                                  </p:childTnLst>
                                </p:cTn>
                              </p:par>
                              <p:par>
                                <p:cTn id="49" presetID="10" presetClass="entr" presetSubtype="0" fill="hold" nodeType="withEffect">
                                  <p:stCondLst>
                                    <p:cond delay="0"/>
                                  </p:stCondLst>
                                  <p:childTnLst>
                                    <p:set>
                                      <p:cBhvr>
                                        <p:cTn id="50" dur="1" fill="hold">
                                          <p:stCondLst>
                                            <p:cond delay="0"/>
                                          </p:stCondLst>
                                        </p:cTn>
                                        <p:tgtEl>
                                          <p:spTgt spid="16"/>
                                        </p:tgtEl>
                                        <p:attrNameLst>
                                          <p:attrName>style.visibility</p:attrName>
                                        </p:attrNameLst>
                                      </p:cBhvr>
                                      <p:to>
                                        <p:strVal val="visible"/>
                                      </p:to>
                                    </p:set>
                                    <p:animEffect transition="in" filter="fade">
                                      <p:cBhvr>
                                        <p:cTn id="51" dur="350"/>
                                        <p:tgtEl>
                                          <p:spTgt spid="16"/>
                                        </p:tgtEl>
                                      </p:cBhvr>
                                    </p:animEffect>
                                  </p:childTnLst>
                                </p:cTn>
                              </p:par>
                            </p:childTnLst>
                          </p:cTn>
                        </p:par>
                        <p:par>
                          <p:cTn id="52" fill="hold">
                            <p:stCondLst>
                              <p:cond delay="1500"/>
                            </p:stCondLst>
                            <p:childTnLst>
                              <p:par>
                                <p:cTn id="53" presetID="10" presetClass="entr" presetSubtype="0" fill="hold" nodeType="afterEffect">
                                  <p:stCondLst>
                                    <p:cond delay="0"/>
                                  </p:stCondLst>
                                  <p:childTnLst>
                                    <p:set>
                                      <p:cBhvr>
                                        <p:cTn id="54" dur="1" fill="hold">
                                          <p:stCondLst>
                                            <p:cond delay="0"/>
                                          </p:stCondLst>
                                        </p:cTn>
                                        <p:tgtEl>
                                          <p:spTgt spid="18"/>
                                        </p:tgtEl>
                                        <p:attrNameLst>
                                          <p:attrName>style.visibility</p:attrName>
                                        </p:attrNameLst>
                                      </p:cBhvr>
                                      <p:to>
                                        <p:strVal val="visible"/>
                                      </p:to>
                                    </p:set>
                                    <p:animEffect transition="in" filter="fade">
                                      <p:cBhvr>
                                        <p:cTn id="55" dur="350"/>
                                        <p:tgtEl>
                                          <p:spTgt spid="18"/>
                                        </p:tgtEl>
                                      </p:cBhvr>
                                    </p:animEffect>
                                  </p:childTnLst>
                                </p:cTn>
                              </p:par>
                              <p:par>
                                <p:cTn id="56" presetID="10" presetClass="entr" presetSubtype="0" fill="hold"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350"/>
                                        <p:tgtEl>
                                          <p:spTgt spid="20"/>
                                        </p:tgtEl>
                                      </p:cBhvr>
                                    </p:animEffect>
                                  </p:childTnLst>
                                </p:cTn>
                              </p:par>
                              <p:par>
                                <p:cTn id="59" presetID="10" presetClass="entr" presetSubtype="0" fill="hold" nodeType="withEffect">
                                  <p:stCondLst>
                                    <p:cond delay="0"/>
                                  </p:stCondLst>
                                  <p:childTnLst>
                                    <p:set>
                                      <p:cBhvr>
                                        <p:cTn id="60" dur="1" fill="hold">
                                          <p:stCondLst>
                                            <p:cond delay="0"/>
                                          </p:stCondLst>
                                        </p:cTn>
                                        <p:tgtEl>
                                          <p:spTgt spid="22"/>
                                        </p:tgtEl>
                                        <p:attrNameLst>
                                          <p:attrName>style.visibility</p:attrName>
                                        </p:attrNameLst>
                                      </p:cBhvr>
                                      <p:to>
                                        <p:strVal val="visible"/>
                                      </p:to>
                                    </p:set>
                                    <p:animEffect transition="in" filter="fade">
                                      <p:cBhvr>
                                        <p:cTn id="61" dur="35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1" grpId="0"/>
      <p:bldP spid="12" grpId="0"/>
      <p:bldP spid="13" grpId="0"/>
      <p:bldP spid="14" grpId="0"/>
      <p:bldP spid="15" grpId="0"/>
      <p:bldP spid="16" grpId="0"/>
      <p:bldP spid="18" grpId="0"/>
      <p:bldP spid="20" grpId="0"/>
      <p:bldP spid="22"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12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177 cas de test automatisés passent sans échec, organisés en quatre paliers</a:t>
            </a:r>
          </a:p>
        </p:txBody>
      </p:sp>
      <p:sp>
        <p:nvSpPr>
          <p:cNvPr id="7" name="TextBox 6"/>
          <p:cNvSpPr txBox="1"/>
          <p:nvPr/>
        </p:nvSpPr>
        <p:spPr>
          <a:xfrm>
            <a:off x="548640" y="1920240"/>
            <a:ext cx="4206240" cy="914400"/>
          </a:xfrm>
          <a:prstGeom prst="rect">
            <a:avLst/>
          </a:prstGeom>
          <a:noFill/>
        </p:spPr>
        <p:txBody>
          <a:bodyPr wrap="square" lIns="0" rIns="0" tIns="0" bIns="0" anchor="t">
            <a:spAutoFit/>
          </a:bodyPr>
          <a:lstStyle/>
          <a:p>
            <a:pPr algn="l"/>
            <a:r>
              <a:rPr sz="6000" b="1" i="0">
                <a:solidFill>
                  <a:srgbClr val="1F3A5F"/>
                </a:solidFill>
                <a:latin typeface="Arial"/>
              </a:rPr>
              <a:t>177 / 177</a:t>
            </a:r>
          </a:p>
        </p:txBody>
      </p:sp>
      <p:sp>
        <p:nvSpPr>
          <p:cNvPr id="8" name="TextBox 7"/>
          <p:cNvSpPr txBox="1"/>
          <p:nvPr/>
        </p:nvSpPr>
        <p:spPr>
          <a:xfrm>
            <a:off x="548640" y="2926080"/>
            <a:ext cx="4206240" cy="640080"/>
          </a:xfrm>
          <a:prstGeom prst="rect">
            <a:avLst/>
          </a:prstGeom>
          <a:noFill/>
        </p:spPr>
        <p:txBody>
          <a:bodyPr wrap="square" lIns="0" rIns="0" tIns="0" bIns="0" anchor="t">
            <a:spAutoFit/>
          </a:bodyPr>
          <a:lstStyle/>
          <a:p>
            <a:pPr algn="l"/>
            <a:r>
              <a:rPr sz="1800" b="0" i="0">
                <a:solidFill>
                  <a:srgbClr val="1B2530"/>
                </a:solidFill>
                <a:latin typeface="Arial"/>
              </a:rPr>
              <a:t>cas de test réussis · 0 échec</a:t>
            </a:r>
          </a:p>
          <a:p>
            <a:pPr algn="l"/>
            <a:r>
              <a:rPr sz="1800" b="0" i="0">
                <a:solidFill>
                  <a:srgbClr val="1B2530"/>
                </a:solidFill>
                <a:latin typeface="Arial"/>
              </a:rPr>
              <a:t>flutter test, en 16 secondes</a:t>
            </a:r>
          </a:p>
        </p:txBody>
      </p:sp>
      <p:sp>
        <p:nvSpPr>
          <p:cNvPr id="9" name="TextBox 8"/>
          <p:cNvSpPr txBox="1"/>
          <p:nvPr/>
        </p:nvSpPr>
        <p:spPr>
          <a:xfrm>
            <a:off x="548640" y="3977639"/>
            <a:ext cx="4023360" cy="1463040"/>
          </a:xfrm>
          <a:prstGeom prst="rect">
            <a:avLst/>
          </a:prstGeom>
          <a:noFill/>
        </p:spPr>
        <p:txBody>
          <a:bodyPr wrap="square" lIns="0" rIns="0" tIns="0" bIns="0" anchor="t">
            <a:spAutoFit/>
          </a:bodyPr>
          <a:lstStyle/>
          <a:p>
            <a:pPr algn="l"/>
            <a:r>
              <a:rPr sz="1600" b="1" i="0">
                <a:solidFill>
                  <a:srgbClr val="1F3A5F"/>
                </a:solidFill>
                <a:latin typeface="Arial"/>
              </a:rPr>
              <a:t>Domaine pur → tests rapides : </a:t>
            </a:r>
            <a:r>
              <a:rPr sz="1600" b="0" i="0">
                <a:solidFill>
                  <a:srgbClr val="1B2530"/>
                </a:solidFill>
                <a:latin typeface="Arial"/>
              </a:rPr>
              <a:t>la séparation en couches (diapositive 6) permet de tester la logique sans caméra ni émulateur.</a:t>
            </a:r>
          </a:p>
        </p:txBody>
      </p:sp>
      <p:sp>
        <p:nvSpPr>
          <p:cNvPr id="10" name="TextBox 9"/>
          <p:cNvSpPr txBox="1"/>
          <p:nvPr/>
        </p:nvSpPr>
        <p:spPr>
          <a:xfrm>
            <a:off x="5394960" y="1874519"/>
            <a:ext cx="6217920" cy="320040"/>
          </a:xfrm>
          <a:prstGeom prst="rect">
            <a:avLst/>
          </a:prstGeom>
          <a:noFill/>
        </p:spPr>
        <p:txBody>
          <a:bodyPr wrap="square" lIns="0" rIns="0" tIns="0" bIns="0" anchor="t">
            <a:spAutoFit/>
          </a:bodyPr>
          <a:lstStyle/>
          <a:p>
            <a:pPr algn="l"/>
            <a:r>
              <a:rPr sz="1300" b="1" i="0">
                <a:solidFill>
                  <a:srgbClr val="2E75B6"/>
                </a:solidFill>
                <a:latin typeface="Arial"/>
              </a:rPr>
              <a:t>QUATRE PALIERS, SELON CE DONT LE TEST A BESOIN</a:t>
            </a:r>
          </a:p>
        </p:txBody>
      </p:sp>
      <p:sp>
        <p:nvSpPr>
          <p:cNvPr id="11" name="Rectangle 10"/>
          <p:cNvSpPr/>
          <p:nvPr/>
        </p:nvSpPr>
        <p:spPr>
          <a:xfrm>
            <a:off x="5394960" y="2377439"/>
            <a:ext cx="502920" cy="502920"/>
          </a:xfrm>
          <a:prstGeom prst="rect">
            <a:avLst/>
          </a:prstGeom>
          <a:solidFill>
            <a:srgbClr val="1F3A5F"/>
          </a:solidFill>
          <a:ln>
            <a:noFill/>
          </a:ln>
        </p:spPr>
        <p:txBody>
          <a:bodyPr rtlCol="0" anchor="ctr"/>
          <a:lstStyle/>
          <a:p/>
        </p:txBody>
      </p:sp>
      <p:sp>
        <p:nvSpPr>
          <p:cNvPr id="12" name="TextBox 11"/>
          <p:cNvSpPr txBox="1"/>
          <p:nvPr/>
        </p:nvSpPr>
        <p:spPr>
          <a:xfrm>
            <a:off x="5394960" y="2377439"/>
            <a:ext cx="502920" cy="502920"/>
          </a:xfrm>
          <a:prstGeom prst="rect">
            <a:avLst/>
          </a:prstGeom>
          <a:noFill/>
        </p:spPr>
        <p:txBody>
          <a:bodyPr wrap="square" lIns="0" rIns="0" tIns="0" bIns="0" anchor="ctr">
            <a:spAutoFit/>
          </a:bodyPr>
          <a:lstStyle/>
          <a:p>
            <a:pPr algn="ctr"/>
            <a:r>
              <a:rPr sz="2000" b="1" i="0">
                <a:solidFill>
                  <a:srgbClr val="FFFFFF"/>
                </a:solidFill>
                <a:latin typeface="Arial"/>
              </a:rPr>
              <a:t>A</a:t>
            </a:r>
          </a:p>
        </p:txBody>
      </p:sp>
      <p:sp>
        <p:nvSpPr>
          <p:cNvPr id="13" name="TextBox 12"/>
          <p:cNvSpPr txBox="1"/>
          <p:nvPr/>
        </p:nvSpPr>
        <p:spPr>
          <a:xfrm>
            <a:off x="6126480" y="2331720"/>
            <a:ext cx="5486400" cy="822960"/>
          </a:xfrm>
          <a:prstGeom prst="rect">
            <a:avLst/>
          </a:prstGeom>
          <a:noFill/>
        </p:spPr>
        <p:txBody>
          <a:bodyPr wrap="square" lIns="0" rIns="0" tIns="0" bIns="0" anchor="t">
            <a:spAutoFit/>
          </a:bodyPr>
          <a:lstStyle/>
          <a:p>
            <a:pPr algn="l"/>
            <a:r>
              <a:rPr sz="1600" b="1" i="0">
                <a:solidFill>
                  <a:srgbClr val="1F3A5F"/>
                </a:solidFill>
                <a:latin typeface="Arial"/>
              </a:rPr>
              <a:t>Logique pure Dart</a:t>
            </a:r>
          </a:p>
          <a:p>
            <a:pPr algn="l"/>
            <a:r>
              <a:rPr sz="1600" b="0" i="0">
                <a:solidFill>
                  <a:srgbClr val="1B2530"/>
                </a:solidFill>
                <a:latin typeface="Arial"/>
              </a:rPr>
              <a:t>machine à états, décision de capture, stabilité</a:t>
            </a:r>
          </a:p>
        </p:txBody>
      </p:sp>
      <p:sp>
        <p:nvSpPr>
          <p:cNvPr id="14" name="Rectangle 13"/>
          <p:cNvSpPr/>
          <p:nvPr/>
        </p:nvSpPr>
        <p:spPr>
          <a:xfrm>
            <a:off x="5394960" y="3291839"/>
            <a:ext cx="502920" cy="502920"/>
          </a:xfrm>
          <a:prstGeom prst="rect">
            <a:avLst/>
          </a:prstGeom>
          <a:solidFill>
            <a:srgbClr val="1F3A5F"/>
          </a:solidFill>
          <a:ln>
            <a:noFill/>
          </a:ln>
        </p:spPr>
        <p:txBody>
          <a:bodyPr rtlCol="0" anchor="ctr"/>
          <a:lstStyle/>
          <a:p/>
        </p:txBody>
      </p:sp>
      <p:sp>
        <p:nvSpPr>
          <p:cNvPr id="15" name="TextBox 14"/>
          <p:cNvSpPr txBox="1"/>
          <p:nvPr/>
        </p:nvSpPr>
        <p:spPr>
          <a:xfrm>
            <a:off x="5394960" y="3291839"/>
            <a:ext cx="502920" cy="502920"/>
          </a:xfrm>
          <a:prstGeom prst="rect">
            <a:avLst/>
          </a:prstGeom>
          <a:noFill/>
        </p:spPr>
        <p:txBody>
          <a:bodyPr wrap="square" lIns="0" rIns="0" tIns="0" bIns="0" anchor="ctr">
            <a:spAutoFit/>
          </a:bodyPr>
          <a:lstStyle/>
          <a:p>
            <a:pPr algn="ctr"/>
            <a:r>
              <a:rPr sz="2000" b="1" i="0">
                <a:solidFill>
                  <a:srgbClr val="FFFFFF"/>
                </a:solidFill>
                <a:latin typeface="Arial"/>
              </a:rPr>
              <a:t>B</a:t>
            </a:r>
          </a:p>
        </p:txBody>
      </p:sp>
      <p:sp>
        <p:nvSpPr>
          <p:cNvPr id="16" name="TextBox 15"/>
          <p:cNvSpPr txBox="1"/>
          <p:nvPr/>
        </p:nvSpPr>
        <p:spPr>
          <a:xfrm>
            <a:off x="6126480" y="3246120"/>
            <a:ext cx="5486400" cy="822960"/>
          </a:xfrm>
          <a:prstGeom prst="rect">
            <a:avLst/>
          </a:prstGeom>
          <a:noFill/>
        </p:spPr>
        <p:txBody>
          <a:bodyPr wrap="square" lIns="0" rIns="0" tIns="0" bIns="0" anchor="t">
            <a:spAutoFit/>
          </a:bodyPr>
          <a:lstStyle/>
          <a:p>
            <a:pPr algn="l"/>
            <a:r>
              <a:rPr sz="1600" b="1" i="0">
                <a:solidFill>
                  <a:srgbClr val="1F3A5F"/>
                </a:solidFill>
                <a:latin typeface="Arial"/>
              </a:rPr>
              <a:t>Plateforme simulée (mocktail)</a:t>
            </a:r>
          </a:p>
          <a:p>
            <a:pPr algn="l"/>
            <a:r>
              <a:rPr sz="1600" b="0" i="0">
                <a:solidFill>
                  <a:srgbClr val="1B2530"/>
                </a:solidFill>
                <a:latin typeface="Arial"/>
              </a:rPr>
              <a:t>caméra, permissions, stockage, chargement de la cascade</a:t>
            </a:r>
          </a:p>
        </p:txBody>
      </p:sp>
      <p:sp>
        <p:nvSpPr>
          <p:cNvPr id="17" name="Rectangle 16"/>
          <p:cNvSpPr/>
          <p:nvPr/>
        </p:nvSpPr>
        <p:spPr>
          <a:xfrm>
            <a:off x="5394960" y="4206240"/>
            <a:ext cx="502920" cy="502920"/>
          </a:xfrm>
          <a:prstGeom prst="rect">
            <a:avLst/>
          </a:prstGeom>
          <a:solidFill>
            <a:srgbClr val="1F3A5F"/>
          </a:solidFill>
          <a:ln>
            <a:noFill/>
          </a:ln>
        </p:spPr>
        <p:txBody>
          <a:bodyPr rtlCol="0" anchor="ctr"/>
          <a:lstStyle/>
          <a:p/>
        </p:txBody>
      </p:sp>
      <p:sp>
        <p:nvSpPr>
          <p:cNvPr id="18" name="TextBox 17"/>
          <p:cNvSpPr txBox="1"/>
          <p:nvPr/>
        </p:nvSpPr>
        <p:spPr>
          <a:xfrm>
            <a:off x="5394960" y="4206240"/>
            <a:ext cx="502920" cy="502920"/>
          </a:xfrm>
          <a:prstGeom prst="rect">
            <a:avLst/>
          </a:prstGeom>
          <a:noFill/>
        </p:spPr>
        <p:txBody>
          <a:bodyPr wrap="square" lIns="0" rIns="0" tIns="0" bIns="0" anchor="ctr">
            <a:spAutoFit/>
          </a:bodyPr>
          <a:lstStyle/>
          <a:p>
            <a:pPr algn="ctr"/>
            <a:r>
              <a:rPr sz="2000" b="1" i="0">
                <a:solidFill>
                  <a:srgbClr val="FFFFFF"/>
                </a:solidFill>
                <a:latin typeface="Arial"/>
              </a:rPr>
              <a:t>C</a:t>
            </a:r>
          </a:p>
        </p:txBody>
      </p:sp>
      <p:sp>
        <p:nvSpPr>
          <p:cNvPr id="19" name="TextBox 18"/>
          <p:cNvSpPr txBox="1"/>
          <p:nvPr/>
        </p:nvSpPr>
        <p:spPr>
          <a:xfrm>
            <a:off x="6126480" y="4160520"/>
            <a:ext cx="5486400" cy="822960"/>
          </a:xfrm>
          <a:prstGeom prst="rect">
            <a:avLst/>
          </a:prstGeom>
          <a:noFill/>
        </p:spPr>
        <p:txBody>
          <a:bodyPr wrap="square" lIns="0" rIns="0" tIns="0" bIns="0" anchor="t">
            <a:spAutoFit/>
          </a:bodyPr>
          <a:lstStyle/>
          <a:p>
            <a:pPr algn="l"/>
            <a:r>
              <a:rPr sz="1600" b="1" i="0">
                <a:solidFill>
                  <a:srgbClr val="1F3A5F"/>
                </a:solidFill>
                <a:latin typeface="Arial"/>
              </a:rPr>
              <a:t>OpenCV réel, images synthétiques</a:t>
            </a:r>
          </a:p>
          <a:p>
            <a:pPr algn="l"/>
            <a:r>
              <a:rPr sz="1600" b="0" i="0">
                <a:solidFill>
                  <a:srgbClr val="1B2530"/>
                </a:solidFill>
                <a:latin typeface="Arial"/>
              </a:rPr>
              <a:t>géométrie du quad, rotation, luminosité, empreinte</a:t>
            </a:r>
          </a:p>
        </p:txBody>
      </p:sp>
      <p:sp>
        <p:nvSpPr>
          <p:cNvPr id="20" name="Rectangle 19"/>
          <p:cNvSpPr/>
          <p:nvPr/>
        </p:nvSpPr>
        <p:spPr>
          <a:xfrm>
            <a:off x="5394960" y="5120640"/>
            <a:ext cx="502920" cy="502920"/>
          </a:xfrm>
          <a:prstGeom prst="rect">
            <a:avLst/>
          </a:prstGeom>
          <a:solidFill>
            <a:srgbClr val="2E75B6"/>
          </a:solidFill>
          <a:ln>
            <a:noFill/>
          </a:ln>
        </p:spPr>
        <p:txBody>
          <a:bodyPr rtlCol="0" anchor="ctr"/>
          <a:lstStyle/>
          <a:p/>
        </p:txBody>
      </p:sp>
      <p:sp>
        <p:nvSpPr>
          <p:cNvPr id="21" name="TextBox 20"/>
          <p:cNvSpPr txBox="1"/>
          <p:nvPr/>
        </p:nvSpPr>
        <p:spPr>
          <a:xfrm>
            <a:off x="5394960" y="5120640"/>
            <a:ext cx="502920" cy="502920"/>
          </a:xfrm>
          <a:prstGeom prst="rect">
            <a:avLst/>
          </a:prstGeom>
          <a:noFill/>
        </p:spPr>
        <p:txBody>
          <a:bodyPr wrap="square" lIns="0" rIns="0" tIns="0" bIns="0" anchor="ctr">
            <a:spAutoFit/>
          </a:bodyPr>
          <a:lstStyle/>
          <a:p>
            <a:pPr algn="ctr"/>
            <a:r>
              <a:rPr sz="2000" b="1" i="0">
                <a:solidFill>
                  <a:srgbClr val="FFFFFF"/>
                </a:solidFill>
                <a:latin typeface="Arial"/>
              </a:rPr>
              <a:t>D</a:t>
            </a:r>
          </a:p>
        </p:txBody>
      </p:sp>
      <p:sp>
        <p:nvSpPr>
          <p:cNvPr id="22" name="TextBox 21"/>
          <p:cNvSpPr txBox="1"/>
          <p:nvPr/>
        </p:nvSpPr>
        <p:spPr>
          <a:xfrm>
            <a:off x="6126480" y="5074920"/>
            <a:ext cx="5486400" cy="822960"/>
          </a:xfrm>
          <a:prstGeom prst="rect">
            <a:avLst/>
          </a:prstGeom>
          <a:noFill/>
        </p:spPr>
        <p:txBody>
          <a:bodyPr wrap="square" lIns="0" rIns="0" tIns="0" bIns="0" anchor="t">
            <a:spAutoFit/>
          </a:bodyPr>
          <a:lstStyle/>
          <a:p>
            <a:pPr algn="l"/>
            <a:r>
              <a:rPr sz="1600" b="1" i="0">
                <a:solidFill>
                  <a:srgbClr val="1F3A5F"/>
                </a:solidFill>
                <a:latin typeface="Arial"/>
              </a:rPr>
              <a:t>Cartes réelles, sur téléphone</a:t>
            </a:r>
          </a:p>
          <a:p>
            <a:pPr algn="l"/>
            <a:r>
              <a:rPr sz="1600" b="0" i="0">
                <a:solidFill>
                  <a:srgbClr val="1B2530"/>
                </a:solidFill>
                <a:latin typeface="Arial"/>
              </a:rPr>
              <a:t>visage, code-barres, empreinte, ligne, parcours complet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350"/>
                                        <p:tgtEl>
                                          <p:spTgt spid="10"/>
                                        </p:tgtEl>
                                      </p:cBhvr>
                                    </p:animEffect>
                                  </p:childTnLst>
                                </p:cTn>
                              </p:par>
                              <p:par>
                                <p:cTn id="12" presetID="10"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350"/>
                                        <p:tgtEl>
                                          <p:spTgt spid="7"/>
                                        </p:tgtEl>
                                      </p:cBhvr>
                                    </p:animEffect>
                                  </p:childTnLst>
                                </p:cTn>
                              </p:par>
                            </p:childTnLst>
                          </p:cTn>
                        </p:par>
                        <p:par>
                          <p:cTn id="15" fill="hold">
                            <p:stCondLst>
                              <p:cond delay="500"/>
                            </p:stCondLst>
                            <p:childTnLst>
                              <p:par>
                                <p:cTn id="16" presetID="10" presetClass="entr" presetSubtype="0" fill="hold" nodeType="afterEffect">
                                  <p:stCondLst>
                                    <p:cond delay="0"/>
                                  </p:stCondLst>
                                  <p:childTnLst>
                                    <p:set>
                                      <p:cBhvr>
                                        <p:cTn id="17" dur="1" fill="hold">
                                          <p:stCondLst>
                                            <p:cond delay="0"/>
                                          </p:stCondLst>
                                        </p:cTn>
                                        <p:tgtEl>
                                          <p:spTgt spid="13"/>
                                        </p:tgtEl>
                                        <p:attrNameLst>
                                          <p:attrName>style.visibility</p:attrName>
                                        </p:attrNameLst>
                                      </p:cBhvr>
                                      <p:to>
                                        <p:strVal val="visible"/>
                                      </p:to>
                                    </p:set>
                                    <p:animEffect transition="in" filter="fade">
                                      <p:cBhvr>
                                        <p:cTn id="18" dur="350"/>
                                        <p:tgtEl>
                                          <p:spTgt spid="13"/>
                                        </p:tgtEl>
                                      </p:cBhvr>
                                    </p:animEffect>
                                  </p:childTnLst>
                                </p:cTn>
                              </p:par>
                              <p:par>
                                <p:cTn id="19" presetID="10"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animEffect transition="in" filter="fade">
                                      <p:cBhvr>
                                        <p:cTn id="21" dur="350"/>
                                        <p:tgtEl>
                                          <p:spTgt spid="11"/>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350"/>
                                        <p:tgtEl>
                                          <p:spTgt spid="12"/>
                                        </p:tgtEl>
                                      </p:cBhvr>
                                    </p:animEffect>
                                  </p:childTnLst>
                                </p:cTn>
                              </p:par>
                            </p:childTnLst>
                          </p:cTn>
                        </p:par>
                        <p:par>
                          <p:cTn id="25" fill="hold">
                            <p:stCondLst>
                              <p:cond delay="750"/>
                            </p:stCondLst>
                            <p:childTnLst>
                              <p:par>
                                <p:cTn id="26" presetID="10" presetClass="entr" presetSubtype="0" fill="hold" nodeType="after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350"/>
                                        <p:tgtEl>
                                          <p:spTgt spid="8"/>
                                        </p:tgtEl>
                                      </p:cBhvr>
                                    </p:animEffect>
                                  </p:childTnLst>
                                </p:cTn>
                              </p:par>
                            </p:childTnLst>
                          </p:cTn>
                        </p:par>
                        <p:par>
                          <p:cTn id="29" fill="hold">
                            <p:stCondLst>
                              <p:cond delay="1000"/>
                            </p:stCondLst>
                            <p:childTnLst>
                              <p:par>
                                <p:cTn id="30" presetID="10" presetClass="entr" presetSubtype="0" fill="hold" nodeType="afterEffect">
                                  <p:stCondLst>
                                    <p:cond delay="0"/>
                                  </p:stCondLst>
                                  <p:childTnLst>
                                    <p:set>
                                      <p:cBhvr>
                                        <p:cTn id="31" dur="1" fill="hold">
                                          <p:stCondLst>
                                            <p:cond delay="0"/>
                                          </p:stCondLst>
                                        </p:cTn>
                                        <p:tgtEl>
                                          <p:spTgt spid="16"/>
                                        </p:tgtEl>
                                        <p:attrNameLst>
                                          <p:attrName>style.visibility</p:attrName>
                                        </p:attrNameLst>
                                      </p:cBhvr>
                                      <p:to>
                                        <p:strVal val="visible"/>
                                      </p:to>
                                    </p:set>
                                    <p:animEffect transition="in" filter="fade">
                                      <p:cBhvr>
                                        <p:cTn id="32" dur="350"/>
                                        <p:tgtEl>
                                          <p:spTgt spid="16"/>
                                        </p:tgtEl>
                                      </p:cBhvr>
                                    </p:animEffect>
                                  </p:childTnLst>
                                </p:cTn>
                              </p:par>
                              <p:par>
                                <p:cTn id="33" presetID="10" presetClass="entr" presetSubtype="0" fill="hold" nodeType="withEffect">
                                  <p:stCondLst>
                                    <p:cond delay="0"/>
                                  </p:stCondLst>
                                  <p:childTnLst>
                                    <p:set>
                                      <p:cBhvr>
                                        <p:cTn id="34" dur="1" fill="hold">
                                          <p:stCondLst>
                                            <p:cond delay="0"/>
                                          </p:stCondLst>
                                        </p:cTn>
                                        <p:tgtEl>
                                          <p:spTgt spid="14"/>
                                        </p:tgtEl>
                                        <p:attrNameLst>
                                          <p:attrName>style.visibility</p:attrName>
                                        </p:attrNameLst>
                                      </p:cBhvr>
                                      <p:to>
                                        <p:strVal val="visible"/>
                                      </p:to>
                                    </p:set>
                                    <p:animEffect transition="in" filter="fade">
                                      <p:cBhvr>
                                        <p:cTn id="35" dur="350"/>
                                        <p:tgtEl>
                                          <p:spTgt spid="14"/>
                                        </p:tgtEl>
                                      </p:cBhvr>
                                    </p:animEffect>
                                  </p:childTnLst>
                                </p:cTn>
                              </p:par>
                              <p:par>
                                <p:cTn id="36" presetID="10" presetClass="entr" presetSubtype="0" fill="hold" nodeType="withEffect">
                                  <p:stCondLst>
                                    <p:cond delay="0"/>
                                  </p:stCondLst>
                                  <p:childTnLst>
                                    <p:set>
                                      <p:cBhvr>
                                        <p:cTn id="37" dur="1" fill="hold">
                                          <p:stCondLst>
                                            <p:cond delay="0"/>
                                          </p:stCondLst>
                                        </p:cTn>
                                        <p:tgtEl>
                                          <p:spTgt spid="15"/>
                                        </p:tgtEl>
                                        <p:attrNameLst>
                                          <p:attrName>style.visibility</p:attrName>
                                        </p:attrNameLst>
                                      </p:cBhvr>
                                      <p:to>
                                        <p:strVal val="visible"/>
                                      </p:to>
                                    </p:set>
                                    <p:animEffect transition="in" filter="fade">
                                      <p:cBhvr>
                                        <p:cTn id="38" dur="350"/>
                                        <p:tgtEl>
                                          <p:spTgt spid="15"/>
                                        </p:tgtEl>
                                      </p:cBhvr>
                                    </p:animEffect>
                                  </p:childTnLst>
                                </p:cTn>
                              </p:par>
                            </p:childTnLst>
                          </p:cTn>
                        </p:par>
                        <p:par>
                          <p:cTn id="39" fill="hold">
                            <p:stCondLst>
                              <p:cond delay="1250"/>
                            </p:stCondLst>
                            <p:childTnLst>
                              <p:par>
                                <p:cTn id="40" presetID="10" presetClass="entr" presetSubtype="0" fill="hold" nodeType="afterEffect">
                                  <p:stCondLst>
                                    <p:cond delay="0"/>
                                  </p:stCondLst>
                                  <p:childTnLst>
                                    <p:set>
                                      <p:cBhvr>
                                        <p:cTn id="41" dur="1" fill="hold">
                                          <p:stCondLst>
                                            <p:cond delay="0"/>
                                          </p:stCondLst>
                                        </p:cTn>
                                        <p:tgtEl>
                                          <p:spTgt spid="9"/>
                                        </p:tgtEl>
                                        <p:attrNameLst>
                                          <p:attrName>style.visibility</p:attrName>
                                        </p:attrNameLst>
                                      </p:cBhvr>
                                      <p:to>
                                        <p:strVal val="visible"/>
                                      </p:to>
                                    </p:set>
                                    <p:animEffect transition="in" filter="fade">
                                      <p:cBhvr>
                                        <p:cTn id="42" dur="350"/>
                                        <p:tgtEl>
                                          <p:spTgt spid="9"/>
                                        </p:tgtEl>
                                      </p:cBhvr>
                                    </p:animEffect>
                                  </p:childTnLst>
                                </p:cTn>
                              </p:par>
                              <p:par>
                                <p:cTn id="43" presetID="10" presetClass="entr" presetSubtype="0" fill="hold" nodeType="withEffect">
                                  <p:stCondLst>
                                    <p:cond delay="0"/>
                                  </p:stCondLst>
                                  <p:childTnLst>
                                    <p:set>
                                      <p:cBhvr>
                                        <p:cTn id="44" dur="1" fill="hold">
                                          <p:stCondLst>
                                            <p:cond delay="0"/>
                                          </p:stCondLst>
                                        </p:cTn>
                                        <p:tgtEl>
                                          <p:spTgt spid="19"/>
                                        </p:tgtEl>
                                        <p:attrNameLst>
                                          <p:attrName>style.visibility</p:attrName>
                                        </p:attrNameLst>
                                      </p:cBhvr>
                                      <p:to>
                                        <p:strVal val="visible"/>
                                      </p:to>
                                    </p:set>
                                    <p:animEffect transition="in" filter="fade">
                                      <p:cBhvr>
                                        <p:cTn id="45" dur="350"/>
                                        <p:tgtEl>
                                          <p:spTgt spid="19"/>
                                        </p:tgtEl>
                                      </p:cBhvr>
                                    </p:animEffect>
                                  </p:childTnLst>
                                </p:cTn>
                              </p:par>
                              <p:par>
                                <p:cTn id="46" presetID="10" presetClass="entr" presetSubtype="0" fill="hold"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35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350"/>
                                        <p:tgtEl>
                                          <p:spTgt spid="18"/>
                                        </p:tgtEl>
                                      </p:cBhvr>
                                    </p:animEffect>
                                  </p:childTnLst>
                                </p:cTn>
                              </p:par>
                            </p:childTnLst>
                          </p:cTn>
                        </p:par>
                        <p:par>
                          <p:cTn id="52" fill="hold">
                            <p:stCondLst>
                              <p:cond delay="1500"/>
                            </p:stCondLst>
                            <p:childTnLst>
                              <p:par>
                                <p:cTn id="53" presetID="10" presetClass="entr" presetSubtype="0" fill="hold" nodeType="afterEffect">
                                  <p:stCondLst>
                                    <p:cond delay="0"/>
                                  </p:stCondLst>
                                  <p:childTnLst>
                                    <p:set>
                                      <p:cBhvr>
                                        <p:cTn id="54" dur="1" fill="hold">
                                          <p:stCondLst>
                                            <p:cond delay="0"/>
                                          </p:stCondLst>
                                        </p:cTn>
                                        <p:tgtEl>
                                          <p:spTgt spid="22"/>
                                        </p:tgtEl>
                                        <p:attrNameLst>
                                          <p:attrName>style.visibility</p:attrName>
                                        </p:attrNameLst>
                                      </p:cBhvr>
                                      <p:to>
                                        <p:strVal val="visible"/>
                                      </p:to>
                                    </p:set>
                                    <p:animEffect transition="in" filter="fade">
                                      <p:cBhvr>
                                        <p:cTn id="55" dur="350"/>
                                        <p:tgtEl>
                                          <p:spTgt spid="22"/>
                                        </p:tgtEl>
                                      </p:cBhvr>
                                    </p:animEffect>
                                  </p:childTnLst>
                                </p:cTn>
                              </p:par>
                              <p:par>
                                <p:cTn id="56" presetID="10" presetClass="entr" presetSubtype="0" fill="hold"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350"/>
                                        <p:tgtEl>
                                          <p:spTgt spid="20"/>
                                        </p:tgtEl>
                                      </p:cBhvr>
                                    </p:animEffect>
                                  </p:childTnLst>
                                </p:cTn>
                              </p:par>
                              <p:par>
                                <p:cTn id="59" presetID="10" presetClass="entr" presetSubtype="0" fill="hold" nodeType="withEffect">
                                  <p:stCondLst>
                                    <p:cond delay="0"/>
                                  </p:stCondLst>
                                  <p:childTnLst>
                                    <p:set>
                                      <p:cBhvr>
                                        <p:cTn id="60" dur="1" fill="hold">
                                          <p:stCondLst>
                                            <p:cond delay="0"/>
                                          </p:stCondLst>
                                        </p:cTn>
                                        <p:tgtEl>
                                          <p:spTgt spid="21"/>
                                        </p:tgtEl>
                                        <p:attrNameLst>
                                          <p:attrName>style.visibility</p:attrName>
                                        </p:attrNameLst>
                                      </p:cBhvr>
                                      <p:to>
                                        <p:strVal val="visible"/>
                                      </p:to>
                                    </p:set>
                                    <p:animEffect transition="in" filter="fade">
                                      <p:cBhvr>
                                        <p:cTn id="61" dur="35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7" grpId="0"/>
      <p:bldP spid="13" grpId="0"/>
      <p:bldP spid="11" grpId="0"/>
      <p:bldP spid="12" grpId="0"/>
      <p:bldP spid="8" grpId="0"/>
      <p:bldP spid="16" grpId="0"/>
      <p:bldP spid="14" grpId="0"/>
      <p:bldP spid="15" grpId="0"/>
      <p:bldP spid="9" grpId="0"/>
      <p:bldP spid="19" grpId="0"/>
      <p:bldP spid="17" grpId="0"/>
      <p:bldP spid="18" grpId="0"/>
      <p:bldP spid="22" grpId="0"/>
      <p:bldP spid="20" grpId="0"/>
      <p:bldP spid="21" grpId="0"/>
    </p:bld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1" i="0">
                <a:solidFill>
                  <a:srgbClr val="2E75B6"/>
                </a:solidFill>
                <a:latin typeface="Arial"/>
              </a:rPr>
              <a:t>RÉSULTATS</a:t>
            </a:r>
            <a:r>
              <a:rPr sz="1100" b="0" i="0">
                <a:solidFill>
                  <a:srgbClr val="CBD3DB"/>
                </a:solidFill>
                <a:latin typeface="Arial"/>
              </a:rPr>
              <a:t>   ·   </a:t>
            </a:r>
            <a:r>
              <a:rPr sz="1100" b="0" i="0">
                <a:solidFill>
                  <a:srgbClr val="5B6B7A"/>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13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Les trois cibles du cahier des charges sont atteintes sur appareil réel</a:t>
            </a:r>
          </a:p>
        </p:txBody>
      </p:sp>
      <p:sp>
        <p:nvSpPr>
          <p:cNvPr id="7" name="TextBox 6"/>
          <p:cNvSpPr txBox="1"/>
          <p:nvPr/>
        </p:nvSpPr>
        <p:spPr>
          <a:xfrm>
            <a:off x="548640" y="1874519"/>
            <a:ext cx="2651760" cy="320040"/>
          </a:xfrm>
          <a:prstGeom prst="rect">
            <a:avLst/>
          </a:prstGeom>
          <a:noFill/>
        </p:spPr>
        <p:txBody>
          <a:bodyPr wrap="square" lIns="0" rIns="0" tIns="0" bIns="0" anchor="t">
            <a:spAutoFit/>
          </a:bodyPr>
          <a:lstStyle/>
          <a:p>
            <a:pPr algn="l"/>
            <a:r>
              <a:rPr sz="1300" b="1" i="0">
                <a:solidFill>
                  <a:srgbClr val="2E75B6"/>
                </a:solidFill>
                <a:latin typeface="Arial"/>
              </a:rPr>
              <a:t>MESURÉ</a:t>
            </a:r>
          </a:p>
        </p:txBody>
      </p:sp>
      <p:sp>
        <p:nvSpPr>
          <p:cNvPr id="8" name="TextBox 7"/>
          <p:cNvSpPr txBox="1"/>
          <p:nvPr/>
        </p:nvSpPr>
        <p:spPr>
          <a:xfrm>
            <a:off x="3291840" y="1874519"/>
            <a:ext cx="2286000" cy="320040"/>
          </a:xfrm>
          <a:prstGeom prst="rect">
            <a:avLst/>
          </a:prstGeom>
          <a:noFill/>
        </p:spPr>
        <p:txBody>
          <a:bodyPr wrap="square" lIns="0" rIns="0" tIns="0" bIns="0" anchor="t">
            <a:spAutoFit/>
          </a:bodyPr>
          <a:lstStyle/>
          <a:p>
            <a:pPr algn="l"/>
            <a:r>
              <a:rPr sz="1300" b="1" i="0">
                <a:solidFill>
                  <a:srgbClr val="2E75B6"/>
                </a:solidFill>
                <a:latin typeface="Arial"/>
              </a:rPr>
              <a:t>CIBLE</a:t>
            </a:r>
          </a:p>
        </p:txBody>
      </p:sp>
      <p:sp>
        <p:nvSpPr>
          <p:cNvPr id="9" name="TextBox 8"/>
          <p:cNvSpPr txBox="1"/>
          <p:nvPr/>
        </p:nvSpPr>
        <p:spPr>
          <a:xfrm>
            <a:off x="5669279" y="1874519"/>
            <a:ext cx="4389120" cy="320040"/>
          </a:xfrm>
          <a:prstGeom prst="rect">
            <a:avLst/>
          </a:prstGeom>
          <a:noFill/>
        </p:spPr>
        <p:txBody>
          <a:bodyPr wrap="square" lIns="0" rIns="0" tIns="0" bIns="0" anchor="t">
            <a:spAutoFit/>
          </a:bodyPr>
          <a:lstStyle/>
          <a:p>
            <a:pPr algn="l"/>
            <a:r>
              <a:rPr sz="1300" b="1" i="0">
                <a:solidFill>
                  <a:srgbClr val="2E75B6"/>
                </a:solidFill>
                <a:latin typeface="Arial"/>
              </a:rPr>
              <a:t>CE QUI EST MESURÉ</a:t>
            </a:r>
          </a:p>
        </p:txBody>
      </p:sp>
      <p:sp>
        <p:nvSpPr>
          <p:cNvPr id="10" name="TextBox 9"/>
          <p:cNvSpPr txBox="1"/>
          <p:nvPr/>
        </p:nvSpPr>
        <p:spPr>
          <a:xfrm>
            <a:off x="10241280" y="1874519"/>
            <a:ext cx="1401775" cy="320040"/>
          </a:xfrm>
          <a:prstGeom prst="rect">
            <a:avLst/>
          </a:prstGeom>
          <a:noFill/>
        </p:spPr>
        <p:txBody>
          <a:bodyPr wrap="square" lIns="0" rIns="0" tIns="0" bIns="0" anchor="t">
            <a:spAutoFit/>
          </a:bodyPr>
          <a:lstStyle/>
          <a:p>
            <a:pPr algn="l"/>
            <a:r>
              <a:rPr sz="1300" b="1" i="0">
                <a:solidFill>
                  <a:srgbClr val="2E75B6"/>
                </a:solidFill>
                <a:latin typeface="Arial"/>
              </a:rPr>
              <a:t/>
            </a:r>
          </a:p>
        </p:txBody>
      </p:sp>
      <p:cxnSp>
        <p:nvCxnSpPr>
          <p:cNvPr id="11" name="Connector 10"/>
          <p:cNvCxnSpPr/>
          <p:nvPr/>
        </p:nvCxnSpPr>
        <p:spPr>
          <a:xfrm>
            <a:off x="548640" y="2258568"/>
            <a:ext cx="11094415" cy="0"/>
          </a:xfrm>
          <a:prstGeom prst="line">
            <a:avLst/>
          </a:prstGeom>
          <a:ln w="9525">
            <a:solidFill>
              <a:srgbClr val="CBD3DB"/>
            </a:solidFill>
          </a:ln>
        </p:spPr>
      </p:cxnSp>
      <p:sp>
        <p:nvSpPr>
          <p:cNvPr id="12" name="TextBox 11"/>
          <p:cNvSpPr txBox="1"/>
          <p:nvPr/>
        </p:nvSpPr>
        <p:spPr>
          <a:xfrm>
            <a:off x="548640" y="2331720"/>
            <a:ext cx="2651760" cy="914400"/>
          </a:xfrm>
          <a:prstGeom prst="rect">
            <a:avLst/>
          </a:prstGeom>
          <a:noFill/>
        </p:spPr>
        <p:txBody>
          <a:bodyPr wrap="square" lIns="0" rIns="0" tIns="0" bIns="0" anchor="ctr">
            <a:spAutoFit/>
          </a:bodyPr>
          <a:lstStyle/>
          <a:p>
            <a:pPr algn="l"/>
            <a:r>
              <a:rPr sz="3800" b="1" i="0">
                <a:solidFill>
                  <a:srgbClr val="1F3A5F"/>
                </a:solidFill>
                <a:latin typeface="Arial"/>
              </a:rPr>
              <a:t>92–100 ms</a:t>
            </a:r>
          </a:p>
        </p:txBody>
      </p:sp>
      <p:sp>
        <p:nvSpPr>
          <p:cNvPr id="13" name="TextBox 12"/>
          <p:cNvSpPr txBox="1"/>
          <p:nvPr/>
        </p:nvSpPr>
        <p:spPr>
          <a:xfrm>
            <a:off x="3291840" y="2331720"/>
            <a:ext cx="2286000" cy="914400"/>
          </a:xfrm>
          <a:prstGeom prst="rect">
            <a:avLst/>
          </a:prstGeom>
          <a:noFill/>
        </p:spPr>
        <p:txBody>
          <a:bodyPr wrap="square" lIns="0" rIns="0" tIns="0" bIns="0" anchor="ctr">
            <a:spAutoFit/>
          </a:bodyPr>
          <a:lstStyle/>
          <a:p>
            <a:pPr algn="l"/>
            <a:r>
              <a:rPr sz="1800" b="0" i="0">
                <a:solidFill>
                  <a:srgbClr val="1B2530"/>
                </a:solidFill>
                <a:latin typeface="Arial"/>
              </a:rPr>
              <a:t>&lt; 100 ms par image</a:t>
            </a:r>
          </a:p>
        </p:txBody>
      </p:sp>
      <p:sp>
        <p:nvSpPr>
          <p:cNvPr id="14" name="TextBox 13"/>
          <p:cNvSpPr txBox="1"/>
          <p:nvPr/>
        </p:nvSpPr>
        <p:spPr>
          <a:xfrm>
            <a:off x="5669279" y="2331720"/>
            <a:ext cx="4389120" cy="914400"/>
          </a:xfrm>
          <a:prstGeom prst="rect">
            <a:avLst/>
          </a:prstGeom>
          <a:noFill/>
        </p:spPr>
        <p:txBody>
          <a:bodyPr wrap="square" lIns="0" rIns="0" tIns="0" bIns="0" anchor="ctr">
            <a:spAutoFit/>
          </a:bodyPr>
          <a:lstStyle/>
          <a:p>
            <a:pPr algn="l"/>
            <a:r>
              <a:rPr sz="1600" b="0" i="0">
                <a:solidFill>
                  <a:srgbClr val="1B2530"/>
                </a:solidFill>
                <a:latin typeface="Arial"/>
              </a:rPr>
              <a:t>temps de traitement d'une frame dans l'isolate, horodaté avant/après</a:t>
            </a:r>
          </a:p>
        </p:txBody>
      </p:sp>
      <p:sp>
        <p:nvSpPr>
          <p:cNvPr id="15" name="TextBox 14"/>
          <p:cNvSpPr txBox="1"/>
          <p:nvPr/>
        </p:nvSpPr>
        <p:spPr>
          <a:xfrm>
            <a:off x="10241280" y="233172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16" name="Connector 15"/>
          <p:cNvCxnSpPr/>
          <p:nvPr/>
        </p:nvCxnSpPr>
        <p:spPr>
          <a:xfrm>
            <a:off x="548640" y="3447287"/>
            <a:ext cx="11094415" cy="0"/>
          </a:xfrm>
          <a:prstGeom prst="line">
            <a:avLst/>
          </a:prstGeom>
          <a:ln w="9525">
            <a:solidFill>
              <a:srgbClr val="CBD3DB"/>
            </a:solidFill>
          </a:ln>
        </p:spPr>
      </p:cxnSp>
      <p:sp>
        <p:nvSpPr>
          <p:cNvPr id="17" name="TextBox 16"/>
          <p:cNvSpPr txBox="1"/>
          <p:nvPr/>
        </p:nvSpPr>
        <p:spPr>
          <a:xfrm>
            <a:off x="548640" y="3520439"/>
            <a:ext cx="2651760" cy="914400"/>
          </a:xfrm>
          <a:prstGeom prst="rect">
            <a:avLst/>
          </a:prstGeom>
          <a:noFill/>
        </p:spPr>
        <p:txBody>
          <a:bodyPr wrap="square" lIns="0" rIns="0" tIns="0" bIns="0" anchor="ctr">
            <a:spAutoFit/>
          </a:bodyPr>
          <a:lstStyle/>
          <a:p>
            <a:pPr algn="l"/>
            <a:r>
              <a:rPr sz="3800" b="1" i="0">
                <a:solidFill>
                  <a:srgbClr val="1F3A5F"/>
                </a:solidFill>
                <a:latin typeface="Arial"/>
              </a:rPr>
              <a:t>92 %</a:t>
            </a:r>
          </a:p>
        </p:txBody>
      </p:sp>
      <p:sp>
        <p:nvSpPr>
          <p:cNvPr id="18" name="TextBox 17"/>
          <p:cNvSpPr txBox="1"/>
          <p:nvPr/>
        </p:nvSpPr>
        <p:spPr>
          <a:xfrm>
            <a:off x="3291840" y="3520439"/>
            <a:ext cx="2286000" cy="914400"/>
          </a:xfrm>
          <a:prstGeom prst="rect">
            <a:avLst/>
          </a:prstGeom>
          <a:noFill/>
        </p:spPr>
        <p:txBody>
          <a:bodyPr wrap="square" lIns="0" rIns="0" tIns="0" bIns="0" anchor="ctr">
            <a:spAutoFit/>
          </a:bodyPr>
          <a:lstStyle/>
          <a:p>
            <a:pPr algn="l"/>
            <a:r>
              <a:rPr sz="1800" b="0" i="0">
                <a:solidFill>
                  <a:srgbClr val="1B2530"/>
                </a:solidFill>
                <a:latin typeface="Arial"/>
              </a:rPr>
              <a:t>≥ 90 %, conditions normales</a:t>
            </a:r>
          </a:p>
        </p:txBody>
      </p:sp>
      <p:sp>
        <p:nvSpPr>
          <p:cNvPr id="19" name="TextBox 18"/>
          <p:cNvSpPr txBox="1"/>
          <p:nvPr/>
        </p:nvSpPr>
        <p:spPr>
          <a:xfrm>
            <a:off x="5669279" y="3520439"/>
            <a:ext cx="4389120" cy="914400"/>
          </a:xfrm>
          <a:prstGeom prst="rect">
            <a:avLst/>
          </a:prstGeom>
          <a:noFill/>
        </p:spPr>
        <p:txBody>
          <a:bodyPr wrap="square" lIns="0" rIns="0" tIns="0" bIns="0" anchor="ctr">
            <a:spAutoFit/>
          </a:bodyPr>
          <a:lstStyle/>
          <a:p>
            <a:pPr algn="l"/>
            <a:r>
              <a:rPr sz="1600" b="0" i="0">
                <a:solidFill>
                  <a:srgbClr val="1B2530"/>
                </a:solidFill>
                <a:latin typeface="Arial"/>
              </a:rPr>
              <a:t>recto/verso bien reconnus, protocole manuel sur cartes réelles</a:t>
            </a:r>
          </a:p>
        </p:txBody>
      </p:sp>
      <p:sp>
        <p:nvSpPr>
          <p:cNvPr id="20" name="TextBox 19"/>
          <p:cNvSpPr txBox="1"/>
          <p:nvPr/>
        </p:nvSpPr>
        <p:spPr>
          <a:xfrm>
            <a:off x="10241280" y="3520439"/>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1" name="Connector 20"/>
          <p:cNvCxnSpPr/>
          <p:nvPr/>
        </p:nvCxnSpPr>
        <p:spPr>
          <a:xfrm>
            <a:off x="548640" y="4636008"/>
            <a:ext cx="11094415" cy="0"/>
          </a:xfrm>
          <a:prstGeom prst="line">
            <a:avLst/>
          </a:prstGeom>
          <a:ln w="9525">
            <a:solidFill>
              <a:srgbClr val="CBD3DB"/>
            </a:solidFill>
          </a:ln>
        </p:spPr>
      </p:cxnSp>
      <p:sp>
        <p:nvSpPr>
          <p:cNvPr id="22" name="TextBox 21"/>
          <p:cNvSpPr txBox="1"/>
          <p:nvPr/>
        </p:nvSpPr>
        <p:spPr>
          <a:xfrm>
            <a:off x="548640" y="4709160"/>
            <a:ext cx="2651760" cy="914400"/>
          </a:xfrm>
          <a:prstGeom prst="rect">
            <a:avLst/>
          </a:prstGeom>
          <a:noFill/>
        </p:spPr>
        <p:txBody>
          <a:bodyPr wrap="square" lIns="0" rIns="0" tIns="0" bIns="0" anchor="ctr">
            <a:spAutoFit/>
          </a:bodyPr>
          <a:lstStyle/>
          <a:p>
            <a:pPr algn="l"/>
            <a:r>
              <a:rPr sz="3800" b="1" i="0">
                <a:solidFill>
                  <a:srgbClr val="1F3A5F"/>
                </a:solidFill>
                <a:latin typeface="Arial"/>
              </a:rPr>
              <a:t>≈ 2 s</a:t>
            </a:r>
          </a:p>
        </p:txBody>
      </p:sp>
      <p:sp>
        <p:nvSpPr>
          <p:cNvPr id="23" name="TextBox 22"/>
          <p:cNvSpPr txBox="1"/>
          <p:nvPr/>
        </p:nvSpPr>
        <p:spPr>
          <a:xfrm>
            <a:off x="3291840" y="4709160"/>
            <a:ext cx="2286000" cy="914400"/>
          </a:xfrm>
          <a:prstGeom prst="rect">
            <a:avLst/>
          </a:prstGeom>
          <a:noFill/>
        </p:spPr>
        <p:txBody>
          <a:bodyPr wrap="square" lIns="0" rIns="0" tIns="0" bIns="0" anchor="ctr">
            <a:spAutoFit/>
          </a:bodyPr>
          <a:lstStyle/>
          <a:p>
            <a:pPr algn="l"/>
            <a:r>
              <a:rPr sz="1800" b="0" i="0">
                <a:solidFill>
                  <a:srgbClr val="1B2530"/>
                </a:solidFill>
                <a:latin typeface="Arial"/>
              </a:rPr>
              <a:t>≈ 2 s</a:t>
            </a:r>
          </a:p>
        </p:txBody>
      </p:sp>
      <p:sp>
        <p:nvSpPr>
          <p:cNvPr id="24" name="TextBox 23"/>
          <p:cNvSpPr txBox="1"/>
          <p:nvPr/>
        </p:nvSpPr>
        <p:spPr>
          <a:xfrm>
            <a:off x="5669279" y="4709160"/>
            <a:ext cx="4389120" cy="914400"/>
          </a:xfrm>
          <a:prstGeom prst="rect">
            <a:avLst/>
          </a:prstGeom>
          <a:noFill/>
        </p:spPr>
        <p:txBody>
          <a:bodyPr wrap="square" lIns="0" rIns="0" tIns="0" bIns="0" anchor="ctr">
            <a:spAutoFit/>
          </a:bodyPr>
          <a:lstStyle/>
          <a:p>
            <a:pPr algn="l"/>
            <a:r>
              <a:rPr sz="1600" b="0" i="0">
                <a:solidFill>
                  <a:srgbClr val="1B2530"/>
                </a:solidFill>
                <a:latin typeface="Arial"/>
              </a:rPr>
              <a:t>délai chronométré entre le cadre stabilisé et le déclenchement de la capture</a:t>
            </a:r>
          </a:p>
        </p:txBody>
      </p:sp>
      <p:sp>
        <p:nvSpPr>
          <p:cNvPr id="25" name="TextBox 24"/>
          <p:cNvSpPr txBox="1"/>
          <p:nvPr/>
        </p:nvSpPr>
        <p:spPr>
          <a:xfrm>
            <a:off x="10241280" y="4709160"/>
            <a:ext cx="1401775" cy="914400"/>
          </a:xfrm>
          <a:prstGeom prst="rect">
            <a:avLst/>
          </a:prstGeom>
          <a:noFill/>
        </p:spPr>
        <p:txBody>
          <a:bodyPr wrap="square" lIns="0" rIns="0" tIns="0" bIns="0" anchor="ctr">
            <a:spAutoFit/>
          </a:bodyPr>
          <a:lstStyle/>
          <a:p>
            <a:pPr algn="l"/>
            <a:r>
              <a:rPr sz="1600" b="1" i="0">
                <a:solidFill>
                  <a:srgbClr val="2E75B6"/>
                </a:solidFill>
                <a:latin typeface="Arial"/>
              </a:rPr>
              <a:t>Atteinte</a:t>
            </a:r>
          </a:p>
        </p:txBody>
      </p:sp>
      <p:cxnSp>
        <p:nvCxnSpPr>
          <p:cNvPr id="26" name="Connector 25"/>
          <p:cNvCxnSpPr/>
          <p:nvPr/>
        </p:nvCxnSpPr>
        <p:spPr>
          <a:xfrm>
            <a:off x="548640" y="5824728"/>
            <a:ext cx="11094415" cy="0"/>
          </a:xfrm>
          <a:prstGeom prst="line">
            <a:avLst/>
          </a:prstGeom>
          <a:ln w="9525">
            <a:solidFill>
              <a:srgbClr val="CBD3DB"/>
            </a:solidFill>
          </a:ln>
        </p:spPr>
      </p:cxnSp>
      <p:sp>
        <p:nvSpPr>
          <p:cNvPr id="27" name="Rectangle 26"/>
          <p:cNvSpPr/>
          <p:nvPr/>
        </p:nvSpPr>
        <p:spPr>
          <a:xfrm>
            <a:off x="548640" y="5623560"/>
            <a:ext cx="11094415" cy="502920"/>
          </a:xfrm>
          <a:prstGeom prst="rect">
            <a:avLst/>
          </a:prstGeom>
          <a:solidFill>
            <a:srgbClr val="EEF2F6"/>
          </a:solidFill>
          <a:ln>
            <a:noFill/>
          </a:ln>
        </p:spPr>
        <p:txBody>
          <a:bodyPr rtlCol="0" anchor="ctr"/>
          <a:lstStyle/>
          <a:p/>
        </p:txBody>
      </p:sp>
      <p:sp>
        <p:nvSpPr>
          <p:cNvPr id="28" name="TextBox 27"/>
          <p:cNvSpPr txBox="1"/>
          <p:nvPr/>
        </p:nvSpPr>
        <p:spPr>
          <a:xfrm>
            <a:off x="777240" y="5623560"/>
            <a:ext cx="10637215" cy="502920"/>
          </a:xfrm>
          <a:prstGeom prst="rect">
            <a:avLst/>
          </a:prstGeom>
          <a:noFill/>
        </p:spPr>
        <p:txBody>
          <a:bodyPr wrap="square" lIns="0" rIns="0" tIns="0" bIns="0" anchor="ctr">
            <a:spAutoFit/>
          </a:bodyPr>
          <a:lstStyle/>
          <a:p>
            <a:pPr algn="l"/>
            <a:r>
              <a:rPr sz="1600" b="1" i="0">
                <a:solidFill>
                  <a:srgbClr val="1F3A5F"/>
                </a:solidFill>
                <a:latin typeface="Arial"/>
              </a:rPr>
              <a:t>Android et iOS : </a:t>
            </a:r>
            <a:r>
              <a:rPr sz="1600" b="0" i="0">
                <a:solidFill>
                  <a:srgbClr val="1B2530"/>
                </a:solidFill>
                <a:latin typeface="Arial"/>
              </a:rPr>
              <a:t>le même pipeline OpenCV tourne sur les deux plateformes, avec le même comportement.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8"/>
                                        </p:tgtEl>
                                        <p:attrNameLst>
                                          <p:attrName>style.visibility</p:attrName>
                                        </p:attrNameLst>
                                      </p:cBhvr>
                                      <p:to>
                                        <p:strVal val="visible"/>
                                      </p:to>
                                    </p:set>
                                    <p:animEffect transition="in" filter="fade">
                                      <p:cBhvr>
                                        <p:cTn id="14" dur="350"/>
                                        <p:tgtEl>
                                          <p:spTgt spid="8"/>
                                        </p:tgtEl>
                                      </p:cBhvr>
                                    </p:animEffect>
                                  </p:childTnLst>
                                </p:cTn>
                              </p:par>
                              <p:par>
                                <p:cTn id="15" presetID="10" presetClass="entr" presetSubtype="0" fill="hold" nodeType="with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350"/>
                                        <p:tgtEl>
                                          <p:spTgt spid="9"/>
                                        </p:tgtEl>
                                      </p:cBhvr>
                                    </p:animEffect>
                                  </p:childTnLst>
                                </p:cTn>
                              </p:par>
                              <p:par>
                                <p:cTn id="18" presetID="10" presetClass="entr" presetSubtype="0" fill="hold" nodeType="withEffect">
                                  <p:stCondLst>
                                    <p:cond delay="0"/>
                                  </p:stCondLst>
                                  <p:childTnLst>
                                    <p:set>
                                      <p:cBhvr>
                                        <p:cTn id="19" dur="1" fill="hold">
                                          <p:stCondLst>
                                            <p:cond delay="0"/>
                                          </p:stCondLst>
                                        </p:cTn>
                                        <p:tgtEl>
                                          <p:spTgt spid="10"/>
                                        </p:tgtEl>
                                        <p:attrNameLst>
                                          <p:attrName>style.visibility</p:attrName>
                                        </p:attrNameLst>
                                      </p:cBhvr>
                                      <p:to>
                                        <p:strVal val="visible"/>
                                      </p:to>
                                    </p:set>
                                    <p:animEffect transition="in" filter="fade">
                                      <p:cBhvr>
                                        <p:cTn id="20" dur="350"/>
                                        <p:tgtEl>
                                          <p:spTgt spid="10"/>
                                        </p:tgtEl>
                                      </p:cBhvr>
                                    </p:animEffect>
                                  </p:childTnLst>
                                </p:cTn>
                              </p:par>
                            </p:childTnLst>
                          </p:cTn>
                        </p:par>
                        <p:par>
                          <p:cTn id="21" fill="hold">
                            <p:stCondLst>
                              <p:cond delay="500"/>
                            </p:stCondLst>
                            <p:childTnLst>
                              <p:par>
                                <p:cTn id="22" presetID="10" presetClass="entr" presetSubtype="0" fill="hold" nodeType="afterEffect">
                                  <p:stCondLst>
                                    <p:cond delay="0"/>
                                  </p:stCondLst>
                                  <p:childTnLst>
                                    <p:set>
                                      <p:cBhvr>
                                        <p:cTn id="23" dur="1" fill="hold">
                                          <p:stCondLst>
                                            <p:cond delay="0"/>
                                          </p:stCondLst>
                                        </p:cTn>
                                        <p:tgtEl>
                                          <p:spTgt spid="26"/>
                                        </p:tgtEl>
                                        <p:attrNameLst>
                                          <p:attrName>style.visibility</p:attrName>
                                        </p:attrNameLst>
                                      </p:cBhvr>
                                      <p:to>
                                        <p:strVal val="visible"/>
                                      </p:to>
                                    </p:set>
                                    <p:animEffect transition="in" filter="fade">
                                      <p:cBhvr>
                                        <p:cTn id="24" dur="350"/>
                                        <p:tgtEl>
                                          <p:spTgt spid="26"/>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400"/>
                                        <p:tgtEl>
                                          <p:spTgt spid="11"/>
                                        </p:tgtEl>
                                      </p:cBhvr>
                                    </p:animEffect>
                                  </p:childTnLst>
                                </p:cTn>
                              </p:par>
                              <p:par>
                                <p:cTn id="30" presetID="10" presetClass="entr" presetSubtype="0" fill="hold"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400"/>
                                        <p:tgtEl>
                                          <p:spTgt spid="12"/>
                                        </p:tgtEl>
                                      </p:cBhvr>
                                    </p:animEffect>
                                  </p:childTnLst>
                                </p:cTn>
                              </p:par>
                              <p:par>
                                <p:cTn id="33" presetID="10" presetClass="entr" presetSubtype="0" fill="hold" nodeType="withEffect">
                                  <p:stCondLst>
                                    <p:cond delay="0"/>
                                  </p:stCondLst>
                                  <p:childTnLst>
                                    <p:set>
                                      <p:cBhvr>
                                        <p:cTn id="34" dur="1" fill="hold">
                                          <p:stCondLst>
                                            <p:cond delay="0"/>
                                          </p:stCondLst>
                                        </p:cTn>
                                        <p:tgtEl>
                                          <p:spTgt spid="13"/>
                                        </p:tgtEl>
                                        <p:attrNameLst>
                                          <p:attrName>style.visibility</p:attrName>
                                        </p:attrNameLst>
                                      </p:cBhvr>
                                      <p:to>
                                        <p:strVal val="visible"/>
                                      </p:to>
                                    </p:set>
                                    <p:animEffect transition="in" filter="fade">
                                      <p:cBhvr>
                                        <p:cTn id="35" dur="400"/>
                                        <p:tgtEl>
                                          <p:spTgt spid="13"/>
                                        </p:tgtEl>
                                      </p:cBhvr>
                                    </p:animEffect>
                                  </p:childTnLst>
                                </p:cTn>
                              </p:par>
                              <p:par>
                                <p:cTn id="36" presetID="10" presetClass="entr" presetSubtype="0" fill="hold" nodeType="withEffect">
                                  <p:stCondLst>
                                    <p:cond delay="0"/>
                                  </p:stCondLst>
                                  <p:childTnLst>
                                    <p:set>
                                      <p:cBhvr>
                                        <p:cTn id="37" dur="1" fill="hold">
                                          <p:stCondLst>
                                            <p:cond delay="0"/>
                                          </p:stCondLst>
                                        </p:cTn>
                                        <p:tgtEl>
                                          <p:spTgt spid="14"/>
                                        </p:tgtEl>
                                        <p:attrNameLst>
                                          <p:attrName>style.visibility</p:attrName>
                                        </p:attrNameLst>
                                      </p:cBhvr>
                                      <p:to>
                                        <p:strVal val="visible"/>
                                      </p:to>
                                    </p:set>
                                    <p:animEffect transition="in" filter="fade">
                                      <p:cBhvr>
                                        <p:cTn id="38" dur="400"/>
                                        <p:tgtEl>
                                          <p:spTgt spid="14"/>
                                        </p:tgtEl>
                                      </p:cBhvr>
                                    </p:animEffect>
                                  </p:childTnLst>
                                </p:cTn>
                              </p:par>
                              <p:par>
                                <p:cTn id="39" presetID="10"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400"/>
                                        <p:tgtEl>
                                          <p:spTgt spid="15"/>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16"/>
                                        </p:tgtEl>
                                        <p:attrNameLst>
                                          <p:attrName>style.visibility</p:attrName>
                                        </p:attrNameLst>
                                      </p:cBhvr>
                                      <p:to>
                                        <p:strVal val="visible"/>
                                      </p:to>
                                    </p:set>
                                    <p:animEffect transition="in" filter="fade">
                                      <p:cBhvr>
                                        <p:cTn id="46" dur="400"/>
                                        <p:tgtEl>
                                          <p:spTgt spid="16"/>
                                        </p:tgtEl>
                                      </p:cBhvr>
                                    </p:animEffect>
                                  </p:childTnLst>
                                </p:cTn>
                              </p:par>
                              <p:par>
                                <p:cTn id="47" presetID="10" presetClass="entr" presetSubtype="0" fill="hold" nodeType="withEffect">
                                  <p:stCondLst>
                                    <p:cond delay="0"/>
                                  </p:stCondLst>
                                  <p:childTnLst>
                                    <p:set>
                                      <p:cBhvr>
                                        <p:cTn id="48" dur="1" fill="hold">
                                          <p:stCondLst>
                                            <p:cond delay="0"/>
                                          </p:stCondLst>
                                        </p:cTn>
                                        <p:tgtEl>
                                          <p:spTgt spid="17"/>
                                        </p:tgtEl>
                                        <p:attrNameLst>
                                          <p:attrName>style.visibility</p:attrName>
                                        </p:attrNameLst>
                                      </p:cBhvr>
                                      <p:to>
                                        <p:strVal val="visible"/>
                                      </p:to>
                                    </p:set>
                                    <p:animEffect transition="in" filter="fade">
                                      <p:cBhvr>
                                        <p:cTn id="49" dur="400"/>
                                        <p:tgtEl>
                                          <p:spTgt spid="17"/>
                                        </p:tgtEl>
                                      </p:cBhvr>
                                    </p:animEffect>
                                  </p:childTnLst>
                                </p:cTn>
                              </p:par>
                              <p:par>
                                <p:cTn id="50" presetID="10" presetClass="entr" presetSubtype="0" fill="hold" nodeType="withEffect">
                                  <p:stCondLst>
                                    <p:cond delay="0"/>
                                  </p:stCondLst>
                                  <p:childTnLst>
                                    <p:set>
                                      <p:cBhvr>
                                        <p:cTn id="51" dur="1" fill="hold">
                                          <p:stCondLst>
                                            <p:cond delay="0"/>
                                          </p:stCondLst>
                                        </p:cTn>
                                        <p:tgtEl>
                                          <p:spTgt spid="18"/>
                                        </p:tgtEl>
                                        <p:attrNameLst>
                                          <p:attrName>style.visibility</p:attrName>
                                        </p:attrNameLst>
                                      </p:cBhvr>
                                      <p:to>
                                        <p:strVal val="visible"/>
                                      </p:to>
                                    </p:set>
                                    <p:animEffect transition="in" filter="fade">
                                      <p:cBhvr>
                                        <p:cTn id="52" dur="400"/>
                                        <p:tgtEl>
                                          <p:spTgt spid="18"/>
                                        </p:tgtEl>
                                      </p:cBhvr>
                                    </p:animEffect>
                                  </p:childTnLst>
                                </p:cTn>
                              </p:par>
                              <p:par>
                                <p:cTn id="53" presetID="10" presetClass="entr" presetSubtype="0" fill="hold" nodeType="withEffect">
                                  <p:stCondLst>
                                    <p:cond delay="0"/>
                                  </p:stCondLst>
                                  <p:childTnLst>
                                    <p:set>
                                      <p:cBhvr>
                                        <p:cTn id="54" dur="1" fill="hold">
                                          <p:stCondLst>
                                            <p:cond delay="0"/>
                                          </p:stCondLst>
                                        </p:cTn>
                                        <p:tgtEl>
                                          <p:spTgt spid="19"/>
                                        </p:tgtEl>
                                        <p:attrNameLst>
                                          <p:attrName>style.visibility</p:attrName>
                                        </p:attrNameLst>
                                      </p:cBhvr>
                                      <p:to>
                                        <p:strVal val="visible"/>
                                      </p:to>
                                    </p:set>
                                    <p:animEffect transition="in" filter="fade">
                                      <p:cBhvr>
                                        <p:cTn id="55" dur="400"/>
                                        <p:tgtEl>
                                          <p:spTgt spid="19"/>
                                        </p:tgtEl>
                                      </p:cBhvr>
                                    </p:animEffect>
                                  </p:childTnLst>
                                </p:cTn>
                              </p:par>
                              <p:par>
                                <p:cTn id="56" presetID="10" presetClass="entr" presetSubtype="0" fill="hold" nodeType="withEffect">
                                  <p:stCondLst>
                                    <p:cond delay="0"/>
                                  </p:stCondLst>
                                  <p:childTnLst>
                                    <p:set>
                                      <p:cBhvr>
                                        <p:cTn id="57" dur="1" fill="hold">
                                          <p:stCondLst>
                                            <p:cond delay="0"/>
                                          </p:stCondLst>
                                        </p:cTn>
                                        <p:tgtEl>
                                          <p:spTgt spid="20"/>
                                        </p:tgtEl>
                                        <p:attrNameLst>
                                          <p:attrName>style.visibility</p:attrName>
                                        </p:attrNameLst>
                                      </p:cBhvr>
                                      <p:to>
                                        <p:strVal val="visible"/>
                                      </p:to>
                                    </p:set>
                                    <p:animEffect transition="in" filter="fade">
                                      <p:cBhvr>
                                        <p:cTn id="58" dur="400"/>
                                        <p:tgtEl>
                                          <p:spTgt spid="2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400"/>
                                        <p:tgtEl>
                                          <p:spTgt spid="21"/>
                                        </p:tgtEl>
                                      </p:cBhvr>
                                    </p:animEffect>
                                  </p:childTnLst>
                                </p:cTn>
                              </p:par>
                              <p:par>
                                <p:cTn id="64" presetID="10" presetClass="entr" presetSubtype="0" fill="hold"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400"/>
                                        <p:tgtEl>
                                          <p:spTgt spid="22"/>
                                        </p:tgtEl>
                                      </p:cBhvr>
                                    </p:animEffect>
                                  </p:childTnLst>
                                </p:cTn>
                              </p:par>
                              <p:par>
                                <p:cTn id="67" presetID="10" presetClass="entr" presetSubtype="0" fill="hold"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400"/>
                                        <p:tgtEl>
                                          <p:spTgt spid="23"/>
                                        </p:tgtEl>
                                      </p:cBhvr>
                                    </p:animEffect>
                                  </p:childTnLst>
                                </p:cTn>
                              </p:par>
                              <p:par>
                                <p:cTn id="70" presetID="10" presetClass="entr" presetSubtype="0" fill="hold"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400"/>
                                        <p:tgtEl>
                                          <p:spTgt spid="24"/>
                                        </p:tgtEl>
                                      </p:cBhvr>
                                    </p:animEffect>
                                  </p:childTnLst>
                                </p:cTn>
                              </p:par>
                              <p:par>
                                <p:cTn id="73" presetID="10" presetClass="entr" presetSubtype="0" fill="hold"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400"/>
                                        <p:tgtEl>
                                          <p:spTgt spid="25"/>
                                        </p:tgtEl>
                                      </p:cBhvr>
                                    </p:animEffect>
                                  </p:childTnLst>
                                </p:cTn>
                              </p:par>
                              <p:par>
                                <p:cTn id="76" presetID="10" presetClass="entr" presetSubtype="0" fill="hold"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400"/>
                                        <p:tgtEl>
                                          <p:spTgt spid="27"/>
                                        </p:tgtEl>
                                      </p:cBhvr>
                                    </p:animEffect>
                                  </p:childTnLst>
                                </p:cTn>
                              </p:par>
                              <p:par>
                                <p:cTn id="79" presetID="10" presetClass="entr" presetSubtype="0" fill="hold"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p:bldP spid="8" grpId="0"/>
      <p:bldP spid="9" grpId="0"/>
      <p:bldP spid="10" grpId="0"/>
      <p:bldP spid="12" grpId="0"/>
      <p:bldP spid="13" grpId="0"/>
      <p:bldP spid="14" grpId="0"/>
      <p:bldP spid="15" grpId="0"/>
      <p:bldP spid="17" grpId="0"/>
      <p:bldP spid="18" grpId="0"/>
      <p:bldP spid="19" grpId="0"/>
      <p:bldP spid="20" grpId="0"/>
      <p:bldP spid="22" grpId="0"/>
      <p:bldP spid="23" grpId="0"/>
      <p:bldP spid="24" grpId="0"/>
      <p:bldP spid="25" grpId="0"/>
      <p:bldP spid="27" grpId="0"/>
      <p:bldP spid="28" grpId="0"/>
    </p:bld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14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Quatre pistes pour amener le module vers la production</a:t>
            </a:r>
          </a:p>
        </p:txBody>
      </p:sp>
      <p:sp>
        <p:nvSpPr>
          <p:cNvPr id="7" name="Rectangle 6"/>
          <p:cNvSpPr/>
          <p:nvPr/>
        </p:nvSpPr>
        <p:spPr>
          <a:xfrm>
            <a:off x="548640" y="2075688"/>
            <a:ext cx="128016" cy="512064"/>
          </a:xfrm>
          <a:prstGeom prst="rect">
            <a:avLst/>
          </a:prstGeom>
          <a:solidFill>
            <a:srgbClr val="2E75B6"/>
          </a:solidFill>
          <a:ln>
            <a:noFill/>
          </a:ln>
        </p:spPr>
        <p:txBody>
          <a:bodyPr rtlCol="0" anchor="ctr"/>
          <a:lstStyle/>
          <a:p/>
        </p:txBody>
      </p:sp>
      <p:sp>
        <p:nvSpPr>
          <p:cNvPr id="8" name="TextBox 7"/>
          <p:cNvSpPr txBox="1"/>
          <p:nvPr/>
        </p:nvSpPr>
        <p:spPr>
          <a:xfrm>
            <a:off x="914400" y="1965960"/>
            <a:ext cx="2194560" cy="731520"/>
          </a:xfrm>
          <a:prstGeom prst="rect">
            <a:avLst/>
          </a:prstGeom>
          <a:noFill/>
        </p:spPr>
        <p:txBody>
          <a:bodyPr wrap="square" lIns="0" rIns="0" tIns="0" bIns="0" anchor="ctr">
            <a:spAutoFit/>
          </a:bodyPr>
          <a:lstStyle/>
          <a:p>
            <a:pPr algn="l"/>
            <a:r>
              <a:rPr sz="2000" b="1" i="0">
                <a:solidFill>
                  <a:srgbClr val="1F3A5F"/>
                </a:solidFill>
                <a:latin typeface="Arial"/>
              </a:rPr>
              <a:t>Jeu d'images</a:t>
            </a:r>
          </a:p>
        </p:txBody>
      </p:sp>
      <p:sp>
        <p:nvSpPr>
          <p:cNvPr id="9" name="TextBox 8"/>
          <p:cNvSpPr txBox="1"/>
          <p:nvPr/>
        </p:nvSpPr>
        <p:spPr>
          <a:xfrm>
            <a:off x="3246120" y="1965960"/>
            <a:ext cx="8396935" cy="731520"/>
          </a:xfrm>
          <a:prstGeom prst="rect">
            <a:avLst/>
          </a:prstGeom>
          <a:noFill/>
        </p:spPr>
        <p:txBody>
          <a:bodyPr wrap="square" lIns="0" rIns="0" tIns="0" bIns="0" anchor="ctr">
            <a:spAutoFit/>
          </a:bodyPr>
          <a:lstStyle/>
          <a:p>
            <a:pPr algn="l"/>
            <a:r>
              <a:rPr sz="2000" b="0" i="0">
                <a:solidFill>
                  <a:srgbClr val="1B2530"/>
                </a:solidFill>
                <a:latin typeface="Arial"/>
              </a:rPr>
              <a:t>constituer un jeu de CIN plus large pour affiner les seuils et, à terme, ajouter un modèle appris.</a:t>
            </a:r>
          </a:p>
        </p:txBody>
      </p:sp>
      <p:cxnSp>
        <p:nvCxnSpPr>
          <p:cNvPr id="10" name="Connector 9"/>
          <p:cNvCxnSpPr/>
          <p:nvPr/>
        </p:nvCxnSpPr>
        <p:spPr>
          <a:xfrm>
            <a:off x="914400" y="2807208"/>
            <a:ext cx="10728655" cy="0"/>
          </a:xfrm>
          <a:prstGeom prst="line">
            <a:avLst/>
          </a:prstGeom>
          <a:ln w="6350">
            <a:solidFill>
              <a:srgbClr val="CBD3DB"/>
            </a:solidFill>
          </a:ln>
        </p:spPr>
      </p:cxnSp>
      <p:sp>
        <p:nvSpPr>
          <p:cNvPr id="11" name="Rectangle 10"/>
          <p:cNvSpPr/>
          <p:nvPr/>
        </p:nvSpPr>
        <p:spPr>
          <a:xfrm>
            <a:off x="548640" y="2990088"/>
            <a:ext cx="128016" cy="512064"/>
          </a:xfrm>
          <a:prstGeom prst="rect">
            <a:avLst/>
          </a:prstGeom>
          <a:solidFill>
            <a:srgbClr val="2E75B6"/>
          </a:solidFill>
          <a:ln>
            <a:noFill/>
          </a:ln>
        </p:spPr>
        <p:txBody>
          <a:bodyPr rtlCol="0" anchor="ctr"/>
          <a:lstStyle/>
          <a:p/>
        </p:txBody>
      </p:sp>
      <p:sp>
        <p:nvSpPr>
          <p:cNvPr id="12" name="TextBox 11"/>
          <p:cNvSpPr txBox="1"/>
          <p:nvPr/>
        </p:nvSpPr>
        <p:spPr>
          <a:xfrm>
            <a:off x="914400" y="2880360"/>
            <a:ext cx="2194560" cy="731520"/>
          </a:xfrm>
          <a:prstGeom prst="rect">
            <a:avLst/>
          </a:prstGeom>
          <a:noFill/>
        </p:spPr>
        <p:txBody>
          <a:bodyPr wrap="square" lIns="0" rIns="0" tIns="0" bIns="0" anchor="ctr">
            <a:spAutoFit/>
          </a:bodyPr>
          <a:lstStyle/>
          <a:p>
            <a:pPr algn="l"/>
            <a:r>
              <a:rPr sz="2000" b="1" i="0">
                <a:solidFill>
                  <a:srgbClr val="1F3A5F"/>
                </a:solidFill>
                <a:latin typeface="Arial"/>
              </a:rPr>
              <a:t>Tests réels</a:t>
            </a:r>
          </a:p>
        </p:txBody>
      </p:sp>
      <p:sp>
        <p:nvSpPr>
          <p:cNvPr id="13" name="TextBox 12"/>
          <p:cNvSpPr txBox="1"/>
          <p:nvPr/>
        </p:nvSpPr>
        <p:spPr>
          <a:xfrm>
            <a:off x="3246120" y="2880360"/>
            <a:ext cx="8396935" cy="731520"/>
          </a:xfrm>
          <a:prstGeom prst="rect">
            <a:avLst/>
          </a:prstGeom>
          <a:noFill/>
        </p:spPr>
        <p:txBody>
          <a:bodyPr wrap="square" lIns="0" rIns="0" tIns="0" bIns="0" anchor="ctr">
            <a:spAutoFit/>
          </a:bodyPr>
          <a:lstStyle/>
          <a:p>
            <a:pPr algn="l"/>
            <a:r>
              <a:rPr sz="2000" b="0" i="0">
                <a:solidFill>
                  <a:srgbClr val="1B2530"/>
                </a:solidFill>
                <a:latin typeface="Arial"/>
              </a:rPr>
              <a:t>automatiser le palier D avec des images de référence (visage, code-barres, empreinte, ligne).</a:t>
            </a:r>
          </a:p>
        </p:txBody>
      </p:sp>
      <p:cxnSp>
        <p:nvCxnSpPr>
          <p:cNvPr id="14" name="Connector 13"/>
          <p:cNvCxnSpPr/>
          <p:nvPr/>
        </p:nvCxnSpPr>
        <p:spPr>
          <a:xfrm>
            <a:off x="914400" y="3721608"/>
            <a:ext cx="10728655" cy="0"/>
          </a:xfrm>
          <a:prstGeom prst="line">
            <a:avLst/>
          </a:prstGeom>
          <a:ln w="6350">
            <a:solidFill>
              <a:srgbClr val="CBD3DB"/>
            </a:solidFill>
          </a:ln>
        </p:spPr>
      </p:cxnSp>
      <p:sp>
        <p:nvSpPr>
          <p:cNvPr id="15" name="Rectangle 14"/>
          <p:cNvSpPr/>
          <p:nvPr/>
        </p:nvSpPr>
        <p:spPr>
          <a:xfrm>
            <a:off x="548640" y="3904488"/>
            <a:ext cx="128016" cy="512064"/>
          </a:xfrm>
          <a:prstGeom prst="rect">
            <a:avLst/>
          </a:prstGeom>
          <a:solidFill>
            <a:srgbClr val="2E75B6"/>
          </a:solidFill>
          <a:ln>
            <a:noFill/>
          </a:ln>
        </p:spPr>
        <p:txBody>
          <a:bodyPr rtlCol="0" anchor="ctr"/>
          <a:lstStyle/>
          <a:p/>
        </p:txBody>
      </p:sp>
      <p:sp>
        <p:nvSpPr>
          <p:cNvPr id="16" name="TextBox 15"/>
          <p:cNvSpPr txBox="1"/>
          <p:nvPr/>
        </p:nvSpPr>
        <p:spPr>
          <a:xfrm>
            <a:off x="914400" y="3794760"/>
            <a:ext cx="2194560" cy="731520"/>
          </a:xfrm>
          <a:prstGeom prst="rect">
            <a:avLst/>
          </a:prstGeom>
          <a:noFill/>
        </p:spPr>
        <p:txBody>
          <a:bodyPr wrap="square" lIns="0" rIns="0" tIns="0" bIns="0" anchor="ctr">
            <a:spAutoFit/>
          </a:bodyPr>
          <a:lstStyle/>
          <a:p>
            <a:pPr algn="l"/>
            <a:r>
              <a:rPr sz="2000" b="1" i="0">
                <a:solidFill>
                  <a:srgbClr val="1F3A5F"/>
                </a:solidFill>
                <a:latin typeface="Arial"/>
              </a:rPr>
              <a:t>Timeout</a:t>
            </a:r>
          </a:p>
        </p:txBody>
      </p:sp>
      <p:sp>
        <p:nvSpPr>
          <p:cNvPr id="17" name="TextBox 16"/>
          <p:cNvSpPr txBox="1"/>
          <p:nvPr/>
        </p:nvSpPr>
        <p:spPr>
          <a:xfrm>
            <a:off x="3246120" y="3794760"/>
            <a:ext cx="8396935" cy="731520"/>
          </a:xfrm>
          <a:prstGeom prst="rect">
            <a:avLst/>
          </a:prstGeom>
          <a:noFill/>
        </p:spPr>
        <p:txBody>
          <a:bodyPr wrap="square" lIns="0" rIns="0" tIns="0" bIns="0" anchor="ctr">
            <a:spAutoFit/>
          </a:bodyPr>
          <a:lstStyle/>
          <a:p>
            <a:pPr algn="l"/>
            <a:r>
              <a:rPr sz="2000" b="0" i="0">
                <a:solidFill>
                  <a:srgbClr val="1B2530"/>
                </a:solidFill>
                <a:latin typeface="Arial"/>
              </a:rPr>
              <a:t>prévenir l'utilisateur quand aucune carte n'est détectée après un certain délai.</a:t>
            </a:r>
          </a:p>
        </p:txBody>
      </p:sp>
      <p:cxnSp>
        <p:nvCxnSpPr>
          <p:cNvPr id="18" name="Connector 17"/>
          <p:cNvCxnSpPr/>
          <p:nvPr/>
        </p:nvCxnSpPr>
        <p:spPr>
          <a:xfrm>
            <a:off x="914400" y="4636008"/>
            <a:ext cx="10728655" cy="0"/>
          </a:xfrm>
          <a:prstGeom prst="line">
            <a:avLst/>
          </a:prstGeom>
          <a:ln w="6350">
            <a:solidFill>
              <a:srgbClr val="CBD3DB"/>
            </a:solidFill>
          </a:ln>
        </p:spPr>
      </p:cxnSp>
      <p:sp>
        <p:nvSpPr>
          <p:cNvPr id="19" name="Rectangle 18"/>
          <p:cNvSpPr/>
          <p:nvPr/>
        </p:nvSpPr>
        <p:spPr>
          <a:xfrm>
            <a:off x="548640" y="4818888"/>
            <a:ext cx="128016" cy="512064"/>
          </a:xfrm>
          <a:prstGeom prst="rect">
            <a:avLst/>
          </a:prstGeom>
          <a:solidFill>
            <a:srgbClr val="2E75B6"/>
          </a:solidFill>
          <a:ln>
            <a:noFill/>
          </a:ln>
        </p:spPr>
        <p:txBody>
          <a:bodyPr rtlCol="0" anchor="ctr"/>
          <a:lstStyle/>
          <a:p/>
        </p:txBody>
      </p:sp>
      <p:sp>
        <p:nvSpPr>
          <p:cNvPr id="20" name="TextBox 19"/>
          <p:cNvSpPr txBox="1"/>
          <p:nvPr/>
        </p:nvSpPr>
        <p:spPr>
          <a:xfrm>
            <a:off x="914400" y="4709160"/>
            <a:ext cx="2194560" cy="731520"/>
          </a:xfrm>
          <a:prstGeom prst="rect">
            <a:avLst/>
          </a:prstGeom>
          <a:noFill/>
        </p:spPr>
        <p:txBody>
          <a:bodyPr wrap="square" lIns="0" rIns="0" tIns="0" bIns="0" anchor="ctr">
            <a:spAutoFit/>
          </a:bodyPr>
          <a:lstStyle/>
          <a:p>
            <a:pPr algn="l"/>
            <a:r>
              <a:rPr sz="2000" b="1" i="0">
                <a:solidFill>
                  <a:srgbClr val="1F3A5F"/>
                </a:solidFill>
                <a:latin typeface="Arial"/>
              </a:rPr>
              <a:t>Anti-fraude carte</a:t>
            </a:r>
          </a:p>
        </p:txBody>
      </p:sp>
      <p:sp>
        <p:nvSpPr>
          <p:cNvPr id="21" name="TextBox 20"/>
          <p:cNvSpPr txBox="1"/>
          <p:nvPr/>
        </p:nvSpPr>
        <p:spPr>
          <a:xfrm>
            <a:off x="3246120" y="4709160"/>
            <a:ext cx="8396935" cy="731520"/>
          </a:xfrm>
          <a:prstGeom prst="rect">
            <a:avLst/>
          </a:prstGeom>
          <a:noFill/>
        </p:spPr>
        <p:txBody>
          <a:bodyPr wrap="square" lIns="0" rIns="0" tIns="0" bIns="0" anchor="ctr">
            <a:spAutoFit/>
          </a:bodyPr>
          <a:lstStyle/>
          <a:p>
            <a:pPr algn="l"/>
            <a:r>
              <a:rPr sz="2000" b="0" i="0">
                <a:solidFill>
                  <a:srgbClr val="1B2530"/>
                </a:solidFill>
                <a:latin typeface="Arial"/>
              </a:rPr>
              <a:t>analyser la texture pour repérer une carte affichée sur un écran, en amont de la vivacité d'Avatar-ID.</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350"/>
                                        <p:tgtEl>
                                          <p:spTgt spid="8"/>
                                        </p:tgtEl>
                                      </p:cBhvr>
                                    </p:animEffect>
                                  </p:childTnLst>
                                </p:cTn>
                              </p:par>
                              <p:par>
                                <p:cTn id="12" presetID="10"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childTnLst>
                                </p:cTn>
                              </p:par>
                              <p:par>
                                <p:cTn id="15" presetID="10"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350"/>
                                        <p:tgtEl>
                                          <p:spTgt spid="7"/>
                                        </p:tgtEl>
                                      </p:cBhvr>
                                    </p:animEffect>
                                  </p:childTnLst>
                                </p:cTn>
                              </p:par>
                            </p:childTnLst>
                          </p:cTn>
                        </p:par>
                        <p:par>
                          <p:cTn id="18" fill="hold">
                            <p:stCondLst>
                              <p:cond delay="500"/>
                            </p:stCondLst>
                            <p:childTnLst>
                              <p:par>
                                <p:cTn id="19" presetID="10" presetClass="entr" presetSubtype="0" fill="hold" nodeType="after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350"/>
                                        <p:tgtEl>
                                          <p:spTgt spid="10"/>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350"/>
                                        <p:tgtEl>
                                          <p:spTgt spid="12"/>
                                        </p:tgtEl>
                                      </p:cBhvr>
                                    </p:animEffect>
                                  </p:childTnLst>
                                </p:cTn>
                              </p:par>
                              <p:par>
                                <p:cTn id="25" presetID="10" presetClass="entr" presetSubtype="0" fill="hold" nodeType="withEffect">
                                  <p:stCondLst>
                                    <p:cond delay="0"/>
                                  </p:stCondLst>
                                  <p:childTnLst>
                                    <p:set>
                                      <p:cBhvr>
                                        <p:cTn id="26" dur="1" fill="hold">
                                          <p:stCondLst>
                                            <p:cond delay="0"/>
                                          </p:stCondLst>
                                        </p:cTn>
                                        <p:tgtEl>
                                          <p:spTgt spid="13"/>
                                        </p:tgtEl>
                                        <p:attrNameLst>
                                          <p:attrName>style.visibility</p:attrName>
                                        </p:attrNameLst>
                                      </p:cBhvr>
                                      <p:to>
                                        <p:strVal val="visible"/>
                                      </p:to>
                                    </p:set>
                                    <p:animEffect transition="in" filter="fade">
                                      <p:cBhvr>
                                        <p:cTn id="27" dur="350"/>
                                        <p:tgtEl>
                                          <p:spTgt spid="13"/>
                                        </p:tgtEl>
                                      </p:cBhvr>
                                    </p:animEffect>
                                  </p:childTnLst>
                                </p:cTn>
                              </p:par>
                              <p:par>
                                <p:cTn id="28" presetID="10" presetClass="entr" presetSubtype="0" fill="hold"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350"/>
                                        <p:tgtEl>
                                          <p:spTgt spid="11"/>
                                        </p:tgtEl>
                                      </p:cBhvr>
                                    </p:animEffect>
                                  </p:childTnLst>
                                </p:cTn>
                              </p:par>
                            </p:childTnLst>
                          </p:cTn>
                        </p:par>
                        <p:par>
                          <p:cTn id="31" fill="hold">
                            <p:stCondLst>
                              <p:cond delay="750"/>
                            </p:stCondLst>
                            <p:childTnLst>
                              <p:par>
                                <p:cTn id="32" presetID="10" presetClass="entr" presetSubtype="0" fill="hold" nodeType="after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350"/>
                                        <p:tgtEl>
                                          <p:spTgt spid="14"/>
                                        </p:tgtEl>
                                      </p:cBhvr>
                                    </p:animEffect>
                                  </p:childTnLst>
                                </p:cTn>
                              </p:par>
                              <p:par>
                                <p:cTn id="35" presetID="10" presetClass="entr" presetSubtype="0" fill="hold" nodeType="withEffect">
                                  <p:stCondLst>
                                    <p:cond delay="0"/>
                                  </p:stCondLst>
                                  <p:childTnLst>
                                    <p:set>
                                      <p:cBhvr>
                                        <p:cTn id="36" dur="1" fill="hold">
                                          <p:stCondLst>
                                            <p:cond delay="0"/>
                                          </p:stCondLst>
                                        </p:cTn>
                                        <p:tgtEl>
                                          <p:spTgt spid="16"/>
                                        </p:tgtEl>
                                        <p:attrNameLst>
                                          <p:attrName>style.visibility</p:attrName>
                                        </p:attrNameLst>
                                      </p:cBhvr>
                                      <p:to>
                                        <p:strVal val="visible"/>
                                      </p:to>
                                    </p:set>
                                    <p:animEffect transition="in" filter="fade">
                                      <p:cBhvr>
                                        <p:cTn id="37" dur="350"/>
                                        <p:tgtEl>
                                          <p:spTgt spid="16"/>
                                        </p:tgtEl>
                                      </p:cBhvr>
                                    </p:animEffect>
                                  </p:childTnLst>
                                </p:cTn>
                              </p:par>
                              <p:par>
                                <p:cTn id="38" presetID="10" presetClass="entr" presetSubtype="0" fill="hold" nodeType="withEffect">
                                  <p:stCondLst>
                                    <p:cond delay="0"/>
                                  </p:stCondLst>
                                  <p:childTnLst>
                                    <p:set>
                                      <p:cBhvr>
                                        <p:cTn id="39" dur="1" fill="hold">
                                          <p:stCondLst>
                                            <p:cond delay="0"/>
                                          </p:stCondLst>
                                        </p:cTn>
                                        <p:tgtEl>
                                          <p:spTgt spid="17"/>
                                        </p:tgtEl>
                                        <p:attrNameLst>
                                          <p:attrName>style.visibility</p:attrName>
                                        </p:attrNameLst>
                                      </p:cBhvr>
                                      <p:to>
                                        <p:strVal val="visible"/>
                                      </p:to>
                                    </p:set>
                                    <p:animEffect transition="in" filter="fade">
                                      <p:cBhvr>
                                        <p:cTn id="40" dur="350"/>
                                        <p:tgtEl>
                                          <p:spTgt spid="17"/>
                                        </p:tgtEl>
                                      </p:cBhvr>
                                    </p:animEffect>
                                  </p:childTnLst>
                                </p:cTn>
                              </p:par>
                              <p:par>
                                <p:cTn id="41" presetID="10" presetClass="entr" presetSubtype="0" fill="hold" nodeType="withEffect">
                                  <p:stCondLst>
                                    <p:cond delay="0"/>
                                  </p:stCondLst>
                                  <p:childTnLst>
                                    <p:set>
                                      <p:cBhvr>
                                        <p:cTn id="42" dur="1" fill="hold">
                                          <p:stCondLst>
                                            <p:cond delay="0"/>
                                          </p:stCondLst>
                                        </p:cTn>
                                        <p:tgtEl>
                                          <p:spTgt spid="15"/>
                                        </p:tgtEl>
                                        <p:attrNameLst>
                                          <p:attrName>style.visibility</p:attrName>
                                        </p:attrNameLst>
                                      </p:cBhvr>
                                      <p:to>
                                        <p:strVal val="visible"/>
                                      </p:to>
                                    </p:set>
                                    <p:animEffect transition="in" filter="fade">
                                      <p:cBhvr>
                                        <p:cTn id="43" dur="350"/>
                                        <p:tgtEl>
                                          <p:spTgt spid="15"/>
                                        </p:tgtEl>
                                      </p:cBhvr>
                                    </p:animEffect>
                                  </p:childTnLst>
                                </p:cTn>
                              </p:par>
                            </p:childTnLst>
                          </p:cTn>
                        </p:par>
                        <p:par>
                          <p:cTn id="44" fill="hold">
                            <p:stCondLst>
                              <p:cond delay="1000"/>
                            </p:stCondLst>
                            <p:childTnLst>
                              <p:par>
                                <p:cTn id="45" presetID="10" presetClass="entr" presetSubtype="0" fill="hold" nodeType="after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fade">
                                      <p:cBhvr>
                                        <p:cTn id="47" dur="350"/>
                                        <p:tgtEl>
                                          <p:spTgt spid="18"/>
                                        </p:tgtEl>
                                      </p:cBhvr>
                                    </p:animEffect>
                                  </p:childTnLst>
                                </p:cTn>
                              </p:par>
                              <p:par>
                                <p:cTn id="48" presetID="10" presetClass="entr" presetSubtype="0" fill="hold" nodeType="withEffect">
                                  <p:stCondLst>
                                    <p:cond delay="0"/>
                                  </p:stCondLst>
                                  <p:childTnLst>
                                    <p:set>
                                      <p:cBhvr>
                                        <p:cTn id="49" dur="1" fill="hold">
                                          <p:stCondLst>
                                            <p:cond delay="0"/>
                                          </p:stCondLst>
                                        </p:cTn>
                                        <p:tgtEl>
                                          <p:spTgt spid="20"/>
                                        </p:tgtEl>
                                        <p:attrNameLst>
                                          <p:attrName>style.visibility</p:attrName>
                                        </p:attrNameLst>
                                      </p:cBhvr>
                                      <p:to>
                                        <p:strVal val="visible"/>
                                      </p:to>
                                    </p:set>
                                    <p:animEffect transition="in" filter="fade">
                                      <p:cBhvr>
                                        <p:cTn id="50" dur="350"/>
                                        <p:tgtEl>
                                          <p:spTgt spid="20"/>
                                        </p:tgtEl>
                                      </p:cBhvr>
                                    </p:animEffect>
                                  </p:childTnLst>
                                </p:cTn>
                              </p:par>
                              <p:par>
                                <p:cTn id="51" presetID="10" presetClass="entr" presetSubtype="0" fill="hold" nodeType="withEffect">
                                  <p:stCondLst>
                                    <p:cond delay="0"/>
                                  </p:stCondLst>
                                  <p:childTnLst>
                                    <p:set>
                                      <p:cBhvr>
                                        <p:cTn id="52" dur="1" fill="hold">
                                          <p:stCondLst>
                                            <p:cond delay="0"/>
                                          </p:stCondLst>
                                        </p:cTn>
                                        <p:tgtEl>
                                          <p:spTgt spid="21"/>
                                        </p:tgtEl>
                                        <p:attrNameLst>
                                          <p:attrName>style.visibility</p:attrName>
                                        </p:attrNameLst>
                                      </p:cBhvr>
                                      <p:to>
                                        <p:strVal val="visible"/>
                                      </p:to>
                                    </p:set>
                                    <p:animEffect transition="in" filter="fade">
                                      <p:cBhvr>
                                        <p:cTn id="53" dur="350"/>
                                        <p:tgtEl>
                                          <p:spTgt spid="21"/>
                                        </p:tgtEl>
                                      </p:cBhvr>
                                    </p:animEffect>
                                  </p:childTnLst>
                                </p:cTn>
                              </p:par>
                              <p:par>
                                <p:cTn id="54" presetID="10" presetClass="entr" presetSubtype="0" fill="hold"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35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9" grpId="0"/>
      <p:bldP spid="7" grpId="0"/>
      <p:bldP spid="12" grpId="0"/>
      <p:bldP spid="13" grpId="0"/>
      <p:bldP spid="11" grpId="0"/>
      <p:bldP spid="16" grpId="0"/>
      <p:bldP spid="17" grpId="0"/>
      <p:bldP spid="15" grpId="0"/>
      <p:bldP spid="20" grpId="0"/>
      <p:bldP spid="21" grpId="0"/>
      <p:bldP spid="19" grpId="0"/>
    </p:bld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973775" y="429768"/>
            <a:ext cx="5669280" cy="274320"/>
          </a:xfrm>
          <a:prstGeom prst="rect">
            <a:avLst/>
          </a:prstGeom>
          <a:noFill/>
        </p:spPr>
        <p:txBody>
          <a:bodyPr wrap="square" lIns="0" rIns="0" tIns="0" bIns="0" anchor="t">
            <a:spAutoFit/>
          </a:bodyPr>
          <a:lstStyle/>
          <a:p>
            <a:pPr algn="r"/>
            <a:r>
              <a:rPr sz="1100" b="0" i="0">
                <a:solidFill>
                  <a:srgbClr val="5B6B7A"/>
                </a:solidFill>
                <a:latin typeface="Arial"/>
              </a:rPr>
              <a:t>CONTEXTE</a:t>
            </a:r>
            <a:r>
              <a:rPr sz="1100" b="0" i="0">
                <a:solidFill>
                  <a:srgbClr val="CBD3DB"/>
                </a:solidFill>
                <a:latin typeface="Arial"/>
              </a:rPr>
              <a:t>   ·   </a:t>
            </a:r>
            <a:r>
              <a:rPr sz="1100" b="0" i="0">
                <a:solidFill>
                  <a:srgbClr val="5B6B7A"/>
                </a:solidFill>
                <a:latin typeface="Arial"/>
              </a:rPr>
              <a:t>CONCEPTION</a:t>
            </a:r>
            <a:r>
              <a:rPr sz="1100" b="0" i="0">
                <a:solidFill>
                  <a:srgbClr val="CBD3DB"/>
                </a:solidFill>
                <a:latin typeface="Arial"/>
              </a:rPr>
              <a:t>   ·   </a:t>
            </a:r>
            <a:r>
              <a:rPr sz="1100" b="0" i="0">
                <a:solidFill>
                  <a:srgbClr val="5B6B7A"/>
                </a:solidFill>
                <a:latin typeface="Arial"/>
              </a:rPr>
              <a:t>RÉSULTATS</a:t>
            </a:r>
            <a:r>
              <a:rPr sz="1100" b="0" i="0">
                <a:solidFill>
                  <a:srgbClr val="CBD3DB"/>
                </a:solidFill>
                <a:latin typeface="Arial"/>
              </a:rPr>
              <a:t>   ·   </a:t>
            </a:r>
            <a:r>
              <a:rPr sz="1100" b="1" i="0">
                <a:solidFill>
                  <a:srgbClr val="2E75B6"/>
                </a:solidFill>
                <a:latin typeface="Arial"/>
              </a:rPr>
              <a:t>BILAN</a:t>
            </a:r>
          </a:p>
        </p:txBody>
      </p:sp>
      <p:cxnSp>
        <p:nvCxnSpPr>
          <p:cNvPr id="3" name="Connector 2"/>
          <p:cNvCxnSpPr/>
          <p:nvPr/>
        </p:nvCxnSpPr>
        <p:spPr>
          <a:xfrm>
            <a:off x="548640" y="6382512"/>
            <a:ext cx="11094415" cy="0"/>
          </a:xfrm>
          <a:prstGeom prst="line">
            <a:avLst/>
          </a:prstGeom>
          <a:ln w="9525">
            <a:solidFill>
              <a:srgbClr val="CBD3DB"/>
            </a:solidFill>
          </a:ln>
        </p:spPr>
      </p:cxnSp>
      <p:sp>
        <p:nvSpPr>
          <p:cNvPr id="4" name="TextBox 3"/>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5" name="TextBox 4"/>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15 / 16</a:t>
            </a:r>
          </a:p>
        </p:txBody>
      </p:sp>
      <p:sp>
        <p:nvSpPr>
          <p:cNvPr id="6"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Une capture recto/verso autonome, sur Android et iOS, livrée en six semaines</a:t>
            </a:r>
          </a:p>
        </p:txBody>
      </p:sp>
      <p:cxnSp>
        <p:nvCxnSpPr>
          <p:cNvPr id="7" name="Connector 6"/>
          <p:cNvCxnSpPr/>
          <p:nvPr/>
        </p:nvCxnSpPr>
        <p:spPr>
          <a:xfrm>
            <a:off x="548640" y="1965960"/>
            <a:ext cx="3393338" cy="0"/>
          </a:xfrm>
          <a:prstGeom prst="line">
            <a:avLst/>
          </a:prstGeom>
          <a:ln w="38100">
            <a:solidFill>
              <a:srgbClr val="1F3A5F"/>
            </a:solidFill>
          </a:ln>
        </p:spPr>
      </p:cxnSp>
      <p:sp>
        <p:nvSpPr>
          <p:cNvPr id="8" name="TextBox 7"/>
          <p:cNvSpPr txBox="1"/>
          <p:nvPr/>
        </p:nvSpPr>
        <p:spPr>
          <a:xfrm>
            <a:off x="548640"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LIVRÉ</a:t>
            </a:r>
          </a:p>
        </p:txBody>
      </p:sp>
      <p:sp>
        <p:nvSpPr>
          <p:cNvPr id="9" name="TextBox 8"/>
          <p:cNvSpPr txBox="1"/>
          <p:nvPr/>
        </p:nvSpPr>
        <p:spPr>
          <a:xfrm>
            <a:off x="548640"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Détection : 4 passes et un score</a:t>
            </a:r>
          </a:p>
          <a:p>
            <a:pPr algn="l">
              <a:spcAft>
                <a:spcPts val="1000"/>
              </a:spcAft>
            </a:pPr>
            <a:r>
              <a:rPr sz="1800" b="0" i="0">
                <a:solidFill>
                  <a:srgbClr val="1B2530"/>
                </a:solidFill>
                <a:latin typeface="Arial"/>
              </a:rPr>
              <a:t>Autocapture : 4 contrôles, 2 frames</a:t>
            </a:r>
          </a:p>
          <a:p>
            <a:pPr algn="l">
              <a:spcAft>
                <a:spcPts val="1000"/>
              </a:spcAft>
            </a:pPr>
            <a:r>
              <a:rPr sz="1800" b="0" i="0">
                <a:solidFill>
                  <a:srgbClr val="1B2530"/>
                </a:solidFill>
                <a:latin typeface="Arial"/>
              </a:rPr>
              <a:t>Recto/verso et anti-doublon</a:t>
            </a:r>
          </a:p>
          <a:p>
            <a:pPr algn="l">
              <a:spcAft>
                <a:spcPts val="1000"/>
              </a:spcAft>
            </a:pPr>
            <a:r>
              <a:rPr sz="1800" b="0" i="0">
                <a:solidFill>
                  <a:srgbClr val="1B2530"/>
                </a:solidFill>
                <a:latin typeface="Arial"/>
              </a:rPr>
              <a:t>Vérification, page A4, export, historique</a:t>
            </a:r>
          </a:p>
        </p:txBody>
      </p:sp>
      <p:cxnSp>
        <p:nvCxnSpPr>
          <p:cNvPr id="10" name="Connector 9"/>
          <p:cNvCxnSpPr/>
          <p:nvPr/>
        </p:nvCxnSpPr>
        <p:spPr>
          <a:xfrm>
            <a:off x="4399178" y="1965960"/>
            <a:ext cx="3393338" cy="0"/>
          </a:xfrm>
          <a:prstGeom prst="line">
            <a:avLst/>
          </a:prstGeom>
          <a:ln w="38100">
            <a:solidFill>
              <a:srgbClr val="1F3A5F"/>
            </a:solidFill>
          </a:ln>
        </p:spPr>
      </p:cxnSp>
      <p:sp>
        <p:nvSpPr>
          <p:cNvPr id="11" name="TextBox 10"/>
          <p:cNvSpPr txBox="1"/>
          <p:nvPr/>
        </p:nvSpPr>
        <p:spPr>
          <a:xfrm>
            <a:off x="4399178" y="2103120"/>
            <a:ext cx="3393338" cy="365760"/>
          </a:xfrm>
          <a:prstGeom prst="rect">
            <a:avLst/>
          </a:prstGeom>
          <a:noFill/>
        </p:spPr>
        <p:txBody>
          <a:bodyPr wrap="square" lIns="0" rIns="0" tIns="0" bIns="0" anchor="t">
            <a:spAutoFit/>
          </a:bodyPr>
          <a:lstStyle/>
          <a:p>
            <a:pPr algn="l"/>
            <a:r>
              <a:rPr sz="1400" b="1" i="0">
                <a:solidFill>
                  <a:srgbClr val="1F3A5F"/>
                </a:solidFill>
                <a:latin typeface="Arial"/>
              </a:rPr>
              <a:t>MESURÉ</a:t>
            </a:r>
          </a:p>
        </p:txBody>
      </p:sp>
      <p:sp>
        <p:nvSpPr>
          <p:cNvPr id="12" name="TextBox 11"/>
          <p:cNvSpPr txBox="1"/>
          <p:nvPr/>
        </p:nvSpPr>
        <p:spPr>
          <a:xfrm>
            <a:off x="4399178"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92–100 ms par image</a:t>
            </a:r>
          </a:p>
          <a:p>
            <a:pPr algn="l">
              <a:spcAft>
                <a:spcPts val="1000"/>
              </a:spcAft>
            </a:pPr>
            <a:r>
              <a:rPr sz="1800" b="0" i="0">
                <a:solidFill>
                  <a:srgbClr val="1B2530"/>
                </a:solidFill>
                <a:latin typeface="Arial"/>
              </a:rPr>
              <a:t>92 % de recto/verso reconnus</a:t>
            </a:r>
          </a:p>
          <a:p>
            <a:pPr algn="l">
              <a:spcAft>
                <a:spcPts val="1000"/>
              </a:spcAft>
            </a:pPr>
            <a:r>
              <a:rPr sz="1800" b="0" i="0">
                <a:solidFill>
                  <a:srgbClr val="1B2530"/>
                </a:solidFill>
                <a:latin typeface="Arial"/>
              </a:rPr>
              <a:t>≈ 2 s jusqu'à la capture</a:t>
            </a:r>
          </a:p>
          <a:p>
            <a:pPr algn="l">
              <a:spcAft>
                <a:spcPts val="1000"/>
              </a:spcAft>
            </a:pPr>
            <a:r>
              <a:rPr sz="1800" b="0" i="0">
                <a:solidFill>
                  <a:srgbClr val="1B2530"/>
                </a:solidFill>
                <a:latin typeface="Arial"/>
              </a:rPr>
              <a:t>177 tests réussis · Android et iOS</a:t>
            </a:r>
          </a:p>
        </p:txBody>
      </p:sp>
      <p:cxnSp>
        <p:nvCxnSpPr>
          <p:cNvPr id="13" name="Connector 12"/>
          <p:cNvCxnSpPr/>
          <p:nvPr/>
        </p:nvCxnSpPr>
        <p:spPr>
          <a:xfrm>
            <a:off x="8249716" y="1965960"/>
            <a:ext cx="3393339" cy="0"/>
          </a:xfrm>
          <a:prstGeom prst="line">
            <a:avLst/>
          </a:prstGeom>
          <a:ln w="38100">
            <a:solidFill>
              <a:srgbClr val="2E75B6"/>
            </a:solidFill>
          </a:ln>
        </p:spPr>
      </p:cxnSp>
      <p:sp>
        <p:nvSpPr>
          <p:cNvPr id="14" name="TextBox 13"/>
          <p:cNvSpPr txBox="1"/>
          <p:nvPr/>
        </p:nvSpPr>
        <p:spPr>
          <a:xfrm>
            <a:off x="8249716" y="2103120"/>
            <a:ext cx="3393338" cy="365760"/>
          </a:xfrm>
          <a:prstGeom prst="rect">
            <a:avLst/>
          </a:prstGeom>
          <a:noFill/>
        </p:spPr>
        <p:txBody>
          <a:bodyPr wrap="square" lIns="0" rIns="0" tIns="0" bIns="0" anchor="t">
            <a:spAutoFit/>
          </a:bodyPr>
          <a:lstStyle/>
          <a:p>
            <a:pPr algn="l"/>
            <a:r>
              <a:rPr sz="1400" b="1" i="0">
                <a:solidFill>
                  <a:srgbClr val="2E75B6"/>
                </a:solidFill>
                <a:latin typeface="Arial"/>
              </a:rPr>
              <a:t>PERSPECTIVES</a:t>
            </a:r>
          </a:p>
        </p:txBody>
      </p:sp>
      <p:sp>
        <p:nvSpPr>
          <p:cNvPr id="15" name="TextBox 14"/>
          <p:cNvSpPr txBox="1"/>
          <p:nvPr/>
        </p:nvSpPr>
        <p:spPr>
          <a:xfrm>
            <a:off x="8249716" y="2560320"/>
            <a:ext cx="3393338" cy="2377440"/>
          </a:xfrm>
          <a:prstGeom prst="rect">
            <a:avLst/>
          </a:prstGeom>
          <a:noFill/>
        </p:spPr>
        <p:txBody>
          <a:bodyPr wrap="square" lIns="0" rIns="0" tIns="0" bIns="0" anchor="t">
            <a:spAutoFit/>
          </a:bodyPr>
          <a:lstStyle/>
          <a:p>
            <a:pPr algn="l">
              <a:spcAft>
                <a:spcPts val="1000"/>
              </a:spcAft>
            </a:pPr>
            <a:r>
              <a:rPr sz="1800" b="0" i="0">
                <a:solidFill>
                  <a:srgbClr val="1B2530"/>
                </a:solidFill>
                <a:latin typeface="Arial"/>
              </a:rPr>
              <a:t>Jeu d'images élargi</a:t>
            </a:r>
          </a:p>
          <a:p>
            <a:pPr algn="l">
              <a:spcAft>
                <a:spcPts val="1000"/>
              </a:spcAft>
            </a:pPr>
            <a:r>
              <a:rPr sz="1800" b="0" i="0">
                <a:solidFill>
                  <a:srgbClr val="1B2530"/>
                </a:solidFill>
                <a:latin typeface="Arial"/>
              </a:rPr>
              <a:t>Tests réels automatisés</a:t>
            </a:r>
          </a:p>
          <a:p>
            <a:pPr algn="l">
              <a:spcAft>
                <a:spcPts val="1000"/>
              </a:spcAft>
            </a:pPr>
            <a:r>
              <a:rPr sz="1800" b="0" i="0">
                <a:solidFill>
                  <a:srgbClr val="1B2530"/>
                </a:solidFill>
                <a:latin typeface="Arial"/>
              </a:rPr>
              <a:t>Message de timeout</a:t>
            </a:r>
          </a:p>
          <a:p>
            <a:pPr algn="l">
              <a:spcAft>
                <a:spcPts val="1000"/>
              </a:spcAft>
            </a:pPr>
            <a:r>
              <a:rPr sz="1800" b="0" i="0">
                <a:solidFill>
                  <a:srgbClr val="1B2530"/>
                </a:solidFill>
                <a:latin typeface="Arial"/>
              </a:rPr>
              <a:t>Anti-fraude sur la carte</a:t>
            </a:r>
          </a:p>
        </p:txBody>
      </p:sp>
      <p:sp>
        <p:nvSpPr>
          <p:cNvPr id="16" name="TextBox 15"/>
          <p:cNvSpPr txBox="1"/>
          <p:nvPr/>
        </p:nvSpPr>
        <p:spPr>
          <a:xfrm>
            <a:off x="548640" y="4846320"/>
            <a:ext cx="11094415" cy="1280160"/>
          </a:xfrm>
          <a:prstGeom prst="rect">
            <a:avLst/>
          </a:prstGeom>
          <a:noFill/>
        </p:spPr>
        <p:txBody>
          <a:bodyPr wrap="square" lIns="0" rIns="0" tIns="0" bIns="0" anchor="t">
            <a:spAutoFit/>
          </a:bodyPr>
          <a:lstStyle/>
          <a:p>
            <a:pPr algn="l">
              <a:spcAft>
                <a:spcPts val="800"/>
              </a:spcAft>
            </a:pPr>
            <a:r>
              <a:rPr sz="1600" b="1" i="0">
                <a:solidFill>
                  <a:srgbClr val="1F3A5F"/>
                </a:solidFill>
                <a:latin typeface="Arial"/>
              </a:rPr>
              <a:t>Mon apport : </a:t>
            </a:r>
            <a:r>
              <a:rPr sz="1600" b="0" i="0">
                <a:solidFill>
                  <a:srgbClr val="1B2530"/>
                </a:solidFill>
                <a:latin typeface="Arial"/>
              </a:rPr>
              <a:t>l'enchaînement des passes et le score du quadrilatère, l'isolate, la machine à états, le vote recto/verso et le post-traitement, autour des primitives d'OpenCV.</a:t>
            </a:r>
          </a:p>
          <a:p>
            <a:pPr algn="l">
              <a:spcAft>
                <a:spcPts val="800"/>
              </a:spcAft>
            </a:pPr>
            <a:r>
              <a:rPr sz="1600" b="1" i="0">
                <a:solidFill>
                  <a:srgbClr val="1F3A5F"/>
                </a:solidFill>
                <a:latin typeface="Arial"/>
              </a:rPr>
              <a:t>Ce que j'en retiens : </a:t>
            </a:r>
            <a:r>
              <a:rPr sz="1600" b="0" i="0">
                <a:solidFill>
                  <a:srgbClr val="1B2530"/>
                </a:solidFill>
                <a:latin typeface="Arial"/>
              </a:rPr>
              <a:t>un choix technologique se justifie par les contraintes réelles d'un projet.</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350"/>
                                        <p:tgtEl>
                                          <p:spTgt spid="6"/>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350"/>
                                        <p:tgtEl>
                                          <p:spTgt spid="7"/>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childTnLst>
                                </p:cTn>
                              </p:par>
                              <p:par>
                                <p:cTn id="15" presetID="10" presetClass="entr" presetSubtype="0" fill="hold" nodeType="withEffect">
                                  <p:stCondLst>
                                    <p:cond delay="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50"/>
                                        <p:tgtEl>
                                          <p:spTgt spid="13"/>
                                        </p:tgtEl>
                                      </p:cBhvr>
                                    </p:animEffect>
                                  </p:childTnLst>
                                </p:cTn>
                              </p:par>
                              <p:par>
                                <p:cTn id="18" presetID="10" presetClass="entr" presetSubtype="0" fill="hold" nodeType="withEffect">
                                  <p:stCondLst>
                                    <p:cond delay="0"/>
                                  </p:stCondLst>
                                  <p:childTnLst>
                                    <p:set>
                                      <p:cBhvr>
                                        <p:cTn id="19" dur="1" fill="hold">
                                          <p:stCondLst>
                                            <p:cond delay="0"/>
                                          </p:stCondLst>
                                        </p:cTn>
                                        <p:tgtEl>
                                          <p:spTgt spid="8"/>
                                        </p:tgtEl>
                                        <p:attrNameLst>
                                          <p:attrName>style.visibility</p:attrName>
                                        </p:attrNameLst>
                                      </p:cBhvr>
                                      <p:to>
                                        <p:strVal val="visible"/>
                                      </p:to>
                                    </p:set>
                                    <p:animEffect transition="in" filter="fade">
                                      <p:cBhvr>
                                        <p:cTn id="20" dur="350"/>
                                        <p:tgtEl>
                                          <p:spTgt spid="8"/>
                                        </p:tgtEl>
                                      </p:cBhvr>
                                    </p:animEffect>
                                  </p:childTnLst>
                                </p:cTn>
                              </p:par>
                              <p:par>
                                <p:cTn id="21" presetID="10" presetClass="entr" presetSubtype="0" fill="hold" nodeType="withEffect">
                                  <p:stCondLst>
                                    <p:cond delay="0"/>
                                  </p:stCondLst>
                                  <p:childTnLst>
                                    <p:set>
                                      <p:cBhvr>
                                        <p:cTn id="22" dur="1" fill="hold">
                                          <p:stCondLst>
                                            <p:cond delay="0"/>
                                          </p:stCondLst>
                                        </p:cTn>
                                        <p:tgtEl>
                                          <p:spTgt spid="11"/>
                                        </p:tgtEl>
                                        <p:attrNameLst>
                                          <p:attrName>style.visibility</p:attrName>
                                        </p:attrNameLst>
                                      </p:cBhvr>
                                      <p:to>
                                        <p:strVal val="visible"/>
                                      </p:to>
                                    </p:set>
                                    <p:animEffect transition="in" filter="fade">
                                      <p:cBhvr>
                                        <p:cTn id="23" dur="350"/>
                                        <p:tgtEl>
                                          <p:spTgt spid="11"/>
                                        </p:tgtEl>
                                      </p:cBhvr>
                                    </p:animEffect>
                                  </p:childTnLst>
                                </p:cTn>
                              </p:par>
                              <p:par>
                                <p:cTn id="24" presetID="10" presetClass="entr" presetSubtype="0" fill="hold" nodeType="withEffect">
                                  <p:stCondLst>
                                    <p:cond delay="0"/>
                                  </p:stCondLst>
                                  <p:childTnLst>
                                    <p:set>
                                      <p:cBhvr>
                                        <p:cTn id="25" dur="1" fill="hold">
                                          <p:stCondLst>
                                            <p:cond delay="0"/>
                                          </p:stCondLst>
                                        </p:cTn>
                                        <p:tgtEl>
                                          <p:spTgt spid="14"/>
                                        </p:tgtEl>
                                        <p:attrNameLst>
                                          <p:attrName>style.visibility</p:attrName>
                                        </p:attrNameLst>
                                      </p:cBhvr>
                                      <p:to>
                                        <p:strVal val="visible"/>
                                      </p:to>
                                    </p:set>
                                    <p:animEffect transition="in" filter="fade">
                                      <p:cBhvr>
                                        <p:cTn id="26" dur="350"/>
                                        <p:tgtEl>
                                          <p:spTgt spid="14"/>
                                        </p:tgtEl>
                                      </p:cBhvr>
                                    </p:animEffect>
                                  </p:childTnLst>
                                </p:cTn>
                              </p:par>
                            </p:childTnLst>
                          </p:cTn>
                        </p:par>
                        <p:par>
                          <p:cTn id="27" fill="hold">
                            <p:stCondLst>
                              <p:cond delay="500"/>
                            </p:stCondLst>
                            <p:childTnLst>
                              <p:par>
                                <p:cTn id="28" presetID="10" presetClass="entr" presetSubtype="0" fill="hold" nodeType="after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350"/>
                                        <p:tgtEl>
                                          <p:spTgt spid="9"/>
                                        </p:tgtEl>
                                      </p:cBhvr>
                                    </p:animEffect>
                                  </p:childTnLst>
                                </p:cTn>
                              </p:par>
                              <p:par>
                                <p:cTn id="31" presetID="10" presetClass="entr" presetSubtype="0" fill="hold"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350"/>
                                        <p:tgtEl>
                                          <p:spTgt spid="12"/>
                                        </p:tgtEl>
                                      </p:cBhvr>
                                    </p:animEffect>
                                  </p:childTnLst>
                                </p:cTn>
                              </p:par>
                              <p:par>
                                <p:cTn id="34" presetID="10" presetClass="entr" presetSubtype="0" fill="hold"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fade">
                                      <p:cBhvr>
                                        <p:cTn id="36" dur="350"/>
                                        <p:tgtEl>
                                          <p:spTgt spid="15"/>
                                        </p:tgtEl>
                                      </p:cBhvr>
                                    </p:animEffect>
                                  </p:childTnLst>
                                </p:cTn>
                              </p:par>
                            </p:childTnLst>
                          </p:cTn>
                        </p:par>
                        <p:par>
                          <p:cTn id="37" fill="hold">
                            <p:stCondLst>
                              <p:cond delay="750"/>
                            </p:stCondLst>
                            <p:childTnLst>
                              <p:par>
                                <p:cTn id="38" presetID="10" presetClass="entr" presetSubtype="0" fill="hold" nodeType="after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35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8" grpId="0"/>
      <p:bldP spid="11" grpId="0"/>
      <p:bldP spid="14" grpId="0"/>
      <p:bldP spid="9" grpId="0"/>
      <p:bldP spid="12" grpId="0"/>
      <p:bldP spid="15" grpId="0"/>
      <p:bldP spid="16" grpId="0"/>
    </p:bld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cxnSp>
        <p:nvCxnSpPr>
          <p:cNvPr id="2" name="Connector 1"/>
          <p:cNvCxnSpPr/>
          <p:nvPr/>
        </p:nvCxnSpPr>
        <p:spPr>
          <a:xfrm>
            <a:off x="548640" y="6382512"/>
            <a:ext cx="11094415" cy="0"/>
          </a:xfrm>
          <a:prstGeom prst="line">
            <a:avLst/>
          </a:prstGeom>
          <a:ln w="9525">
            <a:solidFill>
              <a:srgbClr val="CBD3DB"/>
            </a:solidFill>
          </a:ln>
        </p:spPr>
      </p:cxnSp>
      <p:sp>
        <p:nvSpPr>
          <p:cNvPr id="3" name="TextBox 2"/>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4" name="TextBox 3"/>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16 / 16</a:t>
            </a:r>
          </a:p>
        </p:txBody>
      </p:sp>
      <p:pic>
        <p:nvPicPr>
          <p:cNvPr id="5" name="Picture 4" descr="Logo manouba"/>
          <p:cNvPicPr>
            <a:picLocks noChangeAspect="1"/>
          </p:cNvPicPr>
          <p:nvPr/>
        </p:nvPicPr>
        <p:blipFill>
          <a:blip r:embed="rId2"/>
          <a:stretch>
            <a:fillRect/>
          </a:stretch>
        </p:blipFill>
        <p:spPr>
          <a:xfrm>
            <a:off x="548640" y="502920"/>
            <a:ext cx="541474" cy="713232"/>
          </a:xfrm>
          <a:prstGeom prst="rect">
            <a:avLst/>
          </a:prstGeom>
        </p:spPr>
      </p:pic>
      <p:pic>
        <p:nvPicPr>
          <p:cNvPr id="6" name="Picture 5" descr="Logo ensi"/>
          <p:cNvPicPr>
            <a:picLocks noChangeAspect="1"/>
          </p:cNvPicPr>
          <p:nvPr/>
        </p:nvPicPr>
        <p:blipFill>
          <a:blip r:embed="rId3"/>
          <a:stretch>
            <a:fillRect/>
          </a:stretch>
        </p:blipFill>
        <p:spPr>
          <a:xfrm>
            <a:off x="1410153" y="502920"/>
            <a:ext cx="594360" cy="713232"/>
          </a:xfrm>
          <a:prstGeom prst="rect">
            <a:avLst/>
          </a:prstGeom>
        </p:spPr>
      </p:pic>
      <p:pic>
        <p:nvPicPr>
          <p:cNvPr id="7" name="Picture 6" descr="Logo codingaholic"/>
          <p:cNvPicPr>
            <a:picLocks noChangeAspect="1"/>
          </p:cNvPicPr>
          <p:nvPr/>
        </p:nvPicPr>
        <p:blipFill>
          <a:blip r:embed="rId4"/>
          <a:stretch>
            <a:fillRect/>
          </a:stretch>
        </p:blipFill>
        <p:spPr>
          <a:xfrm>
            <a:off x="2324554" y="649224"/>
            <a:ext cx="1293721" cy="566928"/>
          </a:xfrm>
          <a:prstGeom prst="rect">
            <a:avLst/>
          </a:prstGeom>
        </p:spPr>
      </p:pic>
      <p:sp>
        <p:nvSpPr>
          <p:cNvPr id="8" name="Titre"/>
          <p:cNvSpPr txBox="1"/>
          <p:nvPr/>
        </p:nvSpPr>
        <p:spPr>
          <a:xfrm>
            <a:off x="548640" y="2331720"/>
            <a:ext cx="6949440" cy="1463040"/>
          </a:xfrm>
          <a:prstGeom prst="rect">
            <a:avLst/>
          </a:prstGeom>
          <a:noFill/>
        </p:spPr>
        <p:txBody>
          <a:bodyPr wrap="square" lIns="0" rIns="0" tIns="0" bIns="0" anchor="t">
            <a:spAutoFit/>
          </a:bodyPr>
          <a:lstStyle/>
          <a:p>
            <a:pPr algn="l"/>
            <a:r>
              <a:rPr sz="4800" b="1" i="0">
                <a:solidFill>
                  <a:srgbClr val="1F3A5F"/>
                </a:solidFill>
                <a:latin typeface="Arial"/>
              </a:rPr>
              <a:t>Merci pour votre attention</a:t>
            </a:r>
          </a:p>
        </p:txBody>
      </p:sp>
      <p:sp>
        <p:nvSpPr>
          <p:cNvPr id="9" name="TextBox 8"/>
          <p:cNvSpPr txBox="1"/>
          <p:nvPr/>
        </p:nvSpPr>
        <p:spPr>
          <a:xfrm>
            <a:off x="548640" y="3886200"/>
            <a:ext cx="6766560" cy="457200"/>
          </a:xfrm>
          <a:prstGeom prst="rect">
            <a:avLst/>
          </a:prstGeom>
          <a:noFill/>
        </p:spPr>
        <p:txBody>
          <a:bodyPr wrap="square" lIns="0" rIns="0" tIns="0" bIns="0" anchor="t">
            <a:spAutoFit/>
          </a:bodyPr>
          <a:lstStyle/>
          <a:p>
            <a:pPr algn="l"/>
            <a:r>
              <a:rPr sz="2200" b="0" i="0">
                <a:solidFill>
                  <a:srgbClr val="2E75B6"/>
                </a:solidFill>
                <a:latin typeface="Arial"/>
              </a:rPr>
              <a:t>Je suis à votre disposition pour vos questions.</a:t>
            </a:r>
          </a:p>
        </p:txBody>
      </p:sp>
      <p:sp>
        <p:nvSpPr>
          <p:cNvPr id="10" name="TextBox 9"/>
          <p:cNvSpPr txBox="1"/>
          <p:nvPr/>
        </p:nvSpPr>
        <p:spPr>
          <a:xfrm>
            <a:off x="548640" y="4800600"/>
            <a:ext cx="6949440" cy="822960"/>
          </a:xfrm>
          <a:prstGeom prst="rect">
            <a:avLst/>
          </a:prstGeom>
          <a:noFill/>
        </p:spPr>
        <p:txBody>
          <a:bodyPr wrap="square" lIns="0" rIns="0" tIns="0" bIns="0" anchor="t">
            <a:spAutoFit/>
          </a:bodyPr>
          <a:lstStyle/>
          <a:p>
            <a:pPr algn="l">
              <a:spcAft>
                <a:spcPts val="400"/>
              </a:spcAft>
            </a:pPr>
            <a:r>
              <a:rPr sz="2000" b="1" i="0">
                <a:solidFill>
                  <a:srgbClr val="1F3A5F"/>
                </a:solidFill>
                <a:latin typeface="Arial"/>
              </a:rPr>
              <a:t>Mohammed Amine Chaieb</a:t>
            </a:r>
          </a:p>
          <a:p>
            <a:pPr algn="l">
              <a:spcAft>
                <a:spcPts val="400"/>
              </a:spcAft>
            </a:pPr>
            <a:r>
              <a:rPr sz="1600" b="0" i="0">
                <a:solidFill>
                  <a:srgbClr val="5B6B7A"/>
                </a:solidFill>
                <a:latin typeface="Arial"/>
              </a:rPr>
              <a:t>Détection automatique et autocapture de la CIN tunisienne · Avatar-ID</a:t>
            </a:r>
          </a:p>
        </p:txBody>
      </p:sp>
      <p:sp>
        <p:nvSpPr>
          <p:cNvPr id="11" name="Rounded Rectangle 10"/>
          <p:cNvSpPr/>
          <p:nvPr/>
        </p:nvSpPr>
        <p:spPr>
          <a:xfrm>
            <a:off x="7818120" y="2148840"/>
            <a:ext cx="3794760" cy="2393890"/>
          </a:xfrm>
          <a:prstGeom prst="roundRect">
            <a:avLst>
              <a:gd name="adj" fmla="val 6000"/>
            </a:avLst>
          </a:prstGeom>
          <a:noFill/>
          <a:ln w="15875">
            <a:solidFill>
              <a:srgbClr val="1F3A5F"/>
            </a:solidFill>
          </a:ln>
        </p:spPr>
        <p:txBody>
          <a:bodyPr rtlCol="0" anchor="ctr"/>
          <a:lstStyle/>
          <a:p/>
        </p:txBody>
      </p:sp>
      <p:cxnSp>
        <p:nvCxnSpPr>
          <p:cNvPr id="12" name="Connector 11"/>
          <p:cNvCxnSpPr/>
          <p:nvPr/>
        </p:nvCxnSpPr>
        <p:spPr>
          <a:xfrm>
            <a:off x="7763256" y="2093976"/>
            <a:ext cx="320497" cy="0"/>
          </a:xfrm>
          <a:prstGeom prst="line">
            <a:avLst/>
          </a:prstGeom>
          <a:ln w="31750">
            <a:solidFill>
              <a:srgbClr val="2E75B6"/>
            </a:solidFill>
          </a:ln>
        </p:spPr>
      </p:cxnSp>
      <p:cxnSp>
        <p:nvCxnSpPr>
          <p:cNvPr id="13" name="Connector 12"/>
          <p:cNvCxnSpPr/>
          <p:nvPr/>
        </p:nvCxnSpPr>
        <p:spPr>
          <a:xfrm>
            <a:off x="7763256" y="2093976"/>
            <a:ext cx="0" cy="320497"/>
          </a:xfrm>
          <a:prstGeom prst="line">
            <a:avLst/>
          </a:prstGeom>
          <a:ln w="31750">
            <a:solidFill>
              <a:srgbClr val="2E75B6"/>
            </a:solidFill>
          </a:ln>
        </p:spPr>
      </p:cxnSp>
      <p:cxnSp>
        <p:nvCxnSpPr>
          <p:cNvPr id="14" name="Connector 13"/>
          <p:cNvCxnSpPr/>
          <p:nvPr/>
        </p:nvCxnSpPr>
        <p:spPr>
          <a:xfrm flipH="1">
            <a:off x="11347246" y="2093976"/>
            <a:ext cx="320498" cy="0"/>
          </a:xfrm>
          <a:prstGeom prst="line">
            <a:avLst/>
          </a:prstGeom>
          <a:ln w="31750">
            <a:solidFill>
              <a:srgbClr val="2E75B6"/>
            </a:solidFill>
          </a:ln>
        </p:spPr>
      </p:cxnSp>
      <p:cxnSp>
        <p:nvCxnSpPr>
          <p:cNvPr id="15" name="Connector 14"/>
          <p:cNvCxnSpPr/>
          <p:nvPr/>
        </p:nvCxnSpPr>
        <p:spPr>
          <a:xfrm>
            <a:off x="11667744" y="2093976"/>
            <a:ext cx="0" cy="320497"/>
          </a:xfrm>
          <a:prstGeom prst="line">
            <a:avLst/>
          </a:prstGeom>
          <a:ln w="31750">
            <a:solidFill>
              <a:srgbClr val="2E75B6"/>
            </a:solidFill>
          </a:ln>
        </p:spPr>
      </p:cxnSp>
      <p:cxnSp>
        <p:nvCxnSpPr>
          <p:cNvPr id="16" name="Connector 15"/>
          <p:cNvCxnSpPr/>
          <p:nvPr/>
        </p:nvCxnSpPr>
        <p:spPr>
          <a:xfrm flipH="1">
            <a:off x="11347246" y="4597594"/>
            <a:ext cx="320498" cy="0"/>
          </a:xfrm>
          <a:prstGeom prst="line">
            <a:avLst/>
          </a:prstGeom>
          <a:ln w="31750">
            <a:solidFill>
              <a:srgbClr val="2E75B6"/>
            </a:solidFill>
          </a:ln>
        </p:spPr>
      </p:cxnSp>
      <p:cxnSp>
        <p:nvCxnSpPr>
          <p:cNvPr id="17" name="Connector 16"/>
          <p:cNvCxnSpPr/>
          <p:nvPr/>
        </p:nvCxnSpPr>
        <p:spPr>
          <a:xfrm flipV="1">
            <a:off x="11667744" y="4277097"/>
            <a:ext cx="0" cy="320497"/>
          </a:xfrm>
          <a:prstGeom prst="line">
            <a:avLst/>
          </a:prstGeom>
          <a:ln w="31750">
            <a:solidFill>
              <a:srgbClr val="2E75B6"/>
            </a:solidFill>
          </a:ln>
        </p:spPr>
      </p:cxnSp>
      <p:cxnSp>
        <p:nvCxnSpPr>
          <p:cNvPr id="18" name="Connector 17"/>
          <p:cNvCxnSpPr/>
          <p:nvPr/>
        </p:nvCxnSpPr>
        <p:spPr>
          <a:xfrm>
            <a:off x="7763256" y="4597594"/>
            <a:ext cx="320497" cy="0"/>
          </a:xfrm>
          <a:prstGeom prst="line">
            <a:avLst/>
          </a:prstGeom>
          <a:ln w="31750">
            <a:solidFill>
              <a:srgbClr val="2E75B6"/>
            </a:solidFill>
          </a:ln>
        </p:spPr>
      </p:cxnSp>
      <p:cxnSp>
        <p:nvCxnSpPr>
          <p:cNvPr id="19" name="Connector 18"/>
          <p:cNvCxnSpPr/>
          <p:nvPr/>
        </p:nvCxnSpPr>
        <p:spPr>
          <a:xfrm flipV="1">
            <a:off x="7763256" y="4277097"/>
            <a:ext cx="0" cy="320497"/>
          </a:xfrm>
          <a:prstGeom prst="line">
            <a:avLst/>
          </a:prstGeom>
          <a:ln w="31750">
            <a:solidFill>
              <a:srgbClr val="2E75B6"/>
            </a:solidFill>
          </a:ln>
        </p:spPr>
      </p:cxn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350"/>
                                        <p:tgtEl>
                                          <p:spTgt spid="8"/>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350"/>
                                        <p:tgtEl>
                                          <p:spTgt spid="5"/>
                                        </p:tgtEl>
                                      </p:cBhvr>
                                    </p:animEffect>
                                  </p:childTnLst>
                                </p:cTn>
                              </p:par>
                              <p:par>
                                <p:cTn id="12" presetID="10" presetClass="entr" presetSubtype="0" fill="hold" nodeType="withEffect">
                                  <p:stCondLst>
                                    <p:cond delay="0"/>
                                  </p:stCondLst>
                                  <p:childTnLst>
                                    <p:set>
                                      <p:cBhvr>
                                        <p:cTn id="13" dur="1" fill="hold">
                                          <p:stCondLst>
                                            <p:cond delay="0"/>
                                          </p:stCondLst>
                                        </p:cTn>
                                        <p:tgtEl>
                                          <p:spTgt spid="6"/>
                                        </p:tgtEl>
                                        <p:attrNameLst>
                                          <p:attrName>style.visibility</p:attrName>
                                        </p:attrNameLst>
                                      </p:cBhvr>
                                      <p:to>
                                        <p:strVal val="visible"/>
                                      </p:to>
                                    </p:set>
                                    <p:animEffect transition="in" filter="fade">
                                      <p:cBhvr>
                                        <p:cTn id="14" dur="350"/>
                                        <p:tgtEl>
                                          <p:spTgt spid="6"/>
                                        </p:tgtEl>
                                      </p:cBhvr>
                                    </p:animEffect>
                                  </p:childTnLst>
                                </p:cTn>
                              </p:par>
                              <p:par>
                                <p:cTn id="15" presetID="10" presetClass="entr" presetSubtype="0" fill="hold" nodeType="withEffect">
                                  <p:stCondLst>
                                    <p:cond delay="0"/>
                                  </p:stCondLst>
                                  <p:childTnLst>
                                    <p:set>
                                      <p:cBhvr>
                                        <p:cTn id="16" dur="1" fill="hold">
                                          <p:stCondLst>
                                            <p:cond delay="0"/>
                                          </p:stCondLst>
                                        </p:cTn>
                                        <p:tgtEl>
                                          <p:spTgt spid="7"/>
                                        </p:tgtEl>
                                        <p:attrNameLst>
                                          <p:attrName>style.visibility</p:attrName>
                                        </p:attrNameLst>
                                      </p:cBhvr>
                                      <p:to>
                                        <p:strVal val="visible"/>
                                      </p:to>
                                    </p:set>
                                    <p:animEffect transition="in" filter="fade">
                                      <p:cBhvr>
                                        <p:cTn id="17" dur="350"/>
                                        <p:tgtEl>
                                          <p:spTgt spid="7"/>
                                        </p:tgtEl>
                                      </p:cBhvr>
                                    </p:animEffect>
                                  </p:childTnLst>
                                </p:cTn>
                              </p:par>
                            </p:childTnLst>
                          </p:cTn>
                        </p:par>
                        <p:par>
                          <p:cTn id="18" fill="hold">
                            <p:stCondLst>
                              <p:cond delay="500"/>
                            </p:stCondLst>
                            <p:childTnLst>
                              <p:par>
                                <p:cTn id="19" presetID="10" presetClass="entr" presetSubtype="0" fill="hold" nodeType="after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350"/>
                                        <p:tgtEl>
                                          <p:spTgt spid="12"/>
                                        </p:tgtEl>
                                      </p:cBhvr>
                                    </p:animEffect>
                                  </p:childTnLst>
                                </p:cTn>
                              </p:par>
                              <p:par>
                                <p:cTn id="22" presetID="10" presetClass="entr" presetSubtype="0" fill="hold" nodeType="withEffect">
                                  <p:stCondLst>
                                    <p:cond delay="0"/>
                                  </p:stCondLst>
                                  <p:childTnLst>
                                    <p:set>
                                      <p:cBhvr>
                                        <p:cTn id="23" dur="1" fill="hold">
                                          <p:stCondLst>
                                            <p:cond delay="0"/>
                                          </p:stCondLst>
                                        </p:cTn>
                                        <p:tgtEl>
                                          <p:spTgt spid="13"/>
                                        </p:tgtEl>
                                        <p:attrNameLst>
                                          <p:attrName>style.visibility</p:attrName>
                                        </p:attrNameLst>
                                      </p:cBhvr>
                                      <p:to>
                                        <p:strVal val="visible"/>
                                      </p:to>
                                    </p:set>
                                    <p:animEffect transition="in" filter="fade">
                                      <p:cBhvr>
                                        <p:cTn id="24" dur="350"/>
                                        <p:tgtEl>
                                          <p:spTgt spid="13"/>
                                        </p:tgtEl>
                                      </p:cBhvr>
                                    </p:animEffect>
                                  </p:childTnLst>
                                </p:cTn>
                              </p:par>
                              <p:par>
                                <p:cTn id="25" presetID="10" presetClass="entr" presetSubtype="0" fill="hold" nodeType="withEffect">
                                  <p:stCondLst>
                                    <p:cond delay="0"/>
                                  </p:stCondLst>
                                  <p:childTnLst>
                                    <p:set>
                                      <p:cBhvr>
                                        <p:cTn id="26" dur="1" fill="hold">
                                          <p:stCondLst>
                                            <p:cond delay="0"/>
                                          </p:stCondLst>
                                        </p:cTn>
                                        <p:tgtEl>
                                          <p:spTgt spid="14"/>
                                        </p:tgtEl>
                                        <p:attrNameLst>
                                          <p:attrName>style.visibility</p:attrName>
                                        </p:attrNameLst>
                                      </p:cBhvr>
                                      <p:to>
                                        <p:strVal val="visible"/>
                                      </p:to>
                                    </p:set>
                                    <p:animEffect transition="in" filter="fade">
                                      <p:cBhvr>
                                        <p:cTn id="27" dur="350"/>
                                        <p:tgtEl>
                                          <p:spTgt spid="14"/>
                                        </p:tgtEl>
                                      </p:cBhvr>
                                    </p:animEffect>
                                  </p:childTnLst>
                                </p:cTn>
                              </p:par>
                              <p:par>
                                <p:cTn id="28" presetID="10" presetClass="entr" presetSubtype="0" fill="hold" nodeType="withEffect">
                                  <p:stCondLst>
                                    <p:cond delay="0"/>
                                  </p:stCondLst>
                                  <p:childTnLst>
                                    <p:set>
                                      <p:cBhvr>
                                        <p:cTn id="29" dur="1" fill="hold">
                                          <p:stCondLst>
                                            <p:cond delay="0"/>
                                          </p:stCondLst>
                                        </p:cTn>
                                        <p:tgtEl>
                                          <p:spTgt spid="15"/>
                                        </p:tgtEl>
                                        <p:attrNameLst>
                                          <p:attrName>style.visibility</p:attrName>
                                        </p:attrNameLst>
                                      </p:cBhvr>
                                      <p:to>
                                        <p:strVal val="visible"/>
                                      </p:to>
                                    </p:set>
                                    <p:animEffect transition="in" filter="fade">
                                      <p:cBhvr>
                                        <p:cTn id="30" dur="350"/>
                                        <p:tgtEl>
                                          <p:spTgt spid="15"/>
                                        </p:tgtEl>
                                      </p:cBhvr>
                                    </p:animEffect>
                                  </p:childTnLst>
                                </p:cTn>
                              </p:par>
                              <p:par>
                                <p:cTn id="31" presetID="10" presetClass="entr" presetSubtype="0" fill="hold"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350"/>
                                        <p:tgtEl>
                                          <p:spTgt spid="11"/>
                                        </p:tgtEl>
                                      </p:cBhvr>
                                    </p:animEffect>
                                  </p:childTnLst>
                                </p:cTn>
                              </p:par>
                            </p:childTnLst>
                          </p:cTn>
                        </p:par>
                        <p:par>
                          <p:cTn id="34" fill="hold">
                            <p:stCondLst>
                              <p:cond delay="750"/>
                            </p:stCondLst>
                            <p:childTnLst>
                              <p:par>
                                <p:cTn id="35" presetID="10" presetClass="entr" presetSubtype="0" fill="hold" nodeType="after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fade">
                                      <p:cBhvr>
                                        <p:cTn id="37" dur="350"/>
                                        <p:tgtEl>
                                          <p:spTgt spid="9"/>
                                        </p:tgtEl>
                                      </p:cBhvr>
                                    </p:animEffect>
                                  </p:childTnLst>
                                </p:cTn>
                              </p:par>
                            </p:childTnLst>
                          </p:cTn>
                        </p:par>
                        <p:par>
                          <p:cTn id="38" fill="hold">
                            <p:stCondLst>
                              <p:cond delay="1000"/>
                            </p:stCondLst>
                            <p:childTnLst>
                              <p:par>
                                <p:cTn id="39" presetID="10" presetClass="entr" presetSubtype="0" fill="hold" nodeType="after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fade">
                                      <p:cBhvr>
                                        <p:cTn id="41" dur="350"/>
                                        <p:tgtEl>
                                          <p:spTgt spid="17"/>
                                        </p:tgtEl>
                                      </p:cBhvr>
                                    </p:animEffect>
                                  </p:childTnLst>
                                </p:cTn>
                              </p:par>
                              <p:par>
                                <p:cTn id="42" presetID="10" presetClass="entr" presetSubtype="0" fill="hold" nodeType="withEffect">
                                  <p:stCondLst>
                                    <p:cond delay="0"/>
                                  </p:stCondLst>
                                  <p:childTnLst>
                                    <p:set>
                                      <p:cBhvr>
                                        <p:cTn id="43" dur="1" fill="hold">
                                          <p:stCondLst>
                                            <p:cond delay="0"/>
                                          </p:stCondLst>
                                        </p:cTn>
                                        <p:tgtEl>
                                          <p:spTgt spid="19"/>
                                        </p:tgtEl>
                                        <p:attrNameLst>
                                          <p:attrName>style.visibility</p:attrName>
                                        </p:attrNameLst>
                                      </p:cBhvr>
                                      <p:to>
                                        <p:strVal val="visible"/>
                                      </p:to>
                                    </p:set>
                                    <p:animEffect transition="in" filter="fade">
                                      <p:cBhvr>
                                        <p:cTn id="44" dur="350"/>
                                        <p:tgtEl>
                                          <p:spTgt spid="19"/>
                                        </p:tgtEl>
                                      </p:cBhvr>
                                    </p:animEffect>
                                  </p:childTnLst>
                                </p:cTn>
                              </p:par>
                            </p:childTnLst>
                          </p:cTn>
                        </p:par>
                        <p:par>
                          <p:cTn id="45" fill="hold">
                            <p:stCondLst>
                              <p:cond delay="1250"/>
                            </p:stCondLst>
                            <p:childTnLst>
                              <p:par>
                                <p:cTn id="46" presetID="10" presetClass="entr" presetSubtype="0" fill="hold" nodeType="after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350"/>
                                        <p:tgtEl>
                                          <p:spTgt spid="16"/>
                                        </p:tgtEl>
                                      </p:cBhvr>
                                    </p:animEffect>
                                  </p:childTnLst>
                                </p:cTn>
                              </p:par>
                              <p:par>
                                <p:cTn id="49" presetID="10" presetClass="entr" presetSubtype="0" fill="hold"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350"/>
                                        <p:tgtEl>
                                          <p:spTgt spid="18"/>
                                        </p:tgtEl>
                                      </p:cBhvr>
                                    </p:animEffect>
                                  </p:childTnLst>
                                </p:cTn>
                              </p:par>
                              <p:par>
                                <p:cTn id="52" presetID="10" presetClass="entr" presetSubtype="0" fill="hold" nodeType="withEffect">
                                  <p:stCondLst>
                                    <p:cond delay="0"/>
                                  </p:stCondLst>
                                  <p:childTnLst>
                                    <p:set>
                                      <p:cBhvr>
                                        <p:cTn id="53" dur="1" fill="hold">
                                          <p:stCondLst>
                                            <p:cond delay="0"/>
                                          </p:stCondLst>
                                        </p:cTn>
                                        <p:tgtEl>
                                          <p:spTgt spid="10"/>
                                        </p:tgtEl>
                                        <p:attrNameLst>
                                          <p:attrName>style.visibility</p:attrName>
                                        </p:attrNameLst>
                                      </p:cBhvr>
                                      <p:to>
                                        <p:strVal val="visible"/>
                                      </p:to>
                                    </p:set>
                                    <p:animEffect transition="in" filter="fade">
                                      <p:cBhvr>
                                        <p:cTn id="54" dur="35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11" grpId="0"/>
      <p:bldP spid="9" grpId="0"/>
      <p:bldP spid="10" grpId="0"/>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A</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A</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Tous les seuils sont empiriques ; la netteté 120 n'a de sens qu'à 856 × 540 px</a:t>
            </a:r>
          </a:p>
        </p:txBody>
      </p:sp>
      <p:sp>
        <p:nvSpPr>
          <p:cNvPr id="8" name="Rectangle 7"/>
          <p:cNvSpPr/>
          <p:nvPr/>
        </p:nvSpPr>
        <p:spPr>
          <a:xfrm>
            <a:off x="548640" y="1783080"/>
            <a:ext cx="5410047" cy="420624"/>
          </a:xfrm>
          <a:prstGeom prst="rect">
            <a:avLst/>
          </a:prstGeom>
          <a:solidFill>
            <a:srgbClr val="EEF2F6"/>
          </a:solidFill>
          <a:ln>
            <a:noFill/>
          </a:ln>
        </p:spPr>
        <p:txBody>
          <a:bodyPr rtlCol="0" anchor="ctr"/>
          <a:lstStyle/>
          <a:p/>
        </p:txBody>
      </p:sp>
      <p:sp>
        <p:nvSpPr>
          <p:cNvPr id="9" name="TextBox 8"/>
          <p:cNvSpPr txBox="1"/>
          <p:nvPr/>
        </p:nvSpPr>
        <p:spPr>
          <a:xfrm>
            <a:off x="658368"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Score de détection minimal</a:t>
            </a:r>
          </a:p>
        </p:txBody>
      </p:sp>
      <p:sp>
        <p:nvSpPr>
          <p:cNvPr id="10" name="TextBox 9"/>
          <p:cNvSpPr txBox="1"/>
          <p:nvPr/>
        </p:nvSpPr>
        <p:spPr>
          <a:xfrm>
            <a:off x="4267047"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0,30</a:t>
            </a:r>
          </a:p>
        </p:txBody>
      </p:sp>
      <p:sp>
        <p:nvSpPr>
          <p:cNvPr id="11" name="TextBox 10"/>
          <p:cNvSpPr txBox="1"/>
          <p:nvPr/>
        </p:nvSpPr>
        <p:spPr>
          <a:xfrm>
            <a:off x="658368"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Sortie anticipée</a:t>
            </a:r>
          </a:p>
        </p:txBody>
      </p:sp>
      <p:sp>
        <p:nvSpPr>
          <p:cNvPr id="12" name="TextBox 11"/>
          <p:cNvSpPr txBox="1"/>
          <p:nvPr/>
        </p:nvSpPr>
        <p:spPr>
          <a:xfrm>
            <a:off x="4267047"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0,65</a:t>
            </a:r>
          </a:p>
        </p:txBody>
      </p:sp>
      <p:sp>
        <p:nvSpPr>
          <p:cNvPr id="13" name="Rectangle 12"/>
          <p:cNvSpPr/>
          <p:nvPr/>
        </p:nvSpPr>
        <p:spPr>
          <a:xfrm>
            <a:off x="548640" y="2624328"/>
            <a:ext cx="5410047" cy="420624"/>
          </a:xfrm>
          <a:prstGeom prst="rect">
            <a:avLst/>
          </a:prstGeom>
          <a:solidFill>
            <a:srgbClr val="EEF2F6"/>
          </a:solidFill>
          <a:ln>
            <a:noFill/>
          </a:ln>
        </p:spPr>
        <p:txBody>
          <a:bodyPr rtlCol="0" anchor="ctr"/>
          <a:lstStyle/>
          <a:p/>
        </p:txBody>
      </p:sp>
      <p:sp>
        <p:nvSpPr>
          <p:cNvPr id="14" name="TextBox 13"/>
          <p:cNvSpPr txBox="1"/>
          <p:nvPr/>
        </p:nvSpPr>
        <p:spPr>
          <a:xfrm>
            <a:off x="658368"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Réduction, recherche pleine image</a:t>
            </a:r>
          </a:p>
        </p:txBody>
      </p:sp>
      <p:sp>
        <p:nvSpPr>
          <p:cNvPr id="15" name="TextBox 14"/>
          <p:cNvSpPr txBox="1"/>
          <p:nvPr/>
        </p:nvSpPr>
        <p:spPr>
          <a:xfrm>
            <a:off x="4267047"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0,45</a:t>
            </a:r>
          </a:p>
        </p:txBody>
      </p:sp>
      <p:sp>
        <p:nvSpPr>
          <p:cNvPr id="16" name="TextBox 15"/>
          <p:cNvSpPr txBox="1"/>
          <p:nvPr/>
        </p:nvSpPr>
        <p:spPr>
          <a:xfrm>
            <a:off x="658368"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Marge de recherche suivie</a:t>
            </a:r>
          </a:p>
        </p:txBody>
      </p:sp>
      <p:sp>
        <p:nvSpPr>
          <p:cNvPr id="17" name="TextBox 16"/>
          <p:cNvSpPr txBox="1"/>
          <p:nvPr/>
        </p:nvSpPr>
        <p:spPr>
          <a:xfrm>
            <a:off x="4267047"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20 %</a:t>
            </a:r>
          </a:p>
        </p:txBody>
      </p:sp>
      <p:sp>
        <p:nvSpPr>
          <p:cNvPr id="18" name="Rectangle 17"/>
          <p:cNvSpPr/>
          <p:nvPr/>
        </p:nvSpPr>
        <p:spPr>
          <a:xfrm>
            <a:off x="548640" y="3465576"/>
            <a:ext cx="5410047" cy="420624"/>
          </a:xfrm>
          <a:prstGeom prst="rect">
            <a:avLst/>
          </a:prstGeom>
          <a:solidFill>
            <a:srgbClr val="EEF2F6"/>
          </a:solidFill>
          <a:ln>
            <a:noFill/>
          </a:ln>
        </p:spPr>
        <p:txBody>
          <a:bodyPr rtlCol="0" anchor="ctr"/>
          <a:lstStyle/>
          <a:p/>
        </p:txBody>
      </p:sp>
      <p:sp>
        <p:nvSpPr>
          <p:cNvPr id="19" name="TextBox 18"/>
          <p:cNvSpPr txBox="1"/>
          <p:nvPr/>
        </p:nvSpPr>
        <p:spPr>
          <a:xfrm>
            <a:off x="658368"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Canny bas / haut (× médiane)</a:t>
            </a:r>
          </a:p>
        </p:txBody>
      </p:sp>
      <p:sp>
        <p:nvSpPr>
          <p:cNvPr id="20" name="TextBox 19"/>
          <p:cNvSpPr txBox="1"/>
          <p:nvPr/>
        </p:nvSpPr>
        <p:spPr>
          <a:xfrm>
            <a:off x="4267047"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0,66 / 1,33</a:t>
            </a:r>
          </a:p>
        </p:txBody>
      </p:sp>
      <p:sp>
        <p:nvSpPr>
          <p:cNvPr id="21" name="TextBox 20"/>
          <p:cNvSpPr txBox="1"/>
          <p:nvPr/>
        </p:nvSpPr>
        <p:spPr>
          <a:xfrm>
            <a:off x="658368"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de contour minimale</a:t>
            </a:r>
          </a:p>
        </p:txBody>
      </p:sp>
      <p:sp>
        <p:nvSpPr>
          <p:cNvPr id="22" name="TextBox 21"/>
          <p:cNvSpPr txBox="1"/>
          <p:nvPr/>
        </p:nvSpPr>
        <p:spPr>
          <a:xfrm>
            <a:off x="4267047"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3,5 %</a:t>
            </a:r>
          </a:p>
        </p:txBody>
      </p:sp>
      <p:sp>
        <p:nvSpPr>
          <p:cNvPr id="23" name="Rectangle 22"/>
          <p:cNvSpPr/>
          <p:nvPr/>
        </p:nvSpPr>
        <p:spPr>
          <a:xfrm>
            <a:off x="548640" y="4306824"/>
            <a:ext cx="5410047" cy="420624"/>
          </a:xfrm>
          <a:prstGeom prst="rect">
            <a:avLst/>
          </a:prstGeom>
          <a:solidFill>
            <a:srgbClr val="EEF2F6"/>
          </a:solidFill>
          <a:ln>
            <a:noFill/>
          </a:ln>
        </p:spPr>
        <p:txBody>
          <a:bodyPr rtlCol="0" anchor="ctr"/>
          <a:lstStyle/>
          <a:p/>
        </p:txBody>
      </p:sp>
      <p:sp>
        <p:nvSpPr>
          <p:cNvPr id="24" name="TextBox 23"/>
          <p:cNvSpPr txBox="1"/>
          <p:nvPr/>
        </p:nvSpPr>
        <p:spPr>
          <a:xfrm>
            <a:off x="658368"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Aire maximale acceptée</a:t>
            </a:r>
          </a:p>
        </p:txBody>
      </p:sp>
      <p:sp>
        <p:nvSpPr>
          <p:cNvPr id="25" name="TextBox 24"/>
          <p:cNvSpPr txBox="1"/>
          <p:nvPr/>
        </p:nvSpPr>
        <p:spPr>
          <a:xfrm>
            <a:off x="4267047"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75 %</a:t>
            </a:r>
          </a:p>
        </p:txBody>
      </p:sp>
      <p:sp>
        <p:nvSpPr>
          <p:cNvPr id="26" name="TextBox 25"/>
          <p:cNvSpPr txBox="1"/>
          <p:nvPr/>
        </p:nvSpPr>
        <p:spPr>
          <a:xfrm>
            <a:off x="658368"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Pénalité quad non net</a:t>
            </a:r>
          </a:p>
        </p:txBody>
      </p:sp>
      <p:sp>
        <p:nvSpPr>
          <p:cNvPr id="27" name="TextBox 26"/>
          <p:cNvSpPr txBox="1"/>
          <p:nvPr/>
        </p:nvSpPr>
        <p:spPr>
          <a:xfrm>
            <a:off x="4267047"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 0,85</a:t>
            </a:r>
          </a:p>
        </p:txBody>
      </p:sp>
      <p:sp>
        <p:nvSpPr>
          <p:cNvPr id="28" name="Rectangle 27"/>
          <p:cNvSpPr/>
          <p:nvPr/>
        </p:nvSpPr>
        <p:spPr>
          <a:xfrm>
            <a:off x="548640" y="5148072"/>
            <a:ext cx="5410047" cy="420624"/>
          </a:xfrm>
          <a:prstGeom prst="rect">
            <a:avLst/>
          </a:prstGeom>
          <a:solidFill>
            <a:srgbClr val="EEF2F6"/>
          </a:solidFill>
          <a:ln>
            <a:noFill/>
          </a:ln>
        </p:spPr>
        <p:txBody>
          <a:bodyPr rtlCol="0" anchor="ctr"/>
          <a:lstStyle/>
          <a:p/>
        </p:txBody>
      </p:sp>
      <p:sp>
        <p:nvSpPr>
          <p:cNvPr id="29" name="TextBox 28"/>
          <p:cNvSpPr txBox="1"/>
          <p:nvPr/>
        </p:nvSpPr>
        <p:spPr>
          <a:xfrm>
            <a:off x="658368"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Proportion / taille (score)</a:t>
            </a:r>
          </a:p>
        </p:txBody>
      </p:sp>
      <p:sp>
        <p:nvSpPr>
          <p:cNvPr id="30" name="TextBox 29"/>
          <p:cNvSpPr txBox="1"/>
          <p:nvPr/>
        </p:nvSpPr>
        <p:spPr>
          <a:xfrm>
            <a:off x="4267047"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0,8 / 0,2</a:t>
            </a:r>
          </a:p>
        </p:txBody>
      </p:sp>
      <p:sp>
        <p:nvSpPr>
          <p:cNvPr id="31" name="TextBox 30"/>
          <p:cNvSpPr txBox="1"/>
          <p:nvPr/>
        </p:nvSpPr>
        <p:spPr>
          <a:xfrm>
            <a:off x="658368"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Redressement</a:t>
            </a:r>
          </a:p>
        </p:txBody>
      </p:sp>
      <p:sp>
        <p:nvSpPr>
          <p:cNvPr id="32" name="TextBox 31"/>
          <p:cNvSpPr txBox="1"/>
          <p:nvPr/>
        </p:nvSpPr>
        <p:spPr>
          <a:xfrm>
            <a:off x="4267047"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856 × 540 px</a:t>
            </a:r>
          </a:p>
        </p:txBody>
      </p:sp>
      <p:sp>
        <p:nvSpPr>
          <p:cNvPr id="33" name="Rectangle 32"/>
          <p:cNvSpPr/>
          <p:nvPr/>
        </p:nvSpPr>
        <p:spPr>
          <a:xfrm>
            <a:off x="6233007" y="1783080"/>
            <a:ext cx="5410047" cy="420624"/>
          </a:xfrm>
          <a:prstGeom prst="rect">
            <a:avLst/>
          </a:prstGeom>
          <a:solidFill>
            <a:srgbClr val="EEF2F6"/>
          </a:solidFill>
          <a:ln>
            <a:noFill/>
          </a:ln>
        </p:spPr>
        <p:txBody>
          <a:bodyPr rtlCol="0" anchor="ctr"/>
          <a:lstStyle/>
          <a:p/>
        </p:txBody>
      </p:sp>
      <p:sp>
        <p:nvSpPr>
          <p:cNvPr id="34" name="TextBox 33"/>
          <p:cNvSpPr txBox="1"/>
          <p:nvPr/>
        </p:nvSpPr>
        <p:spPr>
          <a:xfrm>
            <a:off x="6342735" y="1783080"/>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minimale (Laplacien)</a:t>
            </a:r>
          </a:p>
        </p:txBody>
      </p:sp>
      <p:sp>
        <p:nvSpPr>
          <p:cNvPr id="35" name="TextBox 34"/>
          <p:cNvSpPr txBox="1"/>
          <p:nvPr/>
        </p:nvSpPr>
        <p:spPr>
          <a:xfrm>
            <a:off x="9951415" y="1783080"/>
            <a:ext cx="1554480" cy="420624"/>
          </a:xfrm>
          <a:prstGeom prst="rect">
            <a:avLst/>
          </a:prstGeom>
          <a:noFill/>
        </p:spPr>
        <p:txBody>
          <a:bodyPr wrap="square" lIns="0" rIns="0" tIns="0" bIns="0" anchor="ctr">
            <a:spAutoFit/>
          </a:bodyPr>
          <a:lstStyle/>
          <a:p>
            <a:pPr algn="r"/>
            <a:r>
              <a:rPr sz="1500" b="1" i="0">
                <a:solidFill>
                  <a:srgbClr val="1F3A5F"/>
                </a:solidFill>
                <a:latin typeface="Arial"/>
              </a:rPr>
              <a:t>120</a:t>
            </a:r>
          </a:p>
        </p:txBody>
      </p:sp>
      <p:sp>
        <p:nvSpPr>
          <p:cNvPr id="36" name="TextBox 35"/>
          <p:cNvSpPr txBox="1"/>
          <p:nvPr/>
        </p:nvSpPr>
        <p:spPr>
          <a:xfrm>
            <a:off x="6342735" y="2203704"/>
            <a:ext cx="3718407" cy="420624"/>
          </a:xfrm>
          <a:prstGeom prst="rect">
            <a:avLst/>
          </a:prstGeom>
          <a:noFill/>
        </p:spPr>
        <p:txBody>
          <a:bodyPr wrap="square" lIns="0" rIns="0" tIns="0" bIns="0" anchor="ctr">
            <a:spAutoFit/>
          </a:bodyPr>
          <a:lstStyle/>
          <a:p>
            <a:pPr algn="l"/>
            <a:r>
              <a:rPr sz="1500" b="0" i="0">
                <a:solidFill>
                  <a:srgbClr val="1B2530"/>
                </a:solidFill>
                <a:latin typeface="Arial"/>
              </a:rPr>
              <a:t>Luminosité moyenne</a:t>
            </a:r>
          </a:p>
        </p:txBody>
      </p:sp>
      <p:sp>
        <p:nvSpPr>
          <p:cNvPr id="37" name="TextBox 36"/>
          <p:cNvSpPr txBox="1"/>
          <p:nvPr/>
        </p:nvSpPr>
        <p:spPr>
          <a:xfrm>
            <a:off x="9951415" y="2203704"/>
            <a:ext cx="1554480" cy="420624"/>
          </a:xfrm>
          <a:prstGeom prst="rect">
            <a:avLst/>
          </a:prstGeom>
          <a:noFill/>
        </p:spPr>
        <p:txBody>
          <a:bodyPr wrap="square" lIns="0" rIns="0" tIns="0" bIns="0" anchor="ctr">
            <a:spAutoFit/>
          </a:bodyPr>
          <a:lstStyle/>
          <a:p>
            <a:pPr algn="r"/>
            <a:r>
              <a:rPr sz="1500" b="1" i="0">
                <a:solidFill>
                  <a:srgbClr val="1F3A5F"/>
                </a:solidFill>
                <a:latin typeface="Arial"/>
              </a:rPr>
              <a:t>[60 ; 225]</a:t>
            </a:r>
          </a:p>
        </p:txBody>
      </p:sp>
      <p:sp>
        <p:nvSpPr>
          <p:cNvPr id="38" name="Rectangle 37"/>
          <p:cNvSpPr/>
          <p:nvPr/>
        </p:nvSpPr>
        <p:spPr>
          <a:xfrm>
            <a:off x="6233007" y="2624328"/>
            <a:ext cx="5410047" cy="420624"/>
          </a:xfrm>
          <a:prstGeom prst="rect">
            <a:avLst/>
          </a:prstGeom>
          <a:solidFill>
            <a:srgbClr val="EEF2F6"/>
          </a:solidFill>
          <a:ln>
            <a:noFill/>
          </a:ln>
        </p:spPr>
        <p:txBody>
          <a:bodyPr rtlCol="0" anchor="ctr"/>
          <a:lstStyle/>
          <a:p/>
        </p:txBody>
      </p:sp>
      <p:sp>
        <p:nvSpPr>
          <p:cNvPr id="39" name="TextBox 38"/>
          <p:cNvSpPr txBox="1"/>
          <p:nvPr/>
        </p:nvSpPr>
        <p:spPr>
          <a:xfrm>
            <a:off x="6342735" y="2624328"/>
            <a:ext cx="3718407" cy="420624"/>
          </a:xfrm>
          <a:prstGeom prst="rect">
            <a:avLst/>
          </a:prstGeom>
          <a:noFill/>
        </p:spPr>
        <p:txBody>
          <a:bodyPr wrap="square" lIns="0" rIns="0" tIns="0" bIns="0" anchor="ctr">
            <a:spAutoFit/>
          </a:bodyPr>
          <a:lstStyle/>
          <a:p>
            <a:pPr algn="l"/>
            <a:r>
              <a:rPr sz="1500" b="0" i="0">
                <a:solidFill>
                  <a:srgbClr val="1B2530"/>
                </a:solidFill>
                <a:latin typeface="Arial"/>
              </a:rPr>
              <a:t>Pixels saturés tolérés (≥ 250)</a:t>
            </a:r>
          </a:p>
        </p:txBody>
      </p:sp>
      <p:sp>
        <p:nvSpPr>
          <p:cNvPr id="40" name="TextBox 39"/>
          <p:cNvSpPr txBox="1"/>
          <p:nvPr/>
        </p:nvSpPr>
        <p:spPr>
          <a:xfrm>
            <a:off x="9951415" y="2624328"/>
            <a:ext cx="1554480" cy="420624"/>
          </a:xfrm>
          <a:prstGeom prst="rect">
            <a:avLst/>
          </a:prstGeom>
          <a:noFill/>
        </p:spPr>
        <p:txBody>
          <a:bodyPr wrap="square" lIns="0" rIns="0" tIns="0" bIns="0" anchor="ctr">
            <a:spAutoFit/>
          </a:bodyPr>
          <a:lstStyle/>
          <a:p>
            <a:pPr algn="r"/>
            <a:r>
              <a:rPr sz="1500" b="1" i="0">
                <a:solidFill>
                  <a:srgbClr val="1F3A5F"/>
                </a:solidFill>
                <a:latin typeface="Arial"/>
              </a:rPr>
              <a:t>12 %</a:t>
            </a:r>
          </a:p>
        </p:txBody>
      </p:sp>
      <p:sp>
        <p:nvSpPr>
          <p:cNvPr id="41" name="TextBox 40"/>
          <p:cNvSpPr txBox="1"/>
          <p:nvPr/>
        </p:nvSpPr>
        <p:spPr>
          <a:xfrm>
            <a:off x="6342735" y="3044952"/>
            <a:ext cx="3718407" cy="420624"/>
          </a:xfrm>
          <a:prstGeom prst="rect">
            <a:avLst/>
          </a:prstGeom>
          <a:noFill/>
        </p:spPr>
        <p:txBody>
          <a:bodyPr wrap="square" lIns="0" rIns="0" tIns="0" bIns="0" anchor="ctr">
            <a:spAutoFit/>
          </a:bodyPr>
          <a:lstStyle/>
          <a:p>
            <a:pPr algn="l"/>
            <a:r>
              <a:rPr sz="1500" b="0" i="0">
                <a:solidFill>
                  <a:srgbClr val="1B2530"/>
                </a:solidFill>
                <a:latin typeface="Arial"/>
              </a:rPr>
              <a:t>Dérive de coin maximale</a:t>
            </a:r>
          </a:p>
        </p:txBody>
      </p:sp>
      <p:sp>
        <p:nvSpPr>
          <p:cNvPr id="42" name="TextBox 41"/>
          <p:cNvSpPr txBox="1"/>
          <p:nvPr/>
        </p:nvSpPr>
        <p:spPr>
          <a:xfrm>
            <a:off x="9951415" y="3044952"/>
            <a:ext cx="1554480" cy="420624"/>
          </a:xfrm>
          <a:prstGeom prst="rect">
            <a:avLst/>
          </a:prstGeom>
          <a:noFill/>
        </p:spPr>
        <p:txBody>
          <a:bodyPr wrap="square" lIns="0" rIns="0" tIns="0" bIns="0" anchor="ctr">
            <a:spAutoFit/>
          </a:bodyPr>
          <a:lstStyle/>
          <a:p>
            <a:pPr algn="r"/>
            <a:r>
              <a:rPr sz="1500" b="1" i="0">
                <a:solidFill>
                  <a:srgbClr val="1F3A5F"/>
                </a:solidFill>
                <a:latin typeface="Arial"/>
              </a:rPr>
              <a:t>2,5 % diag.</a:t>
            </a:r>
          </a:p>
        </p:txBody>
      </p:sp>
      <p:sp>
        <p:nvSpPr>
          <p:cNvPr id="43" name="Rectangle 42"/>
          <p:cNvSpPr/>
          <p:nvPr/>
        </p:nvSpPr>
        <p:spPr>
          <a:xfrm>
            <a:off x="6233007" y="3465576"/>
            <a:ext cx="5410047" cy="420624"/>
          </a:xfrm>
          <a:prstGeom prst="rect">
            <a:avLst/>
          </a:prstGeom>
          <a:solidFill>
            <a:srgbClr val="EEF2F6"/>
          </a:solidFill>
          <a:ln>
            <a:noFill/>
          </a:ln>
        </p:spPr>
        <p:txBody>
          <a:bodyPr rtlCol="0" anchor="ctr"/>
          <a:lstStyle/>
          <a:p/>
        </p:txBody>
      </p:sp>
      <p:sp>
        <p:nvSpPr>
          <p:cNvPr id="44" name="TextBox 43"/>
          <p:cNvSpPr txBox="1"/>
          <p:nvPr/>
        </p:nvSpPr>
        <p:spPr>
          <a:xfrm>
            <a:off x="6342735" y="3465576"/>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stables / reset</a:t>
            </a:r>
          </a:p>
        </p:txBody>
      </p:sp>
      <p:sp>
        <p:nvSpPr>
          <p:cNvPr id="45" name="TextBox 44"/>
          <p:cNvSpPr txBox="1"/>
          <p:nvPr/>
        </p:nvSpPr>
        <p:spPr>
          <a:xfrm>
            <a:off x="9951415" y="3465576"/>
            <a:ext cx="1554480" cy="420624"/>
          </a:xfrm>
          <a:prstGeom prst="rect">
            <a:avLst/>
          </a:prstGeom>
          <a:noFill/>
        </p:spPr>
        <p:txBody>
          <a:bodyPr wrap="square" lIns="0" rIns="0" tIns="0" bIns="0" anchor="ctr">
            <a:spAutoFit/>
          </a:bodyPr>
          <a:lstStyle/>
          <a:p>
            <a:pPr algn="r"/>
            <a:r>
              <a:rPr sz="1500" b="1" i="0">
                <a:solidFill>
                  <a:srgbClr val="1F3A5F"/>
                </a:solidFill>
                <a:latin typeface="Arial"/>
              </a:rPr>
              <a:t>3 / 2</a:t>
            </a:r>
          </a:p>
        </p:txBody>
      </p:sp>
      <p:sp>
        <p:nvSpPr>
          <p:cNvPr id="46" name="TextBox 45"/>
          <p:cNvSpPr txBox="1"/>
          <p:nvPr/>
        </p:nvSpPr>
        <p:spPr>
          <a:xfrm>
            <a:off x="6342735" y="3886200"/>
            <a:ext cx="3718407" cy="420624"/>
          </a:xfrm>
          <a:prstGeom prst="rect">
            <a:avLst/>
          </a:prstGeom>
          <a:noFill/>
        </p:spPr>
        <p:txBody>
          <a:bodyPr wrap="square" lIns="0" rIns="0" tIns="0" bIns="0" anchor="ctr">
            <a:spAutoFit/>
          </a:bodyPr>
          <a:lstStyle/>
          <a:p>
            <a:pPr algn="l"/>
            <a:r>
              <a:rPr sz="1500" b="0" i="0">
                <a:solidFill>
                  <a:srgbClr val="1B2530"/>
                </a:solidFill>
                <a:latin typeface="Arial"/>
              </a:rPr>
              <a:t>Frames de maintien</a:t>
            </a:r>
          </a:p>
        </p:txBody>
      </p:sp>
      <p:sp>
        <p:nvSpPr>
          <p:cNvPr id="47" name="TextBox 46"/>
          <p:cNvSpPr txBox="1"/>
          <p:nvPr/>
        </p:nvSpPr>
        <p:spPr>
          <a:xfrm>
            <a:off x="9951415" y="3886200"/>
            <a:ext cx="1554480" cy="420624"/>
          </a:xfrm>
          <a:prstGeom prst="rect">
            <a:avLst/>
          </a:prstGeom>
          <a:noFill/>
        </p:spPr>
        <p:txBody>
          <a:bodyPr wrap="square" lIns="0" rIns="0" tIns="0" bIns="0" anchor="ctr">
            <a:spAutoFit/>
          </a:bodyPr>
          <a:lstStyle/>
          <a:p>
            <a:pPr algn="r"/>
            <a:r>
              <a:rPr sz="1500" b="1" i="0">
                <a:solidFill>
                  <a:srgbClr val="1F3A5F"/>
                </a:solidFill>
                <a:latin typeface="Arial"/>
              </a:rPr>
              <a:t>2</a:t>
            </a:r>
          </a:p>
        </p:txBody>
      </p:sp>
      <p:sp>
        <p:nvSpPr>
          <p:cNvPr id="48" name="Rectangle 47"/>
          <p:cNvSpPr/>
          <p:nvPr/>
        </p:nvSpPr>
        <p:spPr>
          <a:xfrm>
            <a:off x="6233007" y="4306824"/>
            <a:ext cx="5410047" cy="420624"/>
          </a:xfrm>
          <a:prstGeom prst="rect">
            <a:avLst/>
          </a:prstGeom>
          <a:solidFill>
            <a:srgbClr val="EEF2F6"/>
          </a:solidFill>
          <a:ln>
            <a:noFill/>
          </a:ln>
        </p:spPr>
        <p:txBody>
          <a:bodyPr rtlCol="0" anchor="ctr"/>
          <a:lstStyle/>
          <a:p/>
        </p:txBody>
      </p:sp>
      <p:sp>
        <p:nvSpPr>
          <p:cNvPr id="49" name="TextBox 48"/>
          <p:cNvSpPr txBox="1"/>
          <p:nvPr/>
        </p:nvSpPr>
        <p:spPr>
          <a:xfrm>
            <a:off x="6342735" y="4306824"/>
            <a:ext cx="3718407" cy="420624"/>
          </a:xfrm>
          <a:prstGeom prst="rect">
            <a:avLst/>
          </a:prstGeom>
          <a:noFill/>
        </p:spPr>
        <p:txBody>
          <a:bodyPr wrap="square" lIns="0" rIns="0" tIns="0" bIns="0" anchor="ctr">
            <a:spAutoFit/>
          </a:bodyPr>
          <a:lstStyle/>
          <a:p>
            <a:pPr algn="l"/>
            <a:r>
              <a:rPr sz="1500" b="0" i="0">
                <a:solidFill>
                  <a:srgbClr val="1B2530"/>
                </a:solidFill>
                <a:latin typeface="Arial"/>
              </a:rPr>
              <a:t>Haar : échelle / voisins</a:t>
            </a:r>
          </a:p>
        </p:txBody>
      </p:sp>
      <p:sp>
        <p:nvSpPr>
          <p:cNvPr id="50" name="TextBox 49"/>
          <p:cNvSpPr txBox="1"/>
          <p:nvPr/>
        </p:nvSpPr>
        <p:spPr>
          <a:xfrm>
            <a:off x="9951415" y="4306824"/>
            <a:ext cx="1554480" cy="420624"/>
          </a:xfrm>
          <a:prstGeom prst="rect">
            <a:avLst/>
          </a:prstGeom>
          <a:noFill/>
        </p:spPr>
        <p:txBody>
          <a:bodyPr wrap="square" lIns="0" rIns="0" tIns="0" bIns="0" anchor="ctr">
            <a:spAutoFit/>
          </a:bodyPr>
          <a:lstStyle/>
          <a:p>
            <a:pPr algn="r"/>
            <a:r>
              <a:rPr sz="1500" b="1" i="0">
                <a:solidFill>
                  <a:srgbClr val="1F3A5F"/>
                </a:solidFill>
                <a:latin typeface="Arial"/>
              </a:rPr>
              <a:t>1,05 / 8</a:t>
            </a:r>
          </a:p>
        </p:txBody>
      </p:sp>
      <p:sp>
        <p:nvSpPr>
          <p:cNvPr id="51" name="TextBox 50"/>
          <p:cNvSpPr txBox="1"/>
          <p:nvPr/>
        </p:nvSpPr>
        <p:spPr>
          <a:xfrm>
            <a:off x="6342735" y="4727448"/>
            <a:ext cx="3718407" cy="420624"/>
          </a:xfrm>
          <a:prstGeom prst="rect">
            <a:avLst/>
          </a:prstGeom>
          <a:noFill/>
        </p:spPr>
        <p:txBody>
          <a:bodyPr wrap="square" lIns="0" rIns="0" tIns="0" bIns="0" anchor="ctr">
            <a:spAutoFit/>
          </a:bodyPr>
          <a:lstStyle/>
          <a:p>
            <a:pPr algn="l"/>
            <a:r>
              <a:rPr sz="1500" b="0" i="0">
                <a:solidFill>
                  <a:srgbClr val="1B2530"/>
                </a:solidFill>
                <a:latin typeface="Arial"/>
              </a:rPr>
              <a:t>Corrélation logo / drapeau</a:t>
            </a:r>
          </a:p>
        </p:txBody>
      </p:sp>
      <p:sp>
        <p:nvSpPr>
          <p:cNvPr id="52" name="TextBox 51"/>
          <p:cNvSpPr txBox="1"/>
          <p:nvPr/>
        </p:nvSpPr>
        <p:spPr>
          <a:xfrm>
            <a:off x="9951415" y="4727448"/>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
        <p:nvSpPr>
          <p:cNvPr id="53" name="Rectangle 52"/>
          <p:cNvSpPr/>
          <p:nvPr/>
        </p:nvSpPr>
        <p:spPr>
          <a:xfrm>
            <a:off x="6233007" y="5148072"/>
            <a:ext cx="5410047" cy="420624"/>
          </a:xfrm>
          <a:prstGeom prst="rect">
            <a:avLst/>
          </a:prstGeom>
          <a:solidFill>
            <a:srgbClr val="EEF2F6"/>
          </a:solidFill>
          <a:ln>
            <a:noFill/>
          </a:ln>
        </p:spPr>
        <p:txBody>
          <a:bodyPr rtlCol="0" anchor="ctr"/>
          <a:lstStyle/>
          <a:p/>
        </p:txBody>
      </p:sp>
      <p:sp>
        <p:nvSpPr>
          <p:cNvPr id="54" name="TextBox 53"/>
          <p:cNvSpPr txBox="1"/>
          <p:nvPr/>
        </p:nvSpPr>
        <p:spPr>
          <a:xfrm>
            <a:off x="6342735" y="5148072"/>
            <a:ext cx="3718407" cy="420624"/>
          </a:xfrm>
          <a:prstGeom prst="rect">
            <a:avLst/>
          </a:prstGeom>
          <a:noFill/>
        </p:spPr>
        <p:txBody>
          <a:bodyPr wrap="square" lIns="0" rIns="0" tIns="0" bIns="0" anchor="ctr">
            <a:spAutoFit/>
          </a:bodyPr>
          <a:lstStyle/>
          <a:p>
            <a:pPr algn="l"/>
            <a:r>
              <a:rPr sz="1500" b="0" i="0">
                <a:solidFill>
                  <a:srgbClr val="1B2530"/>
                </a:solidFill>
                <a:latin typeface="Arial"/>
              </a:rPr>
              <a:t>Variance empreinte</a:t>
            </a:r>
          </a:p>
        </p:txBody>
      </p:sp>
      <p:sp>
        <p:nvSpPr>
          <p:cNvPr id="55" name="TextBox 54"/>
          <p:cNvSpPr txBox="1"/>
          <p:nvPr/>
        </p:nvSpPr>
        <p:spPr>
          <a:xfrm>
            <a:off x="9951415" y="5148072"/>
            <a:ext cx="1554480" cy="420624"/>
          </a:xfrm>
          <a:prstGeom prst="rect">
            <a:avLst/>
          </a:prstGeom>
          <a:noFill/>
        </p:spPr>
        <p:txBody>
          <a:bodyPr wrap="square" lIns="0" rIns="0" tIns="0" bIns="0" anchor="ctr">
            <a:spAutoFit/>
          </a:bodyPr>
          <a:lstStyle/>
          <a:p>
            <a:pPr algn="r"/>
            <a:r>
              <a:rPr sz="1500" b="1" i="0">
                <a:solidFill>
                  <a:srgbClr val="1F3A5F"/>
                </a:solidFill>
                <a:latin typeface="Arial"/>
              </a:rPr>
              <a:t>[150 ; 4 000]</a:t>
            </a:r>
          </a:p>
        </p:txBody>
      </p:sp>
      <p:sp>
        <p:nvSpPr>
          <p:cNvPr id="56" name="TextBox 55"/>
          <p:cNvSpPr txBox="1"/>
          <p:nvPr/>
        </p:nvSpPr>
        <p:spPr>
          <a:xfrm>
            <a:off x="6342735" y="5568696"/>
            <a:ext cx="3718407" cy="420624"/>
          </a:xfrm>
          <a:prstGeom prst="rect">
            <a:avLst/>
          </a:prstGeom>
          <a:noFill/>
        </p:spPr>
        <p:txBody>
          <a:bodyPr wrap="square" lIns="0" rIns="0" tIns="0" bIns="0" anchor="ctr">
            <a:spAutoFit/>
          </a:bodyPr>
          <a:lstStyle/>
          <a:p>
            <a:pPr algn="l"/>
            <a:r>
              <a:rPr sz="1500" b="0" i="0">
                <a:solidFill>
                  <a:srgbClr val="1B2530"/>
                </a:solidFill>
                <a:latin typeface="Arial"/>
              </a:rPr>
              <a:t>Netteté post-traitement (a)</a:t>
            </a:r>
          </a:p>
        </p:txBody>
      </p:sp>
      <p:sp>
        <p:nvSpPr>
          <p:cNvPr id="57" name="TextBox 56"/>
          <p:cNvSpPr txBox="1"/>
          <p:nvPr/>
        </p:nvSpPr>
        <p:spPr>
          <a:xfrm>
            <a:off x="9951415" y="5568696"/>
            <a:ext cx="1554480" cy="420624"/>
          </a:xfrm>
          <a:prstGeom prst="rect">
            <a:avLst/>
          </a:prstGeom>
          <a:noFill/>
        </p:spPr>
        <p:txBody>
          <a:bodyPr wrap="square" lIns="0" rIns="0" tIns="0" bIns="0" anchor="ctr">
            <a:spAutoFit/>
          </a:bodyPr>
          <a:lstStyle/>
          <a:p>
            <a:pPr algn="r"/>
            <a:r>
              <a:rPr sz="1500" b="1" i="0">
                <a:solidFill>
                  <a:srgbClr val="1F3A5F"/>
                </a:solidFill>
                <a:latin typeface="Arial"/>
              </a:rPr>
              <a:t>0,6</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350"/>
                                        <p:tgtEl>
                                          <p:spTgt spid="8"/>
                                        </p:tgtEl>
                                      </p:cBhvr>
                                    </p:animEffect>
                                  </p:childTnLst>
                                </p:cTn>
                              </p:par>
                              <p:par>
                                <p:cTn id="12" presetID="10"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350"/>
                                        <p:tgtEl>
                                          <p:spTgt spid="9"/>
                                        </p:tgtEl>
                                      </p:cBhvr>
                                    </p:animEffect>
                                  </p:childTnLst>
                                </p:cTn>
                              </p:par>
                              <p:par>
                                <p:cTn id="15" presetID="10" presetClass="entr" presetSubtype="0" fill="hold" nodeType="withEffect">
                                  <p:stCondLst>
                                    <p:cond delay="0"/>
                                  </p:stCondLst>
                                  <p:childTnLst>
                                    <p:set>
                                      <p:cBhvr>
                                        <p:cTn id="16" dur="1" fill="hold">
                                          <p:stCondLst>
                                            <p:cond delay="0"/>
                                          </p:stCondLst>
                                        </p:cTn>
                                        <p:tgtEl>
                                          <p:spTgt spid="10"/>
                                        </p:tgtEl>
                                        <p:attrNameLst>
                                          <p:attrName>style.visibility</p:attrName>
                                        </p:attrNameLst>
                                      </p:cBhvr>
                                      <p:to>
                                        <p:strVal val="visible"/>
                                      </p:to>
                                    </p:set>
                                    <p:animEffect transition="in" filter="fade">
                                      <p:cBhvr>
                                        <p:cTn id="17" dur="350"/>
                                        <p:tgtEl>
                                          <p:spTgt spid="10"/>
                                        </p:tgtEl>
                                      </p:cBhvr>
                                    </p:animEffect>
                                  </p:childTnLst>
                                </p:cTn>
                              </p:par>
                              <p:par>
                                <p:cTn id="18" presetID="10" presetClass="entr" presetSubtype="0" fill="hold" nodeType="withEffect">
                                  <p:stCondLst>
                                    <p:cond delay="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50"/>
                                        <p:tgtEl>
                                          <p:spTgt spid="33"/>
                                        </p:tgtEl>
                                      </p:cBhvr>
                                    </p:animEffect>
                                  </p:childTnLst>
                                </p:cTn>
                              </p:par>
                              <p:par>
                                <p:cTn id="21" presetID="10" presetClass="entr" presetSubtype="0" fill="hold" nodeType="withEffect">
                                  <p:stCondLst>
                                    <p:cond delay="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50"/>
                                        <p:tgtEl>
                                          <p:spTgt spid="34"/>
                                        </p:tgtEl>
                                      </p:cBhvr>
                                    </p:animEffect>
                                  </p:childTnLst>
                                </p:cTn>
                              </p:par>
                              <p:par>
                                <p:cTn id="24" presetID="10" presetClass="entr" presetSubtype="0" fill="hold" nodeType="withEffect">
                                  <p:stCondLst>
                                    <p:cond delay="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50"/>
                                        <p:tgtEl>
                                          <p:spTgt spid="35"/>
                                        </p:tgtEl>
                                      </p:cBhvr>
                                    </p:animEffect>
                                  </p:childTnLst>
                                </p:cTn>
                              </p:par>
                              <p:par>
                                <p:cTn id="27" presetID="10" presetClass="entr" presetSubtype="0" fill="hold" nodeType="withEffect">
                                  <p:stCondLst>
                                    <p:cond delay="0"/>
                                  </p:stCondLst>
                                  <p:childTnLst>
                                    <p:set>
                                      <p:cBhvr>
                                        <p:cTn id="28" dur="1" fill="hold">
                                          <p:stCondLst>
                                            <p:cond delay="0"/>
                                          </p:stCondLst>
                                        </p:cTn>
                                        <p:tgtEl>
                                          <p:spTgt spid="11"/>
                                        </p:tgtEl>
                                        <p:attrNameLst>
                                          <p:attrName>style.visibility</p:attrName>
                                        </p:attrNameLst>
                                      </p:cBhvr>
                                      <p:to>
                                        <p:strVal val="visible"/>
                                      </p:to>
                                    </p:set>
                                    <p:animEffect transition="in" filter="fade">
                                      <p:cBhvr>
                                        <p:cTn id="29" dur="350"/>
                                        <p:tgtEl>
                                          <p:spTgt spid="11"/>
                                        </p:tgtEl>
                                      </p:cBhvr>
                                    </p:animEffect>
                                  </p:childTnLst>
                                </p:cTn>
                              </p:par>
                              <p:par>
                                <p:cTn id="30" presetID="10" presetClass="entr" presetSubtype="0" fill="hold" nodeType="with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350"/>
                                        <p:tgtEl>
                                          <p:spTgt spid="12"/>
                                        </p:tgtEl>
                                      </p:cBhvr>
                                    </p:animEffect>
                                  </p:childTnLst>
                                </p:cTn>
                              </p:par>
                              <p:par>
                                <p:cTn id="33" presetID="10" presetClass="entr" presetSubtype="0" fill="hold" nodeType="withEffect">
                                  <p:stCondLst>
                                    <p:cond delay="0"/>
                                  </p:stCondLst>
                                  <p:childTnLst>
                                    <p:set>
                                      <p:cBhvr>
                                        <p:cTn id="34" dur="1" fill="hold">
                                          <p:stCondLst>
                                            <p:cond delay="0"/>
                                          </p:stCondLst>
                                        </p:cTn>
                                        <p:tgtEl>
                                          <p:spTgt spid="36"/>
                                        </p:tgtEl>
                                        <p:attrNameLst>
                                          <p:attrName>style.visibility</p:attrName>
                                        </p:attrNameLst>
                                      </p:cBhvr>
                                      <p:to>
                                        <p:strVal val="visible"/>
                                      </p:to>
                                    </p:set>
                                    <p:animEffect transition="in" filter="fade">
                                      <p:cBhvr>
                                        <p:cTn id="35" dur="350"/>
                                        <p:tgtEl>
                                          <p:spTgt spid="36"/>
                                        </p:tgtEl>
                                      </p:cBhvr>
                                    </p:animEffect>
                                  </p:childTnLst>
                                </p:cTn>
                              </p:par>
                              <p:par>
                                <p:cTn id="36" presetID="10" presetClass="entr" presetSubtype="0" fill="hold" nodeType="withEffect">
                                  <p:stCondLst>
                                    <p:cond delay="0"/>
                                  </p:stCondLst>
                                  <p:childTnLst>
                                    <p:set>
                                      <p:cBhvr>
                                        <p:cTn id="37" dur="1" fill="hold">
                                          <p:stCondLst>
                                            <p:cond delay="0"/>
                                          </p:stCondLst>
                                        </p:cTn>
                                        <p:tgtEl>
                                          <p:spTgt spid="37"/>
                                        </p:tgtEl>
                                        <p:attrNameLst>
                                          <p:attrName>style.visibility</p:attrName>
                                        </p:attrNameLst>
                                      </p:cBhvr>
                                      <p:to>
                                        <p:strVal val="visible"/>
                                      </p:to>
                                    </p:set>
                                    <p:animEffect transition="in" filter="fade">
                                      <p:cBhvr>
                                        <p:cTn id="38" dur="350"/>
                                        <p:tgtEl>
                                          <p:spTgt spid="37"/>
                                        </p:tgtEl>
                                      </p:cBhvr>
                                    </p:animEffect>
                                  </p:childTnLst>
                                </p:cTn>
                              </p:par>
                              <p:par>
                                <p:cTn id="39" presetID="10" presetClass="entr" presetSubtype="0" fill="hold" nodeType="withEffect">
                                  <p:stCondLst>
                                    <p:cond delay="0"/>
                                  </p:stCondLst>
                                  <p:childTnLst>
                                    <p:set>
                                      <p:cBhvr>
                                        <p:cTn id="40" dur="1" fill="hold">
                                          <p:stCondLst>
                                            <p:cond delay="0"/>
                                          </p:stCondLst>
                                        </p:cTn>
                                        <p:tgtEl>
                                          <p:spTgt spid="13"/>
                                        </p:tgtEl>
                                        <p:attrNameLst>
                                          <p:attrName>style.visibility</p:attrName>
                                        </p:attrNameLst>
                                      </p:cBhvr>
                                      <p:to>
                                        <p:strVal val="visible"/>
                                      </p:to>
                                    </p:set>
                                    <p:animEffect transition="in" filter="fade">
                                      <p:cBhvr>
                                        <p:cTn id="41" dur="350"/>
                                        <p:tgtEl>
                                          <p:spTgt spid="13"/>
                                        </p:tgtEl>
                                      </p:cBhvr>
                                    </p:animEffect>
                                  </p:childTnLst>
                                </p:cTn>
                              </p:par>
                              <p:par>
                                <p:cTn id="42" presetID="10" presetClass="entr" presetSubtype="0" fill="hold" nodeType="withEffect">
                                  <p:stCondLst>
                                    <p:cond delay="0"/>
                                  </p:stCondLst>
                                  <p:childTnLst>
                                    <p:set>
                                      <p:cBhvr>
                                        <p:cTn id="43" dur="1" fill="hold">
                                          <p:stCondLst>
                                            <p:cond delay="0"/>
                                          </p:stCondLst>
                                        </p:cTn>
                                        <p:tgtEl>
                                          <p:spTgt spid="14"/>
                                        </p:tgtEl>
                                        <p:attrNameLst>
                                          <p:attrName>style.visibility</p:attrName>
                                        </p:attrNameLst>
                                      </p:cBhvr>
                                      <p:to>
                                        <p:strVal val="visible"/>
                                      </p:to>
                                    </p:set>
                                    <p:animEffect transition="in" filter="fade">
                                      <p:cBhvr>
                                        <p:cTn id="44" dur="350"/>
                                        <p:tgtEl>
                                          <p:spTgt spid="14"/>
                                        </p:tgtEl>
                                      </p:cBhvr>
                                    </p:animEffect>
                                  </p:childTnLst>
                                </p:cTn>
                              </p:par>
                              <p:par>
                                <p:cTn id="45" presetID="10" presetClass="entr" presetSubtype="0" fill="hold" nodeType="withEffect">
                                  <p:stCondLst>
                                    <p:cond delay="0"/>
                                  </p:stCondLst>
                                  <p:childTnLst>
                                    <p:set>
                                      <p:cBhvr>
                                        <p:cTn id="46" dur="1" fill="hold">
                                          <p:stCondLst>
                                            <p:cond delay="0"/>
                                          </p:stCondLst>
                                        </p:cTn>
                                        <p:tgtEl>
                                          <p:spTgt spid="15"/>
                                        </p:tgtEl>
                                        <p:attrNameLst>
                                          <p:attrName>style.visibility</p:attrName>
                                        </p:attrNameLst>
                                      </p:cBhvr>
                                      <p:to>
                                        <p:strVal val="visible"/>
                                      </p:to>
                                    </p:set>
                                    <p:animEffect transition="in" filter="fade">
                                      <p:cBhvr>
                                        <p:cTn id="47" dur="350"/>
                                        <p:tgtEl>
                                          <p:spTgt spid="15"/>
                                        </p:tgtEl>
                                      </p:cBhvr>
                                    </p:animEffect>
                                  </p:childTnLst>
                                </p:cTn>
                              </p:par>
                              <p:par>
                                <p:cTn id="48" presetID="10" presetClass="entr" presetSubtype="0" fill="hold" nodeType="withEffect">
                                  <p:stCondLst>
                                    <p:cond delay="0"/>
                                  </p:stCondLst>
                                  <p:childTnLst>
                                    <p:set>
                                      <p:cBhvr>
                                        <p:cTn id="49" dur="1" fill="hold">
                                          <p:stCondLst>
                                            <p:cond delay="0"/>
                                          </p:stCondLst>
                                        </p:cTn>
                                        <p:tgtEl>
                                          <p:spTgt spid="38"/>
                                        </p:tgtEl>
                                        <p:attrNameLst>
                                          <p:attrName>style.visibility</p:attrName>
                                        </p:attrNameLst>
                                      </p:cBhvr>
                                      <p:to>
                                        <p:strVal val="visible"/>
                                      </p:to>
                                    </p:set>
                                    <p:animEffect transition="in" filter="fade">
                                      <p:cBhvr>
                                        <p:cTn id="50" dur="350"/>
                                        <p:tgtEl>
                                          <p:spTgt spid="38"/>
                                        </p:tgtEl>
                                      </p:cBhvr>
                                    </p:animEffect>
                                  </p:childTnLst>
                                </p:cTn>
                              </p:par>
                              <p:par>
                                <p:cTn id="51" presetID="10" presetClass="entr" presetSubtype="0" fill="hold"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fade">
                                      <p:cBhvr>
                                        <p:cTn id="53" dur="350"/>
                                        <p:tgtEl>
                                          <p:spTgt spid="39"/>
                                        </p:tgtEl>
                                      </p:cBhvr>
                                    </p:animEffect>
                                  </p:childTnLst>
                                </p:cTn>
                              </p:par>
                              <p:par>
                                <p:cTn id="54" presetID="10" presetClass="entr" presetSubtype="0" fill="hold" nodeType="withEffect">
                                  <p:stCondLst>
                                    <p:cond delay="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350"/>
                                        <p:tgtEl>
                                          <p:spTgt spid="40"/>
                                        </p:tgtEl>
                                      </p:cBhvr>
                                    </p:animEffect>
                                  </p:childTnLst>
                                </p:cTn>
                              </p:par>
                              <p:par>
                                <p:cTn id="57" presetID="10" presetClass="entr" presetSubtype="0" fill="hold" nodeType="withEffect">
                                  <p:stCondLst>
                                    <p:cond delay="0"/>
                                  </p:stCondLst>
                                  <p:childTnLst>
                                    <p:set>
                                      <p:cBhvr>
                                        <p:cTn id="58" dur="1" fill="hold">
                                          <p:stCondLst>
                                            <p:cond delay="0"/>
                                          </p:stCondLst>
                                        </p:cTn>
                                        <p:tgtEl>
                                          <p:spTgt spid="16"/>
                                        </p:tgtEl>
                                        <p:attrNameLst>
                                          <p:attrName>style.visibility</p:attrName>
                                        </p:attrNameLst>
                                      </p:cBhvr>
                                      <p:to>
                                        <p:strVal val="visible"/>
                                      </p:to>
                                    </p:set>
                                    <p:animEffect transition="in" filter="fade">
                                      <p:cBhvr>
                                        <p:cTn id="59" dur="350"/>
                                        <p:tgtEl>
                                          <p:spTgt spid="16"/>
                                        </p:tgtEl>
                                      </p:cBhvr>
                                    </p:animEffect>
                                  </p:childTnLst>
                                </p:cTn>
                              </p:par>
                              <p:par>
                                <p:cTn id="60" presetID="10" presetClass="entr" presetSubtype="0" fill="hold" nodeType="withEffect">
                                  <p:stCondLst>
                                    <p:cond delay="0"/>
                                  </p:stCondLst>
                                  <p:childTnLst>
                                    <p:set>
                                      <p:cBhvr>
                                        <p:cTn id="61" dur="1" fill="hold">
                                          <p:stCondLst>
                                            <p:cond delay="0"/>
                                          </p:stCondLst>
                                        </p:cTn>
                                        <p:tgtEl>
                                          <p:spTgt spid="17"/>
                                        </p:tgtEl>
                                        <p:attrNameLst>
                                          <p:attrName>style.visibility</p:attrName>
                                        </p:attrNameLst>
                                      </p:cBhvr>
                                      <p:to>
                                        <p:strVal val="visible"/>
                                      </p:to>
                                    </p:set>
                                    <p:animEffect transition="in" filter="fade">
                                      <p:cBhvr>
                                        <p:cTn id="62" dur="350"/>
                                        <p:tgtEl>
                                          <p:spTgt spid="17"/>
                                        </p:tgtEl>
                                      </p:cBhvr>
                                    </p:animEffect>
                                  </p:childTnLst>
                                </p:cTn>
                              </p:par>
                              <p:par>
                                <p:cTn id="63" presetID="10" presetClass="entr" presetSubtype="0" fill="hold" nodeType="withEffect">
                                  <p:stCondLst>
                                    <p:cond delay="0"/>
                                  </p:stCondLst>
                                  <p:childTnLst>
                                    <p:set>
                                      <p:cBhvr>
                                        <p:cTn id="64" dur="1" fill="hold">
                                          <p:stCondLst>
                                            <p:cond delay="0"/>
                                          </p:stCondLst>
                                        </p:cTn>
                                        <p:tgtEl>
                                          <p:spTgt spid="41"/>
                                        </p:tgtEl>
                                        <p:attrNameLst>
                                          <p:attrName>style.visibility</p:attrName>
                                        </p:attrNameLst>
                                      </p:cBhvr>
                                      <p:to>
                                        <p:strVal val="visible"/>
                                      </p:to>
                                    </p:set>
                                    <p:animEffect transition="in" filter="fade">
                                      <p:cBhvr>
                                        <p:cTn id="65" dur="350"/>
                                        <p:tgtEl>
                                          <p:spTgt spid="41"/>
                                        </p:tgtEl>
                                      </p:cBhvr>
                                    </p:animEffect>
                                  </p:childTnLst>
                                </p:cTn>
                              </p:par>
                              <p:par>
                                <p:cTn id="66" presetID="10" presetClass="entr" presetSubtype="0" fill="hold" nodeType="withEffect">
                                  <p:stCondLst>
                                    <p:cond delay="0"/>
                                  </p:stCondLst>
                                  <p:childTnLst>
                                    <p:set>
                                      <p:cBhvr>
                                        <p:cTn id="67" dur="1" fill="hold">
                                          <p:stCondLst>
                                            <p:cond delay="0"/>
                                          </p:stCondLst>
                                        </p:cTn>
                                        <p:tgtEl>
                                          <p:spTgt spid="42"/>
                                        </p:tgtEl>
                                        <p:attrNameLst>
                                          <p:attrName>style.visibility</p:attrName>
                                        </p:attrNameLst>
                                      </p:cBhvr>
                                      <p:to>
                                        <p:strVal val="visible"/>
                                      </p:to>
                                    </p:set>
                                    <p:animEffect transition="in" filter="fade">
                                      <p:cBhvr>
                                        <p:cTn id="68" dur="350"/>
                                        <p:tgtEl>
                                          <p:spTgt spid="42"/>
                                        </p:tgtEl>
                                      </p:cBhvr>
                                    </p:animEffect>
                                  </p:childTnLst>
                                </p:cTn>
                              </p:par>
                              <p:par>
                                <p:cTn id="69" presetID="10" presetClass="entr" presetSubtype="0" fill="hold" nodeType="withEffect">
                                  <p:stCondLst>
                                    <p:cond delay="0"/>
                                  </p:stCondLst>
                                  <p:childTnLst>
                                    <p:set>
                                      <p:cBhvr>
                                        <p:cTn id="70" dur="1" fill="hold">
                                          <p:stCondLst>
                                            <p:cond delay="0"/>
                                          </p:stCondLst>
                                        </p:cTn>
                                        <p:tgtEl>
                                          <p:spTgt spid="18"/>
                                        </p:tgtEl>
                                        <p:attrNameLst>
                                          <p:attrName>style.visibility</p:attrName>
                                        </p:attrNameLst>
                                      </p:cBhvr>
                                      <p:to>
                                        <p:strVal val="visible"/>
                                      </p:to>
                                    </p:set>
                                    <p:animEffect transition="in" filter="fade">
                                      <p:cBhvr>
                                        <p:cTn id="71" dur="350"/>
                                        <p:tgtEl>
                                          <p:spTgt spid="18"/>
                                        </p:tgtEl>
                                      </p:cBhvr>
                                    </p:animEffect>
                                  </p:childTnLst>
                                </p:cTn>
                              </p:par>
                              <p:par>
                                <p:cTn id="72" presetID="10" presetClass="entr" presetSubtype="0" fill="hold" nodeType="with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350"/>
                                        <p:tgtEl>
                                          <p:spTgt spid="19"/>
                                        </p:tgtEl>
                                      </p:cBhvr>
                                    </p:animEffect>
                                  </p:childTnLst>
                                </p:cTn>
                              </p:par>
                              <p:par>
                                <p:cTn id="75" presetID="10" presetClass="entr" presetSubtype="0" fill="hold" nodeType="withEffect">
                                  <p:stCondLst>
                                    <p:cond delay="0"/>
                                  </p:stCondLst>
                                  <p:childTnLst>
                                    <p:set>
                                      <p:cBhvr>
                                        <p:cTn id="76" dur="1" fill="hold">
                                          <p:stCondLst>
                                            <p:cond delay="0"/>
                                          </p:stCondLst>
                                        </p:cTn>
                                        <p:tgtEl>
                                          <p:spTgt spid="20"/>
                                        </p:tgtEl>
                                        <p:attrNameLst>
                                          <p:attrName>style.visibility</p:attrName>
                                        </p:attrNameLst>
                                      </p:cBhvr>
                                      <p:to>
                                        <p:strVal val="visible"/>
                                      </p:to>
                                    </p:set>
                                    <p:animEffect transition="in" filter="fade">
                                      <p:cBhvr>
                                        <p:cTn id="77" dur="350"/>
                                        <p:tgtEl>
                                          <p:spTgt spid="20"/>
                                        </p:tgtEl>
                                      </p:cBhvr>
                                    </p:animEffect>
                                  </p:childTnLst>
                                </p:cTn>
                              </p:par>
                              <p:par>
                                <p:cTn id="78" presetID="10" presetClass="entr" presetSubtype="0"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fade">
                                      <p:cBhvr>
                                        <p:cTn id="80" dur="350"/>
                                        <p:tgtEl>
                                          <p:spTgt spid="43"/>
                                        </p:tgtEl>
                                      </p:cBhvr>
                                    </p:animEffect>
                                  </p:childTnLst>
                                </p:cTn>
                              </p:par>
                              <p:par>
                                <p:cTn id="81" presetID="10"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350"/>
                                        <p:tgtEl>
                                          <p:spTgt spid="44"/>
                                        </p:tgtEl>
                                      </p:cBhvr>
                                    </p:animEffect>
                                  </p:childTnLst>
                                </p:cTn>
                              </p:par>
                              <p:par>
                                <p:cTn id="84" presetID="10" presetClass="entr" presetSubtype="0" fill="hold"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350"/>
                                        <p:tgtEl>
                                          <p:spTgt spid="45"/>
                                        </p:tgtEl>
                                      </p:cBhvr>
                                    </p:animEffect>
                                  </p:childTnLst>
                                </p:cTn>
                              </p:par>
                            </p:childTnLst>
                          </p:cTn>
                        </p:par>
                        <p:par>
                          <p:cTn id="87" fill="hold">
                            <p:stCondLst>
                              <p:cond delay="500"/>
                            </p:stCondLst>
                            <p:childTnLst>
                              <p:par>
                                <p:cTn id="88" presetID="10" presetClass="entr" presetSubtype="0" fill="hold" nodeType="afterEffect">
                                  <p:stCondLst>
                                    <p:cond delay="0"/>
                                  </p:stCondLst>
                                  <p:childTnLst>
                                    <p:set>
                                      <p:cBhvr>
                                        <p:cTn id="89" dur="1" fill="hold">
                                          <p:stCondLst>
                                            <p:cond delay="0"/>
                                          </p:stCondLst>
                                        </p:cTn>
                                        <p:tgtEl>
                                          <p:spTgt spid="21"/>
                                        </p:tgtEl>
                                        <p:attrNameLst>
                                          <p:attrName>style.visibility</p:attrName>
                                        </p:attrNameLst>
                                      </p:cBhvr>
                                      <p:to>
                                        <p:strVal val="visible"/>
                                      </p:to>
                                    </p:set>
                                    <p:animEffect transition="in" filter="fade">
                                      <p:cBhvr>
                                        <p:cTn id="90" dur="350"/>
                                        <p:tgtEl>
                                          <p:spTgt spid="21"/>
                                        </p:tgtEl>
                                      </p:cBhvr>
                                    </p:animEffect>
                                  </p:childTnLst>
                                </p:cTn>
                              </p:par>
                              <p:par>
                                <p:cTn id="91" presetID="10" presetClass="entr" presetSubtype="0" fill="hold" nodeType="withEffect">
                                  <p:stCondLst>
                                    <p:cond delay="0"/>
                                  </p:stCondLst>
                                  <p:childTnLst>
                                    <p:set>
                                      <p:cBhvr>
                                        <p:cTn id="92" dur="1" fill="hold">
                                          <p:stCondLst>
                                            <p:cond delay="0"/>
                                          </p:stCondLst>
                                        </p:cTn>
                                        <p:tgtEl>
                                          <p:spTgt spid="22"/>
                                        </p:tgtEl>
                                        <p:attrNameLst>
                                          <p:attrName>style.visibility</p:attrName>
                                        </p:attrNameLst>
                                      </p:cBhvr>
                                      <p:to>
                                        <p:strVal val="visible"/>
                                      </p:to>
                                    </p:set>
                                    <p:animEffect transition="in" filter="fade">
                                      <p:cBhvr>
                                        <p:cTn id="93" dur="350"/>
                                        <p:tgtEl>
                                          <p:spTgt spid="22"/>
                                        </p:tgtEl>
                                      </p:cBhvr>
                                    </p:animEffect>
                                  </p:childTnLst>
                                </p:cTn>
                              </p:par>
                              <p:par>
                                <p:cTn id="94" presetID="10" presetClass="entr" presetSubtype="0" fill="hold" nodeType="withEffect">
                                  <p:stCondLst>
                                    <p:cond delay="0"/>
                                  </p:stCondLst>
                                  <p:childTnLst>
                                    <p:set>
                                      <p:cBhvr>
                                        <p:cTn id="95" dur="1" fill="hold">
                                          <p:stCondLst>
                                            <p:cond delay="0"/>
                                          </p:stCondLst>
                                        </p:cTn>
                                        <p:tgtEl>
                                          <p:spTgt spid="46"/>
                                        </p:tgtEl>
                                        <p:attrNameLst>
                                          <p:attrName>style.visibility</p:attrName>
                                        </p:attrNameLst>
                                      </p:cBhvr>
                                      <p:to>
                                        <p:strVal val="visible"/>
                                      </p:to>
                                    </p:set>
                                    <p:animEffect transition="in" filter="fade">
                                      <p:cBhvr>
                                        <p:cTn id="96" dur="350"/>
                                        <p:tgtEl>
                                          <p:spTgt spid="46"/>
                                        </p:tgtEl>
                                      </p:cBhvr>
                                    </p:animEffect>
                                  </p:childTnLst>
                                </p:cTn>
                              </p:par>
                              <p:par>
                                <p:cTn id="97" presetID="10" presetClass="entr" presetSubtype="0" fill="hold" nodeType="withEffect">
                                  <p:stCondLst>
                                    <p:cond delay="0"/>
                                  </p:stCondLst>
                                  <p:childTnLst>
                                    <p:set>
                                      <p:cBhvr>
                                        <p:cTn id="98" dur="1" fill="hold">
                                          <p:stCondLst>
                                            <p:cond delay="0"/>
                                          </p:stCondLst>
                                        </p:cTn>
                                        <p:tgtEl>
                                          <p:spTgt spid="47"/>
                                        </p:tgtEl>
                                        <p:attrNameLst>
                                          <p:attrName>style.visibility</p:attrName>
                                        </p:attrNameLst>
                                      </p:cBhvr>
                                      <p:to>
                                        <p:strVal val="visible"/>
                                      </p:to>
                                    </p:set>
                                    <p:animEffect transition="in" filter="fade">
                                      <p:cBhvr>
                                        <p:cTn id="99" dur="350"/>
                                        <p:tgtEl>
                                          <p:spTgt spid="47"/>
                                        </p:tgtEl>
                                      </p:cBhvr>
                                    </p:animEffect>
                                  </p:childTnLst>
                                </p:cTn>
                              </p:par>
                            </p:childTnLst>
                          </p:cTn>
                        </p:par>
                        <p:par>
                          <p:cTn id="100" fill="hold">
                            <p:stCondLst>
                              <p:cond delay="750"/>
                            </p:stCondLst>
                            <p:childTnLst>
                              <p:par>
                                <p:cTn id="101" presetID="10" presetClass="entr" presetSubtype="0" fill="hold" nodeType="afterEffect">
                                  <p:stCondLst>
                                    <p:cond delay="0"/>
                                  </p:stCondLst>
                                  <p:childTnLst>
                                    <p:set>
                                      <p:cBhvr>
                                        <p:cTn id="102" dur="1" fill="hold">
                                          <p:stCondLst>
                                            <p:cond delay="0"/>
                                          </p:stCondLst>
                                        </p:cTn>
                                        <p:tgtEl>
                                          <p:spTgt spid="23"/>
                                        </p:tgtEl>
                                        <p:attrNameLst>
                                          <p:attrName>style.visibility</p:attrName>
                                        </p:attrNameLst>
                                      </p:cBhvr>
                                      <p:to>
                                        <p:strVal val="visible"/>
                                      </p:to>
                                    </p:set>
                                    <p:animEffect transition="in" filter="fade">
                                      <p:cBhvr>
                                        <p:cTn id="103" dur="350"/>
                                        <p:tgtEl>
                                          <p:spTgt spid="23"/>
                                        </p:tgtEl>
                                      </p:cBhvr>
                                    </p:animEffect>
                                  </p:childTnLst>
                                </p:cTn>
                              </p:par>
                              <p:par>
                                <p:cTn id="104" presetID="10" presetClass="entr" presetSubtype="0" fill="hold" nodeType="withEffect">
                                  <p:stCondLst>
                                    <p:cond delay="0"/>
                                  </p:stCondLst>
                                  <p:childTnLst>
                                    <p:set>
                                      <p:cBhvr>
                                        <p:cTn id="105" dur="1" fill="hold">
                                          <p:stCondLst>
                                            <p:cond delay="0"/>
                                          </p:stCondLst>
                                        </p:cTn>
                                        <p:tgtEl>
                                          <p:spTgt spid="24"/>
                                        </p:tgtEl>
                                        <p:attrNameLst>
                                          <p:attrName>style.visibility</p:attrName>
                                        </p:attrNameLst>
                                      </p:cBhvr>
                                      <p:to>
                                        <p:strVal val="visible"/>
                                      </p:to>
                                    </p:set>
                                    <p:animEffect transition="in" filter="fade">
                                      <p:cBhvr>
                                        <p:cTn id="106" dur="350"/>
                                        <p:tgtEl>
                                          <p:spTgt spid="24"/>
                                        </p:tgtEl>
                                      </p:cBhvr>
                                    </p:animEffect>
                                  </p:childTnLst>
                                </p:cTn>
                              </p:par>
                              <p:par>
                                <p:cTn id="107" presetID="10" presetClass="entr" presetSubtype="0" fill="hold" nodeType="withEffect">
                                  <p:stCondLst>
                                    <p:cond delay="0"/>
                                  </p:stCondLst>
                                  <p:childTnLst>
                                    <p:set>
                                      <p:cBhvr>
                                        <p:cTn id="108" dur="1" fill="hold">
                                          <p:stCondLst>
                                            <p:cond delay="0"/>
                                          </p:stCondLst>
                                        </p:cTn>
                                        <p:tgtEl>
                                          <p:spTgt spid="25"/>
                                        </p:tgtEl>
                                        <p:attrNameLst>
                                          <p:attrName>style.visibility</p:attrName>
                                        </p:attrNameLst>
                                      </p:cBhvr>
                                      <p:to>
                                        <p:strVal val="visible"/>
                                      </p:to>
                                    </p:set>
                                    <p:animEffect transition="in" filter="fade">
                                      <p:cBhvr>
                                        <p:cTn id="109" dur="350"/>
                                        <p:tgtEl>
                                          <p:spTgt spid="25"/>
                                        </p:tgtEl>
                                      </p:cBhvr>
                                    </p:animEffect>
                                  </p:childTnLst>
                                </p:cTn>
                              </p:par>
                              <p:par>
                                <p:cTn id="110" presetID="10" presetClass="entr" presetSubtype="0" fill="hold" nodeType="withEffect">
                                  <p:stCondLst>
                                    <p:cond delay="0"/>
                                  </p:stCondLst>
                                  <p:childTnLst>
                                    <p:set>
                                      <p:cBhvr>
                                        <p:cTn id="111" dur="1" fill="hold">
                                          <p:stCondLst>
                                            <p:cond delay="0"/>
                                          </p:stCondLst>
                                        </p:cTn>
                                        <p:tgtEl>
                                          <p:spTgt spid="48"/>
                                        </p:tgtEl>
                                        <p:attrNameLst>
                                          <p:attrName>style.visibility</p:attrName>
                                        </p:attrNameLst>
                                      </p:cBhvr>
                                      <p:to>
                                        <p:strVal val="visible"/>
                                      </p:to>
                                    </p:set>
                                    <p:animEffect transition="in" filter="fade">
                                      <p:cBhvr>
                                        <p:cTn id="112" dur="350"/>
                                        <p:tgtEl>
                                          <p:spTgt spid="48"/>
                                        </p:tgtEl>
                                      </p:cBhvr>
                                    </p:animEffect>
                                  </p:childTnLst>
                                </p:cTn>
                              </p:par>
                              <p:par>
                                <p:cTn id="113" presetID="10" presetClass="entr" presetSubtype="0" fill="hold" nodeType="withEffect">
                                  <p:stCondLst>
                                    <p:cond delay="0"/>
                                  </p:stCondLst>
                                  <p:childTnLst>
                                    <p:set>
                                      <p:cBhvr>
                                        <p:cTn id="114" dur="1" fill="hold">
                                          <p:stCondLst>
                                            <p:cond delay="0"/>
                                          </p:stCondLst>
                                        </p:cTn>
                                        <p:tgtEl>
                                          <p:spTgt spid="49"/>
                                        </p:tgtEl>
                                        <p:attrNameLst>
                                          <p:attrName>style.visibility</p:attrName>
                                        </p:attrNameLst>
                                      </p:cBhvr>
                                      <p:to>
                                        <p:strVal val="visible"/>
                                      </p:to>
                                    </p:set>
                                    <p:animEffect transition="in" filter="fade">
                                      <p:cBhvr>
                                        <p:cTn id="115" dur="350"/>
                                        <p:tgtEl>
                                          <p:spTgt spid="49"/>
                                        </p:tgtEl>
                                      </p:cBhvr>
                                    </p:animEffect>
                                  </p:childTnLst>
                                </p:cTn>
                              </p:par>
                              <p:par>
                                <p:cTn id="116" presetID="10" presetClass="entr" presetSubtype="0" fill="hold" nodeType="withEffect">
                                  <p:stCondLst>
                                    <p:cond delay="0"/>
                                  </p:stCondLst>
                                  <p:childTnLst>
                                    <p:set>
                                      <p:cBhvr>
                                        <p:cTn id="117" dur="1" fill="hold">
                                          <p:stCondLst>
                                            <p:cond delay="0"/>
                                          </p:stCondLst>
                                        </p:cTn>
                                        <p:tgtEl>
                                          <p:spTgt spid="50"/>
                                        </p:tgtEl>
                                        <p:attrNameLst>
                                          <p:attrName>style.visibility</p:attrName>
                                        </p:attrNameLst>
                                      </p:cBhvr>
                                      <p:to>
                                        <p:strVal val="visible"/>
                                      </p:to>
                                    </p:set>
                                    <p:animEffect transition="in" filter="fade">
                                      <p:cBhvr>
                                        <p:cTn id="118" dur="350"/>
                                        <p:tgtEl>
                                          <p:spTgt spid="50"/>
                                        </p:tgtEl>
                                      </p:cBhvr>
                                    </p:animEffect>
                                  </p:childTnLst>
                                </p:cTn>
                              </p:par>
                            </p:childTnLst>
                          </p:cTn>
                        </p:par>
                        <p:par>
                          <p:cTn id="119" fill="hold">
                            <p:stCondLst>
                              <p:cond delay="1000"/>
                            </p:stCondLst>
                            <p:childTnLst>
                              <p:par>
                                <p:cTn id="120" presetID="10" presetClass="entr" presetSubtype="0" fill="hold" nodeType="afterEffect">
                                  <p:stCondLst>
                                    <p:cond delay="0"/>
                                  </p:stCondLst>
                                  <p:childTnLst>
                                    <p:set>
                                      <p:cBhvr>
                                        <p:cTn id="121" dur="1" fill="hold">
                                          <p:stCondLst>
                                            <p:cond delay="0"/>
                                          </p:stCondLst>
                                        </p:cTn>
                                        <p:tgtEl>
                                          <p:spTgt spid="26"/>
                                        </p:tgtEl>
                                        <p:attrNameLst>
                                          <p:attrName>style.visibility</p:attrName>
                                        </p:attrNameLst>
                                      </p:cBhvr>
                                      <p:to>
                                        <p:strVal val="visible"/>
                                      </p:to>
                                    </p:set>
                                    <p:animEffect transition="in" filter="fade">
                                      <p:cBhvr>
                                        <p:cTn id="122" dur="350"/>
                                        <p:tgtEl>
                                          <p:spTgt spid="26"/>
                                        </p:tgtEl>
                                      </p:cBhvr>
                                    </p:animEffect>
                                  </p:childTnLst>
                                </p:cTn>
                              </p:par>
                              <p:par>
                                <p:cTn id="123" presetID="10"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350"/>
                                        <p:tgtEl>
                                          <p:spTgt spid="27"/>
                                        </p:tgtEl>
                                      </p:cBhvr>
                                    </p:animEffect>
                                  </p:childTnLst>
                                </p:cTn>
                              </p:par>
                              <p:par>
                                <p:cTn id="126" presetID="10" presetClass="entr" presetSubtype="0" fill="hold" nodeType="withEffect">
                                  <p:stCondLst>
                                    <p:cond delay="0"/>
                                  </p:stCondLst>
                                  <p:childTnLst>
                                    <p:set>
                                      <p:cBhvr>
                                        <p:cTn id="127" dur="1" fill="hold">
                                          <p:stCondLst>
                                            <p:cond delay="0"/>
                                          </p:stCondLst>
                                        </p:cTn>
                                        <p:tgtEl>
                                          <p:spTgt spid="51"/>
                                        </p:tgtEl>
                                        <p:attrNameLst>
                                          <p:attrName>style.visibility</p:attrName>
                                        </p:attrNameLst>
                                      </p:cBhvr>
                                      <p:to>
                                        <p:strVal val="visible"/>
                                      </p:to>
                                    </p:set>
                                    <p:animEffect transition="in" filter="fade">
                                      <p:cBhvr>
                                        <p:cTn id="128" dur="350"/>
                                        <p:tgtEl>
                                          <p:spTgt spid="51"/>
                                        </p:tgtEl>
                                      </p:cBhvr>
                                    </p:animEffect>
                                  </p:childTnLst>
                                </p:cTn>
                              </p:par>
                              <p:par>
                                <p:cTn id="129" presetID="10" presetClass="entr" presetSubtype="0" fill="hold" nodeType="withEffect">
                                  <p:stCondLst>
                                    <p:cond delay="0"/>
                                  </p:stCondLst>
                                  <p:childTnLst>
                                    <p:set>
                                      <p:cBhvr>
                                        <p:cTn id="130" dur="1" fill="hold">
                                          <p:stCondLst>
                                            <p:cond delay="0"/>
                                          </p:stCondLst>
                                        </p:cTn>
                                        <p:tgtEl>
                                          <p:spTgt spid="52"/>
                                        </p:tgtEl>
                                        <p:attrNameLst>
                                          <p:attrName>style.visibility</p:attrName>
                                        </p:attrNameLst>
                                      </p:cBhvr>
                                      <p:to>
                                        <p:strVal val="visible"/>
                                      </p:to>
                                    </p:set>
                                    <p:animEffect transition="in" filter="fade">
                                      <p:cBhvr>
                                        <p:cTn id="131" dur="350"/>
                                        <p:tgtEl>
                                          <p:spTgt spid="52"/>
                                        </p:tgtEl>
                                      </p:cBhvr>
                                    </p:animEffect>
                                  </p:childTnLst>
                                </p:cTn>
                              </p:par>
                            </p:childTnLst>
                          </p:cTn>
                        </p:par>
                        <p:par>
                          <p:cTn id="132" fill="hold">
                            <p:stCondLst>
                              <p:cond delay="1250"/>
                            </p:stCondLst>
                            <p:childTnLst>
                              <p:par>
                                <p:cTn id="133" presetID="10" presetClass="entr" presetSubtype="0" fill="hold" nodeType="afterEffect">
                                  <p:stCondLst>
                                    <p:cond delay="0"/>
                                  </p:stCondLst>
                                  <p:childTnLst>
                                    <p:set>
                                      <p:cBhvr>
                                        <p:cTn id="134" dur="1" fill="hold">
                                          <p:stCondLst>
                                            <p:cond delay="0"/>
                                          </p:stCondLst>
                                        </p:cTn>
                                        <p:tgtEl>
                                          <p:spTgt spid="28"/>
                                        </p:tgtEl>
                                        <p:attrNameLst>
                                          <p:attrName>style.visibility</p:attrName>
                                        </p:attrNameLst>
                                      </p:cBhvr>
                                      <p:to>
                                        <p:strVal val="visible"/>
                                      </p:to>
                                    </p:set>
                                    <p:animEffect transition="in" filter="fade">
                                      <p:cBhvr>
                                        <p:cTn id="135" dur="350"/>
                                        <p:tgtEl>
                                          <p:spTgt spid="28"/>
                                        </p:tgtEl>
                                      </p:cBhvr>
                                    </p:animEffect>
                                  </p:childTnLst>
                                </p:cTn>
                              </p:par>
                              <p:par>
                                <p:cTn id="136" presetID="10" presetClass="entr" presetSubtype="0" fill="hold" nodeType="withEffect">
                                  <p:stCondLst>
                                    <p:cond delay="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350"/>
                                        <p:tgtEl>
                                          <p:spTgt spid="29"/>
                                        </p:tgtEl>
                                      </p:cBhvr>
                                    </p:animEffect>
                                  </p:childTnLst>
                                </p:cTn>
                              </p:par>
                              <p:par>
                                <p:cTn id="139" presetID="10" presetClass="entr" presetSubtype="0" fill="hold" nodeType="withEffect">
                                  <p:stCondLst>
                                    <p:cond delay="0"/>
                                  </p:stCondLst>
                                  <p:childTnLst>
                                    <p:set>
                                      <p:cBhvr>
                                        <p:cTn id="140" dur="1" fill="hold">
                                          <p:stCondLst>
                                            <p:cond delay="0"/>
                                          </p:stCondLst>
                                        </p:cTn>
                                        <p:tgtEl>
                                          <p:spTgt spid="30"/>
                                        </p:tgtEl>
                                        <p:attrNameLst>
                                          <p:attrName>style.visibility</p:attrName>
                                        </p:attrNameLst>
                                      </p:cBhvr>
                                      <p:to>
                                        <p:strVal val="visible"/>
                                      </p:to>
                                    </p:set>
                                    <p:animEffect transition="in" filter="fade">
                                      <p:cBhvr>
                                        <p:cTn id="141" dur="350"/>
                                        <p:tgtEl>
                                          <p:spTgt spid="30"/>
                                        </p:tgtEl>
                                      </p:cBhvr>
                                    </p:animEffect>
                                  </p:childTnLst>
                                </p:cTn>
                              </p:par>
                              <p:par>
                                <p:cTn id="142" presetID="10" presetClass="entr" presetSubtype="0" fill="hold" nodeType="withEffect">
                                  <p:stCondLst>
                                    <p:cond delay="0"/>
                                  </p:stCondLst>
                                  <p:childTnLst>
                                    <p:set>
                                      <p:cBhvr>
                                        <p:cTn id="143" dur="1" fill="hold">
                                          <p:stCondLst>
                                            <p:cond delay="0"/>
                                          </p:stCondLst>
                                        </p:cTn>
                                        <p:tgtEl>
                                          <p:spTgt spid="53"/>
                                        </p:tgtEl>
                                        <p:attrNameLst>
                                          <p:attrName>style.visibility</p:attrName>
                                        </p:attrNameLst>
                                      </p:cBhvr>
                                      <p:to>
                                        <p:strVal val="visible"/>
                                      </p:to>
                                    </p:set>
                                    <p:animEffect transition="in" filter="fade">
                                      <p:cBhvr>
                                        <p:cTn id="144" dur="350"/>
                                        <p:tgtEl>
                                          <p:spTgt spid="53"/>
                                        </p:tgtEl>
                                      </p:cBhvr>
                                    </p:animEffect>
                                  </p:childTnLst>
                                </p:cTn>
                              </p:par>
                              <p:par>
                                <p:cTn id="145" presetID="10" presetClass="entr" presetSubtype="0" fill="hold" nodeType="withEffect">
                                  <p:stCondLst>
                                    <p:cond delay="0"/>
                                  </p:stCondLst>
                                  <p:childTnLst>
                                    <p:set>
                                      <p:cBhvr>
                                        <p:cTn id="146" dur="1" fill="hold">
                                          <p:stCondLst>
                                            <p:cond delay="0"/>
                                          </p:stCondLst>
                                        </p:cTn>
                                        <p:tgtEl>
                                          <p:spTgt spid="54"/>
                                        </p:tgtEl>
                                        <p:attrNameLst>
                                          <p:attrName>style.visibility</p:attrName>
                                        </p:attrNameLst>
                                      </p:cBhvr>
                                      <p:to>
                                        <p:strVal val="visible"/>
                                      </p:to>
                                    </p:set>
                                    <p:animEffect transition="in" filter="fade">
                                      <p:cBhvr>
                                        <p:cTn id="147" dur="350"/>
                                        <p:tgtEl>
                                          <p:spTgt spid="54"/>
                                        </p:tgtEl>
                                      </p:cBhvr>
                                    </p:animEffect>
                                  </p:childTnLst>
                                </p:cTn>
                              </p:par>
                              <p:par>
                                <p:cTn id="148" presetID="10" presetClass="entr" presetSubtype="0" fill="hold" nodeType="withEffect">
                                  <p:stCondLst>
                                    <p:cond delay="0"/>
                                  </p:stCondLst>
                                  <p:childTnLst>
                                    <p:set>
                                      <p:cBhvr>
                                        <p:cTn id="149" dur="1" fill="hold">
                                          <p:stCondLst>
                                            <p:cond delay="0"/>
                                          </p:stCondLst>
                                        </p:cTn>
                                        <p:tgtEl>
                                          <p:spTgt spid="55"/>
                                        </p:tgtEl>
                                        <p:attrNameLst>
                                          <p:attrName>style.visibility</p:attrName>
                                        </p:attrNameLst>
                                      </p:cBhvr>
                                      <p:to>
                                        <p:strVal val="visible"/>
                                      </p:to>
                                    </p:set>
                                    <p:animEffect transition="in" filter="fade">
                                      <p:cBhvr>
                                        <p:cTn id="150" dur="350"/>
                                        <p:tgtEl>
                                          <p:spTgt spid="55"/>
                                        </p:tgtEl>
                                      </p:cBhvr>
                                    </p:animEffect>
                                  </p:childTnLst>
                                </p:cTn>
                              </p:par>
                            </p:childTnLst>
                          </p:cTn>
                        </p:par>
                        <p:par>
                          <p:cTn id="151" fill="hold">
                            <p:stCondLst>
                              <p:cond delay="1500"/>
                            </p:stCondLst>
                            <p:childTnLst>
                              <p:par>
                                <p:cTn id="152" presetID="10" presetClass="entr" presetSubtype="0" fill="hold" nodeType="afterEffect">
                                  <p:stCondLst>
                                    <p:cond delay="0"/>
                                  </p:stCondLst>
                                  <p:childTnLst>
                                    <p:set>
                                      <p:cBhvr>
                                        <p:cTn id="153" dur="1" fill="hold">
                                          <p:stCondLst>
                                            <p:cond delay="0"/>
                                          </p:stCondLst>
                                        </p:cTn>
                                        <p:tgtEl>
                                          <p:spTgt spid="31"/>
                                        </p:tgtEl>
                                        <p:attrNameLst>
                                          <p:attrName>style.visibility</p:attrName>
                                        </p:attrNameLst>
                                      </p:cBhvr>
                                      <p:to>
                                        <p:strVal val="visible"/>
                                      </p:to>
                                    </p:set>
                                    <p:animEffect transition="in" filter="fade">
                                      <p:cBhvr>
                                        <p:cTn id="154" dur="350"/>
                                        <p:tgtEl>
                                          <p:spTgt spid="31"/>
                                        </p:tgtEl>
                                      </p:cBhvr>
                                    </p:animEffect>
                                  </p:childTnLst>
                                </p:cTn>
                              </p:par>
                              <p:par>
                                <p:cTn id="155" presetID="10" presetClass="entr" presetSubtype="0" fill="hold" nodeType="withEffect">
                                  <p:stCondLst>
                                    <p:cond delay="0"/>
                                  </p:stCondLst>
                                  <p:childTnLst>
                                    <p:set>
                                      <p:cBhvr>
                                        <p:cTn id="156" dur="1" fill="hold">
                                          <p:stCondLst>
                                            <p:cond delay="0"/>
                                          </p:stCondLst>
                                        </p:cTn>
                                        <p:tgtEl>
                                          <p:spTgt spid="32"/>
                                        </p:tgtEl>
                                        <p:attrNameLst>
                                          <p:attrName>style.visibility</p:attrName>
                                        </p:attrNameLst>
                                      </p:cBhvr>
                                      <p:to>
                                        <p:strVal val="visible"/>
                                      </p:to>
                                    </p:set>
                                    <p:animEffect transition="in" filter="fade">
                                      <p:cBhvr>
                                        <p:cTn id="157" dur="350"/>
                                        <p:tgtEl>
                                          <p:spTgt spid="32"/>
                                        </p:tgtEl>
                                      </p:cBhvr>
                                    </p:animEffect>
                                  </p:childTnLst>
                                </p:cTn>
                              </p:par>
                              <p:par>
                                <p:cTn id="158" presetID="10" presetClass="entr" presetSubtype="0" fill="hold" nodeType="withEffect">
                                  <p:stCondLst>
                                    <p:cond delay="0"/>
                                  </p:stCondLst>
                                  <p:childTnLst>
                                    <p:set>
                                      <p:cBhvr>
                                        <p:cTn id="159" dur="1" fill="hold">
                                          <p:stCondLst>
                                            <p:cond delay="0"/>
                                          </p:stCondLst>
                                        </p:cTn>
                                        <p:tgtEl>
                                          <p:spTgt spid="56"/>
                                        </p:tgtEl>
                                        <p:attrNameLst>
                                          <p:attrName>style.visibility</p:attrName>
                                        </p:attrNameLst>
                                      </p:cBhvr>
                                      <p:to>
                                        <p:strVal val="visible"/>
                                      </p:to>
                                    </p:set>
                                    <p:animEffect transition="in" filter="fade">
                                      <p:cBhvr>
                                        <p:cTn id="160" dur="350"/>
                                        <p:tgtEl>
                                          <p:spTgt spid="56"/>
                                        </p:tgtEl>
                                      </p:cBhvr>
                                    </p:animEffect>
                                  </p:childTnLst>
                                </p:cTn>
                              </p:par>
                              <p:par>
                                <p:cTn id="161" presetID="10" presetClass="entr" presetSubtype="0" fill="hold" nodeType="withEffect">
                                  <p:stCondLst>
                                    <p:cond delay="0"/>
                                  </p:stCondLst>
                                  <p:childTnLst>
                                    <p:set>
                                      <p:cBhvr>
                                        <p:cTn id="162" dur="1" fill="hold">
                                          <p:stCondLst>
                                            <p:cond delay="0"/>
                                          </p:stCondLst>
                                        </p:cTn>
                                        <p:tgtEl>
                                          <p:spTgt spid="57"/>
                                        </p:tgtEl>
                                        <p:attrNameLst>
                                          <p:attrName>style.visibility</p:attrName>
                                        </p:attrNameLst>
                                      </p:cBhvr>
                                      <p:to>
                                        <p:strVal val="visible"/>
                                      </p:to>
                                    </p:set>
                                    <p:animEffect transition="in" filter="fade">
                                      <p:cBhvr>
                                        <p:cTn id="163" dur="35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9" grpId="0"/>
      <p:bldP spid="10" grpId="0"/>
      <p:bldP spid="33" grpId="0"/>
      <p:bldP spid="34" grpId="0"/>
      <p:bldP spid="35" grpId="0"/>
      <p:bldP spid="11" grpId="0"/>
      <p:bldP spid="12" grpId="0"/>
      <p:bldP spid="36" grpId="0"/>
      <p:bldP spid="37" grpId="0"/>
      <p:bldP spid="13" grpId="0"/>
      <p:bldP spid="14" grpId="0"/>
      <p:bldP spid="15" grpId="0"/>
      <p:bldP spid="38" grpId="0"/>
      <p:bldP spid="39" grpId="0"/>
      <p:bldP spid="40" grpId="0"/>
      <p:bldP spid="16" grpId="0"/>
      <p:bldP spid="17" grpId="0"/>
      <p:bldP spid="41" grpId="0"/>
      <p:bldP spid="42" grpId="0"/>
      <p:bldP spid="18" grpId="0"/>
      <p:bldP spid="19" grpId="0"/>
      <p:bldP spid="20" grpId="0"/>
      <p:bldP spid="43" grpId="0"/>
      <p:bldP spid="44" grpId="0"/>
      <p:bldP spid="45" grpId="0"/>
      <p:bldP spid="21" grpId="0"/>
      <p:bldP spid="22" grpId="0"/>
      <p:bldP spid="46" grpId="0"/>
      <p:bldP spid="47" grpId="0"/>
      <p:bldP spid="23" grpId="0"/>
      <p:bldP spid="24" grpId="0"/>
      <p:bldP spid="25" grpId="0"/>
      <p:bldP spid="48" grpId="0"/>
      <p:bldP spid="49" grpId="0"/>
      <p:bldP spid="50" grpId="0"/>
      <p:bldP spid="26" grpId="0"/>
      <p:bldP spid="27" grpId="0"/>
      <p:bldP spid="51" grpId="0"/>
      <p:bldP spid="52" grpId="0"/>
      <p:bldP spid="28" grpId="0"/>
      <p:bldP spid="29" grpId="0"/>
      <p:bldP spid="30" grpId="0"/>
      <p:bldP spid="53" grpId="0"/>
      <p:bldP spid="54" grpId="0"/>
      <p:bldP spid="55" grpId="0"/>
      <p:bldP spid="31" grpId="0"/>
      <p:bldP spid="32" grpId="0"/>
      <p:bldP spid="56" grpId="0"/>
      <p:bldP spid="57" grpId="0"/>
    </p:bld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B</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B</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Chaque composant a sa méthode de test, de la logique pure au téléphone réel</a:t>
            </a:r>
          </a:p>
        </p:txBody>
      </p:sp>
      <p:graphicFrame>
        <p:nvGraphicFramePr>
          <p:cNvPr id="8" name="Table 7"/>
          <p:cNvGraphicFramePr>
            <a:graphicFrameLocks noGrp="1"/>
          </p:cNvGraphicFramePr>
          <p:nvPr/>
        </p:nvGraphicFramePr>
        <p:xfrm>
          <a:off x="548640" y="1783080"/>
          <a:ext cx="11094415" cy="4325112"/>
        </p:xfrm>
        <a:graphic>
          <a:graphicData uri="http://schemas.openxmlformats.org/drawingml/2006/table">
            <a:tbl>
              <a:tblPr firstRow="0" bandRow="0"/>
              <a:tblGrid>
                <a:gridCol w="2926080"/>
                <a:gridCol w="6705295"/>
                <a:gridCol w="1463040"/>
              </a:tblGrid>
              <a:tr h="393192">
                <a:tc>
                  <a:txBody>
                    <a:bodyPr/>
                    <a:lstStyle/>
                    <a:p>
                      <a:r>
                        <a:rPr sz="1500" b="1">
                          <a:solidFill>
                            <a:srgbClr val="1F3A5F"/>
                          </a:solidFill>
                          <a:latin typeface="Arial"/>
                        </a:rPr>
                        <a:t>Composant</a:t>
                      </a:r>
                    </a:p>
                  </a:txBody>
                  <a:tcPr anchor="ctr" marT="18288" marB="18288" marL="109728">
                    <a:solidFill>
                      <a:srgbClr val="EEF2F6"/>
                    </a:solidFill>
                  </a:tcPr>
                </a:tc>
                <a:tc>
                  <a:txBody>
                    <a:bodyPr/>
                    <a:lstStyle/>
                    <a:p>
                      <a:r>
                        <a:rPr sz="1500" b="1">
                          <a:solidFill>
                            <a:srgbClr val="1F3A5F"/>
                          </a:solidFill>
                          <a:latin typeface="Arial"/>
                        </a:rPr>
                        <a:t>Méthode de test</a:t>
                      </a:r>
                    </a:p>
                  </a:txBody>
                  <a:tcPr anchor="ctr" marT="18288" marB="18288" marL="109728">
                    <a:solidFill>
                      <a:srgbClr val="EEF2F6"/>
                    </a:solidFill>
                  </a:tcPr>
                </a:tc>
                <a:tc>
                  <a:txBody>
                    <a:bodyPr/>
                    <a:lstStyle/>
                    <a:p>
                      <a:r>
                        <a:rPr sz="1500" b="1">
                          <a:solidFill>
                            <a:srgbClr val="1F3A5F"/>
                          </a:solidFill>
                          <a:latin typeface="Arial"/>
                        </a:rPr>
                        <a:t>Palier</a:t>
                      </a:r>
                    </a:p>
                  </a:txBody>
                  <a:tcPr anchor="ctr" marT="18288" marB="18288" marL="109728">
                    <a:solidFill>
                      <a:srgbClr val="EEF2F6"/>
                    </a:solidFill>
                  </a:tcPr>
                </a:tc>
              </a:tr>
              <a:tr h="393192">
                <a:tc>
                  <a:txBody>
                    <a:bodyPr/>
                    <a:lstStyle/>
                    <a:p>
                      <a:r>
                        <a:rPr sz="1500" b="1">
                          <a:solidFill>
                            <a:srgbClr val="1F3A5F"/>
                          </a:solidFill>
                          <a:latin typeface="Arial"/>
                        </a:rPr>
                        <a:t>Flux caméra</a:t>
                      </a:r>
                    </a:p>
                  </a:txBody>
                  <a:tcPr anchor="ctr" marT="18288" marB="18288" marL="109728">
                    <a:solidFill>
                      <a:srgbClr val="FFFFFF"/>
                    </a:solidFill>
                  </a:tcPr>
                </a:tc>
                <a:tc>
                  <a:txBody>
                    <a:bodyPr/>
                    <a:lstStyle/>
                    <a:p>
                      <a:r>
                        <a:rPr sz="1500" b="0">
                          <a:solidFill>
                            <a:srgbClr val="1B2530"/>
                          </a:solidFill>
                          <a:latin typeface="Arial"/>
                        </a:rPr>
                        <a:t>test sur téléphone réel : ni lag ni coupure</a:t>
                      </a:r>
                    </a:p>
                  </a:txBody>
                  <a:tcPr anchor="ctr" marT="18288" marB="18288" marL="109728">
                    <a:solidFill>
                      <a:srgbClr val="FFFFFF"/>
                    </a:solidFill>
                  </a:tcPr>
                </a:tc>
                <a:tc>
                  <a:txBody>
                    <a:bodyPr/>
                    <a:lstStyle/>
                    <a:p>
                      <a:r>
                        <a:rPr sz="1500" b="0">
                          <a:solidFill>
                            <a:srgbClr val="1F3A5F"/>
                          </a:solidFill>
                          <a:latin typeface="Arial"/>
                        </a:rPr>
                        <a:t>manuel</a:t>
                      </a:r>
                    </a:p>
                  </a:txBody>
                  <a:tcPr anchor="ctr" marT="18288" marB="18288" marL="109728">
                    <a:solidFill>
                      <a:srgbClr val="FFFFFF"/>
                    </a:solidFill>
                  </a:tcPr>
                </a:tc>
              </a:tr>
              <a:tr h="393192">
                <a:tc>
                  <a:txBody>
                    <a:bodyPr/>
                    <a:lstStyle/>
                    <a:p>
                      <a:r>
                        <a:rPr sz="1500" b="1">
                          <a:solidFill>
                            <a:srgbClr val="1F3A5F"/>
                          </a:solidFill>
                          <a:latin typeface="Arial"/>
                        </a:rPr>
                        <a:t>Détection de la carte</a:t>
                      </a:r>
                    </a:p>
                  </a:txBody>
                  <a:tcPr anchor="ctr" marT="18288" marB="18288" marL="109728">
                    <a:solidFill>
                      <a:srgbClr val="EEF2F6"/>
                    </a:solidFill>
                  </a:tcPr>
                </a:tc>
                <a:tc>
                  <a:txBody>
                    <a:bodyPr/>
                    <a:lstStyle/>
                    <a:p>
                      <a:r>
                        <a:rPr sz="1500" b="0">
                          <a:solidFill>
                            <a:srgbClr val="1B2530"/>
                          </a:solidFill>
                          <a:latin typeface="Arial"/>
                        </a:rPr>
                        <a:t>géométrie pure, images synthétiques, échantillons à différents angles</a:t>
                      </a:r>
                    </a:p>
                  </a:txBody>
                  <a:tcPr anchor="ctr" marT="18288" marB="18288" marL="109728">
                    <a:solidFill>
                      <a:srgbClr val="EEF2F6"/>
                    </a:solidFill>
                  </a:tcPr>
                </a:tc>
                <a:tc>
                  <a:txBody>
                    <a:bodyPr/>
                    <a:lstStyle/>
                    <a:p>
                      <a:r>
                        <a:rPr sz="1500" b="0">
                          <a:solidFill>
                            <a:srgbClr val="1F3A5F"/>
                          </a:solidFill>
                          <a:latin typeface="Arial"/>
                        </a:rPr>
                        <a:t>A · C · D</a:t>
                      </a:r>
                    </a:p>
                  </a:txBody>
                  <a:tcPr anchor="ctr" marT="18288" marB="18288" marL="109728">
                    <a:solidFill>
                      <a:srgbClr val="EEF2F6"/>
                    </a:solidFill>
                  </a:tcPr>
                </a:tc>
              </a:tr>
              <a:tr h="393192">
                <a:tc>
                  <a:txBody>
                    <a:bodyPr/>
                    <a:lstStyle/>
                    <a:p>
                      <a:r>
                        <a:rPr sz="1500" b="1">
                          <a:solidFill>
                            <a:srgbClr val="1F3A5F"/>
                          </a:solidFill>
                          <a:latin typeface="Arial"/>
                        </a:rPr>
                        <a:t>Netteté et luminosité</a:t>
                      </a:r>
                    </a:p>
                  </a:txBody>
                  <a:tcPr anchor="ctr" marT="18288" marB="18288" marL="109728">
                    <a:solidFill>
                      <a:srgbClr val="FFFFFF"/>
                    </a:solidFill>
                  </a:tcPr>
                </a:tc>
                <a:tc>
                  <a:txBody>
                    <a:bodyPr/>
                    <a:lstStyle/>
                    <a:p>
                      <a:r>
                        <a:rPr sz="1500" b="0">
                          <a:solidFill>
                            <a:srgbClr val="1B2530"/>
                          </a:solidFill>
                          <a:latin typeface="Arial"/>
                        </a:rPr>
                        <a:t>images volontairement floues, sombres ou surexposées</a:t>
                      </a:r>
                    </a:p>
                  </a:txBody>
                  <a:tcPr anchor="ctr" marT="18288" marB="18288" marL="109728">
                    <a:solidFill>
                      <a:srgbClr val="FFFFFF"/>
                    </a:solidFill>
                  </a:tcPr>
                </a:tc>
                <a:tc>
                  <a:txBody>
                    <a:bodyPr/>
                    <a:lstStyle/>
                    <a:p>
                      <a:r>
                        <a:rPr sz="1500" b="0">
                          <a:solidFill>
                            <a:srgbClr val="1F3A5F"/>
                          </a:solidFill>
                          <a:latin typeface="Arial"/>
                        </a:rPr>
                        <a:t>C</a:t>
                      </a:r>
                    </a:p>
                  </a:txBody>
                  <a:tcPr anchor="ctr" marT="18288" marB="18288" marL="109728">
                    <a:solidFill>
                      <a:srgbClr val="FFFFFF"/>
                    </a:solidFill>
                  </a:tcPr>
                </a:tc>
              </a:tr>
              <a:tr h="393192">
                <a:tc>
                  <a:txBody>
                    <a:bodyPr/>
                    <a:lstStyle/>
                    <a:p>
                      <a:r>
                        <a:rPr sz="1500" b="1">
                          <a:solidFill>
                            <a:srgbClr val="1F3A5F"/>
                          </a:solidFill>
                          <a:latin typeface="Arial"/>
                        </a:rPr>
                        <a:t>Stabilité</a:t>
                      </a:r>
                    </a:p>
                  </a:txBody>
                  <a:tcPr anchor="ctr" marT="18288" marB="18288" marL="109728">
                    <a:solidFill>
                      <a:srgbClr val="EEF2F6"/>
                    </a:solidFill>
                  </a:tcPr>
                </a:tc>
                <a:tc>
                  <a:txBody>
                    <a:bodyPr/>
                    <a:lstStyle/>
                    <a:p>
                      <a:r>
                        <a:rPr sz="1500" b="0">
                          <a:solidFill>
                            <a:srgbClr val="1B2530"/>
                          </a:solidFill>
                          <a:latin typeface="Arial"/>
                        </a:rPr>
                        <a:t>dérive simulée légère, puis franche</a:t>
                      </a:r>
                    </a:p>
                  </a:txBody>
                  <a:tcPr anchor="ctr" marT="18288" marB="18288" marL="109728">
                    <a:solidFill>
                      <a:srgbClr val="EEF2F6"/>
                    </a:solidFill>
                  </a:tcPr>
                </a:tc>
                <a:tc>
                  <a:txBody>
                    <a:bodyPr/>
                    <a:lstStyle/>
                    <a:p>
                      <a:r>
                        <a:rPr sz="1500" b="0">
                          <a:solidFill>
                            <a:srgbClr val="1F3A5F"/>
                          </a:solidFill>
                          <a:latin typeface="Arial"/>
                        </a:rPr>
                        <a:t>A</a:t>
                      </a:r>
                    </a:p>
                  </a:txBody>
                  <a:tcPr anchor="ctr" marT="18288" marB="18288" marL="109728">
                    <a:solidFill>
                      <a:srgbClr val="EEF2F6"/>
                    </a:solidFill>
                  </a:tcPr>
                </a:tc>
              </a:tr>
              <a:tr h="393192">
                <a:tc>
                  <a:txBody>
                    <a:bodyPr/>
                    <a:lstStyle/>
                    <a:p>
                      <a:r>
                        <a:rPr sz="1500" b="1">
                          <a:solidFill>
                            <a:srgbClr val="1F3A5F"/>
                          </a:solidFill>
                          <a:latin typeface="Arial"/>
                        </a:rPr>
                        <a:t>Recto/verso</a:t>
                      </a:r>
                    </a:p>
                  </a:txBody>
                  <a:tcPr anchor="ctr" marT="18288" marB="18288" marL="109728">
                    <a:solidFill>
                      <a:srgbClr val="FFFFFF"/>
                    </a:solidFill>
                  </a:tcPr>
                </a:tc>
                <a:tc>
                  <a:txBody>
                    <a:bodyPr/>
                    <a:lstStyle/>
                    <a:p>
                      <a:r>
                        <a:rPr sz="1500" b="0">
                          <a:solidFill>
                            <a:srgbClr val="1B2530"/>
                          </a:solidFill>
                          <a:latin typeface="Arial"/>
                        </a:rPr>
                        <a:t>mélange d'images recto et verso</a:t>
                      </a:r>
                    </a:p>
                  </a:txBody>
                  <a:tcPr anchor="ctr" marT="18288" marB="18288" marL="109728">
                    <a:solidFill>
                      <a:srgbClr val="FFFFFF"/>
                    </a:solidFill>
                  </a:tcPr>
                </a:tc>
                <a:tc>
                  <a:txBody>
                    <a:bodyPr/>
                    <a:lstStyle/>
                    <a:p>
                      <a:r>
                        <a:rPr sz="1500" b="0">
                          <a:solidFill>
                            <a:srgbClr val="1F3A5F"/>
                          </a:solidFill>
                          <a:latin typeface="Arial"/>
                        </a:rPr>
                        <a:t>D</a:t>
                      </a:r>
                    </a:p>
                  </a:txBody>
                  <a:tcPr anchor="ctr" marT="18288" marB="18288" marL="109728">
                    <a:solidFill>
                      <a:srgbClr val="FFFFFF"/>
                    </a:solidFill>
                  </a:tcPr>
                </a:tc>
              </a:tr>
              <a:tr h="393192">
                <a:tc>
                  <a:txBody>
                    <a:bodyPr/>
                    <a:lstStyle/>
                    <a:p>
                      <a:r>
                        <a:rPr sz="1500" b="1">
                          <a:solidFill>
                            <a:srgbClr val="1F3A5F"/>
                          </a:solidFill>
                          <a:latin typeface="Arial"/>
                        </a:rPr>
                        <a:t>Autocapture</a:t>
                      </a:r>
                    </a:p>
                  </a:txBody>
                  <a:tcPr anchor="ctr" marT="18288" marB="18288" marL="109728">
                    <a:solidFill>
                      <a:srgbClr val="EEF2F6"/>
                    </a:solidFill>
                  </a:tcPr>
                </a:tc>
                <a:tc>
                  <a:txBody>
                    <a:bodyPr/>
                    <a:lstStyle/>
                    <a:p>
                      <a:r>
                        <a:rPr sz="1500" b="0">
                          <a:solidFill>
                            <a:srgbClr val="1B2530"/>
                          </a:solidFill>
                          <a:latin typeface="Arial"/>
                        </a:rPr>
                        <a:t>bout en bout : délai et absence de faux déclenchement</a:t>
                      </a:r>
                    </a:p>
                  </a:txBody>
                  <a:tcPr anchor="ctr" marT="18288" marB="18288" marL="109728">
                    <a:solidFill>
                      <a:srgbClr val="EEF2F6"/>
                    </a:solidFill>
                  </a:tcPr>
                </a:tc>
                <a:tc>
                  <a:txBody>
                    <a:bodyPr/>
                    <a:lstStyle/>
                    <a:p>
                      <a:r>
                        <a:rPr sz="1500" b="0">
                          <a:solidFill>
                            <a:srgbClr val="1F3A5F"/>
                          </a:solidFill>
                          <a:latin typeface="Arial"/>
                        </a:rPr>
                        <a:t>A · B · D</a:t>
                      </a:r>
                    </a:p>
                  </a:txBody>
                  <a:tcPr anchor="ctr" marT="18288" marB="18288" marL="109728">
                    <a:solidFill>
                      <a:srgbClr val="EEF2F6"/>
                    </a:solidFill>
                  </a:tcPr>
                </a:tc>
              </a:tr>
              <a:tr h="393192">
                <a:tc>
                  <a:txBody>
                    <a:bodyPr/>
                    <a:lstStyle/>
                    <a:p>
                      <a:r>
                        <a:rPr sz="1500" b="1">
                          <a:solidFill>
                            <a:srgbClr val="1F3A5F"/>
                          </a:solidFill>
                          <a:latin typeface="Arial"/>
                        </a:rPr>
                        <a:t>Recadrage</a:t>
                      </a:r>
                    </a:p>
                  </a:txBody>
                  <a:tcPr anchor="ctr" marT="18288" marB="18288" marL="109728">
                    <a:solidFill>
                      <a:srgbClr val="FFFFFF"/>
                    </a:solidFill>
                  </a:tcPr>
                </a:tc>
                <a:tc>
                  <a:txBody>
                    <a:bodyPr/>
                    <a:lstStyle/>
                    <a:p>
                      <a:r>
                        <a:rPr sz="1500" b="0">
                          <a:solidFill>
                            <a:srgbClr val="1B2530"/>
                          </a:solidFill>
                          <a:latin typeface="Arial"/>
                        </a:rPr>
                        <a:t>comparaison visuelle : aucun bord coupé</a:t>
                      </a:r>
                    </a:p>
                  </a:txBody>
                  <a:tcPr anchor="ctr" marT="18288" marB="18288" marL="109728">
                    <a:solidFill>
                      <a:srgbClr val="FFFFFF"/>
                    </a:solidFill>
                  </a:tcPr>
                </a:tc>
                <a:tc>
                  <a:txBody>
                    <a:bodyPr/>
                    <a:lstStyle/>
                    <a:p>
                      <a:r>
                        <a:rPr sz="1500" b="0">
                          <a:solidFill>
                            <a:srgbClr val="1F3A5F"/>
                          </a:solidFill>
                          <a:latin typeface="Arial"/>
                        </a:rPr>
                        <a:t>C · D</a:t>
                      </a:r>
                    </a:p>
                  </a:txBody>
                  <a:tcPr anchor="ctr" marT="18288" marB="18288" marL="109728">
                    <a:solidFill>
                      <a:srgbClr val="FFFFFF"/>
                    </a:solidFill>
                  </a:tcPr>
                </a:tc>
              </a:tr>
              <a:tr h="393192">
                <a:tc>
                  <a:txBody>
                    <a:bodyPr/>
                    <a:lstStyle/>
                    <a:p>
                      <a:r>
                        <a:rPr sz="1500" b="1">
                          <a:solidFill>
                            <a:srgbClr val="1F3A5F"/>
                          </a:solidFill>
                          <a:latin typeface="Arial"/>
                        </a:rPr>
                        <a:t>Anti-doublon</a:t>
                      </a:r>
                    </a:p>
                  </a:txBody>
                  <a:tcPr anchor="ctr" marT="18288" marB="18288" marL="109728">
                    <a:solidFill>
                      <a:srgbClr val="EEF2F6"/>
                    </a:solidFill>
                  </a:tcPr>
                </a:tc>
                <a:tc>
                  <a:txBody>
                    <a:bodyPr/>
                    <a:lstStyle/>
                    <a:p>
                      <a:r>
                        <a:rPr sz="1500" b="0">
                          <a:solidFill>
                            <a:srgbClr val="1B2530"/>
                          </a:solidFill>
                          <a:latin typeface="Arial"/>
                        </a:rPr>
                        <a:t>même face présentée deux fois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r h="393192">
                <a:tc>
                  <a:txBody>
                    <a:bodyPr/>
                    <a:lstStyle/>
                    <a:p>
                      <a:r>
                        <a:rPr sz="1500" b="1">
                          <a:solidFill>
                            <a:srgbClr val="1F3A5F"/>
                          </a:solidFill>
                          <a:latin typeface="Arial"/>
                        </a:rPr>
                        <a:t>Gestion des erreurs</a:t>
                      </a:r>
                    </a:p>
                  </a:txBody>
                  <a:tcPr anchor="ctr" marT="18288" marB="18288" marL="109728">
                    <a:solidFill>
                      <a:srgbClr val="FFFFFF"/>
                    </a:solidFill>
                  </a:tcPr>
                </a:tc>
                <a:tc>
                  <a:txBody>
                    <a:bodyPr/>
                    <a:lstStyle/>
                    <a:p>
                      <a:r>
                        <a:rPr sz="1500" b="0">
                          <a:solidFill>
                            <a:srgbClr val="1B2530"/>
                          </a:solidFill>
                          <a:latin typeface="Arial"/>
                        </a:rPr>
                        <a:t>carte cachée, permission caméra refusée</a:t>
                      </a:r>
                    </a:p>
                  </a:txBody>
                  <a:tcPr anchor="ctr" marT="18288" marB="18288" marL="109728">
                    <a:solidFill>
                      <a:srgbClr val="FFFFFF"/>
                    </a:solidFill>
                  </a:tcPr>
                </a:tc>
                <a:tc>
                  <a:txBody>
                    <a:bodyPr/>
                    <a:lstStyle/>
                    <a:p>
                      <a:r>
                        <a:rPr sz="1500" b="0">
                          <a:solidFill>
                            <a:srgbClr val="1F3A5F"/>
                          </a:solidFill>
                          <a:latin typeface="Arial"/>
                        </a:rPr>
                        <a:t>B · D</a:t>
                      </a:r>
                    </a:p>
                  </a:txBody>
                  <a:tcPr anchor="ctr" marT="18288" marB="18288" marL="109728">
                    <a:solidFill>
                      <a:srgbClr val="FFFFFF"/>
                    </a:solidFill>
                  </a:tcPr>
                </a:tc>
              </a:tr>
              <a:tr h="393192">
                <a:tc>
                  <a:txBody>
                    <a:bodyPr/>
                    <a:lstStyle/>
                    <a:p>
                      <a:r>
                        <a:rPr sz="1500" b="1">
                          <a:solidFill>
                            <a:srgbClr val="1F3A5F"/>
                          </a:solidFill>
                          <a:latin typeface="Arial"/>
                        </a:rPr>
                        <a:t>Test global</a:t>
                      </a:r>
                    </a:p>
                  </a:txBody>
                  <a:tcPr anchor="ctr" marT="18288" marB="18288" marL="109728">
                    <a:solidFill>
                      <a:srgbClr val="EEF2F6"/>
                    </a:solidFill>
                  </a:tcPr>
                </a:tc>
                <a:tc>
                  <a:txBody>
                    <a:bodyPr/>
                    <a:lstStyle/>
                    <a:p>
                      <a:r>
                        <a:rPr sz="1500" b="0">
                          <a:solidFill>
                            <a:srgbClr val="1B2530"/>
                          </a:solidFill>
                          <a:latin typeface="Arial"/>
                        </a:rPr>
                        <a:t>recto puis verso, plusieurs téléphones et éclairages</a:t>
                      </a:r>
                    </a:p>
                  </a:txBody>
                  <a:tcPr anchor="ctr" marT="18288" marB="18288" marL="109728">
                    <a:solidFill>
                      <a:srgbClr val="EEF2F6"/>
                    </a:solidFill>
                  </a:tcPr>
                </a:tc>
                <a:tc>
                  <a:txBody>
                    <a:bodyPr/>
                    <a:lstStyle/>
                    <a:p>
                      <a:r>
                        <a:rPr sz="1500" b="0">
                          <a:solidFill>
                            <a:srgbClr val="1F3A5F"/>
                          </a:solidFill>
                          <a:latin typeface="Arial"/>
                        </a:rPr>
                        <a:t>D</a:t>
                      </a:r>
                    </a:p>
                  </a:txBody>
                  <a:tcPr anchor="ctr" marT="18288" marB="18288" marL="109728">
                    <a:solidFill>
                      <a:srgbClr val="EEF2F6"/>
                    </a:solidFill>
                  </a:tcPr>
                </a:tc>
              </a:tr>
            </a:tbl>
          </a:graphicData>
        </a:graphic>
      </p:graphicFrame>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C</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C</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La capture est sûre par construction ; la vivacité est vérifiée ensuite par Avatar-ID</a:t>
            </a:r>
          </a:p>
        </p:txBody>
      </p:sp>
      <p:sp>
        <p:nvSpPr>
          <p:cNvPr id="8" name="TextBox 7"/>
          <p:cNvSpPr txBox="1"/>
          <p:nvPr/>
        </p:nvSpPr>
        <p:spPr>
          <a:xfrm>
            <a:off x="548640" y="1828800"/>
            <a:ext cx="5272887" cy="320040"/>
          </a:xfrm>
          <a:prstGeom prst="rect">
            <a:avLst/>
          </a:prstGeom>
          <a:noFill/>
        </p:spPr>
        <p:txBody>
          <a:bodyPr wrap="square" lIns="0" rIns="0" tIns="0" bIns="0" anchor="t">
            <a:spAutoFit/>
          </a:bodyPr>
          <a:lstStyle/>
          <a:p>
            <a:pPr algn="l"/>
            <a:r>
              <a:rPr sz="1300" b="1" i="0">
                <a:solidFill>
                  <a:srgbClr val="2E75B6"/>
                </a:solidFill>
                <a:latin typeface="Arial"/>
              </a:rPr>
              <a:t>GARANTI PAR CONSTRUCTION</a:t>
            </a:r>
          </a:p>
        </p:txBody>
      </p:sp>
      <p:sp>
        <p:nvSpPr>
          <p:cNvPr id="9" name="TextBox 8"/>
          <p:cNvSpPr txBox="1"/>
          <p:nvPr/>
        </p:nvSpPr>
        <p:spPr>
          <a:xfrm>
            <a:off x="548640"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Capture en direct, depuis le flux caméra</a:t>
            </a:r>
          </a:p>
          <a:p>
            <a:pPr algn="l">
              <a:spcAft>
                <a:spcPts val="1200"/>
              </a:spcAft>
            </a:pPr>
            <a:r>
              <a:rPr sz="1800" b="0" i="0">
                <a:solidFill>
                  <a:srgbClr val="1B2530"/>
                </a:solidFill>
                <a:latin typeface="Arial"/>
              </a:rPr>
              <a:t>Deux faces distinctes, dans l'ordre recto → verso</a:t>
            </a:r>
          </a:p>
          <a:p>
            <a:pPr algn="l">
              <a:spcAft>
                <a:spcPts val="1200"/>
              </a:spcAft>
            </a:pPr>
            <a:r>
              <a:rPr sz="1800" b="0" i="0">
                <a:solidFill>
                  <a:srgbClr val="1B2530"/>
                </a:solidFill>
                <a:latin typeface="Arial"/>
              </a:rPr>
              <a:t>Qualité contrôlée : netteté, luminosité, stabilité</a:t>
            </a:r>
          </a:p>
          <a:p>
            <a:pPr algn="l">
              <a:spcAft>
                <a:spcPts val="1200"/>
              </a:spcAft>
            </a:pPr>
            <a:r>
              <a:rPr sz="1800" b="0" i="0">
                <a:solidFill>
                  <a:srgbClr val="1B2530"/>
                </a:solidFill>
                <a:latin typeface="Arial"/>
              </a:rPr>
              <a:t>Traitement sur l'appareil, sans service tiers</a:t>
            </a:r>
          </a:p>
        </p:txBody>
      </p:sp>
      <p:cxnSp>
        <p:nvCxnSpPr>
          <p:cNvPr id="10" name="Connector 9"/>
          <p:cNvCxnSpPr/>
          <p:nvPr/>
        </p:nvCxnSpPr>
        <p:spPr>
          <a:xfrm>
            <a:off x="6095847" y="1828800"/>
            <a:ext cx="0" cy="3291840"/>
          </a:xfrm>
          <a:prstGeom prst="line">
            <a:avLst/>
          </a:prstGeom>
          <a:ln w="9525">
            <a:solidFill>
              <a:srgbClr val="CBD3DB"/>
            </a:solidFill>
          </a:ln>
        </p:spPr>
      </p:cxnSp>
      <p:sp>
        <p:nvSpPr>
          <p:cNvPr id="11" name="TextBox 10"/>
          <p:cNvSpPr txBox="1"/>
          <p:nvPr/>
        </p:nvSpPr>
        <p:spPr>
          <a:xfrm>
            <a:off x="6370167" y="1828800"/>
            <a:ext cx="5272887" cy="320040"/>
          </a:xfrm>
          <a:prstGeom prst="rect">
            <a:avLst/>
          </a:prstGeom>
          <a:noFill/>
        </p:spPr>
        <p:txBody>
          <a:bodyPr wrap="square" lIns="0" rIns="0" tIns="0" bIns="0" anchor="t">
            <a:spAutoFit/>
          </a:bodyPr>
          <a:lstStyle/>
          <a:p>
            <a:pPr algn="l"/>
            <a:r>
              <a:rPr sz="1300" b="1" i="0">
                <a:solidFill>
                  <a:srgbClr val="1F3A5F"/>
                </a:solidFill>
                <a:latin typeface="Arial"/>
              </a:rPr>
              <a:t>EN AVAL ET PROCHAINES ÉTAPES</a:t>
            </a:r>
          </a:p>
        </p:txBody>
      </p:sp>
      <p:sp>
        <p:nvSpPr>
          <p:cNvPr id="12" name="TextBox 11"/>
          <p:cNvSpPr txBox="1"/>
          <p:nvPr/>
        </p:nvSpPr>
        <p:spPr>
          <a:xfrm>
            <a:off x="6370167" y="2286000"/>
            <a:ext cx="5272887" cy="3108960"/>
          </a:xfrm>
          <a:prstGeom prst="rect">
            <a:avLst/>
          </a:prstGeom>
          <a:noFill/>
        </p:spPr>
        <p:txBody>
          <a:bodyPr wrap="square" lIns="0" rIns="0" tIns="0" bIns="0" anchor="t">
            <a:spAutoFit/>
          </a:bodyPr>
          <a:lstStyle/>
          <a:p>
            <a:pPr algn="l">
              <a:spcAft>
                <a:spcPts val="1200"/>
              </a:spcAft>
            </a:pPr>
            <a:r>
              <a:rPr sz="1800" b="0" i="0">
                <a:solidFill>
                  <a:srgbClr val="1B2530"/>
                </a:solidFill>
                <a:latin typeface="Arial"/>
              </a:rPr>
              <a:t>Vivacité et comparaison des photos : Avatar-ID</a:t>
            </a:r>
          </a:p>
          <a:p>
            <a:pPr algn="l">
              <a:spcAft>
                <a:spcPts val="1200"/>
              </a:spcAft>
            </a:pPr>
            <a:r>
              <a:rPr sz="1800" b="0" i="0">
                <a:solidFill>
                  <a:srgbClr val="1B2530"/>
                </a:solidFill>
                <a:latin typeface="Arial"/>
              </a:rPr>
              <a:t>Analyse de texture contre les cartes sur écran</a:t>
            </a:r>
          </a:p>
          <a:p>
            <a:pPr algn="l">
              <a:spcAft>
                <a:spcPts val="1200"/>
              </a:spcAft>
            </a:pPr>
            <a:r>
              <a:rPr sz="1800" b="0" i="0">
                <a:solidFill>
                  <a:srgbClr val="1B2530"/>
                </a:solidFill>
                <a:latin typeface="Arial"/>
              </a:rPr>
              <a:t>Informer l'utilisateur lors de l'export en galerie</a:t>
            </a:r>
          </a:p>
          <a:p>
            <a:pPr algn="l">
              <a:spcAft>
                <a:spcPts val="1200"/>
              </a:spcAft>
            </a:pPr>
            <a:r>
              <a:rPr sz="1800" b="0" i="0">
                <a:solidFill>
                  <a:srgbClr val="1B2530"/>
                </a:solidFill>
                <a:latin typeface="Arial"/>
              </a:rPr>
              <a:t>Chiffrement des captures stockées</a:t>
            </a:r>
          </a:p>
        </p:txBody>
      </p:sp>
      <p:sp>
        <p:nvSpPr>
          <p:cNvPr id="13" name="Rectangle 12"/>
          <p:cNvSpPr/>
          <p:nvPr/>
        </p:nvSpPr>
        <p:spPr>
          <a:xfrm>
            <a:off x="548640" y="5349240"/>
            <a:ext cx="11094415" cy="566928"/>
          </a:xfrm>
          <a:prstGeom prst="rect">
            <a:avLst/>
          </a:prstGeom>
          <a:solidFill>
            <a:srgbClr val="EEF2F6"/>
          </a:solidFill>
          <a:ln>
            <a:noFill/>
          </a:ln>
        </p:spPr>
        <p:txBody>
          <a:bodyPr rtlCol="0" anchor="ctr"/>
          <a:lstStyle/>
          <a:p/>
        </p:txBody>
      </p:sp>
      <p:sp>
        <p:nvSpPr>
          <p:cNvPr id="14" name="TextBox 13"/>
          <p:cNvSpPr txBox="1"/>
          <p:nvPr/>
        </p:nvSpPr>
        <p:spPr>
          <a:xfrm>
            <a:off x="777240" y="5349240"/>
            <a:ext cx="10637215" cy="566928"/>
          </a:xfrm>
          <a:prstGeom prst="rect">
            <a:avLst/>
          </a:prstGeom>
          <a:noFill/>
        </p:spPr>
        <p:txBody>
          <a:bodyPr wrap="square" lIns="0" rIns="0" tIns="0" bIns="0" anchor="ctr">
            <a:spAutoFit/>
          </a:bodyPr>
          <a:lstStyle/>
          <a:p>
            <a:pPr algn="l"/>
            <a:r>
              <a:rPr sz="1600" b="1" i="0">
                <a:solidFill>
                  <a:srgbClr val="1F3A5F"/>
                </a:solidFill>
                <a:latin typeface="Arial"/>
              </a:rPr>
              <a:t>Données de test : </a:t>
            </a:r>
            <a:r>
              <a:rPr sz="1600" b="0" i="0">
                <a:solidFill>
                  <a:srgbClr val="1B2530"/>
                </a:solidFill>
                <a:latin typeface="Arial"/>
              </a:rPr>
              <a:t>les captures montrées dans cette soutenance sont masquées dans les pixels (photo, nom, numéros, code-barres).</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350"/>
                                        <p:tgtEl>
                                          <p:spTgt spid="8"/>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childTnLst>
                                </p:cTn>
                              </p:par>
                              <p:par>
                                <p:cTn id="15" presetID="10" presetClass="entr" presetSubtype="0"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fade">
                                      <p:cBhvr>
                                        <p:cTn id="17" dur="350"/>
                                        <p:tgtEl>
                                          <p:spTgt spid="11"/>
                                        </p:tgtEl>
                                      </p:cBhvr>
                                    </p:animEffect>
                                  </p:childTnLst>
                                </p:cTn>
                              </p:par>
                            </p:childTnLst>
                          </p:cTn>
                        </p:par>
                        <p:par>
                          <p:cTn id="18" fill="hold">
                            <p:stCondLst>
                              <p:cond delay="500"/>
                            </p:stCondLst>
                            <p:childTnLst>
                              <p:par>
                                <p:cTn id="19" presetID="10" presetClass="entr" presetSubtype="0" fill="hold" nodeType="afterEffect">
                                  <p:stCondLst>
                                    <p:cond delay="0"/>
                                  </p:stCondLst>
                                  <p:childTnLst>
                                    <p:set>
                                      <p:cBhvr>
                                        <p:cTn id="20" dur="1" fill="hold">
                                          <p:stCondLst>
                                            <p:cond delay="0"/>
                                          </p:stCondLst>
                                        </p:cTn>
                                        <p:tgtEl>
                                          <p:spTgt spid="9"/>
                                        </p:tgtEl>
                                        <p:attrNameLst>
                                          <p:attrName>style.visibility</p:attrName>
                                        </p:attrNameLst>
                                      </p:cBhvr>
                                      <p:to>
                                        <p:strVal val="visible"/>
                                      </p:to>
                                    </p:set>
                                    <p:animEffect transition="in" filter="fade">
                                      <p:cBhvr>
                                        <p:cTn id="21" dur="350"/>
                                        <p:tgtEl>
                                          <p:spTgt spid="9"/>
                                        </p:tgtEl>
                                      </p:cBhvr>
                                    </p:animEffect>
                                  </p:childTnLst>
                                </p:cTn>
                              </p:par>
                              <p:par>
                                <p:cTn id="22" presetID="10" presetClass="entr" presetSubtype="0" fill="hold" nodeType="withEffect">
                                  <p:stCondLst>
                                    <p:cond delay="0"/>
                                  </p:stCondLst>
                                  <p:childTnLst>
                                    <p:set>
                                      <p:cBhvr>
                                        <p:cTn id="23" dur="1" fill="hold">
                                          <p:stCondLst>
                                            <p:cond delay="0"/>
                                          </p:stCondLst>
                                        </p:cTn>
                                        <p:tgtEl>
                                          <p:spTgt spid="12"/>
                                        </p:tgtEl>
                                        <p:attrNameLst>
                                          <p:attrName>style.visibility</p:attrName>
                                        </p:attrNameLst>
                                      </p:cBhvr>
                                      <p:to>
                                        <p:strVal val="visible"/>
                                      </p:to>
                                    </p:set>
                                    <p:animEffect transition="in" filter="fade">
                                      <p:cBhvr>
                                        <p:cTn id="24" dur="350"/>
                                        <p:tgtEl>
                                          <p:spTgt spid="12"/>
                                        </p:tgtEl>
                                      </p:cBhvr>
                                    </p:animEffect>
                                  </p:childTnLst>
                                </p:cTn>
                              </p:par>
                            </p:childTnLst>
                          </p:cTn>
                        </p:par>
                        <p:par>
                          <p:cTn id="25" fill="hold">
                            <p:stCondLst>
                              <p:cond delay="750"/>
                            </p:stCondLst>
                            <p:childTnLst>
                              <p:par>
                                <p:cTn id="26" presetID="10" presetClass="entr" presetSubtype="0" fill="hold" nodeType="after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fade">
                                      <p:cBhvr>
                                        <p:cTn id="28" dur="350"/>
                                        <p:tgtEl>
                                          <p:spTgt spid="13"/>
                                        </p:tgtEl>
                                      </p:cBhvr>
                                    </p:animEffect>
                                  </p:childTnLst>
                                </p:cTn>
                              </p:par>
                              <p:par>
                                <p:cTn id="29" presetID="10" presetClass="entr" presetSubtype="0" fill="hold" nodeType="with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fade">
                                      <p:cBhvr>
                                        <p:cTn id="31"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1" grpId="0"/>
      <p:bldP spid="9" grpId="0"/>
      <p:bldP spid="12" grpId="0"/>
      <p:bldP spid="13" grpId="0"/>
      <p:bldP spid="14" grpId="0"/>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10317175" y="384048"/>
            <a:ext cx="1325880" cy="310896"/>
          </a:xfrm>
          <a:prstGeom prst="rect">
            <a:avLst/>
          </a:prstGeom>
          <a:solidFill>
            <a:srgbClr val="EEF2F6"/>
          </a:solidFill>
          <a:ln>
            <a:noFill/>
          </a:ln>
        </p:spPr>
        <p:txBody>
          <a:bodyPr rtlCol="0" anchor="ctr"/>
          <a:lstStyle/>
          <a:p/>
        </p:txBody>
      </p:sp>
      <p:sp>
        <p:nvSpPr>
          <p:cNvPr id="3" name="TextBox 2"/>
          <p:cNvSpPr txBox="1"/>
          <p:nvPr/>
        </p:nvSpPr>
        <p:spPr>
          <a:xfrm>
            <a:off x="10317175" y="384048"/>
            <a:ext cx="1325880" cy="310896"/>
          </a:xfrm>
          <a:prstGeom prst="rect">
            <a:avLst/>
          </a:prstGeom>
          <a:noFill/>
        </p:spPr>
        <p:txBody>
          <a:bodyPr wrap="square" lIns="0" rIns="0" tIns="0" bIns="0" anchor="ctr">
            <a:spAutoFit/>
          </a:bodyPr>
          <a:lstStyle/>
          <a:p>
            <a:pPr algn="ctr"/>
            <a:r>
              <a:rPr sz="1200" b="1" i="0">
                <a:solidFill>
                  <a:srgbClr val="5B6B7A"/>
                </a:solidFill>
                <a:latin typeface="Arial"/>
              </a:rPr>
              <a:t>Secours D</a:t>
            </a:r>
          </a:p>
        </p:txBody>
      </p:sp>
      <p:cxnSp>
        <p:nvCxnSpPr>
          <p:cNvPr id="4" name="Connector 3"/>
          <p:cNvCxnSpPr/>
          <p:nvPr/>
        </p:nvCxnSpPr>
        <p:spPr>
          <a:xfrm>
            <a:off x="548640" y="6382512"/>
            <a:ext cx="11094415" cy="0"/>
          </a:xfrm>
          <a:prstGeom prst="line">
            <a:avLst/>
          </a:prstGeom>
          <a:ln w="9525">
            <a:solidFill>
              <a:srgbClr val="CBD3DB"/>
            </a:solidFill>
          </a:ln>
        </p:spPr>
      </p:cxnSp>
      <p:sp>
        <p:nvSpPr>
          <p:cNvPr id="5" name="TextBox 4"/>
          <p:cNvSpPr txBox="1"/>
          <p:nvPr/>
        </p:nvSpPr>
        <p:spPr>
          <a:xfrm>
            <a:off x="548640" y="6455664"/>
            <a:ext cx="7315200" cy="228600"/>
          </a:xfrm>
          <a:prstGeom prst="rect">
            <a:avLst/>
          </a:prstGeom>
          <a:noFill/>
        </p:spPr>
        <p:txBody>
          <a:bodyPr wrap="square" lIns="0" rIns="0" tIns="0" bIns="0" anchor="t">
            <a:spAutoFit/>
          </a:bodyPr>
          <a:lstStyle/>
          <a:p>
            <a:pPr algn="l"/>
            <a:r>
              <a:rPr sz="1100" b="0" i="0">
                <a:solidFill>
                  <a:srgbClr val="5B6B7A"/>
                </a:solidFill>
                <a:latin typeface="Arial"/>
              </a:rPr>
              <a:t>Avatar-ID · autocapture de la CIN · Mohammed Amine Chaieb · ENSI 2025/2026</a:t>
            </a:r>
          </a:p>
        </p:txBody>
      </p:sp>
      <p:sp>
        <p:nvSpPr>
          <p:cNvPr id="6" name="TextBox 5"/>
          <p:cNvSpPr txBox="1"/>
          <p:nvPr/>
        </p:nvSpPr>
        <p:spPr>
          <a:xfrm>
            <a:off x="9814255" y="6455664"/>
            <a:ext cx="1828800" cy="228600"/>
          </a:xfrm>
          <a:prstGeom prst="rect">
            <a:avLst/>
          </a:prstGeom>
          <a:noFill/>
        </p:spPr>
        <p:txBody>
          <a:bodyPr wrap="square" lIns="0" rIns="0" tIns="0" bIns="0" anchor="t">
            <a:spAutoFit/>
          </a:bodyPr>
          <a:lstStyle/>
          <a:p>
            <a:pPr algn="r"/>
            <a:r>
              <a:rPr sz="1100" b="0" i="0">
                <a:solidFill>
                  <a:srgbClr val="5B6B7A"/>
                </a:solidFill>
                <a:latin typeface="Arial"/>
              </a:rPr>
              <a:t>Secours D</a:t>
            </a:r>
          </a:p>
        </p:txBody>
      </p:sp>
      <p:sp>
        <p:nvSpPr>
          <p:cNvPr id="7" name="Titre"/>
          <p:cNvSpPr txBox="1"/>
          <p:nvPr/>
        </p:nvSpPr>
        <p:spPr>
          <a:xfrm>
            <a:off x="548640" y="777240"/>
            <a:ext cx="11094415" cy="1005840"/>
          </a:xfrm>
          <a:prstGeom prst="rect">
            <a:avLst/>
          </a:prstGeom>
          <a:noFill/>
        </p:spPr>
        <p:txBody>
          <a:bodyPr wrap="square" lIns="0" rIns="0" tIns="0" bIns="0" anchor="t">
            <a:spAutoFit/>
          </a:bodyPr>
          <a:lstStyle/>
          <a:p>
            <a:pPr algn="l"/>
            <a:r>
              <a:rPr sz="2800" b="1" i="0">
                <a:solidFill>
                  <a:srgbClr val="1F3A5F"/>
                </a:solidFill>
                <a:latin typeface="Arial"/>
              </a:rPr>
              <a:t>OpenCV fournit les primitives ; l'assemblage, les scores et la logique de capture sont développés</a:t>
            </a:r>
          </a:p>
        </p:txBody>
      </p:sp>
      <p:sp>
        <p:nvSpPr>
          <p:cNvPr id="8" name="TextBox 7"/>
          <p:cNvSpPr txBox="1"/>
          <p:nvPr/>
        </p:nvSpPr>
        <p:spPr>
          <a:xfrm>
            <a:off x="548640" y="1783080"/>
            <a:ext cx="3200400" cy="320040"/>
          </a:xfrm>
          <a:prstGeom prst="rect">
            <a:avLst/>
          </a:prstGeom>
          <a:noFill/>
        </p:spPr>
        <p:txBody>
          <a:bodyPr wrap="square" lIns="0" rIns="0" tIns="0" bIns="0" anchor="t">
            <a:spAutoFit/>
          </a:bodyPr>
          <a:lstStyle/>
          <a:p>
            <a:pPr algn="l"/>
            <a:r>
              <a:rPr sz="1300" b="1" i="0">
                <a:solidFill>
                  <a:srgbClr val="5B6B7A"/>
                </a:solidFill>
                <a:latin typeface="Arial"/>
              </a:rPr>
              <a:t>FOURNI (OPENCV, PLUGINS)</a:t>
            </a:r>
          </a:p>
        </p:txBody>
      </p:sp>
      <p:sp>
        <p:nvSpPr>
          <p:cNvPr id="9" name="TextBox 8"/>
          <p:cNvSpPr txBox="1"/>
          <p:nvPr/>
        </p:nvSpPr>
        <p:spPr>
          <a:xfrm>
            <a:off x="548640" y="2194560"/>
            <a:ext cx="310896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Canny, seuillage adaptatif, Otsu</a:t>
            </a:r>
          </a:p>
          <a:p>
            <a:pPr algn="l">
              <a:spcAft>
                <a:spcPts val="300"/>
              </a:spcAft>
            </a:pPr>
            <a:r>
              <a:rPr sz="1400" b="0" i="0">
                <a:solidFill>
                  <a:srgbClr val="1B2530"/>
                </a:solidFill>
                <a:latin typeface="Arial"/>
              </a:rPr>
              <a:t>CLAHE, morphologie</a:t>
            </a:r>
          </a:p>
          <a:p>
            <a:pPr algn="l">
              <a:spcAft>
                <a:spcPts val="300"/>
              </a:spcAft>
            </a:pPr>
            <a:r>
              <a:rPr sz="1400" b="0" i="0">
                <a:solidFill>
                  <a:srgbClr val="1B2530"/>
                </a:solidFill>
                <a:latin typeface="Arial"/>
              </a:rPr>
              <a:t>findContours, approxPolyDP</a:t>
            </a:r>
          </a:p>
          <a:p>
            <a:pPr algn="l">
              <a:spcAft>
                <a:spcPts val="300"/>
              </a:spcAft>
            </a:pPr>
            <a:r>
              <a:rPr sz="1400" b="0" i="0">
                <a:solidFill>
                  <a:srgbClr val="1B2530"/>
                </a:solidFill>
                <a:latin typeface="Arial"/>
              </a:rPr>
              <a:t>warpPerspective</a:t>
            </a:r>
          </a:p>
          <a:p>
            <a:pPr algn="l">
              <a:spcAft>
                <a:spcPts val="300"/>
              </a:spcAft>
            </a:pPr>
            <a:r>
              <a:rPr sz="1400" b="0" i="0">
                <a:solidFill>
                  <a:srgbClr val="1B2530"/>
                </a:solidFill>
                <a:latin typeface="Arial"/>
              </a:rPr>
              <a:t>Laplacien, HoughLinesP</a:t>
            </a:r>
          </a:p>
          <a:p>
            <a:pPr algn="l">
              <a:spcAft>
                <a:spcPts val="300"/>
              </a:spcAft>
            </a:pPr>
            <a:r>
              <a:rPr sz="1400" b="0" i="0">
                <a:solidFill>
                  <a:srgbClr val="1B2530"/>
                </a:solidFill>
                <a:latin typeface="Arial"/>
              </a:rPr>
              <a:t>BarcodeDetector</a:t>
            </a:r>
          </a:p>
          <a:p>
            <a:pPr algn="l">
              <a:spcAft>
                <a:spcPts val="300"/>
              </a:spcAft>
            </a:pPr>
            <a:r>
              <a:rPr sz="1400" b="0" i="0">
                <a:solidFill>
                  <a:srgbClr val="1B2530"/>
                </a:solidFill>
                <a:latin typeface="Arial"/>
              </a:rPr>
              <a:t>cascade de Haar pré-entraînée</a:t>
            </a:r>
          </a:p>
          <a:p>
            <a:pPr algn="l">
              <a:spcAft>
                <a:spcPts val="300"/>
              </a:spcAft>
            </a:pPr>
            <a:r>
              <a:rPr sz="1400" b="0" i="0">
                <a:solidFill>
                  <a:srgbClr val="1B2530"/>
                </a:solidFill>
                <a:latin typeface="Arial"/>
              </a:rPr>
              <a:t>matchTemplate</a:t>
            </a:r>
          </a:p>
          <a:p>
            <a:pPr algn="l">
              <a:spcAft>
                <a:spcPts val="300"/>
              </a:spcAft>
            </a:pPr>
            <a:r>
              <a:rPr sz="1400" b="0" i="0">
                <a:solidFill>
                  <a:srgbClr val="1B2530"/>
                </a:solidFill>
                <a:latin typeface="Arial"/>
              </a:rPr>
              <a:t>camera, gal, image</a:t>
            </a:r>
          </a:p>
        </p:txBody>
      </p:sp>
      <p:sp>
        <p:nvSpPr>
          <p:cNvPr id="10" name="TextBox 9"/>
          <p:cNvSpPr txBox="1"/>
          <p:nvPr/>
        </p:nvSpPr>
        <p:spPr>
          <a:xfrm>
            <a:off x="3886200" y="1783080"/>
            <a:ext cx="3383280" cy="320040"/>
          </a:xfrm>
          <a:prstGeom prst="rect">
            <a:avLst/>
          </a:prstGeom>
          <a:noFill/>
        </p:spPr>
        <p:txBody>
          <a:bodyPr wrap="square" lIns="0" rIns="0" tIns="0" bIns="0" anchor="t">
            <a:spAutoFit/>
          </a:bodyPr>
          <a:lstStyle/>
          <a:p>
            <a:pPr algn="l"/>
            <a:r>
              <a:rPr sz="1300" b="1" i="0">
                <a:solidFill>
                  <a:srgbClr val="2E75B6"/>
                </a:solidFill>
                <a:latin typeface="Arial"/>
              </a:rPr>
              <a:t>DÉVELOPPÉ PENDANT LE STAGE</a:t>
            </a:r>
          </a:p>
        </p:txBody>
      </p:sp>
      <p:sp>
        <p:nvSpPr>
          <p:cNvPr id="11" name="TextBox 10"/>
          <p:cNvSpPr txBox="1"/>
          <p:nvPr/>
        </p:nvSpPr>
        <p:spPr>
          <a:xfrm>
            <a:off x="3886200" y="2194560"/>
            <a:ext cx="3383280" cy="3840480"/>
          </a:xfrm>
          <a:prstGeom prst="rect">
            <a:avLst/>
          </a:prstGeom>
          <a:noFill/>
        </p:spPr>
        <p:txBody>
          <a:bodyPr wrap="square" lIns="0" rIns="0" tIns="0" bIns="0" anchor="t">
            <a:spAutoFit/>
          </a:bodyPr>
          <a:lstStyle/>
          <a:p>
            <a:pPr algn="l">
              <a:spcAft>
                <a:spcPts val="300"/>
              </a:spcAft>
            </a:pPr>
            <a:r>
              <a:rPr sz="1400" b="0" i="0">
                <a:solidFill>
                  <a:srgbClr val="1B2530"/>
                </a:solidFill>
                <a:latin typeface="Arial"/>
              </a:rPr>
              <a:t>conversion YUV420/BGRA → Mat</a:t>
            </a:r>
          </a:p>
          <a:p>
            <a:pPr algn="l">
              <a:spcAft>
                <a:spcPts val="300"/>
              </a:spcAft>
            </a:pPr>
            <a:r>
              <a:rPr sz="1400" b="0" i="0">
                <a:solidFill>
                  <a:srgbClr val="1B2530"/>
                </a:solidFill>
                <a:latin typeface="Arial"/>
              </a:rPr>
              <a:t>DocumentContourDetector : passes, sortie, suivi</a:t>
            </a:r>
          </a:p>
          <a:p>
            <a:pPr algn="l">
              <a:spcAft>
                <a:spcPts val="300"/>
              </a:spcAft>
            </a:pPr>
            <a:r>
              <a:rPr sz="1400" b="0" i="0">
                <a:solidFill>
                  <a:srgbClr val="1B2530"/>
                </a:solidFill>
                <a:latin typeface="Arial"/>
              </a:rPr>
              <a:t>CardQuadGeometry : score</a:t>
            </a:r>
          </a:p>
          <a:p>
            <a:pPr algn="l">
              <a:spcAft>
                <a:spcPts val="300"/>
              </a:spcAft>
            </a:pPr>
            <a:r>
              <a:rPr sz="1400" b="0" i="0">
                <a:solidFill>
                  <a:srgbClr val="1B2530"/>
                </a:solidFill>
                <a:latin typeface="Arial"/>
              </a:rPr>
              <a:t>DetectionIsolateWorker</a:t>
            </a:r>
          </a:p>
          <a:p>
            <a:pPr algn="l">
              <a:spcAft>
                <a:spcPts val="300"/>
              </a:spcAft>
            </a:pPr>
            <a:r>
              <a:rPr sz="1400" b="0" i="0">
                <a:solidFill>
                  <a:srgbClr val="1B2530"/>
                </a:solidFill>
                <a:latin typeface="Arial"/>
              </a:rPr>
              <a:t>StabilityTracker, stabilisateur</a:t>
            </a:r>
          </a:p>
          <a:p>
            <a:pPr algn="l">
              <a:spcAft>
                <a:spcPts val="300"/>
              </a:spcAft>
            </a:pPr>
            <a:r>
              <a:rPr sz="1400" b="0" i="0">
                <a:solidFill>
                  <a:srgbClr val="1B2530"/>
                </a:solidFill>
                <a:latin typeface="Arial"/>
              </a:rPr>
              <a:t>machine à états d'autocapture</a:t>
            </a:r>
          </a:p>
          <a:p>
            <a:pPr algn="l">
              <a:spcAft>
                <a:spcPts val="300"/>
              </a:spcAft>
            </a:pPr>
            <a:r>
              <a:rPr sz="1400" b="0" i="0">
                <a:solidFill>
                  <a:srgbClr val="1B2530"/>
                </a:solidFill>
                <a:latin typeface="Arial"/>
              </a:rPr>
              <a:t>BackOrientationDetector : vote</a:t>
            </a:r>
          </a:p>
          <a:p>
            <a:pPr algn="l">
              <a:spcAft>
                <a:spcPts val="300"/>
              </a:spcAft>
            </a:pPr>
            <a:r>
              <a:rPr sz="1400" b="0" i="0">
                <a:solidFill>
                  <a:srgbClr val="1B2530"/>
                </a:solidFill>
                <a:latin typeface="Arial"/>
              </a:rPr>
              <a:t>CardImageEnhancer, page A4</a:t>
            </a:r>
          </a:p>
          <a:p>
            <a:pPr algn="l">
              <a:spcAft>
                <a:spcPts val="300"/>
              </a:spcAft>
            </a:pPr>
            <a:r>
              <a:rPr sz="1400" b="0" i="0">
                <a:solidFill>
                  <a:srgbClr val="1B2530"/>
                </a:solidFill>
                <a:latin typeface="Arial"/>
              </a:rPr>
              <a:t>écrans, historique, export</a:t>
            </a:r>
          </a:p>
        </p:txBody>
      </p:sp>
      <p:cxnSp>
        <p:nvCxnSpPr>
          <p:cNvPr id="12" name="Connector 11"/>
          <p:cNvCxnSpPr/>
          <p:nvPr/>
        </p:nvCxnSpPr>
        <p:spPr>
          <a:xfrm>
            <a:off x="7360919" y="1783080"/>
            <a:ext cx="0" cy="4160520"/>
          </a:xfrm>
          <a:prstGeom prst="line">
            <a:avLst/>
          </a:prstGeom>
          <a:ln w="9525">
            <a:solidFill>
              <a:srgbClr val="CBD3DB"/>
            </a:solidFill>
          </a:ln>
        </p:spPr>
      </p:cxnSp>
      <p:sp>
        <p:nvSpPr>
          <p:cNvPr id="13" name="TextBox 12"/>
          <p:cNvSpPr txBox="1"/>
          <p:nvPr/>
        </p:nvSpPr>
        <p:spPr>
          <a:xfrm>
            <a:off x="7635240" y="1783080"/>
            <a:ext cx="4007815" cy="320040"/>
          </a:xfrm>
          <a:prstGeom prst="rect">
            <a:avLst/>
          </a:prstGeom>
          <a:noFill/>
        </p:spPr>
        <p:txBody>
          <a:bodyPr wrap="square" lIns="0" rIns="0" tIns="0" bIns="0" anchor="t">
            <a:spAutoFit/>
          </a:bodyPr>
          <a:lstStyle/>
          <a:p>
            <a:pPr algn="l"/>
            <a:r>
              <a:rPr sz="1300" b="1" i="0">
                <a:solidFill>
                  <a:srgbClr val="2E75B6"/>
                </a:solidFill>
                <a:latin typeface="Arial"/>
              </a:rPr>
              <a:t>RÉFÉRENCES</a:t>
            </a:r>
          </a:p>
        </p:txBody>
      </p:sp>
      <p:sp>
        <p:nvSpPr>
          <p:cNvPr id="14" name="TextBox 13"/>
          <p:cNvSpPr txBox="1"/>
          <p:nvPr/>
        </p:nvSpPr>
        <p:spPr>
          <a:xfrm>
            <a:off x="7635240" y="2194560"/>
            <a:ext cx="4007815" cy="3840480"/>
          </a:xfrm>
          <a:prstGeom prst="rect">
            <a:avLst/>
          </a:prstGeom>
          <a:noFill/>
        </p:spPr>
        <p:txBody>
          <a:bodyPr wrap="square" lIns="0" rIns="0" tIns="0" bIns="0" anchor="t">
            <a:spAutoFit/>
          </a:bodyPr>
          <a:lstStyle/>
          <a:p>
            <a:pPr algn="l">
              <a:spcAft>
                <a:spcPts val="400"/>
              </a:spcAft>
            </a:pPr>
            <a:r>
              <a:rPr sz="1300" b="0" i="0">
                <a:solidFill>
                  <a:srgbClr val="1B2530"/>
                </a:solidFill>
                <a:latin typeface="Arial"/>
              </a:rPr>
              <a:t>Canny, IEEE TPAMI, 1986</a:t>
            </a:r>
          </a:p>
          <a:p>
            <a:pPr algn="l">
              <a:spcAft>
                <a:spcPts val="400"/>
              </a:spcAft>
            </a:pPr>
            <a:r>
              <a:rPr sz="1300" b="0" i="0">
                <a:solidFill>
                  <a:srgbClr val="1B2530"/>
                </a:solidFill>
                <a:latin typeface="Arial"/>
              </a:rPr>
              <a:t>Otsu, IEEE TSMC, 1979</a:t>
            </a:r>
          </a:p>
          <a:p>
            <a:pPr algn="l">
              <a:spcAft>
                <a:spcPts val="400"/>
              </a:spcAft>
            </a:pPr>
            <a:r>
              <a:rPr sz="1300" b="0" i="0">
                <a:solidFill>
                  <a:srgbClr val="1B2530"/>
                </a:solidFill>
                <a:latin typeface="Arial"/>
              </a:rPr>
              <a:t>Zuiderveld, CLAHE, Graphics Gems IV, 1994</a:t>
            </a:r>
          </a:p>
          <a:p>
            <a:pPr algn="l">
              <a:spcAft>
                <a:spcPts val="400"/>
              </a:spcAft>
            </a:pPr>
            <a:r>
              <a:rPr sz="1300" b="0" i="0">
                <a:solidFill>
                  <a:srgbClr val="1B2530"/>
                </a:solidFill>
                <a:latin typeface="Arial"/>
              </a:rPr>
              <a:t>Viola &amp; Jones, CVPR, 2001</a:t>
            </a:r>
          </a:p>
          <a:p>
            <a:pPr algn="l">
              <a:spcAft>
                <a:spcPts val="400"/>
              </a:spcAft>
            </a:pPr>
            <a:r>
              <a:rPr sz="1300" b="0" i="0">
                <a:solidFill>
                  <a:srgbClr val="1B2530"/>
                </a:solidFill>
                <a:latin typeface="Arial"/>
              </a:rPr>
              <a:t>Matas et al., Hough probabiliste, CVIU, 2000</a:t>
            </a:r>
          </a:p>
          <a:p>
            <a:pPr algn="l">
              <a:spcAft>
                <a:spcPts val="400"/>
              </a:spcAft>
            </a:pPr>
            <a:r>
              <a:rPr sz="1300" b="0" i="0">
                <a:solidFill>
                  <a:srgbClr val="1B2530"/>
                </a:solidFill>
                <a:latin typeface="Arial"/>
              </a:rPr>
              <a:t>Hartley &amp; Zisserman, 2004</a:t>
            </a:r>
          </a:p>
          <a:p>
            <a:pPr algn="l">
              <a:spcAft>
                <a:spcPts val="400"/>
              </a:spcAft>
            </a:pPr>
            <a:r>
              <a:rPr sz="1300" b="0" i="0">
                <a:solidFill>
                  <a:srgbClr val="1B2530"/>
                </a:solidFill>
                <a:latin typeface="Arial"/>
              </a:rPr>
              <a:t>Martin, Clean Architecture, 2017</a:t>
            </a:r>
          </a:p>
          <a:p>
            <a:pPr algn="l">
              <a:spcAft>
                <a:spcPts val="400"/>
              </a:spcAft>
            </a:pPr>
            <a:r>
              <a:rPr sz="1300" b="0" i="0">
                <a:solidFill>
                  <a:srgbClr val="1B2530"/>
                </a:solidFill>
                <a:latin typeface="Arial"/>
              </a:rPr>
              <a:t>ISO/IEC 7810:2019 (ID-1)</a:t>
            </a:r>
          </a:p>
          <a:p>
            <a:pPr algn="l">
              <a:spcAft>
                <a:spcPts val="400"/>
              </a:spcAft>
            </a:pPr>
            <a:r>
              <a:rPr sz="1300" b="0" i="0">
                <a:solidFill>
                  <a:srgbClr val="1B2530"/>
                </a:solidFill>
                <a:latin typeface="Arial"/>
              </a:rPr>
              <a:t>Google ML Kit, Document Scanner API [15]</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after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350"/>
                                        <p:tgtEl>
                                          <p:spTgt spid="7"/>
                                        </p:tgtEl>
                                      </p:cBhvr>
                                    </p:animEffect>
                                  </p:childTnLst>
                                </p:cTn>
                              </p:par>
                            </p:childTnLst>
                          </p:cTn>
                        </p:par>
                        <p:par>
                          <p:cTn id="8" fill="hold">
                            <p:stCondLst>
                              <p:cond delay="250"/>
                            </p:stCondLst>
                            <p:childTnLst>
                              <p:par>
                                <p:cTn id="9" presetID="10" presetClass="entr" presetSubtype="0" fill="hold" nodeType="after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350"/>
                                        <p:tgtEl>
                                          <p:spTgt spid="8"/>
                                        </p:tgtEl>
                                      </p:cBhvr>
                                    </p:animEffect>
                                  </p:childTnLst>
                                </p:cTn>
                              </p:par>
                              <p:par>
                                <p:cTn id="12" presetID="10"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350"/>
                                        <p:tgtEl>
                                          <p:spTgt spid="10"/>
                                        </p:tgtEl>
                                      </p:cBhvr>
                                    </p:animEffect>
                                  </p:childTnLst>
                                </p:cTn>
                              </p:par>
                              <p:par>
                                <p:cTn id="15" presetID="10" presetClass="entr" presetSubtype="0" fill="hold" nodeType="with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fade">
                                      <p:cBhvr>
                                        <p:cTn id="17" dur="350"/>
                                        <p:tgtEl>
                                          <p:spTgt spid="12"/>
                                        </p:tgtEl>
                                      </p:cBhvr>
                                    </p:animEffect>
                                  </p:childTnLst>
                                </p:cTn>
                              </p:par>
                              <p:par>
                                <p:cTn id="18" presetID="10" presetClass="entr" presetSubtype="0" fill="hold" nodeType="withEffect">
                                  <p:stCondLst>
                                    <p:cond delay="0"/>
                                  </p:stCondLst>
                                  <p:childTnLst>
                                    <p:set>
                                      <p:cBhvr>
                                        <p:cTn id="19" dur="1" fill="hold">
                                          <p:stCondLst>
                                            <p:cond delay="0"/>
                                          </p:stCondLst>
                                        </p:cTn>
                                        <p:tgtEl>
                                          <p:spTgt spid="13"/>
                                        </p:tgtEl>
                                        <p:attrNameLst>
                                          <p:attrName>style.visibility</p:attrName>
                                        </p:attrNameLst>
                                      </p:cBhvr>
                                      <p:to>
                                        <p:strVal val="visible"/>
                                      </p:to>
                                    </p:set>
                                    <p:animEffect transition="in" filter="fade">
                                      <p:cBhvr>
                                        <p:cTn id="20" dur="350"/>
                                        <p:tgtEl>
                                          <p:spTgt spid="13"/>
                                        </p:tgtEl>
                                      </p:cBhvr>
                                    </p:animEffect>
                                  </p:childTnLst>
                                </p:cTn>
                              </p:par>
                            </p:childTnLst>
                          </p:cTn>
                        </p:par>
                        <p:par>
                          <p:cTn id="21" fill="hold">
                            <p:stCondLst>
                              <p:cond delay="500"/>
                            </p:stCondLst>
                            <p:childTnLst>
                              <p:par>
                                <p:cTn id="22" presetID="10" presetClass="entr" presetSubtype="0" fill="hold" nodeType="after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350"/>
                                        <p:tgtEl>
                                          <p:spTgt spid="9"/>
                                        </p:tgtEl>
                                      </p:cBhvr>
                                    </p:animEffect>
                                  </p:childTnLst>
                                </p:cTn>
                              </p:par>
                              <p:par>
                                <p:cTn id="25" presetID="10" presetClass="entr" presetSubtype="0" fill="hold"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350"/>
                                        <p:tgtEl>
                                          <p:spTgt spid="11"/>
                                        </p:tgtEl>
                                      </p:cBhvr>
                                    </p:animEffect>
                                  </p:childTnLst>
                                </p:cTn>
                              </p:par>
                              <p:par>
                                <p:cTn id="28" presetID="10" presetClass="entr" presetSubtype="0" fill="hold" nodeType="with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fade">
                                      <p:cBhvr>
                                        <p:cTn id="30" dur="35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p:bldP spid="10" grpId="0"/>
      <p:bldP spid="13" grpId="0"/>
      <p:bldP spid="9" grpId="0"/>
      <p:bldP spid="11" grpId="0"/>
      <p:bldP spid="14"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