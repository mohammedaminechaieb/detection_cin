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0:20 (cumul 0:20)</a:t>
            </a:r>
          </a:p>
          <a:p/>
          <a:p>
            <a:r>
              <a:t>TEXTE ORAL</a:t>
            </a:r>
          </a:p>
          <a:p>
            <a:r>
              <a:t>Bonjour. Je présente mon stage d'été de six semaines chez Codingaholic, encadré par M. Jendoubi : un module mobile qui détecte et capture automatiquement le recto puis le verso de la carte d'identité tunisienne, pour l'application Avatar-ID.</a:t>
            </a:r>
          </a:p>
          <a:p/>
          <a:p>
            <a:r>
              <a:t>TRANSITION — « D'abord, le contexte. »</a:t>
            </a:r>
          </a:p>
          <a:p/>
          <a:p>
            <a:r>
              <a:t>QUESTION PROBABLE</a:t>
            </a:r>
          </a:p>
          <a:p>
            <a:r>
              <a:t>– « Quel était votre périmètre exact ? » → la capture : détection, contrôle de qualité, recto/verso, recadrage, amélioration. La vivacité, la comparaison des photos, l'OCR et l'enregistrement sont les étapes suivantes d'Avatar-ID (diapositive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0:50)</a:t>
            </a:r>
          </a:p>
          <a:p/>
          <a:p>
            <a:r>
              <a:t>ANIMATIONS — 2 clics : 1) étapes 2 à 5 d'Avatar-ID, après « Mon module est la première » ; 2) les deux conclusions du bas.</a:t>
            </a:r>
          </a:p>
          <a:p/>
          <a:p>
            <a:r>
              <a:t>TEXTE ORAL</a:t>
            </a:r>
          </a:p>
          <a:p>
            <a:r>
              <a:t>Avatar-ID vérifie l'identité à distance, comme un KYC bancaire. Mon module en est la première étape : la capture de la carte. [clic] Ensuite, Avatar-ID réalise le test de vivacité, compare la photo de la carte au visage, lit la carte par OCR et enregistre le résultat. [clic] La qualité de ma capture conditionne donc toute la suite.</a:t>
            </a:r>
          </a:p>
          <a:p/>
          <a:p>
            <a:r>
              <a:t>TRANSITION — « Or cette capture échoue souvent. »</a:t>
            </a:r>
          </a:p>
          <a:p/>
          <a:p>
            <a:r>
              <a:t>QUESTIONS PROBABLES (préparation, ne pas lire)</a:t>
            </a:r>
          </a:p>
          <a:p>
            <a:r>
              <a:t>– « Avez-vous développé la vivacité ou l'OCR ? » → non, ce sont les étapes suivantes d'Avatar-ID ; mon périmètre est la capture.</a:t>
            </a:r>
          </a:p>
          <a:p>
            <a:r>
              <a:t>– « Sous quelle forme passez-vous les images ? » → deux images (Uint8List) et, le cas échéant, la page d'impression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1:20)</a:t>
            </a:r>
          </a:p>
          <a:p/>
          <a:p>
            <a:r>
              <a:t>ANIMATIONS — 4 clics : les trois défauts un par un (flou, de travers, deux fois le recto), puis la problématique.</a:t>
            </a:r>
          </a:p>
          <a:p/>
          <a:p>
            <a:r>
              <a:t>TEXTE ORAL</a:t>
            </a:r>
          </a:p>
          <a:p>
            <a:r>
              <a:t>Une simple photo de la carte est souvent [clic] floue, [clic] de travers, [clic] ou c'est deux fois le recto au lieu du verso. [clic] D'où ma problématique : détecter en temps réel et de façon fiable les contours de la CIN, quels que soient l'éclairage et l'arrière-plan.</a:t>
            </a:r>
          </a:p>
          <a:p/>
          <a:p>
            <a:r>
              <a:t>TRANSITION — «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0:35 (cumul 1:55)</a:t>
            </a:r>
          </a:p>
          <a:p/>
          <a:p>
            <a:r>
              <a:t>ANIMATIONS — 3 clics : 1) les cinq fonctions ; 2) les trois cibles ; 3) Android et iOS.</a:t>
            </a:r>
          </a:p>
          <a:p/>
          <a:p>
            <a:r>
              <a:t>TEXTE ORAL</a:t>
            </a:r>
          </a:p>
          <a:p>
            <a:r>
              <a:t>[clic] Cinq fonctions : détecter la carte, contrôler la netteté, la luminosité et la stabilité, distinguer le recto du verso, capturer sans bouton, puis recadrer et améliorer. [clic] Trois cibles : moins de 100 millisecondes par image, au moins 90 % de recto/verso reconnus en conditions normales, et environ deux secondes jusqu'à la capture. [clic] Le tout sur Android et iOS, avec un seul code, en six semaines.</a:t>
            </a:r>
          </a:p>
          <a:p/>
          <a:p>
            <a:r>
              <a:t>TRANSITION — « Cette double plateforme a dicté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0:35 (cumul 2:30)</a:t>
            </a:r>
          </a:p>
          <a:p/>
          <a:p>
            <a:r>
              <a:t>ANIMATIONS — 2 clics : 1) la pile retenue (logos) ; 2) la remarque en orange.</a:t>
            </a:r>
          </a:p>
          <a:p/>
          <a:p>
            <a:r>
              <a:t>TEXTE ORAL</a:t>
            </a:r>
          </a:p>
          <a:p>
            <a:r>
              <a:t>Le Document Scanner de ML Kit n'existe que sur Android. Un modèle entraîné sur mesure exigeait plusieurs centaines d'images de CIN annotées, impossible à constituer en six semaines. J'ai donc retenu OpenCV : multiplateforme et sans entraînement, au prix d'un réglage empirique des seuils. [clic] La pile : Flutter et Dart pour l'application, OpenCV via le binding opencv_dart. [clic] En orange, le critère qui élimine chaque option.</a:t>
            </a:r>
          </a:p>
          <a:p/>
          <a:p>
            <a:r>
              <a:t>TRANSITION — « Voyons l'organisation du code.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3:00)</a:t>
            </a:r>
          </a:p>
          <a:p/>
          <a:p>
            <a:r>
              <a:t>ANIMATIONS — 1 clic : la matrice des sept modules, après avoir expliqué le module type.</a:t>
            </a:r>
          </a:p>
          <a:p/>
          <a:p>
            <a:r>
              <a:t>TEXTE ORAL</a:t>
            </a:r>
          </a:p>
          <a:p>
            <a:r>
              <a:t>Le code suit la Clean Architecture, découpée par fonctionnalité. La couche présentation dépend du domaine, et la couche données l'implémente. La clé est le domaine : il ne dépend ni de Flutter ni d'OpenCV, donc la machine à états ou la géométrie se testent sans caméra ni émulateur. [clic] Chaque module ne prend que les couches dont il a besoin.</a:t>
            </a:r>
          </a:p>
          <a:p/>
          <a:p>
            <a:r>
              <a:t>TRANSITION — « Passons au cœur : la détection.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4:00)</a:t>
            </a:r>
          </a:p>
          <a:p/>
          <a:p>
            <a:r>
              <a:t>ANIMATIONS — 1 clic : la bande « conçu et développé pendant le stage », au moment de « Autour d'OpenCV, j'ai conçu ».</a:t>
            </a:r>
          </a:p>
          <a:p/>
          <a:p>
            <a:r>
              <a:t>TEXTE ORAL</a:t>
            </a:r>
          </a:p>
          <a:p>
            <a:r>
              <a:t>Chaque image caméra, en YUV420 ou BGRA, devient une matrice OpenCV. Un CLAHE, une égalisation d'histogramme locale, renforce le contraste. Quatre passes produisent ensuite des masques de contours : Canny, avec des seuils à 0,66 et 1,33 fois la médiane ; un seuillage adaptatif ; la saturation HSV avec Otsu ; et, en dernier recours, un gradient morphologique. Chaque contour est simplifié en polygone ; un score de 80 % sur la proportion du format ID-1 et 20 % sur la taille retient le meilleur quadrilatère au-dessus de 0,30. Une homographie le redresse en 856 par 540 pixels. [clic] Autour de ces primitives, j'ai conçu la sortie anticipée à 0,65, le suivi à plus ou moins 20 % autour de la position précédente, les garde-fous contre un faux quadrilatère, et un isolate Dart qui garde l'aperçu fluide.</a:t>
            </a:r>
          </a:p>
          <a:p/>
          <a:p>
            <a:r>
              <a:t>TRANSITION — « Cela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4:40)</a:t>
            </a:r>
          </a:p>
          <a:p/>
          <a:p>
            <a:r>
              <a:t>ANIMATIONS — 3 clics : 1) les deux causes ; 2) les trois correctifs ; 3) le résultat observé.</a:t>
            </a:r>
          </a:p>
          <a:p/>
          <a:p>
            <a:r>
              <a:t>TEXTE ORAL</a:t>
            </a:r>
          </a:p>
          <a:p>
            <a:r>
              <a:t>Sur fond clair, une table blanche par exemple, la détection échouait souvent. [clic] Deux causes : un bug, les seuils de Canny calculés sur la moyenne au lieu de la médiane, donc trop hauts sur une scène claire ; et un contraste local trop faible. [clic] Trois correctifs : la vraie médiane, un CLAHE avant la détection, et le réglage des seuils de score et d'aire. [clic] Résultat : une détection comparable sur fond clair et sur fond sombre.</a:t>
            </a:r>
          </a:p>
          <a:p/>
          <a:p>
            <a:r>
              <a:t>TRANSITION — « Une fois la carte trouvée, quand capturer ?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5:25)</a:t>
            </a:r>
          </a:p>
          <a:p/>
          <a:p>
            <a:r>
              <a:t>ANIMATIONS — 1 clic : les cinq contrôles, après avoir décrit la machine à états.</a:t>
            </a:r>
          </a:p>
          <a:p/>
          <a:p>
            <a:r>
              <a:t>TEXTE ORAL</a:t>
            </a:r>
          </a:p>
          <a:p>
            <a:r>
              <a:t>L'autocapture est une machine à états : searching tant qu'aucune carte n'est trouvée, poorQuality tant qu'un contrôle échoue, holding pendant le maintien, puis triggerCapture et captured. Si un contrôle échoue, on revient en arrière. [clic] Cinq contrôles : la netteté, mesurée par la variance du Laplacien, au moins 120 ; la luminosité, avec au plus 12 % de pixels saturés pour écarter les reflets ; la stabilité, une dérive des coins sous 2,5 % de la diagonale ; la bonne face ; et un maintien de deux images consécutives. C'est un compteur d'images, pas une minuterie.</a:t>
            </a:r>
          </a:p>
          <a:p/>
          <a:p>
            <a:r>
              <a:t>TRANSITION — « La bonne face, justement.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6:05)</a:t>
            </a:r>
          </a:p>
          <a:p/>
          <a:p>
            <a:r>
              <a:t>ANIMATIONS — 3 clics : 1) le recto ; 2) le verso ; 3) l'anti-doublon.</a:t>
            </a:r>
          </a:p>
          <a:p/>
          <a:p>
            <a:r>
              <a:t>TEXTE ORAL</a:t>
            </a:r>
          </a:p>
          <a:p>
            <a:r>
              <a:t>[clic] Au recto, la photo est toujours en haut à gauche : j'y cherche un visage avec la cascade de Haar d'OpenCV, pré-entraînée, sur quatre rotations, ce qui donne aussi l'orientation. Le logo et le drapeau sont confirmés par template matching, avec une corrélation d'au moins 0,6. [clic] Le verso n'a pas de visage : le code-barres, la texture de l'empreinte et la ligne de séparation, trouvée par une transformée de Hough, votent sur quatre rotations. [clic] Ainsi, présenter deux fois le recto ne déclenche rien.</a:t>
            </a:r>
          </a:p>
          <a:p/>
          <a:p>
            <a:r>
              <a:t>TRANSITION — « Voyons-le en vrai.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6:50)</a:t>
            </a:r>
          </a:p>
          <a:p/>
          <a:p>
            <a:r>
              <a:t>VIDÉO — 40 s environ. Lancer la vidéo dès l'arrivée sur la diapositive (clic sur la vidéo). Pour l'intégrer : déposer le fichier dans build/assets/demo.mp4 puis relancer le script, ou dans PowerPoint : Insertion → Vidéo → Cet appareil, à la place du cadre, puis Lecture → Démarrer « Automatiquement ».</a:t>
            </a:r>
          </a:p>
          <a:p/>
          <a:p>
            <a:r>
              <a:t>TEXTE ORAL</a:t>
            </a:r>
          </a:p>
          <a:p>
            <a:r>
              <a:t>Voici le module en action. [lancer la vidéo] Le cadre est rouge tant que la carte n'est pas détectée, puis passe au vert. L'application guide l'utilisateur avec ses messages, et capture le recto toute seule dès que la netteté, la luminosité et la stabilité sont bonnes. Elle passe ensuite au verso, le reconnaît à ses trois indices, et le capture à son tour, sans aucun bouton.</a:t>
            </a:r>
          </a:p>
          <a:p/>
          <a:p>
            <a:r>
              <a:t>TRANSITION — « Après la capture, l'utilisateur garde la main.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0:25 (cumul 7:15)</a:t>
            </a:r>
          </a:p>
          <a:p/>
          <a:p>
            <a:r>
              <a:t>ANIMATIONS — 3 clics : une capture d'écran par clic (vérification, recadrage, page A4).</a:t>
            </a:r>
          </a:p>
          <a:p/>
          <a:p>
            <a:r>
              <a:t>TEXTE ORAL</a:t>
            </a:r>
          </a:p>
          <a:p>
            <a:r>
              <a:t>Une fois les deux faces capturées, l'utilisateur [clic] vérifie et règle contraste et netteté, [clic] ajuste le recadrage si besoin, [clic] puis exporte le recto, le verso et une page A4 à 300 dpi. Tout est traité sur l'appareil.</a:t>
            </a:r>
          </a:p>
          <a:p/>
          <a:p>
            <a:r>
              <a:t>TRANSITION — « Comment l'ai-je validé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0:25 (cumul 7:40)</a:t>
            </a:r>
          </a:p>
          <a:p/>
          <a:p>
            <a:r>
              <a:t>ANIMATIONS — 4 clics : un palier de test par clic (A, B, C, D).</a:t>
            </a:r>
          </a:p>
          <a:p/>
          <a:p>
            <a:r>
              <a:t>TEXTE ORAL</a:t>
            </a:r>
          </a:p>
          <a:p>
            <a:r>
              <a:t>177 tests automatisés passent sans échec, répartis en quatre paliers : [clic] la logique pure Dart, [clic] la plateforme simulée avec mocktail, [clic] OpenCV réel sur images synthétiques, [clic] et les vraies cartes sur téléphone, avec un protocole manuel.</a:t>
            </a:r>
          </a:p>
          <a:p/>
          <a:p>
            <a:r>
              <a:t>TRANSITION — « Et sur appareil réel ?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8:10)</a:t>
            </a:r>
          </a:p>
          <a:p/>
          <a:p>
            <a:r>
              <a:t>ANIMATIONS — 3 clics : une mesure par clic (temps, reconnaissance, délai) ; Android et iOS arrive avec la troisième.</a:t>
            </a:r>
          </a:p>
          <a:p/>
          <a:p>
            <a:r>
              <a:t>TEXTE ORAL</a:t>
            </a:r>
          </a:p>
          <a:p>
            <a:r>
              <a:t>Les trois cibles sont atteintes : [clic] 92 à 100 millisecondes de traitement par image dans l'isolate, [clic] 92 % de recto/verso reconnus sur cartes réelles, [clic] et environ deux secondes entre le cadre stabilisé et la capture, avec le même comportement sur Android et iOS.</a:t>
            </a:r>
          </a:p>
          <a:p/>
          <a:p>
            <a:r>
              <a:t>TRANSITION — « Pour la suite.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0:20 (cumul 8:30)</a:t>
            </a:r>
          </a:p>
          <a:p/>
          <a:p>
            <a:r>
              <a:t>ANIMATIONS — 4 clics : une piste par clic.</a:t>
            </a:r>
          </a:p>
          <a:p/>
          <a:p>
            <a:r>
              <a:t>TEXTE ORAL</a:t>
            </a:r>
          </a:p>
          <a:p>
            <a:r>
              <a:t>Quatre pistes vers la production : [clic] un jeu d'images plus large, [clic] des tests réels automatisés, [clic] un message de timeout, [clic] et une analyse de texture contre les cartes affichées sur un écran.</a:t>
            </a:r>
          </a:p>
          <a:p/>
          <a:p>
            <a:r>
              <a:t>TRANSITION — « Pour conclure. »</a:t>
            </a:r>
          </a:p>
          <a:p/>
          <a:p>
            <a:r>
              <a:t>QUESTIONS PROBABLES (préparation, ne pas lire)</a:t>
            </a:r>
          </a:p>
          <a:p>
            <a:r>
              <a:t>– « Une photo d'écran passe-t-elle ? » → les contrôles (capture en direct, deux faces, qualité) réduisent fortement ce risque ; la vivacité de la personne est ensuite vérifiée par Avatar-ID ; une analyse de texture de la carte renforcerait encore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0:35 (cumul 9:05)</a:t>
            </a:r>
          </a:p>
          <a:p/>
          <a:p>
            <a:r>
              <a:t>ANIMATIONS — 4 clics : 1) livré ; 2) mesuré ; 3) perspectives ; 4) mon apport.</a:t>
            </a:r>
          </a:p>
          <a:p/>
          <a:p>
            <a:r>
              <a:t>TEXTE ORAL</a:t>
            </a:r>
          </a:p>
          <a:p>
            <a:r>
              <a:t>En résumé, [clic] j'ai livré un module complet en six semaines, [clic] qui atteint ses trois cibles sur Android et iOS, [clic] avec des pistes claires pour la suite. [clic] Mon apport, c'est tout ce qui entoure les primitives d'OpenCV : l'enchaînement des passes, le score, l'isolate, la machine à états et le vote recto/verso. J'en retiens qu'un choix technique se justifie par les contraintes réelles du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0:05 (cumul 9:10)</a:t>
            </a:r>
          </a:p>
          <a:p/>
          <a:p>
            <a:r>
              <a:t>TEXTE ORAL</a:t>
            </a:r>
          </a:p>
          <a:p>
            <a:r>
              <a:t>Merci de votre attention ; je suis à votre disposition pour vos questions.</a:t>
            </a:r>
          </a:p>
          <a:p/>
          <a:p>
            <a:r>
              <a:t>PENDANT LES QUESTIONS — revenir si besoin à la diapositive 16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la vivacité de la personne et la comparaison des photos sont réalisées ensuite par Avatar-ID ; une analyse de texture de la carte reste une piste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Mon module est la première étape du parcours Avatar-ID : sa qualité conditionne la suite</a:t>
            </a:r>
          </a:p>
        </p:txBody>
      </p:sp>
      <p:sp>
        <p:nvSpPr>
          <p:cNvPr id="7" name="Rectangle 6"/>
          <p:cNvSpPr/>
          <p:nvPr/>
        </p:nvSpPr>
        <p:spPr>
          <a:xfrm>
            <a:off x="548640" y="2331720"/>
            <a:ext cx="2651760" cy="2103120"/>
          </a:xfrm>
          <a:prstGeom prst="rect">
            <a:avLst/>
          </a:prstGeom>
          <a:solidFill>
            <a:srgbClr val="FFFFFF"/>
          </a:solidFill>
          <a:ln w="28575">
            <a:solidFill>
              <a:srgbClr val="2E75B6"/>
            </a:solidFill>
          </a:ln>
        </p:spPr>
        <p:txBody>
          <a:bodyPr rtlCol="0" anchor="ctr"/>
          <a:lstStyle/>
          <a:p/>
        </p:txBody>
      </p:sp>
      <p:sp>
        <p:nvSpPr>
          <p:cNvPr id="8" name="TextBox 7"/>
          <p:cNvSpPr txBox="1"/>
          <p:nvPr/>
        </p:nvSpPr>
        <p:spPr>
          <a:xfrm>
            <a:off x="685800" y="2441448"/>
            <a:ext cx="2377440"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715768"/>
            <a:ext cx="2468879" cy="685800"/>
          </a:xfrm>
          <a:prstGeom prst="rect">
            <a:avLst/>
          </a:prstGeom>
          <a:noFill/>
        </p:spPr>
        <p:txBody>
          <a:bodyPr wrap="square" lIns="0" rIns="0" tIns="0" bIns="0" anchor="t">
            <a:spAutoFit/>
          </a:bodyPr>
          <a:lstStyle/>
          <a:p>
            <a:pPr algn="l"/>
            <a:r>
              <a:rPr sz="1700" b="1" i="0">
                <a:solidFill>
                  <a:srgbClr val="1F3A5F"/>
                </a:solidFill>
                <a:latin typeface="Arial"/>
              </a:rPr>
              <a:t>Capture de la CIN</a:t>
            </a:r>
          </a:p>
        </p:txBody>
      </p:sp>
      <p:sp>
        <p:nvSpPr>
          <p:cNvPr id="10" name="TextBox 9"/>
          <p:cNvSpPr txBox="1"/>
          <p:nvPr/>
        </p:nvSpPr>
        <p:spPr>
          <a:xfrm>
            <a:off x="685800" y="3108960"/>
            <a:ext cx="2377440" cy="1188720"/>
          </a:xfrm>
          <a:prstGeom prst="rect">
            <a:avLst/>
          </a:prstGeom>
          <a:noFill/>
        </p:spPr>
        <p:txBody>
          <a:bodyPr wrap="square" lIns="0" rIns="0" tIns="0" bIns="0" anchor="t">
            <a:spAutoFit/>
          </a:bodyPr>
          <a:lstStyle/>
          <a:p>
            <a:pPr algn="l">
              <a:spcAft>
                <a:spcPts val="200"/>
              </a:spcAft>
            </a:pPr>
            <a:r>
              <a:rPr sz="1600" b="0" i="0">
                <a:solidFill>
                  <a:srgbClr val="1B2530"/>
                </a:solidFill>
                <a:latin typeface="Arial"/>
              </a:rPr>
              <a:t>détection</a:t>
            </a:r>
          </a:p>
          <a:p>
            <a:pPr algn="l">
              <a:spcAft>
                <a:spcPts val="200"/>
              </a:spcAft>
            </a:pPr>
            <a:r>
              <a:rPr sz="1600" b="0" i="0">
                <a:solidFill>
                  <a:srgbClr val="1B2530"/>
                </a:solidFill>
                <a:latin typeface="Arial"/>
              </a:rPr>
              <a:t>qualité d'image</a:t>
            </a:r>
          </a:p>
          <a:p>
            <a:pPr algn="l">
              <a:spcAft>
                <a:spcPts val="200"/>
              </a:spcAft>
            </a:pPr>
            <a:r>
              <a:rPr sz="1600" b="0" i="0">
                <a:solidFill>
                  <a:srgbClr val="1B2530"/>
                </a:solidFill>
                <a:latin typeface="Arial"/>
              </a:rPr>
              <a:t>recto puis verso</a:t>
            </a:r>
          </a:p>
          <a:p>
            <a:pPr algn="l">
              <a:spcAft>
                <a:spcPts val="200"/>
              </a:spcAft>
            </a:pPr>
            <a:r>
              <a:rPr sz="1600" b="0" i="0">
                <a:solidFill>
                  <a:srgbClr val="1B2530"/>
                </a:solidFill>
                <a:latin typeface="Arial"/>
              </a:rPr>
              <a:t>recadrage, amélioration</a:t>
            </a:r>
          </a:p>
        </p:txBody>
      </p:sp>
      <p:cxnSp>
        <p:nvCxnSpPr>
          <p:cNvPr id="11" name="Connector 10"/>
          <p:cNvCxnSpPr/>
          <p:nvPr/>
        </p:nvCxnSpPr>
        <p:spPr>
          <a:xfrm>
            <a:off x="3236976" y="3383279"/>
            <a:ext cx="162991" cy="0"/>
          </a:xfrm>
          <a:prstGeom prst="line">
            <a:avLst/>
          </a:prstGeom>
          <a:ln w="19050">
            <a:solidFill>
              <a:srgbClr val="1F3A5F"/>
            </a:solidFill>
            <a:tailEnd type="triangle" w="med" h="med"/>
          </a:ln>
        </p:spPr>
      </p:cxnSp>
      <p:sp>
        <p:nvSpPr>
          <p:cNvPr id="12" name="Rectangle 11"/>
          <p:cNvSpPr/>
          <p:nvPr/>
        </p:nvSpPr>
        <p:spPr>
          <a:xfrm>
            <a:off x="3436543" y="2331720"/>
            <a:ext cx="1874519" cy="210312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3573703"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3573703"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Test de vivacité</a:t>
            </a:r>
          </a:p>
        </p:txBody>
      </p:sp>
      <p:sp>
        <p:nvSpPr>
          <p:cNvPr id="15" name="TextBox 14"/>
          <p:cNvSpPr txBox="1"/>
          <p:nvPr/>
        </p:nvSpPr>
        <p:spPr>
          <a:xfrm>
            <a:off x="3573703"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la personne est présente, en direct</a:t>
            </a:r>
          </a:p>
        </p:txBody>
      </p:sp>
      <p:cxnSp>
        <p:nvCxnSpPr>
          <p:cNvPr id="16" name="Connector 15"/>
          <p:cNvCxnSpPr/>
          <p:nvPr/>
        </p:nvCxnSpPr>
        <p:spPr>
          <a:xfrm>
            <a:off x="5347639" y="3383279"/>
            <a:ext cx="162992" cy="0"/>
          </a:xfrm>
          <a:prstGeom prst="line">
            <a:avLst/>
          </a:prstGeom>
          <a:ln w="19050">
            <a:solidFill>
              <a:srgbClr val="1F3A5F"/>
            </a:solidFill>
            <a:tailEnd type="triangle" w="med" h="med"/>
          </a:ln>
        </p:spPr>
      </p:cxnSp>
      <p:sp>
        <p:nvSpPr>
          <p:cNvPr id="17" name="Rectangle 16"/>
          <p:cNvSpPr/>
          <p:nvPr/>
        </p:nvSpPr>
        <p:spPr>
          <a:xfrm>
            <a:off x="5547207" y="2331720"/>
            <a:ext cx="1874519" cy="2103120"/>
          </a:xfrm>
          <a:prstGeom prst="rect">
            <a:avLst/>
          </a:prstGeom>
          <a:solidFill>
            <a:srgbClr val="EEF2F6"/>
          </a:solidFill>
          <a:ln w="12700">
            <a:solidFill>
              <a:srgbClr val="CBD3DB"/>
            </a:solidFill>
          </a:ln>
        </p:spPr>
        <p:txBody>
          <a:bodyPr rtlCol="0" anchor="ctr"/>
          <a:lstStyle/>
          <a:p/>
        </p:txBody>
      </p:sp>
      <p:sp>
        <p:nvSpPr>
          <p:cNvPr id="18" name="TextBox 17"/>
          <p:cNvSpPr txBox="1"/>
          <p:nvPr/>
        </p:nvSpPr>
        <p:spPr>
          <a:xfrm>
            <a:off x="5684367"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5684367"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Comparaison des photos</a:t>
            </a:r>
          </a:p>
        </p:txBody>
      </p:sp>
      <p:sp>
        <p:nvSpPr>
          <p:cNvPr id="20" name="TextBox 19"/>
          <p:cNvSpPr txBox="1"/>
          <p:nvPr/>
        </p:nvSpPr>
        <p:spPr>
          <a:xfrm>
            <a:off x="5684367"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photo de la CIN ↔ visage du test de vivacité</a:t>
            </a:r>
          </a:p>
        </p:txBody>
      </p:sp>
      <p:cxnSp>
        <p:nvCxnSpPr>
          <p:cNvPr id="21" name="Connector 20"/>
          <p:cNvCxnSpPr/>
          <p:nvPr/>
        </p:nvCxnSpPr>
        <p:spPr>
          <a:xfrm>
            <a:off x="7458303" y="3383279"/>
            <a:ext cx="162992" cy="0"/>
          </a:xfrm>
          <a:prstGeom prst="line">
            <a:avLst/>
          </a:prstGeom>
          <a:ln w="19050">
            <a:solidFill>
              <a:srgbClr val="1F3A5F"/>
            </a:solidFill>
            <a:tailEnd type="triangle" w="med" h="med"/>
          </a:ln>
        </p:spPr>
      </p:cxnSp>
      <p:sp>
        <p:nvSpPr>
          <p:cNvPr id="22" name="Rectangle 21"/>
          <p:cNvSpPr/>
          <p:nvPr/>
        </p:nvSpPr>
        <p:spPr>
          <a:xfrm>
            <a:off x="7657871" y="2331720"/>
            <a:ext cx="1874519" cy="2103120"/>
          </a:xfrm>
          <a:prstGeom prst="rect">
            <a:avLst/>
          </a:prstGeom>
          <a:solidFill>
            <a:srgbClr val="EEF2F6"/>
          </a:solidFill>
          <a:ln w="12700">
            <a:solidFill>
              <a:srgbClr val="CBD3DB"/>
            </a:solidFill>
          </a:ln>
        </p:spPr>
        <p:txBody>
          <a:bodyPr rtlCol="0" anchor="ctr"/>
          <a:lstStyle/>
          <a:p/>
        </p:txBody>
      </p:sp>
      <p:sp>
        <p:nvSpPr>
          <p:cNvPr id="23" name="TextBox 22"/>
          <p:cNvSpPr txBox="1"/>
          <p:nvPr/>
        </p:nvSpPr>
        <p:spPr>
          <a:xfrm>
            <a:off x="7795031"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95031"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OCR</a:t>
            </a:r>
          </a:p>
        </p:txBody>
      </p:sp>
      <p:sp>
        <p:nvSpPr>
          <p:cNvPr id="25" name="TextBox 24"/>
          <p:cNvSpPr txBox="1"/>
          <p:nvPr/>
        </p:nvSpPr>
        <p:spPr>
          <a:xfrm>
            <a:off x="7795031"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lecture des champs de la carte</a:t>
            </a:r>
          </a:p>
        </p:txBody>
      </p:sp>
      <p:cxnSp>
        <p:nvCxnSpPr>
          <p:cNvPr id="26" name="Connector 25"/>
          <p:cNvCxnSpPr/>
          <p:nvPr/>
        </p:nvCxnSpPr>
        <p:spPr>
          <a:xfrm>
            <a:off x="9568967" y="3383279"/>
            <a:ext cx="162992" cy="0"/>
          </a:xfrm>
          <a:prstGeom prst="line">
            <a:avLst/>
          </a:prstGeom>
          <a:ln w="19050">
            <a:solidFill>
              <a:srgbClr val="1F3A5F"/>
            </a:solidFill>
            <a:tailEnd type="triangle" w="med" h="med"/>
          </a:ln>
        </p:spPr>
      </p:cxnSp>
      <p:sp>
        <p:nvSpPr>
          <p:cNvPr id="27" name="Rectangle 26"/>
          <p:cNvSpPr/>
          <p:nvPr/>
        </p:nvSpPr>
        <p:spPr>
          <a:xfrm>
            <a:off x="9768535" y="2331720"/>
            <a:ext cx="1874519" cy="210312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Enregistrement</a:t>
            </a:r>
          </a:p>
        </p:txBody>
      </p:sp>
      <p:sp>
        <p:nvSpPr>
          <p:cNvPr id="30" name="TextBox 29"/>
          <p:cNvSpPr txBox="1"/>
          <p:nvPr/>
        </p:nvSpPr>
        <p:spPr>
          <a:xfrm>
            <a:off x="9905695"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sauvegarde du résultat</a:t>
            </a:r>
          </a:p>
        </p:txBody>
      </p:sp>
      <p:cxnSp>
        <p:nvCxnSpPr>
          <p:cNvPr id="31" name="Connector 30"/>
          <p:cNvCxnSpPr/>
          <p:nvPr/>
        </p:nvCxnSpPr>
        <p:spPr>
          <a:xfrm>
            <a:off x="548640" y="2148840"/>
            <a:ext cx="2651760" cy="0"/>
          </a:xfrm>
          <a:prstGeom prst="line">
            <a:avLst/>
          </a:prstGeom>
          <a:ln w="38100">
            <a:solidFill>
              <a:srgbClr val="2E75B6"/>
            </a:solidFill>
          </a:ln>
        </p:spPr>
      </p:cxnSp>
      <p:sp>
        <p:nvSpPr>
          <p:cNvPr id="32" name="TextBox 31"/>
          <p:cNvSpPr txBox="1"/>
          <p:nvPr/>
        </p:nvSpPr>
        <p:spPr>
          <a:xfrm>
            <a:off x="548640" y="1828800"/>
            <a:ext cx="2651760" cy="274320"/>
          </a:xfrm>
          <a:prstGeom prst="rect">
            <a:avLst/>
          </a:prstGeom>
          <a:noFill/>
        </p:spPr>
        <p:txBody>
          <a:bodyPr wrap="square" lIns="0" rIns="0" tIns="0" bIns="0" anchor="t">
            <a:spAutoFit/>
          </a:bodyPr>
          <a:lstStyle/>
          <a:p>
            <a:pPr algn="l"/>
            <a:r>
              <a:rPr sz="1300" b="1" i="0">
                <a:solidFill>
                  <a:srgbClr val="2E75B6"/>
                </a:solidFill>
                <a:latin typeface="Arial"/>
              </a:rPr>
              <a:t>CE STAGE</a:t>
            </a:r>
          </a:p>
        </p:txBody>
      </p:sp>
      <p:cxnSp>
        <p:nvCxnSpPr>
          <p:cNvPr id="33" name="Connector 32"/>
          <p:cNvCxnSpPr/>
          <p:nvPr/>
        </p:nvCxnSpPr>
        <p:spPr>
          <a:xfrm>
            <a:off x="3436543" y="2148840"/>
            <a:ext cx="8206512" cy="0"/>
          </a:xfrm>
          <a:prstGeom prst="line">
            <a:avLst/>
          </a:prstGeom>
          <a:ln w="19050">
            <a:solidFill>
              <a:srgbClr val="5B6B7A"/>
            </a:solidFill>
          </a:ln>
        </p:spPr>
      </p:cxnSp>
      <p:sp>
        <p:nvSpPr>
          <p:cNvPr id="34" name="TextBox 33"/>
          <p:cNvSpPr txBox="1"/>
          <p:nvPr/>
        </p:nvSpPr>
        <p:spPr>
          <a:xfrm>
            <a:off x="3436543" y="1828800"/>
            <a:ext cx="5486400" cy="274320"/>
          </a:xfrm>
          <a:prstGeom prst="rect">
            <a:avLst/>
          </a:prstGeom>
          <a:noFill/>
        </p:spPr>
        <p:txBody>
          <a:bodyPr wrap="square" lIns="0" rIns="0" tIns="0" bIns="0" anchor="t">
            <a:spAutoFit/>
          </a:bodyPr>
          <a:lstStyle/>
          <a:p>
            <a:pPr algn="l"/>
            <a:r>
              <a:rPr sz="1300" b="1" i="0">
                <a:solidFill>
                  <a:srgbClr val="5B6B7A"/>
                </a:solidFill>
                <a:latin typeface="Arial"/>
              </a:rPr>
              <a:t>SUITE DU PARCOURS AVATAR-ID</a:t>
            </a:r>
          </a:p>
        </p:txBody>
      </p:sp>
      <p:sp>
        <p:nvSpPr>
          <p:cNvPr id="35" name="TextBox 34"/>
          <p:cNvSpPr txBox="1"/>
          <p:nvPr/>
        </p:nvSpPr>
        <p:spPr>
          <a:xfrm>
            <a:off x="548640"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Ce que le module transmet : </a:t>
            </a:r>
            <a:r>
              <a:rPr sz="1800" b="0" i="0">
                <a:solidFill>
                  <a:srgbClr val="1B2530"/>
                </a:solidFill>
                <a:latin typeface="Arial"/>
              </a:rPr>
              <a:t>le recto et le verso redressés et orientés, ainsi que la page A4 composée.</a:t>
            </a:r>
          </a:p>
        </p:txBody>
      </p:sp>
      <p:sp>
        <p:nvSpPr>
          <p:cNvPr id="36" name="TextBox 35"/>
          <p:cNvSpPr txBox="1"/>
          <p:nvPr/>
        </p:nvSpPr>
        <p:spPr>
          <a:xfrm>
            <a:off x="6370167"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Pourquoi la qualité compte : </a:t>
            </a:r>
            <a:r>
              <a:rPr sz="1800" b="0" i="0">
                <a:solidFill>
                  <a:srgbClr val="1B2530"/>
                </a:solidFill>
                <a:latin typeface="Arial"/>
              </a:rPr>
              <a:t>une carte nette, bien cadrée et à l'endroit alimente directement la comparaison des photos et l'OCR.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00"/>
                                        <p:tgtEl>
                                          <p:spTgt spid="33"/>
                                        </p:tgtEl>
                                      </p:cBhvr>
                                    </p:animEffect>
                                  </p:childTnLst>
                                </p:cTn>
                              </p:par>
                              <p:par>
                                <p:cTn id="68" presetID="10" presetClass="entr" presetSubtype="0" fill="hold"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00"/>
                                        <p:tgtEl>
                                          <p:spTgt spid="3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00"/>
                                        <p:tgtEl>
                                          <p:spTgt spid="35"/>
                                        </p:tgtEl>
                                      </p:cBhvr>
                                    </p:animEffect>
                                  </p:childTnLst>
                                </p:cTn>
                              </p:par>
                              <p:par>
                                <p:cTn id="76" presetID="10" presetClass="entr" presetSubtype="0" fill="hold" nodeType="with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P spid="29" grpId="0"/>
      <p:bldP spid="30" grpId="0"/>
      <p:bldP spid="34" grpId="0"/>
      <p:bldP spid="35" grpId="0"/>
      <p:bldP spid="36"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Sans guidage : </a:t>
            </a:r>
            <a:r>
              <a:rPr sz="1600" b="0" i="0">
                <a:solidFill>
                  <a:srgbClr val="5B6B7A"/>
                </a:solidFill>
                <a:latin typeface="Arial"/>
              </a:rPr>
              <a:t>contrôle humain coûteux, nouvelle saisie, et étapes suivantes (photos, OCR) dégradées.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00"/>
                                        <p:tgtEl>
                                          <p:spTgt spid="21"/>
                                        </p:tgtEl>
                                      </p:cBhvr>
                                    </p:animEffect>
                                  </p:childTnLst>
                                </p:cTn>
                              </p:par>
                              <p:par>
                                <p:cTn id="56" presetID="10" presetClass="entr" presetSubtype="0" fill="hold"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35" presetID="10"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00"/>
                                        <p:tgtEl>
                                          <p:spTgt spid="18"/>
                                        </p:tgtEl>
                                      </p:cBhvr>
                                    </p:animEffect>
                                  </p:childTnLst>
                                </p:cTn>
                              </p:par>
                              <p:par>
                                <p:cTn id="38" presetID="10"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par>
                                <p:cTn id="41" presetID="10" presetClass="entr" presetSubtype="0" fill="hold"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par>
                                <p:cTn id="58" presetID="10" presetClass="entr" presetSubtype="0" fill="hold"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00"/>
                                        <p:tgtEl>
                                          <p:spTgt spid="26"/>
                                        </p:tgtEl>
                                      </p:cBhvr>
                                    </p:animEffect>
                                  </p:childTnLst>
                                </p:cTn>
                              </p:par>
                              <p:par>
                                <p:cTn id="61" presetID="10" presetClass="entr" presetSubtype="0" fill="hold"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00"/>
                                        <p:tgtEl>
                                          <p:spTgt spid="27"/>
                                        </p:tgtEl>
                                      </p:cBhvr>
                                    </p:animEffect>
                                  </p:childTnLst>
                                </p:cTn>
                              </p:par>
                              <p:par>
                                <p:cTn id="64" presetID="10" presetClass="entr" presetSubtype="0" fill="hold"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00"/>
                                        <p:tgtEl>
                                          <p:spTgt spid="29"/>
                                        </p:tgtEl>
                                      </p:cBhvr>
                                    </p:animEffect>
                                  </p:childTnLst>
                                </p:cTn>
                              </p:par>
                              <p:par>
                                <p:cTn id="72" presetID="10" presetClass="entr" presetSubtype="0" fill="hold" nodeType="withEffect">
                                  <p:stCondLst>
                                    <p:cond delay="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4" grpId="0"/>
      <p:bldP spid="15" grpId="0"/>
      <p:bldP spid="17" grpId="0"/>
      <p:bldP spid="18" grpId="0"/>
      <p:bldP spid="20" grpId="0"/>
      <p:bldP spid="21" grpId="0"/>
      <p:bldP spid="23" grpId="0"/>
      <p:bldP spid="24" grpId="0"/>
      <p:bldP spid="25" grpId="0"/>
      <p:bldP spid="26" grpId="0"/>
      <p:bldP spid="27" grpId="0"/>
      <p:bldP spid="28" grpId="0"/>
      <p:bldP spid="29" grpId="0"/>
      <p:bldP spid="30"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28800"/>
          <a:ext cx="11094415" cy="2907792"/>
        </p:xfrm>
        <a:graphic>
          <a:graphicData uri="http://schemas.openxmlformats.org/drawingml/2006/table">
            <a:tbl>
              <a:tblPr firstRow="0" bandRow="0"/>
              <a:tblGrid>
                <a:gridCol w="2743200"/>
                <a:gridCol w="2743200"/>
                <a:gridCol w="2743200"/>
                <a:gridCol w="2864815"/>
              </a:tblGrid>
              <a:tr h="713232">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548640">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548640">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138928"/>
            <a:ext cx="1828800" cy="457200"/>
          </a:xfrm>
          <a:prstGeom prst="rect">
            <a:avLst/>
          </a:prstGeom>
          <a:noFill/>
        </p:spPr>
        <p:txBody>
          <a:bodyPr wrap="square" lIns="0" rIns="0" tIns="0" bIns="0" anchor="ctr">
            <a:spAutoFit/>
          </a:bodyPr>
          <a:lstStyle/>
          <a:p>
            <a:pPr algn="l"/>
            <a:r>
              <a:rPr sz="1300" b="1" i="0">
                <a:solidFill>
                  <a:srgbClr val="2E75B6"/>
                </a:solidFill>
                <a:latin typeface="Arial"/>
              </a:rPr>
              <a:t>PILE RETENUE</a:t>
            </a:r>
          </a:p>
        </p:txBody>
      </p:sp>
      <p:pic>
        <p:nvPicPr>
          <p:cNvPr id="9" name="Picture 8" descr="Logo Flutter"/>
          <p:cNvPicPr>
            <a:picLocks noChangeAspect="1"/>
          </p:cNvPicPr>
          <p:nvPr/>
        </p:nvPicPr>
        <p:blipFill>
          <a:blip r:embed="rId2"/>
          <a:stretch>
            <a:fillRect/>
          </a:stretch>
        </p:blipFill>
        <p:spPr>
          <a:xfrm>
            <a:off x="2377440" y="5120640"/>
            <a:ext cx="407365" cy="502920"/>
          </a:xfrm>
          <a:prstGeom prst="rect">
            <a:avLst/>
          </a:prstGeom>
        </p:spPr>
      </p:pic>
      <p:sp>
        <p:nvSpPr>
          <p:cNvPr id="10" name="TextBox 9"/>
          <p:cNvSpPr txBox="1"/>
          <p:nvPr/>
        </p:nvSpPr>
        <p:spPr>
          <a:xfrm>
            <a:off x="292196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Flutter</a:t>
            </a:r>
          </a:p>
        </p:txBody>
      </p:sp>
      <p:pic>
        <p:nvPicPr>
          <p:cNvPr id="11" name="Picture 10" descr="Logo Dart"/>
          <p:cNvPicPr>
            <a:picLocks noChangeAspect="1"/>
          </p:cNvPicPr>
          <p:nvPr/>
        </p:nvPicPr>
        <p:blipFill>
          <a:blip r:embed="rId3"/>
          <a:stretch>
            <a:fillRect/>
          </a:stretch>
        </p:blipFill>
        <p:spPr>
          <a:xfrm>
            <a:off x="4293565" y="5120640"/>
            <a:ext cx="502920" cy="502920"/>
          </a:xfrm>
          <a:prstGeom prst="rect">
            <a:avLst/>
          </a:prstGeom>
        </p:spPr>
      </p:pic>
      <p:sp>
        <p:nvSpPr>
          <p:cNvPr id="12" name="TextBox 11"/>
          <p:cNvSpPr txBox="1"/>
          <p:nvPr/>
        </p:nvSpPr>
        <p:spPr>
          <a:xfrm>
            <a:off x="493364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Dart</a:t>
            </a:r>
          </a:p>
        </p:txBody>
      </p:sp>
      <p:pic>
        <p:nvPicPr>
          <p:cNvPr id="13" name="Picture 12" descr="Logo OpenCV"/>
          <p:cNvPicPr>
            <a:picLocks noChangeAspect="1"/>
          </p:cNvPicPr>
          <p:nvPr/>
        </p:nvPicPr>
        <p:blipFill>
          <a:blip r:embed="rId4"/>
          <a:stretch>
            <a:fillRect/>
          </a:stretch>
        </p:blipFill>
        <p:spPr>
          <a:xfrm>
            <a:off x="5939485" y="5120640"/>
            <a:ext cx="540774" cy="502920"/>
          </a:xfrm>
          <a:prstGeom prst="rect">
            <a:avLst/>
          </a:prstGeom>
        </p:spPr>
      </p:pic>
      <p:sp>
        <p:nvSpPr>
          <p:cNvPr id="14" name="TextBox 13"/>
          <p:cNvSpPr txBox="1"/>
          <p:nvPr/>
        </p:nvSpPr>
        <p:spPr>
          <a:xfrm>
            <a:off x="6617419"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OpenCV · opencv_dart</a:t>
            </a:r>
          </a:p>
        </p:txBody>
      </p:sp>
      <p:sp>
        <p:nvSpPr>
          <p:cNvPr id="15" name="TextBox 14"/>
          <p:cNvSpPr txBox="1"/>
          <p:nvPr/>
        </p:nvSpPr>
        <p:spPr>
          <a:xfrm>
            <a:off x="548640" y="5833872"/>
            <a:ext cx="11094415" cy="45720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Vision/VisionKit (iOS) écarté aussi : deux chaînes de détection à maintenir.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2" grpId="0"/>
      <p:bldP spid="14" grpId="0"/>
      <p:bldP spid="15"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0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0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nodeType="with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nodeType="withEffect">
                                  <p:stCondLst>
                                    <p:cond delay="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nodeType="withEffect">
                                  <p:stCondLst>
                                    <p:cond delay="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nodeType="withEffect">
                                  <p:stCondLst>
                                    <p:cond delay="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nodeType="withEffect">
                                  <p:stCondLst>
                                    <p:cond delay="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nodeType="withEffect">
                                  <p:stCondLst>
                                    <p:cond delay="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nodeType="withEffect">
                                  <p:stCondLst>
                                    <p:cond delay="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nodeType="withEffect">
                                  <p:stCondLst>
                                    <p:cond delay="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nodeType="withEffect">
                                  <p:stCondLst>
                                    <p:cond delay="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nodeType="withEffect">
                                  <p:stCondLst>
                                    <p:cond delay="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nodeType="withEffect">
                                  <p:stCondLst>
                                    <p:cond delay="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nodeType="withEffect">
                                  <p:stCondLst>
                                    <p:cond delay="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4" grpId="0"/>
      <p:bldP spid="25" grpId="0"/>
      <p:bldP spid="26" grpId="0"/>
      <p:bldP spid="30" grpId="0"/>
      <p:bldP spid="31" grpId="0"/>
      <p:bldP spid="32" grpId="0"/>
      <p:bldP spid="33" grpId="0"/>
      <p:bldP spid="35" grpId="0"/>
      <p:bldP spid="38" grpId="0"/>
      <p:bldP spid="40" grpId="0"/>
      <p:bldP spid="41" grpId="0"/>
      <p:bldP spid="42" grpId="0"/>
      <p:bldP spid="45" grpId="0"/>
      <p:bldP spid="46" grpId="0"/>
      <p:bldP spid="47" grpId="0"/>
      <p:bldP spid="48" grpId="0"/>
      <p:bldP spid="50" grpId="0"/>
      <p:bldP spid="51" grpId="0"/>
      <p:bldP spid="52" grpId="0"/>
      <p:bldP spid="55" grpId="0"/>
      <p:bldP spid="56" grpId="0"/>
      <p:bldP spid="60"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400"/>
                                        <p:tgtEl>
                                          <p:spTgt spid="37"/>
                                        </p:tgtEl>
                                      </p:cBhvr>
                                    </p:animEffect>
                                  </p:childTnLst>
                                </p:cTn>
                              </p:par>
                              <p:par>
                                <p:cTn id="26" presetID="10" presetClass="entr" presetSubtype="0" fill="hold" nodeType="withEffect">
                                  <p:stCondLst>
                                    <p:cond delay="0"/>
                                  </p:stCondLst>
                                  <p:childTnLst>
                                    <p:set>
                                      <p:cBhvr>
                                        <p:cTn id="27" dur="1" fill="hold">
                                          <p:stCondLst>
                                            <p:cond delay="0"/>
                                          </p:stCondLst>
                                        </p:cTn>
                                        <p:tgtEl>
                                          <p:spTgt spid="38"/>
                                        </p:tgtEl>
                                        <p:attrNameLst>
                                          <p:attrName>style.visibility</p:attrName>
                                        </p:attrNameLst>
                                      </p:cBhvr>
                                      <p:to>
                                        <p:strVal val="visible"/>
                                      </p:to>
                                    </p:set>
                                    <p:animEffect transition="in" filter="fade">
                                      <p:cBhvr>
                                        <p:cTn id="28" dur="400"/>
                                        <p:tgtEl>
                                          <p:spTgt spid="38"/>
                                        </p:tgtEl>
                                      </p:cBhvr>
                                    </p:animEffect>
                                  </p:childTnLst>
                                </p:cTn>
                              </p:par>
                              <p:par>
                                <p:cTn id="29" presetID="10"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3" grpId="0"/>
      <p:bldP spid="35" grpId="0"/>
      <p:bldP spid="37" grpId="0"/>
      <p:bldP spid="39"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155448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 détection souvent en échec, alors qu'elle marchait sur fond sombre.</a:t>
            </a:r>
          </a:p>
        </p:txBody>
      </p:sp>
      <p:sp>
        <p:nvSpPr>
          <p:cNvPr id="13" name="Rectangle 12"/>
          <p:cNvSpPr/>
          <p:nvPr/>
        </p:nvSpPr>
        <p:spPr>
          <a:xfrm>
            <a:off x="548640" y="3931920"/>
            <a:ext cx="1600200" cy="960120"/>
          </a:xfrm>
          <a:prstGeom prst="rect">
            <a:avLst/>
          </a:prstGeom>
          <a:solidFill>
            <a:srgbClr val="2B313A"/>
          </a:solidFill>
          <a:ln>
            <a:noFill/>
          </a:ln>
        </p:spPr>
        <p:txBody>
          <a:bodyPr rtlCol="0" anchor="ctr"/>
          <a:lstStyle/>
          <a:p/>
        </p:txBody>
      </p:sp>
      <p:sp>
        <p:nvSpPr>
          <p:cNvPr id="14" name="Rounded Rectangle 13"/>
          <p:cNvSpPr/>
          <p:nvPr/>
        </p:nvSpPr>
        <p:spPr>
          <a:xfrm>
            <a:off x="841247" y="4078224"/>
            <a:ext cx="1014984" cy="640080"/>
          </a:xfrm>
          <a:prstGeom prst="roundRect">
            <a:avLst>
              <a:gd name="adj" fmla="val 8000"/>
            </a:avLst>
          </a:prstGeom>
          <a:solidFill>
            <a:srgbClr val="FFFFFF"/>
          </a:solidFill>
          <a:ln w="12700">
            <a:solidFill>
              <a:srgbClr val="FFFFFF"/>
            </a:solidFill>
          </a:ln>
        </p:spPr>
        <p:txBody>
          <a:bodyPr rtlCol="0" anchor="ctr"/>
          <a:lstStyle/>
          <a:p/>
        </p:txBody>
      </p:sp>
      <p:sp>
        <p:nvSpPr>
          <p:cNvPr id="15" name="TextBox 14"/>
          <p:cNvSpPr txBox="1"/>
          <p:nvPr/>
        </p:nvSpPr>
        <p:spPr>
          <a:xfrm>
            <a:off x="54864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sombre : bord net</a:t>
            </a:r>
          </a:p>
        </p:txBody>
      </p:sp>
      <p:sp>
        <p:nvSpPr>
          <p:cNvPr id="16" name="Rectangle 15"/>
          <p:cNvSpPr/>
          <p:nvPr/>
        </p:nvSpPr>
        <p:spPr>
          <a:xfrm>
            <a:off x="2286000" y="3931920"/>
            <a:ext cx="1600200" cy="960120"/>
          </a:xfrm>
          <a:prstGeom prst="rect">
            <a:avLst/>
          </a:prstGeom>
          <a:solidFill>
            <a:srgbClr val="F1F3F5"/>
          </a:solidFill>
          <a:ln w="9525">
            <a:solidFill>
              <a:srgbClr val="CBD3DB"/>
            </a:solidFill>
          </a:ln>
        </p:spPr>
        <p:txBody>
          <a:bodyPr rtlCol="0" anchor="ctr"/>
          <a:lstStyle/>
          <a:p/>
        </p:txBody>
      </p:sp>
      <p:sp>
        <p:nvSpPr>
          <p:cNvPr id="17" name="Rounded Rectangle 16"/>
          <p:cNvSpPr/>
          <p:nvPr/>
        </p:nvSpPr>
        <p:spPr>
          <a:xfrm>
            <a:off x="2578608" y="4078224"/>
            <a:ext cx="1014984" cy="640080"/>
          </a:xfrm>
          <a:prstGeom prst="roundRect">
            <a:avLst>
              <a:gd name="adj" fmla="val 8000"/>
            </a:avLst>
          </a:prstGeom>
          <a:solidFill>
            <a:srgbClr val="FAFBFC"/>
          </a:solidFill>
          <a:ln w="12700">
            <a:solidFill>
              <a:srgbClr val="E4E8EC"/>
            </a:solidFill>
          </a:ln>
        </p:spPr>
        <p:txBody>
          <a:bodyPr rtlCol="0" anchor="ctr"/>
          <a:lstStyle/>
          <a:p/>
        </p:txBody>
      </p:sp>
      <p:sp>
        <p:nvSpPr>
          <p:cNvPr id="18" name="TextBox 17"/>
          <p:cNvSpPr txBox="1"/>
          <p:nvPr/>
        </p:nvSpPr>
        <p:spPr>
          <a:xfrm>
            <a:off x="228600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clair : bord faible</a:t>
            </a:r>
          </a:p>
        </p:txBody>
      </p:sp>
      <p:sp>
        <p:nvSpPr>
          <p:cNvPr id="19" name="TextBox 18"/>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20" name="TextBox 19"/>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21" name="Rectangle 20"/>
          <p:cNvSpPr/>
          <p:nvPr/>
        </p:nvSpPr>
        <p:spPr>
          <a:xfrm>
            <a:off x="548640" y="5349240"/>
            <a:ext cx="11094415" cy="685800"/>
          </a:xfrm>
          <a:prstGeom prst="rect">
            <a:avLst/>
          </a:prstGeom>
          <a:solidFill>
            <a:srgbClr val="EEF2F6"/>
          </a:solidFill>
          <a:ln>
            <a:noFill/>
          </a:ln>
        </p:spPr>
        <p:txBody>
          <a:bodyPr rtlCol="0" anchor="ctr"/>
          <a:lstStyle/>
          <a:p/>
        </p:txBody>
      </p:sp>
      <p:sp>
        <p:nvSpPr>
          <p:cNvPr id="22" name="TextBox 21"/>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par>
                                <p:cTn id="18" presetID="10" presetClass="entr" presetSubtype="0" fill="hold"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17</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par>
                                <p:cTn id="8" presetID="10" presetClass="entr" presetSubtype="0" fill="hold"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400"/>
                                        <p:tgtEl>
                                          <p:spTgt spid="33"/>
                                        </p:tgtEl>
                                      </p:cBhvr>
                                    </p:animEffect>
                                  </p:childTnLst>
                                </p:cTn>
                              </p:par>
                              <p:par>
                                <p:cTn id="11" presetID="10"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400"/>
                                        <p:tgtEl>
                                          <p:spTgt spid="34"/>
                                        </p:tgtEl>
                                      </p:cBhvr>
                                    </p:animEffect>
                                  </p:childTnLst>
                                </p:cTn>
                              </p:par>
                              <p:par>
                                <p:cTn id="14" presetID="10" presetClass="entr" presetSubtype="0" fill="hold"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400"/>
                                        <p:tgtEl>
                                          <p:spTgt spid="35"/>
                                        </p:tgtEl>
                                      </p:cBhvr>
                                    </p:animEffect>
                                  </p:childTnLst>
                                </p:cTn>
                              </p:par>
                              <p:par>
                                <p:cTn id="17" presetID="10" presetClass="entr" presetSubtype="0" fill="hold"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400"/>
                                        <p:tgtEl>
                                          <p:spTgt spid="36"/>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4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4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34" grpId="0"/>
      <p:bldP spid="35" grpId="0"/>
      <p:bldP spid="36" grpId="0"/>
      <p:bldP spid="37" grpId="0"/>
      <p:bldP spid="38" grpId="0"/>
      <p:bldP spid="39" grpId="0"/>
      <p:bldP spid="40" grpId="0"/>
      <p:bldP spid="41"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5" grpId="0"/>
      <p:bldP spid="11" grpId="0"/>
      <p:bldP spid="12" grpId="0"/>
      <p:bldP spid="16" grpId="0"/>
      <p:bldP spid="17"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Démonstration : la carte est détectée, contrôlée et capturée sans bouton</a:t>
            </a:r>
          </a:p>
        </p:txBody>
      </p:sp>
      <p:sp>
        <p:nvSpPr>
          <p:cNvPr id="7" name="Rounded Rectangle 6"/>
          <p:cNvSpPr/>
          <p:nvPr/>
        </p:nvSpPr>
        <p:spPr>
          <a:xfrm>
            <a:off x="822959" y="1783080"/>
            <a:ext cx="2420909" cy="4160520"/>
          </a:xfrm>
          <a:prstGeom prst="roundRect">
            <a:avLst>
              <a:gd name="adj" fmla="val 8000"/>
            </a:avLst>
          </a:prstGeom>
          <a:solidFill>
            <a:srgbClr val="EEF2F6"/>
          </a:solidFill>
          <a:ln w="25400">
            <a:solidFill>
              <a:srgbClr val="1F3A5F"/>
            </a:solidFill>
          </a:ln>
        </p:spPr>
        <p:txBody>
          <a:bodyPr rtlCol="0" anchor="ctr"/>
          <a:lstStyle/>
          <a:p/>
        </p:txBody>
      </p:sp>
      <p:pic>
        <p:nvPicPr>
          <p:cNvPr id="8" name="Picture 7" descr="Aperçu : écran recto (à remplacer par la vidéo de démonstration)"/>
          <p:cNvPicPr>
            <a:picLocks noChangeAspect="1"/>
          </p:cNvPicPr>
          <p:nvPr/>
        </p:nvPicPr>
        <p:blipFill>
          <a:blip r:embed="rId2"/>
          <a:stretch>
            <a:fillRect/>
          </a:stretch>
        </p:blipFill>
        <p:spPr>
          <a:xfrm>
            <a:off x="932688" y="1892807"/>
            <a:ext cx="2201453" cy="3941063"/>
          </a:xfrm>
          <a:prstGeom prst="rect">
            <a:avLst/>
          </a:prstGeom>
          <a:ln w="9525">
            <a:solidFill>
              <a:srgbClr val="CBD3DB"/>
            </a:solidFill>
          </a:ln>
        </p:spPr>
      </p:pic>
      <p:sp>
        <p:nvSpPr>
          <p:cNvPr id="9" name="TextBox 8"/>
          <p:cNvSpPr txBox="1"/>
          <p:nvPr/>
        </p:nvSpPr>
        <p:spPr>
          <a:xfrm>
            <a:off x="822959" y="6016752"/>
            <a:ext cx="3792509" cy="274320"/>
          </a:xfrm>
          <a:prstGeom prst="rect">
            <a:avLst/>
          </a:prstGeom>
          <a:noFill/>
        </p:spPr>
        <p:txBody>
          <a:bodyPr wrap="square" lIns="0" rIns="0" tIns="0" bIns="0" anchor="t">
            <a:spAutoFit/>
          </a:bodyPr>
          <a:lstStyle/>
          <a:p>
            <a:pPr algn="l"/>
            <a:r>
              <a:rPr sz="1200" b="1" i="0">
                <a:solidFill>
                  <a:srgbClr val="B84A12"/>
                </a:solidFill>
                <a:latin typeface="Arial"/>
              </a:rPr>
              <a:t>Vidéo à insérer ici (Insertion → Vidéo)</a:t>
            </a:r>
          </a:p>
        </p:txBody>
      </p:sp>
      <p:sp>
        <p:nvSpPr>
          <p:cNvPr id="10" name="TextBox 9"/>
          <p:cNvSpPr txBox="1"/>
          <p:nvPr/>
        </p:nvSpPr>
        <p:spPr>
          <a:xfrm>
            <a:off x="4480560" y="1965960"/>
            <a:ext cx="457200" cy="548640"/>
          </a:xfrm>
          <a:prstGeom prst="rect">
            <a:avLst/>
          </a:prstGeom>
          <a:noFill/>
        </p:spPr>
        <p:txBody>
          <a:bodyPr wrap="square" lIns="0" rIns="0" tIns="0" bIns="0" anchor="t">
            <a:spAutoFit/>
          </a:bodyPr>
          <a:lstStyle/>
          <a:p>
            <a:pPr algn="l"/>
            <a:r>
              <a:rPr sz="2600" b="1" i="0">
                <a:solidFill>
                  <a:srgbClr val="2E75B6"/>
                </a:solidFill>
                <a:latin typeface="Arial"/>
              </a:rPr>
              <a:t>1</a:t>
            </a:r>
          </a:p>
        </p:txBody>
      </p:sp>
      <p:sp>
        <p:nvSpPr>
          <p:cNvPr id="11" name="TextBox 10"/>
          <p:cNvSpPr txBox="1"/>
          <p:nvPr/>
        </p:nvSpPr>
        <p:spPr>
          <a:xfrm>
            <a:off x="4983480" y="1984248"/>
            <a:ext cx="6583680" cy="822960"/>
          </a:xfrm>
          <a:prstGeom prst="rect">
            <a:avLst/>
          </a:prstGeom>
          <a:noFill/>
        </p:spPr>
        <p:txBody>
          <a:bodyPr wrap="square" lIns="0" rIns="0" tIns="0" bIns="0" anchor="t">
            <a:spAutoFit/>
          </a:bodyPr>
          <a:lstStyle/>
          <a:p>
            <a:pPr algn="l"/>
            <a:r>
              <a:rPr sz="1800" b="1" i="0">
                <a:solidFill>
                  <a:srgbClr val="1F3A5F"/>
                </a:solidFill>
                <a:latin typeface="Arial"/>
              </a:rPr>
              <a:t>Cadre rouge, puis vert</a:t>
            </a:r>
          </a:p>
          <a:p>
            <a:pPr algn="l"/>
            <a:r>
              <a:rPr sz="1800" b="0" i="0">
                <a:solidFill>
                  <a:srgbClr val="1B2530"/>
                </a:solidFill>
                <a:latin typeface="Arial"/>
              </a:rPr>
              <a:t>la carte est détectée et suivie</a:t>
            </a:r>
          </a:p>
        </p:txBody>
      </p:sp>
      <p:sp>
        <p:nvSpPr>
          <p:cNvPr id="12" name="TextBox 11"/>
          <p:cNvSpPr txBox="1"/>
          <p:nvPr/>
        </p:nvSpPr>
        <p:spPr>
          <a:xfrm>
            <a:off x="4480560" y="2953512"/>
            <a:ext cx="457200" cy="548640"/>
          </a:xfrm>
          <a:prstGeom prst="rect">
            <a:avLst/>
          </a:prstGeom>
          <a:noFill/>
        </p:spPr>
        <p:txBody>
          <a:bodyPr wrap="square" lIns="0" rIns="0" tIns="0" bIns="0" anchor="t">
            <a:spAutoFit/>
          </a:bodyPr>
          <a:lstStyle/>
          <a:p>
            <a:pPr algn="l"/>
            <a:r>
              <a:rPr sz="2600" b="1" i="0">
                <a:solidFill>
                  <a:srgbClr val="2E75B6"/>
                </a:solidFill>
                <a:latin typeface="Arial"/>
              </a:rPr>
              <a:t>2</a:t>
            </a:r>
          </a:p>
        </p:txBody>
      </p:sp>
      <p:sp>
        <p:nvSpPr>
          <p:cNvPr id="13" name="TextBox 12"/>
          <p:cNvSpPr txBox="1"/>
          <p:nvPr/>
        </p:nvSpPr>
        <p:spPr>
          <a:xfrm>
            <a:off x="4983480" y="2971800"/>
            <a:ext cx="6583680" cy="822960"/>
          </a:xfrm>
          <a:prstGeom prst="rect">
            <a:avLst/>
          </a:prstGeom>
          <a:noFill/>
        </p:spPr>
        <p:txBody>
          <a:bodyPr wrap="square" lIns="0" rIns="0" tIns="0" bIns="0" anchor="t">
            <a:spAutoFit/>
          </a:bodyPr>
          <a:lstStyle/>
          <a:p>
            <a:pPr algn="l"/>
            <a:r>
              <a:rPr sz="1800" b="1" i="0">
                <a:solidFill>
                  <a:srgbClr val="1F3A5F"/>
                </a:solidFill>
                <a:latin typeface="Arial"/>
              </a:rPr>
              <a:t>Messages de qualité</a:t>
            </a:r>
          </a:p>
          <a:p>
            <a:pPr algn="l"/>
            <a:r>
              <a:rPr sz="1800" b="0" i="0">
                <a:solidFill>
                  <a:srgbClr val="1B2530"/>
                </a:solidFill>
                <a:latin typeface="Arial"/>
              </a:rPr>
              <a:t>« Ne bougez plus… » jusqu'à ce que tout soit bon</a:t>
            </a:r>
          </a:p>
        </p:txBody>
      </p:sp>
      <p:sp>
        <p:nvSpPr>
          <p:cNvPr id="14" name="TextBox 13"/>
          <p:cNvSpPr txBox="1"/>
          <p:nvPr/>
        </p:nvSpPr>
        <p:spPr>
          <a:xfrm>
            <a:off x="4480560" y="3941064"/>
            <a:ext cx="457200" cy="548640"/>
          </a:xfrm>
          <a:prstGeom prst="rect">
            <a:avLst/>
          </a:prstGeom>
          <a:noFill/>
        </p:spPr>
        <p:txBody>
          <a:bodyPr wrap="square" lIns="0" rIns="0" tIns="0" bIns="0" anchor="t">
            <a:spAutoFit/>
          </a:bodyPr>
          <a:lstStyle/>
          <a:p>
            <a:pPr algn="l"/>
            <a:r>
              <a:rPr sz="2600" b="1" i="0">
                <a:solidFill>
                  <a:srgbClr val="2E75B6"/>
                </a:solidFill>
                <a:latin typeface="Arial"/>
              </a:rPr>
              <a:t>3</a:t>
            </a:r>
          </a:p>
        </p:txBody>
      </p:sp>
      <p:sp>
        <p:nvSpPr>
          <p:cNvPr id="15" name="TextBox 14"/>
          <p:cNvSpPr txBox="1"/>
          <p:nvPr/>
        </p:nvSpPr>
        <p:spPr>
          <a:xfrm>
            <a:off x="4983480" y="3959352"/>
            <a:ext cx="6583680" cy="822960"/>
          </a:xfrm>
          <a:prstGeom prst="rect">
            <a:avLst/>
          </a:prstGeom>
          <a:noFill/>
        </p:spPr>
        <p:txBody>
          <a:bodyPr wrap="square" lIns="0" rIns="0" tIns="0" bIns="0" anchor="t">
            <a:spAutoFit/>
          </a:bodyPr>
          <a:lstStyle/>
          <a:p>
            <a:pPr algn="l"/>
            <a:r>
              <a:rPr sz="1800" b="1" i="0">
                <a:solidFill>
                  <a:srgbClr val="1F3A5F"/>
                </a:solidFill>
                <a:latin typeface="Arial"/>
              </a:rPr>
              <a:t>Capture du recto, seule</a:t>
            </a:r>
          </a:p>
          <a:p>
            <a:pPr algn="l"/>
            <a:r>
              <a:rPr sz="1800" b="0" i="0">
                <a:solidFill>
                  <a:srgbClr val="1B2530"/>
                </a:solidFill>
                <a:latin typeface="Arial"/>
              </a:rPr>
              <a:t>puis passage automatique au verso</a:t>
            </a:r>
          </a:p>
        </p:txBody>
      </p:sp>
      <p:sp>
        <p:nvSpPr>
          <p:cNvPr id="16" name="TextBox 15"/>
          <p:cNvSpPr txBox="1"/>
          <p:nvPr/>
        </p:nvSpPr>
        <p:spPr>
          <a:xfrm>
            <a:off x="4480560" y="4928616"/>
            <a:ext cx="457200" cy="548640"/>
          </a:xfrm>
          <a:prstGeom prst="rect">
            <a:avLst/>
          </a:prstGeom>
          <a:noFill/>
        </p:spPr>
        <p:txBody>
          <a:bodyPr wrap="square" lIns="0" rIns="0" tIns="0" bIns="0" anchor="t">
            <a:spAutoFit/>
          </a:bodyPr>
          <a:lstStyle/>
          <a:p>
            <a:pPr algn="l"/>
            <a:r>
              <a:rPr sz="2600" b="1" i="0">
                <a:solidFill>
                  <a:srgbClr val="2E75B6"/>
                </a:solidFill>
                <a:latin typeface="Arial"/>
              </a:rPr>
              <a:t>4</a:t>
            </a:r>
          </a:p>
        </p:txBody>
      </p:sp>
      <p:sp>
        <p:nvSpPr>
          <p:cNvPr id="17" name="TextBox 16"/>
          <p:cNvSpPr txBox="1"/>
          <p:nvPr/>
        </p:nvSpPr>
        <p:spPr>
          <a:xfrm>
            <a:off x="4983480" y="4946904"/>
            <a:ext cx="6583680" cy="822960"/>
          </a:xfrm>
          <a:prstGeom prst="rect">
            <a:avLst/>
          </a:prstGeom>
          <a:noFill/>
        </p:spPr>
        <p:txBody>
          <a:bodyPr wrap="square" lIns="0" rIns="0" tIns="0" bIns="0" anchor="t">
            <a:spAutoFit/>
          </a:bodyPr>
          <a:lstStyle/>
          <a:p>
            <a:pPr algn="l"/>
            <a:r>
              <a:rPr sz="1800" b="1" i="0">
                <a:solidFill>
                  <a:srgbClr val="1F3A5F"/>
                </a:solidFill>
                <a:latin typeface="Arial"/>
              </a:rPr>
              <a:t>Capture du verso</a:t>
            </a:r>
          </a:p>
          <a:p>
            <a:pPr algn="l"/>
            <a:r>
              <a:rPr sz="1800" b="0" i="0">
                <a:solidFill>
                  <a:srgbClr val="1B2530"/>
                </a:solidFill>
                <a:latin typeface="Arial"/>
              </a:rPr>
              <a:t>puis écran de vérification</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4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2"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6)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00"/>
                                        <p:tgtEl>
                                          <p:spTgt spid="27"/>
                                        </p:tgtEl>
                                      </p:cBhvr>
                                    </p:animEffect>
                                  </p:childTnLst>
                                </p:cTn>
                              </p:par>
                              <p:par>
                                <p:cTn id="57" presetID="10" presetClass="entr" presetSubtype="0" fill="hold" nodeType="with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 carte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analyser la texture pour repérer une carte affichée sur un écran, en amont de la vivacité d'Avatar-ID.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400"/>
                                        <p:tgtEl>
                                          <p:spTgt spid="19"/>
                                        </p:tgtEl>
                                      </p:cBhvr>
                                    </p:animEffect>
                                  </p:childTnLst>
                                </p:cTn>
                              </p:par>
                              <p:par>
                                <p:cTn id="50" presetID="10" presetClass="entr" presetSubtype="0" fill="hold" nodeType="with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400"/>
                                        <p:tgtEl>
                                          <p:spTgt spid="20"/>
                                        </p:tgtEl>
                                      </p:cBhvr>
                                    </p:animEffect>
                                  </p:childTnLst>
                                </p:cTn>
                              </p:par>
                              <p:par>
                                <p:cTn id="53" presetID="10" presetClass="entr" presetSubtype="0" fill="hold"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1" grpId="0"/>
      <p:bldP spid="12" grpId="0"/>
      <p:bldP spid="13" grpId="0"/>
      <p:bldP spid="15" grpId="0"/>
      <p:bldP spid="16" grpId="0"/>
      <p:bldP spid="17" grpId="0"/>
      <p:bldP spid="19" grpId="0"/>
      <p:bldP spid="20" grpId="0"/>
      <p:bldP spid="21"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16 / 17</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Anti-fraude sur la carte</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4" grpId="0"/>
      <p:bldP spid="15" grpId="0"/>
      <p:bldP spid="16" grpId="0"/>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17 / 17</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est vérifiée ensuite par Avatar-ID</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EN AVAL ET 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Vivacité et comparaison des photos : Avatar-ID</a:t>
            </a:r>
          </a:p>
          <a:p>
            <a:pPr algn="l">
              <a:spcAft>
                <a:spcPts val="1200"/>
              </a:spcAft>
            </a:pPr>
            <a:r>
              <a:rPr sz="1800" b="0" i="0">
                <a:solidFill>
                  <a:srgbClr val="1B2530"/>
                </a:solidFill>
                <a:latin typeface="Arial"/>
              </a:rPr>
              <a:t>Analyse de texture contre les cartes sur écran</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