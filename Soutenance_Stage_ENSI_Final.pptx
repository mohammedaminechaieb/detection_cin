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0:20 (cumul 0:20)</a:t>
            </a:r>
          </a:p>
          <a:p/>
          <a:p>
            <a:r>
              <a:t>TEXTE ORAL</a:t>
            </a:r>
          </a:p>
          <a:p>
            <a:r>
              <a:t>Bonjour. Je présente mon stage d'été de six semaines chez Codingaholic, encadré par M. Jendoubi : un module mobile qui détecte et capture automatiquement le recto puis le verso de la carte d'identité tunisienne, pour l'application Avatar-ID.</a:t>
            </a:r>
          </a:p>
          <a:p/>
          <a:p>
            <a:r>
              <a:t>TRANSITION — « D'abord, le contexte. »</a:t>
            </a:r>
          </a:p>
          <a:p/>
          <a:p>
            <a:r>
              <a:t>QUESTION PROBABLE</a:t>
            </a:r>
          </a:p>
          <a:p>
            <a:r>
              <a:t>– « Quel était votre périmètre exact ? » → la capture : détection, contrôle de qualité, recto/verso, recadrage, amélioration. La vivacité, la comparaison des photos, l'OCR et l'enregistrement sont les étapes suivantes d'Avatar-ID (diapositive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0:30 (cumul 0:50)</a:t>
            </a:r>
          </a:p>
          <a:p/>
          <a:p>
            <a:r>
              <a:t>ANIMATIONS — 2 clics : 1) étapes 2 à 5 d'Avatar-ID, après « Mon module est la première » ; 2) les deux conclusions du bas.</a:t>
            </a:r>
          </a:p>
          <a:p/>
          <a:p>
            <a:r>
              <a:t>TEXTE ORAL</a:t>
            </a:r>
          </a:p>
          <a:p>
            <a:r>
              <a:t>Avatar-ID vérifie l'identité à distance, comme un KYC bancaire. Mon module en est la première étape : la capture de la carte. [clic] Ensuite, Avatar-ID réalise le test de vivacité, compare la photo de la carte au visage, lit la carte par OCR et enregistre le résultat. [clic] La qualité de ma capture conditionne donc toute la suite.</a:t>
            </a:r>
          </a:p>
          <a:p/>
          <a:p>
            <a:r>
              <a:t>TRANSITION — « Or cette capture échoue souvent. »</a:t>
            </a:r>
          </a:p>
          <a:p/>
          <a:p>
            <a:r>
              <a:t>QUESTIONS PROBABLES (préparation, ne pas lire)</a:t>
            </a:r>
          </a:p>
          <a:p>
            <a:r>
              <a:t>– « Avez-vous développé la vivacité ou l'OCR ? » → non, ce sont les étapes suivantes d'Avatar-ID ; mon périmètre est la capture.</a:t>
            </a:r>
          </a:p>
          <a:p>
            <a:r>
              <a:t>– « Sous quelle forme passez-vous les images ? » → deux images (Uint8List) et, le cas échéant, la page d'impression (rapport §8.2.5).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0:30 (cumul 1:20)</a:t>
            </a:r>
          </a:p>
          <a:p/>
          <a:p>
            <a:r>
              <a:t>ANIMATIONS — 4 clics : les trois défauts un par un (flou, de travers, deux fois le recto), puis la problématique.</a:t>
            </a:r>
          </a:p>
          <a:p/>
          <a:p>
            <a:r>
              <a:t>TEXTE ORAL</a:t>
            </a:r>
          </a:p>
          <a:p>
            <a:r>
              <a:t>Une simple photo de la carte est souvent [clic] floue, [clic] de travers, [clic] ou c'est deux fois le recto au lieu du verso. [clic] D'où ma problématique : détecter en temps réel et de façon fiable les contours de la CIN, quels que soient l'éclairage et l'arrière-plan.</a:t>
            </a:r>
          </a:p>
          <a:p/>
          <a:p>
            <a:r>
              <a:t>TRANSITION — « Voici ce que le module devait faire. »</a:t>
            </a:r>
          </a:p>
          <a:p/>
          <a:p>
            <a:r>
              <a:t>QUESTION PROBABLE</a:t>
            </a:r>
          </a:p>
          <a:p>
            <a:r>
              <a:t>– « Pourquoi ne pas utiliser une plateforme KYC existante (Onfido, Jumio…) ? » → données d'identité envoyées à un tiers, coût de licence, dépendance réseau au moment de la capture, peu de personnalisation pour la CIN tunisienne (rapport, tableau 1.1). Avatar-ID a choisi un module interne, sur l'appareil.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0:35 (cumul 1:55)</a:t>
            </a:r>
          </a:p>
          <a:p/>
          <a:p>
            <a:r>
              <a:t>ANIMATIONS — 3 clics : 1) les cinq fonctions ; 2) les trois cibles ; 3) Android et iOS.</a:t>
            </a:r>
          </a:p>
          <a:p/>
          <a:p>
            <a:r>
              <a:t>TEXTE ORAL</a:t>
            </a:r>
          </a:p>
          <a:p>
            <a:r>
              <a:t>[clic] Cinq fonctions : détecter la carte, contrôler la netteté, la luminosité et la stabilité, distinguer le recto du verso, capturer sans bouton, puis recadrer et améliorer. [clic] Trois cibles : moins de 100 millisecondes par image, au moins 90 % de recto/verso reconnus en conditions normales, et environ deux secondes jusqu'à la capture. [clic] Le tout sur Android et iOS, avec un seul code, en six semaines.</a:t>
            </a:r>
          </a:p>
          <a:p/>
          <a:p>
            <a:r>
              <a:t>TRANSITION — « Cette double plateforme a dicté la technologie. »</a:t>
            </a:r>
          </a:p>
          <a:p/>
          <a:p>
            <a:r>
              <a:t>QUESTION PROBABLE</a:t>
            </a:r>
          </a:p>
          <a:p>
            <a:r>
              <a:t>– « Les besoins secondaires ? » → reprise manuelle après capture (implémentée), anti-doublon (implémenté), alerte si aucune carte n'est détectée après un délai (prévue en perspective).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0:35 (cumul 2:30)</a:t>
            </a:r>
          </a:p>
          <a:p/>
          <a:p>
            <a:r>
              <a:t>ANIMATIONS — 2 clics : 1) la pile retenue (logos) ; 2) la remarque en orange.</a:t>
            </a:r>
          </a:p>
          <a:p/>
          <a:p>
            <a:r>
              <a:t>TEXTE ORAL</a:t>
            </a:r>
          </a:p>
          <a:p>
            <a:r>
              <a:t>Le Document Scanner de ML Kit n'existe que sur Android. Un modèle entraîné sur mesure exigeait plusieurs centaines d'images de CIN annotées, impossible à constituer en six semaines. J'ai donc retenu OpenCV : multiplateforme et sans entraînement, au prix d'un réglage empirique des seuils. [clic] La pile : Flutter et Dart pour l'application, OpenCV via le binding opencv_dart. [clic] En orange, le critère qui élimine chaque option.</a:t>
            </a:r>
          </a:p>
          <a:p/>
          <a:p>
            <a:r>
              <a:t>TRANSITION — « Voyons l'organisation du code. »</a:t>
            </a:r>
          </a:p>
          <a:p/>
          <a:p>
            <a:r>
              <a:t>QUESTIONS PROBABLES</a:t>
            </a:r>
          </a:p>
          <a:p>
            <a:r>
              <a:t>– « Pourquoi pas du deep learning ? » → pas de jeu de données annoté possible, pas de jeu public pour des raisons de confidentialité, et six semaines pour toute la fonctionnalité (rapport p. 15).</a:t>
            </a:r>
          </a:p>
          <a:p>
            <a:r>
              <a:t>– « Utilisez-vous un modèle appris quelque part ? » → oui, un seul : la cascade de Haar de détection de visage, pré-entraînée et fournie par OpenCV. Je ne l'ai pas entraînée.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0:30 (cumul 3:00)</a:t>
            </a:r>
          </a:p>
          <a:p/>
          <a:p>
            <a:r>
              <a:t>ANIMATIONS — 1 clic : la matrice des sept modules, après avoir expliqué le module type.</a:t>
            </a:r>
          </a:p>
          <a:p/>
          <a:p>
            <a:r>
              <a:t>TEXTE ORAL</a:t>
            </a:r>
          </a:p>
          <a:p>
            <a:r>
              <a:t>Le code suit la Clean Architecture, découpée par fonctionnalité. La couche présentation dépend du domaine, et la couche données l'implémente. La clé est le domaine : il ne dépend ni de Flutter ni d'OpenCV, donc la machine à états ou la géométrie se testent sans caméra ni émulateur. [clic] Chaque module ne prend que les couches dont il a besoin.</a:t>
            </a:r>
          </a:p>
          <a:p/>
          <a:p>
            <a:r>
              <a:t>TRANSITION — « Passons au cœur : la détection. »</a:t>
            </a:r>
          </a:p>
          <a:p/>
          <a:p>
            <a:r>
              <a:t>QUESTION PROBABLE</a:t>
            </a:r>
          </a:p>
          <a:p>
            <a:r>
              <a:t>– « Pourquoi feature-first ? » → l'arborescence suit le plan en six étapes, chaque étape livrant un ou deux modules ; et un module ne peut pas casser silencieusement un autre, puisqu'ils ne partagent que des interfaces de domaine explicites (rapport §2.6.1).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1:00 (cumul 4:00)</a:t>
            </a:r>
          </a:p>
          <a:p/>
          <a:p>
            <a:r>
              <a:t>ANIMATIONS — 1 clic : la bande « conçu et développé pendant le stage », au moment de « Autour d'OpenCV, j'ai conçu ».</a:t>
            </a:r>
          </a:p>
          <a:p/>
          <a:p>
            <a:r>
              <a:t>TEXTE ORAL</a:t>
            </a:r>
          </a:p>
          <a:p>
            <a:r>
              <a:t>Chaque image caméra, en YUV420 ou BGRA, devient une matrice OpenCV. Un CLAHE, une égalisation d'histogramme locale, renforce le contraste. Quatre passes produisent ensuite des masques de contours : Canny, avec des seuils à 0,66 et 1,33 fois la médiane ; un seuillage adaptatif ; la saturation HSV avec Otsu ; et, en dernier recours, un gradient morphologique. Chaque contour est simplifié en polygone ; un score de 80 % sur la proportion du format ID-1 et 20 % sur la taille retient le meilleur quadrilatère au-dessus de 0,30. Une homographie le redresse en 856 par 540 pixels. [clic] Autour de ces primitives, j'ai conçu la sortie anticipée à 0,65, le suivi à plus ou moins 20 % autour de la position précédente, les garde-fous contre un faux quadrilatère, et un isolate Dart qui garde l'aperçu fluide.</a:t>
            </a:r>
          </a:p>
          <a:p/>
          <a:p>
            <a:r>
              <a:t>TRANSITION — « Cela n'a pas marché du premier coup. »</a:t>
            </a:r>
          </a:p>
          <a:p/>
          <a:p>
            <a:r>
              <a:t>QUESTIONS PROBABLES</a:t>
            </a:r>
          </a:p>
          <a:p>
            <a:r>
              <a:t>– « Et si le polygone n'a pas quatre sommets ? » → rectangle englobant minimal, avec une pénalité de score ×0,85.</a:t>
            </a:r>
          </a:p>
          <a:p>
            <a:r>
              <a:t>– « Pourquoi le terme 1/r dans le score ? » → pour qu'une carte vue à 90° ne soit pas pénalisée.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0:40 (cumul 4:40)</a:t>
            </a:r>
          </a:p>
          <a:p/>
          <a:p>
            <a:r>
              <a:t>ANIMATIONS — 3 clics : 1) les deux causes ; 2) les trois correctifs ; 3) le résultat observé.</a:t>
            </a:r>
          </a:p>
          <a:p/>
          <a:p>
            <a:r>
              <a:t>TEXTE ORAL</a:t>
            </a:r>
          </a:p>
          <a:p>
            <a:r>
              <a:t>Sur fond clair, une table blanche par exemple, la détection échouait souvent. [clic] Deux causes : un bug, les seuils de Canny calculés sur la moyenne au lieu de la médiane, donc trop hauts sur une scène claire ; et un contraste local trop faible. [clic] Trois correctifs : la vraie médiane, un CLAHE avant la détection, et le réglage des seuils de score et d'aire. [clic] Résultat : une détection comparable sur fond clair et sur fond sombre.</a:t>
            </a:r>
          </a:p>
          <a:p/>
          <a:p>
            <a:r>
              <a:t>TRANSITION — « Une fois la carte trouvée, quand capturer ? »</a:t>
            </a:r>
          </a:p>
          <a:p/>
          <a:p>
            <a:r>
              <a:t>QUESTION PROBABLE</a:t>
            </a:r>
          </a:p>
          <a:p>
            <a:r>
              <a:t>– « Lequel des correctifs a le plus compté ? » → je ne l'ai pas isolé ; une étude d'ablation sur un jeu d'images fixe serait la bonne méthode. Le gradient morphologique a été ajouté pour le même cas extrême, en dernier recours.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0:45 (cumul 5:25)</a:t>
            </a:r>
          </a:p>
          <a:p/>
          <a:p>
            <a:r>
              <a:t>ANIMATIONS — 1 clic : les cinq contrôles, après avoir décrit la machine à états.</a:t>
            </a:r>
          </a:p>
          <a:p/>
          <a:p>
            <a:r>
              <a:t>TEXTE ORAL</a:t>
            </a:r>
          </a:p>
          <a:p>
            <a:r>
              <a:t>L'autocapture est une machine à états : searching tant qu'aucune carte n'est trouvée, poorQuality tant qu'un contrôle échoue, holding pendant le maintien, puis triggerCapture et captured. Si un contrôle échoue, on revient en arrière. [clic] Cinq contrôles : la netteté, mesurée par la variance du Laplacien, au moins 120 ; la luminosité, avec au plus 12 % de pixels saturés pour écarter les reflets ; la stabilité, une dérive des coins sous 2,5 % de la diagonale ; la bonne face ; et un maintien de deux images consécutives. C'est un compteur d'images, pas une minuterie.</a:t>
            </a:r>
          </a:p>
          <a:p/>
          <a:p>
            <a:r>
              <a:t>TRANSITION — « La bonne face, justement. »</a:t>
            </a:r>
          </a:p>
          <a:p/>
          <a:p>
            <a:r>
              <a:t>QUESTIONS PROBABLES</a:t>
            </a:r>
          </a:p>
          <a:p>
            <a:r>
              <a:t>– « Pourquoi 120 ? » → seuil empirique, valable seulement à la résolution de redressement 856 × 540 ; à une autre résolution la variance change (rapport §5.2.1).</a:t>
            </a:r>
          </a:p>
          <a:p>
            <a:r>
              <a:t>– « Pourquoi ≈ 2 s mesurées si deux frames suffisent ? » → à environ 10 analyses par seconde, les compteurs (3 frames de stabilité, 2 de maintien) ne représentent qu'une fraction de seconde ; le reste vient de la confirmation des signaux de contenu et du geste de l'utilisateur. Je ne l'ai pas décomposé finement : c'est un chronométrage manuel.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0:40 (cumul 6:05)</a:t>
            </a:r>
          </a:p>
          <a:p/>
          <a:p>
            <a:r>
              <a:t>ANIMATIONS — 3 clics : 1) le recto ; 2) le verso ; 3) l'anti-doublon.</a:t>
            </a:r>
          </a:p>
          <a:p/>
          <a:p>
            <a:r>
              <a:t>TEXTE ORAL</a:t>
            </a:r>
          </a:p>
          <a:p>
            <a:r>
              <a:t>[clic] Au recto, la photo est toujours en haut à gauche : j'y cherche un visage avec la cascade de Haar d'OpenCV, pré-entraînée, sur quatre rotations, ce qui donne aussi l'orientation. Le logo et le drapeau sont confirmés par template matching, avec une corrélation d'au moins 0,6. [clic] Le verso n'a pas de visage : le code-barres, la texture de l'empreinte et la ligne de séparation, trouvée par une transformée de Hough, votent sur quatre rotations. [clic] Ainsi, présenter deux fois le recto ne déclenche rien.</a:t>
            </a:r>
          </a:p>
          <a:p/>
          <a:p>
            <a:r>
              <a:t>TRANSITION — « Après la capture, l'utilisateur garde la main. »</a:t>
            </a:r>
          </a:p>
          <a:p/>
          <a:p>
            <a:r>
              <a:t>QUESTION PROBABLE</a:t>
            </a:r>
          </a:p>
          <a:p>
            <a:r>
              <a:t>– « Haar est-il robuste pour une photo d'identité ? » → c'est une cascade générique de visage de face ; elle suffit ici car la région est petite et fixe, mais je n'ai pas mesuré son rappel séparément.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0:25 (cumul 6:30)</a:t>
            </a:r>
          </a:p>
          <a:p/>
          <a:p>
            <a:r>
              <a:t>ANIMATIONS — 3 clics : une capture d'écran par clic (vérification, recadrage, page A4).</a:t>
            </a:r>
          </a:p>
          <a:p/>
          <a:p>
            <a:r>
              <a:t>TEXTE ORAL</a:t>
            </a:r>
          </a:p>
          <a:p>
            <a:r>
              <a:t>Une fois les deux faces capturées, l'utilisateur [clic] vérifie et règle contraste et netteté, [clic] ajuste le recadrage si besoin, [clic] puis exporte le recto, le verso et une page A4 à 300 dpi. Tout est traité sur l'appareil.</a:t>
            </a:r>
          </a:p>
          <a:p/>
          <a:p>
            <a:r>
              <a:t>TRANSITION — « Voyons tout le parcours en vidéo. »</a:t>
            </a:r>
          </a:p>
          <a:p/>
          <a:p>
            <a:r>
              <a:t>QUESTIONS PROBABLES</a:t>
            </a:r>
          </a:p>
          <a:p>
            <a:r>
              <a:t>– « Où vont les images exportées ? » → dans la galerie de l'appareil ; à partir de là, elles suivent la vie normale des photos (sauvegarde cloud, partage) : l'utilisateur doit en être informé (rapport §7.2.4).</a:t>
            </a:r>
          </a:p>
          <a:p>
            <a:r>
              <a:t>– « Qu'est-ce qu'Avatar-ID reçoit ? » → deux images (Uint8List) et, le cas échéant, la page d'impression : le module est une brique autonome (rapport §8.2.5).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0:45 (cumul 7:15)</a:t>
            </a:r>
          </a:p>
          <a:p/>
          <a:p>
            <a:r>
              <a:t>VIDÉO — 40 s, muette, démarre automatiquement à l'arrivée sur la diapositive (données masquées). Pour l'intégrer : déposer le fichier dans build/assets/demo.mp4 puis relancer le script, ou dans PowerPoint : Insertion → Vidéo → Cet appareil, à la place du cadre, puis Lecture → Démarrer « Automatiquement ».</a:t>
            </a:r>
          </a:p>
          <a:p/>
          <a:p>
            <a:r>
              <a:t>TEXTE ORAL</a:t>
            </a:r>
          </a:p>
          <a:p>
            <a:r>
              <a:t>Voici le module en action. [lancer la vidéo] Le cadre est rouge tant que la carte n'est pas détectée, puis passe au vert ; les messages guident l'utilisateur. Le recto est capturé tout seul dès que la netteté, la luminosité et la stabilité sont bonnes, puis l'application passe au verso et le capture à son tour. On arrive ensuite sur la vérification, l'ajustement et l'export de la page A4.</a:t>
            </a:r>
          </a:p>
          <a:p/>
          <a:p>
            <a:r>
              <a:t>TRANSITION — « Comment l'ai-je validé ?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0:25 (cumul 7:40)</a:t>
            </a:r>
          </a:p>
          <a:p/>
          <a:p>
            <a:r>
              <a:t>ANIMATIONS — 4 clics : un palier de test par clic (A, B, C, D).</a:t>
            </a:r>
          </a:p>
          <a:p/>
          <a:p>
            <a:r>
              <a:t>TEXTE ORAL</a:t>
            </a:r>
          </a:p>
          <a:p>
            <a:r>
              <a:t>177 tests automatisés passent sans échec, répartis en quatre paliers : [clic] la logique pure Dart, [clic] la plateforme simulée avec mocktail, [clic] OpenCV réel sur images synthétiques, [clic] et les vraies cartes sur téléphone, avec un protocole manuel.</a:t>
            </a:r>
          </a:p>
          <a:p/>
          <a:p>
            <a:r>
              <a:t>TRANSITION — « Et sur appareil réel ? »</a:t>
            </a:r>
          </a:p>
          <a:p/>
          <a:p>
            <a:r>
              <a:t>QUESTIONS PROBABLES (préparation, ne pas lire)</a:t>
            </a:r>
          </a:p>
          <a:p>
            <a:r>
              <a:t>– « Combien de fichiers de test ? » → 28 fichiers (15 A, 6 B, 7 C) ; la dernière campagne en a exécuté 21, pour 177 cas réussis. Les autres sont à relancer avec flutter test --reporter expanded.</a:t>
            </a:r>
          </a:p>
          <a:p>
            <a:r>
              <a:t>– « Quelle couverture ? » → elle n'a pas été mesurée ; flutter test --coverage le permet directement.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0:30 (cumul 8:10)</a:t>
            </a:r>
          </a:p>
          <a:p/>
          <a:p>
            <a:r>
              <a:t>ANIMATIONS — 3 clics : une mesure par clic (temps, reconnaissance, délai) ; Android et iOS arrive avec la troisième.</a:t>
            </a:r>
          </a:p>
          <a:p/>
          <a:p>
            <a:r>
              <a:t>TEXTE ORAL</a:t>
            </a:r>
          </a:p>
          <a:p>
            <a:r>
              <a:t>Les trois cibles sont atteintes : [clic] 92 à 100 millisecondes de traitement par image dans l'isolate, [clic] 92 % de recto/verso reconnus sur cartes réelles, [clic] et environ deux secondes entre le cadre stabilisé et la capture, avec le même comportement sur Android et iOS.</a:t>
            </a:r>
          </a:p>
          <a:p/>
          <a:p>
            <a:r>
              <a:t>TRANSITION — « Pour la suite. »</a:t>
            </a:r>
          </a:p>
          <a:p/>
          <a:p>
            <a:r>
              <a:t>QUESTIONS PROBABLES (préparation, ne pas lire)</a:t>
            </a:r>
          </a:p>
          <a:p>
            <a:r>
              <a:t>– « Sur quel téléphone, combien d'essais ? » → donner vos notes d'essais (modèles Android et iOS, nombre de cartes).</a:t>
            </a:r>
          </a:p>
          <a:p>
            <a:r>
              <a:t>– « 92–100 ms, c'est la latence de bout en bout ? » → non : c'est le traitement dans l'isolate ; l'aperçu reste fluide car les frames reçues pendant un traitement sont ignorées.</a:t>
            </a:r>
          </a:p>
          <a:p>
            <a:r>
              <a:t>– « Pourquoi ≈ 2 s si deux frames suffisent ? » → à environ dix analyses par seconde, les compteurs (3 frames de stabilité, 2 de maintien) ne font qu'une fraction de seconde ; le reste vient de la confirmation des signaux de contenu et du geste de l'utilisateur.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0:20 (cumul 8:30)</a:t>
            </a:r>
          </a:p>
          <a:p/>
          <a:p>
            <a:r>
              <a:t>ANIMATIONS — 4 clics : une piste par clic.</a:t>
            </a:r>
          </a:p>
          <a:p/>
          <a:p>
            <a:r>
              <a:t>TEXTE ORAL</a:t>
            </a:r>
          </a:p>
          <a:p>
            <a:r>
              <a:t>Quatre pistes vers la production : [clic] un jeu d'images plus large, [clic] des tests réels automatisés, [clic] un message de timeout, [clic] et une analyse de texture contre les cartes affichées sur un écran.</a:t>
            </a:r>
          </a:p>
          <a:p/>
          <a:p>
            <a:r>
              <a:t>TRANSITION — « Pour conclure. »</a:t>
            </a:r>
          </a:p>
          <a:p/>
          <a:p>
            <a:r>
              <a:t>QUESTIONS PROBABLES (préparation, ne pas lire)</a:t>
            </a:r>
          </a:p>
          <a:p>
            <a:r>
              <a:t>– « Une photo d'écran passe-t-elle ? » → les contrôles (capture en direct, deux faces, qualité) réduisent fortement ce risque ; la vivacité de la personne est ensuite vérifiée par Avatar-ID ; une analyse de texture de la carte renforcerait encore la chaîne.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0:35 (cumul 9:05)</a:t>
            </a:r>
          </a:p>
          <a:p/>
          <a:p>
            <a:r>
              <a:t>ANIMATIONS — 4 clics : 1) livré ; 2) mesuré ; 3) perspectives ; 4) mon apport.</a:t>
            </a:r>
          </a:p>
          <a:p/>
          <a:p>
            <a:r>
              <a:t>TEXTE ORAL</a:t>
            </a:r>
          </a:p>
          <a:p>
            <a:r>
              <a:t>En résumé, [clic] j'ai livré un module complet en six semaines, [clic] qui atteint ses trois cibles sur Android et iOS, [clic] avec des pistes claires pour la suite. [clic] Mon apport, c'est tout ce qui entoure les primitives d'OpenCV : l'enchaînement des passes, le score, l'isolate, la machine à états et le vote recto/verso. J'en retiens qu'un choix technique se justifie par les contraintes réelles du projet.</a:t>
            </a:r>
          </a:p>
          <a:p/>
          <a:p>
            <a:r>
              <a:t>TRANSITION — « Merci de votre attention.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0:05 (cumul 9:10)</a:t>
            </a:r>
          </a:p>
          <a:p/>
          <a:p>
            <a:r>
              <a:t>TEXTE ORAL</a:t>
            </a:r>
          </a:p>
          <a:p>
            <a:r>
              <a:t>Merci de votre attention ; je suis à votre disposition pour vos questions.</a:t>
            </a:r>
          </a:p>
          <a:p/>
          <a:p>
            <a:r>
              <a:t>PENDANT LES QUESTIONS — revenir si besoin à la diapositive 16 (bilan) ; secours A à D après cette diapositive : A seuils, B méthodes de test, C sécurité et confidentialité, D apport personnel et références.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SECOURS A — à ouvrir seulement si le jury interroge les seuils.</a:t>
            </a:r>
          </a:p>
          <a:p>
            <a:r>
              <a:t>Tous ont été fixés par réglage empirique sur les échantillons de CIN disponibles (rapport §5.5). Le seuil de netteté 120 est calibré sur l'image redressée de 856 × 540 px : à une autre résolution, la variance du Laplacien change et le seuil n'est plus valable. Aucune analyse de sensibilité n'a été faite : c'est une perspective naturelle une fois un jeu d'images constitué.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SECOURS B — méthodes de test (rapport, tableau 9.3).</a:t>
            </a:r>
          </a:p>
          <a:p>
            <a:r>
              <a:t>Paliers : A logique pure Dart, B plateforme simulée (mocktail), C OpenCV réel sur images synthétiques, D cartes réelles sur appareil (manuel).</a:t>
            </a:r>
          </a:p>
          <a:p>
            <a:r>
              <a:t>Si l'on vous demande le détail : 28 fichiers de test (15 A, 6 B, 7 C) ; la dernière campagne a exécuté 177 cas, tous réussis.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SECOURS C — sécurité et confidentialité.</a:t>
            </a:r>
          </a:p>
          <a:p>
            <a:r>
              <a:t>Les contrôles (capture en direct, deux faces, qualité) réduisent fortement le risque de photo d'écran ou d'image préparée ; la vivacité de la personne et la comparaison des photos sont réalisées ensuite par Avatar-ID ; une analyse de texture de la carte reste une piste (rapport §7.2.4). Les images exportées en galerie suivent ensuite la vie normale des photos (sauvegarde cloud, partage). Chiffrement : non traité pendant le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SECOURS D — « Qu'avez-vous développé vous-même ? » et références.</a:t>
            </a:r>
          </a:p>
          <a:p>
            <a:r>
              <a:t>OpenCV fournit les opérateurs ; j'ai conçu leur enchaînement (quatre passes, sortie anticipée, suivi, garde-fous), le score géométrique, l'architecture en isolate, la stabilisation, la machine à états et la décision d'autocapture, le vote sur quatre rotations du verso, le post-traitement et la page A4, ainsi que les écrans. Les références sont celles de la bibliographie du rapport.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manoub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541474" cy="713232"/>
          </a:xfrm>
          <a:prstGeom prst="rect">
            <a:avLst/>
          </a:prstGeom>
        </p:spPr>
      </p:pic>
      <p:pic>
        <p:nvPicPr>
          <p:cNvPr id="3" name="Picture 2" descr="Logo ens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153" y="502920"/>
            <a:ext cx="594360" cy="713232"/>
          </a:xfrm>
          <a:prstGeom prst="rect">
            <a:avLst/>
          </a:prstGeom>
        </p:spPr>
      </p:pic>
      <p:pic>
        <p:nvPicPr>
          <p:cNvPr id="4" name="Picture 3" descr="Logo codingaholi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554" y="649224"/>
            <a:ext cx="1293721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783080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Arial"/>
              </a:rPr>
              <a:t>SOUTENANCE DE STAGE D'ÉTÉ · 2025/2026</a:t>
            </a:r>
          </a:p>
        </p:txBody>
      </p:sp>
      <p:sp>
        <p:nvSpPr>
          <p:cNvPr id="6" name="Titre"/>
          <p:cNvSpPr txBox="1"/>
          <p:nvPr/>
        </p:nvSpPr>
        <p:spPr>
          <a:xfrm>
            <a:off x="548640" y="2148840"/>
            <a:ext cx="69494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3A5F"/>
                </a:solidFill>
                <a:latin typeface="Arial"/>
              </a:rPr>
              <a:t>Détection automatique et autocapture de la CIN tunisienne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86200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B2530"/>
                </a:solidFill>
                <a:latin typeface="Arial"/>
              </a:rPr>
              <a:t>Module de capture recto/verso pour Avatar-ID, application Flutter de vérification d'identité à distance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7086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F3A5F"/>
                </a:solidFill>
                <a:latin typeface="Arial"/>
              </a:rPr>
              <a:t>Mohammed Amine Chaieb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B6B7A"/>
                </a:solidFill>
                <a:latin typeface="Arial"/>
              </a:rPr>
              <a:t>Codingaholic, La Marsa · encadrant : M. Jendoubi Mohamed Khalil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B6B7A"/>
                </a:solidFill>
                <a:latin typeface="Arial"/>
              </a:rPr>
              <a:t>Université de la Manouba · École Nationale des Sciences de l'Informatique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874519"/>
            <a:ext cx="3794760" cy="239389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1F3A5F"/>
            </a:solidFill>
          </a:ln>
        </p:spPr>
        <p:txBody>
          <a:bodyPr rtlCol="0" anchor="ctr"/>
          <a:lstStyle/>
          <a:p/>
        </p:txBody>
      </p:sp>
      <p:cxnSp>
        <p:nvCxnSpPr>
          <p:cNvPr id="10" name="Connector 9"/>
          <p:cNvCxnSpPr/>
          <p:nvPr/>
        </p:nvCxnSpPr>
        <p:spPr>
          <a:xfrm>
            <a:off x="7763256" y="1819655"/>
            <a:ext cx="320497" cy="0"/>
          </a:xfrm>
          <a:prstGeom prst="line">
            <a:avLst/>
          </a:prstGeom>
          <a:ln w="31750">
            <a:solidFill>
              <a:srgbClr val="2E75B6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7763256" y="1819655"/>
            <a:ext cx="0" cy="320498"/>
          </a:xfrm>
          <a:prstGeom prst="line">
            <a:avLst/>
          </a:prstGeom>
          <a:ln w="31750">
            <a:solidFill>
              <a:srgbClr val="2E75B6"/>
            </a:solidFill>
          </a:ln>
        </p:spPr>
      </p:cxnSp>
      <p:cxnSp>
        <p:nvCxnSpPr>
          <p:cNvPr id="12" name="Connector 11"/>
          <p:cNvCxnSpPr/>
          <p:nvPr/>
        </p:nvCxnSpPr>
        <p:spPr>
          <a:xfrm flipH="1">
            <a:off x="11347246" y="1819655"/>
            <a:ext cx="320498" cy="0"/>
          </a:xfrm>
          <a:prstGeom prst="line">
            <a:avLst/>
          </a:prstGeom>
          <a:ln w="31750">
            <a:solidFill>
              <a:srgbClr val="2E75B6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1667744" y="1819655"/>
            <a:ext cx="0" cy="320498"/>
          </a:xfrm>
          <a:prstGeom prst="line">
            <a:avLst/>
          </a:prstGeom>
          <a:ln w="31750">
            <a:solidFill>
              <a:srgbClr val="2E75B6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347246" y="4323274"/>
            <a:ext cx="320498" cy="0"/>
          </a:xfrm>
          <a:prstGeom prst="line">
            <a:avLst/>
          </a:prstGeom>
          <a:ln w="31750">
            <a:solidFill>
              <a:srgbClr val="2E75B6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1667744" y="4002777"/>
            <a:ext cx="0" cy="320497"/>
          </a:xfrm>
          <a:prstGeom prst="line">
            <a:avLst/>
          </a:prstGeom>
          <a:ln w="31750">
            <a:solidFill>
              <a:srgbClr val="2E75B6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7763256" y="4323274"/>
            <a:ext cx="320497" cy="0"/>
          </a:xfrm>
          <a:prstGeom prst="line">
            <a:avLst/>
          </a:prstGeom>
          <a:ln w="31750">
            <a:solidFill>
              <a:srgbClr val="2E75B6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7763256" y="4002777"/>
            <a:ext cx="0" cy="320497"/>
          </a:xfrm>
          <a:prstGeom prst="line">
            <a:avLst/>
          </a:prstGeom>
          <a:ln w="31750">
            <a:solidFill>
              <a:srgbClr val="2E75B6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7818120" y="4469578"/>
            <a:ext cx="3794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5B6B7A"/>
                </a:solidFill>
                <a:latin typeface="Arial"/>
              </a:rPr>
              <a:t>Format ID-1 · 85,6 × 54 mm · </a:t>
            </a:r>
            <a:r>
              <a:rPr sz="1400" b="1" i="0">
                <a:solidFill>
                  <a:srgbClr val="1F3A5F"/>
                </a:solidFill>
                <a:latin typeface="Arial"/>
              </a:rPr>
              <a:t>r₀ = 1,586</a:t>
            </a:r>
          </a:p>
          <a:p>
            <a:pPr algn="ctr"/>
            <a:r>
              <a:rPr sz="1400" b="0" i="0">
                <a:solidFill>
                  <a:srgbClr val="5B6B7A"/>
                </a:solidFill>
                <a:latin typeface="Arial"/>
              </a:rPr>
              <a:t>les quatre coins que le module doit trouver, seul, dans le flux caméra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73775" y="42976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E75B6"/>
                </a:solidFill>
                <a:latin typeface="Arial"/>
              </a:rPr>
              <a:t>CONTEXTE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0" i="0">
                <a:solidFill>
                  <a:srgbClr val="5B6B7A"/>
                </a:solidFill>
                <a:latin typeface="Arial"/>
              </a:rPr>
              <a:t>CONCEPTION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0" i="0">
                <a:solidFill>
                  <a:srgbClr val="5B6B7A"/>
                </a:solidFill>
                <a:latin typeface="Arial"/>
              </a:rPr>
              <a:t>RÉSULTATS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0" i="0">
                <a:solidFill>
                  <a:srgbClr val="5B6B7A"/>
                </a:solidFill>
                <a:latin typeface="Arial"/>
              </a:rPr>
              <a:t>BILAN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9525">
            <a:solidFill>
              <a:srgbClr val="CBD3DB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548640" y="6455664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A"/>
                </a:solidFill>
                <a:latin typeface="Arial"/>
              </a:rPr>
              <a:t>Avatar-ID · autocapture de la CIN · Mohammed Amine Chaieb · ENSI 2025/2026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5566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Arial"/>
              </a:rPr>
              <a:t>2 / 17</a:t>
            </a:r>
          </a:p>
        </p:txBody>
      </p:sp>
      <p:sp>
        <p:nvSpPr>
          <p:cNvPr id="6" name="Titre"/>
          <p:cNvSpPr txBox="1"/>
          <p:nvPr/>
        </p:nvSpPr>
        <p:spPr>
          <a:xfrm>
            <a:off x="548640" y="77724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Arial"/>
              </a:rPr>
              <a:t>Mon module est la première étape du parcours Avatar-ID : sa qualité conditionne la suite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2651760" cy="2103120"/>
          </a:xfrm>
          <a:prstGeom prst="rect">
            <a:avLst/>
          </a:prstGeom>
          <a:solidFill>
            <a:srgbClr val="FFFFFF"/>
          </a:solidFill>
          <a:ln w="28575">
            <a:solidFill>
              <a:srgbClr val="2E75B6"/>
            </a:solidFill>
          </a:ln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244144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15768"/>
            <a:ext cx="246887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Arial"/>
              </a:rPr>
              <a:t>Capture de la CIN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0896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B2530"/>
                </a:solidFill>
                <a:latin typeface="Arial"/>
              </a:rPr>
              <a:t>détection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B2530"/>
                </a:solidFill>
                <a:latin typeface="Arial"/>
              </a:rPr>
              <a:t>qualité d'image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B2530"/>
                </a:solidFill>
                <a:latin typeface="Arial"/>
              </a:rPr>
              <a:t>recto puis verso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B2530"/>
                </a:solidFill>
                <a:latin typeface="Arial"/>
              </a:rPr>
              <a:t>recadrage, amélioration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36976" y="3383279"/>
            <a:ext cx="162991" cy="0"/>
          </a:xfrm>
          <a:prstGeom prst="line">
            <a:avLst/>
          </a:prstGeom>
          <a:ln w="19050">
            <a:solidFill>
              <a:srgbClr val="1F3A5F"/>
            </a:solidFill>
            <a:tailEnd type="triangle" w="med" h="med"/>
          </a:ln>
        </p:spPr>
      </p:cxnSp>
      <p:sp>
        <p:nvSpPr>
          <p:cNvPr id="12" name="Rectangle 11"/>
          <p:cNvSpPr/>
          <p:nvPr/>
        </p:nvSpPr>
        <p:spPr>
          <a:xfrm>
            <a:off x="3436543" y="2331720"/>
            <a:ext cx="1874519" cy="2103120"/>
          </a:xfrm>
          <a:prstGeom prst="rect">
            <a:avLst/>
          </a:prstGeom>
          <a:solidFill>
            <a:srgbClr val="EEF2F6"/>
          </a:solidFill>
          <a:ln w="12700">
            <a:solidFill>
              <a:srgbClr val="CBD3DB"/>
            </a:solidFill>
          </a:ln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73703" y="2441448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3703" y="2715768"/>
            <a:ext cx="16916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Arial"/>
              </a:rPr>
              <a:t>Test de vivacité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3703" y="3383279"/>
            <a:ext cx="160019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530"/>
                </a:solidFill>
                <a:latin typeface="Arial"/>
              </a:rPr>
              <a:t>la personne est présente, en direct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47639" y="3383279"/>
            <a:ext cx="162992" cy="0"/>
          </a:xfrm>
          <a:prstGeom prst="line">
            <a:avLst/>
          </a:prstGeom>
          <a:ln w="19050">
            <a:solidFill>
              <a:srgbClr val="1F3A5F"/>
            </a:solidFill>
            <a:tailEnd type="triangle" w="med" h="med"/>
          </a:ln>
        </p:spPr>
      </p:cxnSp>
      <p:sp>
        <p:nvSpPr>
          <p:cNvPr id="17" name="Rectangle 16"/>
          <p:cNvSpPr/>
          <p:nvPr/>
        </p:nvSpPr>
        <p:spPr>
          <a:xfrm>
            <a:off x="5547207" y="2331720"/>
            <a:ext cx="1874519" cy="2103120"/>
          </a:xfrm>
          <a:prstGeom prst="rect">
            <a:avLst/>
          </a:prstGeom>
          <a:solidFill>
            <a:srgbClr val="EEF2F6"/>
          </a:solidFill>
          <a:ln w="12700">
            <a:solidFill>
              <a:srgbClr val="CBD3DB"/>
            </a:solidFill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684367" y="2441448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4367" y="2715768"/>
            <a:ext cx="16916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Arial"/>
              </a:rPr>
              <a:t>Comparaison des photos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84367" y="3383279"/>
            <a:ext cx="160019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530"/>
                </a:solidFill>
                <a:latin typeface="Arial"/>
              </a:rPr>
              <a:t>photo de la CIN ↔ visage du test de vivacité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58303" y="3383279"/>
            <a:ext cx="162992" cy="0"/>
          </a:xfrm>
          <a:prstGeom prst="line">
            <a:avLst/>
          </a:prstGeom>
          <a:ln w="19050">
            <a:solidFill>
              <a:srgbClr val="1F3A5F"/>
            </a:solidFill>
            <a:tailEnd type="triangle" w="med" h="med"/>
          </a:ln>
        </p:spPr>
      </p:cxnSp>
      <p:sp>
        <p:nvSpPr>
          <p:cNvPr id="22" name="Rectangle 21"/>
          <p:cNvSpPr/>
          <p:nvPr/>
        </p:nvSpPr>
        <p:spPr>
          <a:xfrm>
            <a:off x="7657871" y="2331720"/>
            <a:ext cx="1874519" cy="2103120"/>
          </a:xfrm>
          <a:prstGeom prst="rect">
            <a:avLst/>
          </a:prstGeom>
          <a:solidFill>
            <a:srgbClr val="EEF2F6"/>
          </a:solidFill>
          <a:ln w="12700">
            <a:solidFill>
              <a:srgbClr val="CBD3DB"/>
            </a:solidFill>
          </a:ln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95031" y="2441448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5031" y="2715768"/>
            <a:ext cx="16916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Arial"/>
              </a:rPr>
              <a:t>OCR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5031" y="3383279"/>
            <a:ext cx="160019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530"/>
                </a:solidFill>
                <a:latin typeface="Arial"/>
              </a:rPr>
              <a:t>lecture des champs de la carte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568967" y="3383279"/>
            <a:ext cx="162992" cy="0"/>
          </a:xfrm>
          <a:prstGeom prst="line">
            <a:avLst/>
          </a:prstGeom>
          <a:ln w="19050">
            <a:solidFill>
              <a:srgbClr val="1F3A5F"/>
            </a:solidFill>
            <a:tailEnd type="triangle" w="med" h="med"/>
          </a:ln>
        </p:spPr>
      </p:cxnSp>
      <p:sp>
        <p:nvSpPr>
          <p:cNvPr id="27" name="Rectangle 26"/>
          <p:cNvSpPr/>
          <p:nvPr/>
        </p:nvSpPr>
        <p:spPr>
          <a:xfrm>
            <a:off x="9768535" y="2331720"/>
            <a:ext cx="1874519" cy="2103120"/>
          </a:xfrm>
          <a:prstGeom prst="rect">
            <a:avLst/>
          </a:prstGeom>
          <a:solidFill>
            <a:srgbClr val="EEF2F6"/>
          </a:solidFill>
          <a:ln w="12700">
            <a:solidFill>
              <a:srgbClr val="CBD3DB"/>
            </a:solidFill>
          </a:ln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905695" y="2441448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5695" y="2715768"/>
            <a:ext cx="16916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Arial"/>
              </a:rPr>
              <a:t>Enregistrement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5695" y="3383279"/>
            <a:ext cx="160019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530"/>
                </a:solidFill>
                <a:latin typeface="Arial"/>
              </a:rPr>
              <a:t>sauvegarde du résultat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2148840"/>
            <a:ext cx="2651760" cy="0"/>
          </a:xfrm>
          <a:prstGeom prst="line">
            <a:avLst/>
          </a:prstGeom>
          <a:ln w="38100">
            <a:solidFill>
              <a:srgbClr val="2E75B6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548640" y="182880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Arial"/>
              </a:rPr>
              <a:t>CE STAGE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436543" y="2148840"/>
            <a:ext cx="8206512" cy="0"/>
          </a:xfrm>
          <a:prstGeom prst="line">
            <a:avLst/>
          </a:prstGeom>
          <a:ln w="19050">
            <a:solidFill>
              <a:srgbClr val="5B6B7A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3436543" y="1828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5B6B7A"/>
                </a:solidFill>
                <a:latin typeface="Arial"/>
              </a:rPr>
              <a:t>SUITE DU PARCOURS AVATAR-ID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754880"/>
            <a:ext cx="5272887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Arial"/>
              </a:rPr>
              <a:t>Ce que le module transmet : </a:t>
            </a:r>
            <a:r>
              <a:rPr sz="1800" b="0" i="0">
                <a:solidFill>
                  <a:srgbClr val="1B2530"/>
                </a:solidFill>
                <a:latin typeface="Arial"/>
              </a:rPr>
              <a:t>le recto et le verso redressés et orientés, ainsi que la page A4 composée.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0167" y="4754880"/>
            <a:ext cx="5272887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Arial"/>
              </a:rPr>
              <a:t>Pourquoi la qualité compte : </a:t>
            </a:r>
            <a:r>
              <a:rPr sz="1800" b="0" i="0">
                <a:solidFill>
                  <a:srgbClr val="1B2530"/>
                </a:solidFill>
                <a:latin typeface="Arial"/>
              </a:rPr>
              <a:t>une carte nette, bien cadrée et à l'endroit alimente directement la comparaison des photos et l'OCR.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7" grpId="0"/>
      <p:bldP spid="18" grpId="0"/>
      <p:bldP spid="19" grpId="0"/>
      <p:bldP spid="20" grpId="0"/>
      <p:bldP spid="22" grpId="0"/>
      <p:bldP spid="23" grpId="0"/>
      <p:bldP spid="24" grpId="0"/>
      <p:bldP spid="25" grpId="0"/>
      <p:bldP spid="27" grpId="0"/>
      <p:bldP spid="28" grpId="0"/>
      <p:bldP spid="29" grpId="0"/>
      <p:bldP spid="30" grpId="0"/>
      <p:bldP spid="34" grpId="0"/>
      <p:bldP spid="35" grpId="0"/>
      <p:bldP spid="36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73775" y="42976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E75B6"/>
                </a:solidFill>
                <a:latin typeface="Arial"/>
              </a:rPr>
              <a:t>CONTEXTE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0" i="0">
                <a:solidFill>
                  <a:srgbClr val="5B6B7A"/>
                </a:solidFill>
                <a:latin typeface="Arial"/>
              </a:rPr>
              <a:t>CONCEPTION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0" i="0">
                <a:solidFill>
                  <a:srgbClr val="5B6B7A"/>
                </a:solidFill>
                <a:latin typeface="Arial"/>
              </a:rPr>
              <a:t>RÉSULTATS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0" i="0">
                <a:solidFill>
                  <a:srgbClr val="5B6B7A"/>
                </a:solidFill>
                <a:latin typeface="Arial"/>
              </a:rPr>
              <a:t>BILAN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9525">
            <a:solidFill>
              <a:srgbClr val="CBD3DB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548640" y="6455664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A"/>
                </a:solidFill>
                <a:latin typeface="Arial"/>
              </a:rPr>
              <a:t>Avatar-ID · autocapture de la CIN · Mohammed Amine Chaieb · ENSI 2025/2026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5566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Arial"/>
              </a:rPr>
              <a:t>3 / 17</a:t>
            </a:r>
          </a:p>
        </p:txBody>
      </p:sp>
      <p:sp>
        <p:nvSpPr>
          <p:cNvPr id="6" name="Titre"/>
          <p:cNvSpPr txBox="1"/>
          <p:nvPr/>
        </p:nvSpPr>
        <p:spPr>
          <a:xfrm>
            <a:off x="548640" y="77724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Arial"/>
              </a:rPr>
              <a:t>Une photo libre de CIN peut être floue, de travers ou envoyée deux fois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3520440" cy="205740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563623" y="2328062"/>
            <a:ext cx="1783080" cy="112484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BD3DB"/>
            </a:solidFill>
          </a:ln>
        </p:spPr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1490472" y="2284171"/>
            <a:ext cx="1783080" cy="112484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BD3DB"/>
            </a:solidFill>
          </a:ln>
        </p:spPr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1417319" y="2240280"/>
            <a:ext cx="1783080" cy="112484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1F3A5F"/>
            </a:solidFill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041648"/>
            <a:ext cx="3520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1F3A5F"/>
                </a:solidFill>
                <a:latin typeface="Arial"/>
              </a:rPr>
              <a:t>Floue</a:t>
            </a:r>
          </a:p>
          <a:p>
            <a:pPr algn="ctr"/>
            <a:r>
              <a:rPr sz="1600" b="0" i="0">
                <a:solidFill>
                  <a:srgbClr val="5B6B7A"/>
                </a:solidFill>
                <a:latin typeface="Arial"/>
              </a:rPr>
              <a:t>image inexploitable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6824" y="1874519"/>
            <a:ext cx="3520440" cy="205740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 rot="20760000">
            <a:off x="5221224" y="2286000"/>
            <a:ext cx="1783080" cy="1124712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1F3A5F"/>
            </a:solidFill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306824" y="4041648"/>
            <a:ext cx="3520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1F3A5F"/>
                </a:solidFill>
                <a:latin typeface="Arial"/>
              </a:rPr>
              <a:t>De travers</a:t>
            </a:r>
          </a:p>
          <a:p>
            <a:pPr algn="ctr"/>
            <a:r>
              <a:rPr sz="1600" b="0" i="0">
                <a:solidFill>
                  <a:srgbClr val="5B6B7A"/>
                </a:solidFill>
                <a:latin typeface="Arial"/>
              </a:rPr>
              <a:t>carte mal cadrée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5008" y="1874519"/>
            <a:ext cx="3520440" cy="205740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750808" y="2212848"/>
            <a:ext cx="1691640" cy="1069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F3A5F"/>
            </a:solidFill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50808" y="2532888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1F3A5F"/>
                </a:solidFill>
                <a:latin typeface="Arial"/>
              </a:rPr>
              <a:t>recto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34856" y="2404872"/>
            <a:ext cx="1691640" cy="1069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F3A5F"/>
            </a:solidFill>
          </a:ln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34856" y="2724912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1F3A5F"/>
                </a:solidFill>
                <a:latin typeface="Arial"/>
              </a:rPr>
              <a:t>recto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4041648"/>
            <a:ext cx="3520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1F3A5F"/>
                </a:solidFill>
                <a:latin typeface="Arial"/>
              </a:rPr>
              <a:t>Deux fois le recto</a:t>
            </a:r>
          </a:p>
          <a:p>
            <a:pPr algn="ctr"/>
            <a:r>
              <a:rPr sz="1600" b="0" i="0">
                <a:solidFill>
                  <a:srgbClr val="5B6B7A"/>
                </a:solidFill>
                <a:latin typeface="Arial"/>
              </a:rPr>
              <a:t>verso jamais fourni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46320"/>
            <a:ext cx="7589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Arial"/>
              </a:rPr>
              <a:t>Problématique — </a:t>
            </a:r>
            <a:r>
              <a:rPr sz="2000" b="0" i="0">
                <a:solidFill>
                  <a:srgbClr val="1B2530"/>
                </a:solidFill>
                <a:latin typeface="Arial"/>
              </a:rPr>
              <a:t>comment détecter de façon fiable et en temps réel les contours d'une CIN dans un flux caméra mobile, quels que soient l'éclairage et l'arrière-plan 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846320"/>
            <a:ext cx="313913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3A5F"/>
                </a:solidFill>
                <a:latin typeface="Arial"/>
              </a:rPr>
              <a:t>Sans guidage : </a:t>
            </a:r>
            <a:r>
              <a:rPr sz="1600" b="0" i="0">
                <a:solidFill>
                  <a:srgbClr val="5B6B7A"/>
                </a:solidFill>
                <a:latin typeface="Arial"/>
              </a:rPr>
              <a:t>contrôle humain coûteux, nouvelle saisie, et étapes suivantes (photos, OCR) dégradées.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73775" y="42976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E75B6"/>
                </a:solidFill>
                <a:latin typeface="Arial"/>
              </a:rPr>
              <a:t>CONTEXTE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0" i="0">
                <a:solidFill>
                  <a:srgbClr val="5B6B7A"/>
                </a:solidFill>
                <a:latin typeface="Arial"/>
              </a:rPr>
              <a:t>CONCEPTION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0" i="0">
                <a:solidFill>
                  <a:srgbClr val="5B6B7A"/>
                </a:solidFill>
                <a:latin typeface="Arial"/>
              </a:rPr>
              <a:t>RÉSULTATS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0" i="0">
                <a:solidFill>
                  <a:srgbClr val="5B6B7A"/>
                </a:solidFill>
                <a:latin typeface="Arial"/>
              </a:rPr>
              <a:t>BILAN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9525">
            <a:solidFill>
              <a:srgbClr val="CBD3DB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548640" y="6455664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A"/>
                </a:solidFill>
                <a:latin typeface="Arial"/>
              </a:rPr>
              <a:t>Avatar-ID · autocapture de la CIN · Mohammed Amine Chaieb · ENSI 2025/2026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5566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Arial"/>
              </a:rPr>
              <a:t>4 / 17</a:t>
            </a:r>
          </a:p>
        </p:txBody>
      </p:sp>
      <p:sp>
        <p:nvSpPr>
          <p:cNvPr id="6" name="Titre"/>
          <p:cNvSpPr txBox="1"/>
          <p:nvPr/>
        </p:nvSpPr>
        <p:spPr>
          <a:xfrm>
            <a:off x="548640" y="77724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Arial"/>
              </a:rPr>
              <a:t>Cinq fonctions à automatiser, trois cibles chiffrées, deux plateformes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Arial"/>
              </a:rPr>
              <a:t>CE QUE LE MODULE DOIT FAIRE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E75B6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22576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B2530"/>
                </a:solidFill>
                <a:latin typeface="Arial"/>
              </a:rPr>
              <a:t>Détecter la carte et ses contours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2852928"/>
            <a:ext cx="5120639" cy="0"/>
          </a:xfrm>
          <a:prstGeom prst="line">
            <a:avLst/>
          </a:prstGeom>
          <a:ln w="6350">
            <a:solidFill>
              <a:srgbClr val="CBD3DB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48640" y="294436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E75B6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80944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B2530"/>
                </a:solidFill>
                <a:latin typeface="Arial"/>
              </a:rPr>
              <a:t>Contrôler netteté, luminosité, stabilité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3511296"/>
            <a:ext cx="5120639" cy="0"/>
          </a:xfrm>
          <a:prstGeom prst="line">
            <a:avLst/>
          </a:prstGeom>
          <a:ln w="6350">
            <a:solidFill>
              <a:srgbClr val="CBD3DB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548640" y="360273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E75B6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63931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B2530"/>
                </a:solidFill>
                <a:latin typeface="Arial"/>
              </a:rPr>
              <a:t>Distinguer recto et verso, dans l'ordre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4169663"/>
            <a:ext cx="5120639" cy="0"/>
          </a:xfrm>
          <a:prstGeom prst="line">
            <a:avLst/>
          </a:prstGeom>
          <a:ln w="6350">
            <a:solidFill>
              <a:srgbClr val="CBD3DB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548640" y="426110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E75B6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2976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B2530"/>
                </a:solidFill>
                <a:latin typeface="Arial"/>
              </a:rPr>
              <a:t>Capturer seul, sans bouton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4828032"/>
            <a:ext cx="5120639" cy="0"/>
          </a:xfrm>
          <a:prstGeom prst="line">
            <a:avLst/>
          </a:prstGeom>
          <a:ln w="6350">
            <a:solidFill>
              <a:srgbClr val="CBD3DB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548640" y="491947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E75B6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956048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B2530"/>
                </a:solidFill>
                <a:latin typeface="Arial"/>
              </a:rPr>
              <a:t>Recadrer et améliorer l'image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18288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Arial"/>
              </a:rPr>
              <a:t>CIBLES DU CAHIER DES CHARGES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286000"/>
            <a:ext cx="2057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rgbClr val="1F3A5F"/>
                </a:solidFill>
                <a:latin typeface="Arial"/>
              </a:rPr>
              <a:t>&lt; 100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286000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de traitement par image, idéalement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273552"/>
            <a:ext cx="2057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rgbClr val="1F3A5F"/>
                </a:solidFill>
                <a:latin typeface="Arial"/>
              </a:rPr>
              <a:t>≥ 90 %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273552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de recto/verso bien reconnus, en conditions normales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261104"/>
            <a:ext cx="2057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rgbClr val="1F3A5F"/>
                </a:solidFill>
                <a:latin typeface="Arial"/>
              </a:rPr>
              <a:t>≈ 2 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261104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entre carte bien positionnée et capture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7960" y="5349240"/>
            <a:ext cx="5105095" cy="566928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720840" y="5349240"/>
            <a:ext cx="473933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Arial"/>
              </a:rPr>
              <a:t>Android et iOS</a:t>
            </a:r>
            <a:r>
              <a:rPr sz="1600" b="0" i="0">
                <a:solidFill>
                  <a:srgbClr val="1B2530"/>
                </a:solidFill>
                <a:latin typeface="Arial"/>
              </a:rPr>
              <a:t> · un seul code pour les deux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2" grpId="0"/>
      <p:bldP spid="14" grpId="0"/>
      <p:bldP spid="15" grpId="0"/>
      <p:bldP spid="17" grpId="0"/>
      <p:bldP spid="18" grpId="0"/>
      <p:bldP spid="20" grpId="0"/>
      <p:bldP spid="21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73775" y="42976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E75B6"/>
                </a:solidFill>
                <a:latin typeface="Arial"/>
              </a:rPr>
              <a:t>CONTEXTE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0" i="0">
                <a:solidFill>
                  <a:srgbClr val="5B6B7A"/>
                </a:solidFill>
                <a:latin typeface="Arial"/>
              </a:rPr>
              <a:t>CONCEPTION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0" i="0">
                <a:solidFill>
                  <a:srgbClr val="5B6B7A"/>
                </a:solidFill>
                <a:latin typeface="Arial"/>
              </a:rPr>
              <a:t>RÉSULTATS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0" i="0">
                <a:solidFill>
                  <a:srgbClr val="5B6B7A"/>
                </a:solidFill>
                <a:latin typeface="Arial"/>
              </a:rPr>
              <a:t>BILAN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9525">
            <a:solidFill>
              <a:srgbClr val="CBD3DB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548640" y="6455664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A"/>
                </a:solidFill>
                <a:latin typeface="Arial"/>
              </a:rPr>
              <a:t>Avatar-ID · autocapture de la CIN · Mohammed Amine Chaieb · ENSI 2025/2026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5566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Arial"/>
              </a:rPr>
              <a:t>5 / 17</a:t>
            </a:r>
          </a:p>
        </p:txBody>
      </p:sp>
      <p:sp>
        <p:nvSpPr>
          <p:cNvPr id="6" name="Titre"/>
          <p:cNvSpPr txBox="1"/>
          <p:nvPr/>
        </p:nvSpPr>
        <p:spPr>
          <a:xfrm>
            <a:off x="548640" y="77724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Arial"/>
              </a:rPr>
              <a:t>Seul OpenCV tenait Android + iOS en six semaines, sans jeu de données annoté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28800"/>
          <a:ext cx="11094415" cy="2907792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2743200"/>
                <a:gridCol w="2743200"/>
                <a:gridCol w="2864815"/>
              </a:tblGrid>
              <a:tr h="713232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F3A5F"/>
                          </a:solidFill>
                          <a:latin typeface="Arial"/>
                        </a:rPr>
                        <a:t>Critère</a:t>
                      </a:r>
                    </a:p>
                  </a:txBody>
                  <a:tcPr marL="128016" marR="128016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F3A5F"/>
                          </a:solidFill>
                          <a:latin typeface="Arial"/>
                        </a:rPr>
                        <a:t>ML Kit</a:t>
                      </a:r>
                    </a:p>
                    <a:p>
                      <a:r>
                        <a:rPr sz="1700" b="1">
                          <a:solidFill>
                            <a:srgbClr val="1F3A5F"/>
                          </a:solidFill>
                          <a:latin typeface="Arial"/>
                        </a:rPr>
                        <a:t>Document Scanner</a:t>
                      </a:r>
                    </a:p>
                  </a:txBody>
                  <a:tcPr marL="128016" marR="128016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F3A5F"/>
                          </a:solidFill>
                          <a:latin typeface="Arial"/>
                        </a:rPr>
                        <a:t>Modèle entraîné</a:t>
                      </a:r>
                    </a:p>
                    <a:p>
                      <a:r>
                        <a:rPr sz="1700" b="1">
                          <a:solidFill>
                            <a:srgbClr val="1F3A5F"/>
                          </a:solidFill>
                          <a:latin typeface="Arial"/>
                        </a:rPr>
                        <a:t>sur mesure</a:t>
                      </a:r>
                    </a:p>
                  </a:txBody>
                  <a:tcPr marL="128016" marR="128016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OpenCV</a:t>
                      </a:r>
                    </a:p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(retenu)</a:t>
                      </a:r>
                    </a:p>
                  </a:txBody>
                  <a:tcPr marL="128016" marR="128016" anchor="ctr"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F3A5F"/>
                          </a:solidFill>
                          <a:latin typeface="Arial"/>
                        </a:rPr>
                        <a:t>Support iOS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B84A12"/>
                          </a:solidFill>
                          <a:latin typeface="Arial"/>
                        </a:rPr>
                        <a:t>Non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2530"/>
                          </a:solidFill>
                          <a:latin typeface="Arial"/>
                        </a:rPr>
                        <a:t>Oui, si entraîné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F3A5F"/>
                          </a:solidFill>
                          <a:latin typeface="Arial"/>
                        </a:rPr>
                        <a:t>Oui</a:t>
                      </a:r>
                    </a:p>
                  </a:txBody>
                  <a:tcPr marL="128016" marR="128016" anchor="ctr">
                    <a:solidFill>
                      <a:srgbClr val="EEF2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F3A5F"/>
                          </a:solidFill>
                          <a:latin typeface="Arial"/>
                        </a:rPr>
                        <a:t>Jeu de données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2530"/>
                          </a:solidFill>
                          <a:latin typeface="Arial"/>
                        </a:rPr>
                        <a:t>Aucun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B84A12"/>
                          </a:solidFill>
                          <a:latin typeface="Arial"/>
                        </a:rPr>
                        <a:t>Plusieurs centaines</a:t>
                      </a:r>
                    </a:p>
                    <a:p>
                      <a:r>
                        <a:rPr sz="1800" b="1">
                          <a:solidFill>
                            <a:srgbClr val="B84A12"/>
                          </a:solidFill>
                          <a:latin typeface="Arial"/>
                        </a:rPr>
                        <a:t>d'images annotées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F3A5F"/>
                          </a:solidFill>
                          <a:latin typeface="Arial"/>
                        </a:rPr>
                        <a:t>Aucun</a:t>
                      </a:r>
                    </a:p>
                  </a:txBody>
                  <a:tcPr marL="128016" marR="128016" anchor="ctr">
                    <a:solidFill>
                      <a:srgbClr val="EEF2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F3A5F"/>
                          </a:solidFill>
                          <a:latin typeface="Arial"/>
                        </a:rPr>
                        <a:t>Tenable en 6 semaines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2530"/>
                          </a:solidFill>
                          <a:latin typeface="Arial"/>
                        </a:rPr>
                        <a:t>Oui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B84A12"/>
                          </a:solidFill>
                          <a:latin typeface="Arial"/>
                        </a:rPr>
                        <a:t>Non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F3A5F"/>
                          </a:solidFill>
                          <a:latin typeface="Arial"/>
                        </a:rPr>
                        <a:t>Oui</a:t>
                      </a:r>
                    </a:p>
                  </a:txBody>
                  <a:tcPr marL="128016" marR="128016" anchor="ctr">
                    <a:solidFill>
                      <a:srgbClr val="EEF2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F3A5F"/>
                          </a:solidFill>
                          <a:latin typeface="Arial"/>
                        </a:rPr>
                        <a:t>Effort de réglage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2530"/>
                          </a:solidFill>
                          <a:latin typeface="Arial"/>
                        </a:rPr>
                        <a:t>Faible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2530"/>
                          </a:solidFill>
                          <a:latin typeface="Arial"/>
                        </a:rPr>
                        <a:t>Élevé (entraînement)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F3A5F"/>
                          </a:solidFill>
                          <a:latin typeface="Arial"/>
                        </a:rPr>
                        <a:t>Moyen (seuils empiriques)</a:t>
                      </a:r>
                    </a:p>
                  </a:txBody>
                  <a:tcPr marL="128016" marR="128016" anchor="ctr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13892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Arial"/>
              </a:rPr>
              <a:t>PILE RETENUE</a:t>
            </a:r>
          </a:p>
        </p:txBody>
      </p:sp>
      <p:pic>
        <p:nvPicPr>
          <p:cNvPr id="9" name="Picture 8" descr="Logo Flutt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5120640"/>
            <a:ext cx="407365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921965" y="512064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Arial"/>
              </a:rPr>
              <a:t>Flutter</a:t>
            </a:r>
          </a:p>
        </p:txBody>
      </p:sp>
      <p:pic>
        <p:nvPicPr>
          <p:cNvPr id="11" name="Picture 10" descr="Logo D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565" y="5120640"/>
            <a:ext cx="502920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33645" y="512064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Arial"/>
              </a:rPr>
              <a:t>Dart</a:t>
            </a:r>
          </a:p>
        </p:txBody>
      </p:sp>
      <p:pic>
        <p:nvPicPr>
          <p:cNvPr id="13" name="Picture 12" descr="Logo OpenCV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485" y="5120640"/>
            <a:ext cx="540774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17419" y="512064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Arial"/>
              </a:rPr>
              <a:t>OpenCV · opencv_dart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833872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84A12"/>
                </a:solidFill>
                <a:latin typeface="Arial"/>
              </a:rPr>
              <a:t>En orange : le critère qui élimine l'option. </a:t>
            </a:r>
            <a:r>
              <a:rPr sz="1600" b="0" i="0">
                <a:solidFill>
                  <a:srgbClr val="5B6B7A"/>
                </a:solidFill>
                <a:latin typeface="Arial"/>
              </a:rPr>
              <a:t>Vision/VisionKit (iOS) écarté aussi : deux chaînes de détection à maintenir.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73775" y="42976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Arial"/>
              </a:rPr>
              <a:t>CONTEXTE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1" i="0">
                <a:solidFill>
                  <a:srgbClr val="2E75B6"/>
                </a:solidFill>
                <a:latin typeface="Arial"/>
              </a:rPr>
              <a:t>CONCEPTION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0" i="0">
                <a:solidFill>
                  <a:srgbClr val="5B6B7A"/>
                </a:solidFill>
                <a:latin typeface="Arial"/>
              </a:rPr>
              <a:t>RÉSULTATS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0" i="0">
                <a:solidFill>
                  <a:srgbClr val="5B6B7A"/>
                </a:solidFill>
                <a:latin typeface="Arial"/>
              </a:rPr>
              <a:t>BILAN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9525">
            <a:solidFill>
              <a:srgbClr val="CBD3DB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548640" y="6455664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A"/>
                </a:solidFill>
                <a:latin typeface="Arial"/>
              </a:rPr>
              <a:t>Avatar-ID · autocapture de la CIN · Mohammed Amine Chaieb · ENSI 2025/2026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5566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Arial"/>
              </a:rPr>
              <a:t>6 / 17</a:t>
            </a:r>
          </a:p>
        </p:txBody>
      </p:sp>
      <p:sp>
        <p:nvSpPr>
          <p:cNvPr id="6" name="Titre"/>
          <p:cNvSpPr txBox="1"/>
          <p:nvPr/>
        </p:nvSpPr>
        <p:spPr>
          <a:xfrm>
            <a:off x="548640" y="77724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Arial"/>
              </a:rPr>
              <a:t>Un domaine sans Flutter ni OpenCV rend la logique testable sans caméra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Arial"/>
              </a:rPr>
              <a:t>UN MODULE TYPE (CLEAN ARCHITECTURE)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3840480" cy="868680"/>
          </a:xfrm>
          <a:prstGeom prst="rect">
            <a:avLst/>
          </a:prstGeom>
          <a:noFill/>
          <a:ln w="12700">
            <a:solidFill>
              <a:srgbClr val="CBD3DB"/>
            </a:solidFill>
          </a:ln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ourier New"/>
              </a:rPr>
              <a:t>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écrans, view-models (ChangeNotifier)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20440"/>
            <a:ext cx="3840480" cy="868680"/>
          </a:xfrm>
          <a:prstGeom prst="rect">
            <a:avLst/>
          </a:prstGeom>
          <a:solidFill>
            <a:srgbClr val="EEF2F6"/>
          </a:solidFill>
          <a:ln w="25400">
            <a:solidFill>
              <a:srgbClr val="2E75B6"/>
            </a:solidFill>
          </a:ln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31520" y="36118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ourier New"/>
              </a:rPr>
              <a:t>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77639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entités et cas d'usage · Dart pur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754880"/>
            <a:ext cx="3840480" cy="868680"/>
          </a:xfrm>
          <a:prstGeom prst="rect">
            <a:avLst/>
          </a:prstGeom>
          <a:noFill/>
          <a:ln w="12700">
            <a:solidFill>
              <a:srgbClr val="CBD3DB"/>
            </a:solidFill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ourier New"/>
              </a:rPr>
              <a:t>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120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détecteurs OpenCV, services, dépôts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468880" y="3154680"/>
            <a:ext cx="0" cy="365760"/>
          </a:xfrm>
          <a:prstGeom prst="line">
            <a:avLst/>
          </a:prstGeom>
          <a:ln w="19050">
            <a:solidFill>
              <a:srgbClr val="1F3A5F"/>
            </a:solidFill>
            <a:tailEnd type="triangle" w="med" h="med"/>
          </a:ln>
        </p:spPr>
      </p:cxnSp>
      <p:sp>
        <p:nvSpPr>
          <p:cNvPr id="18" name="TextBox 17"/>
          <p:cNvSpPr txBox="1"/>
          <p:nvPr/>
        </p:nvSpPr>
        <p:spPr>
          <a:xfrm>
            <a:off x="2606040" y="317296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B7A"/>
                </a:solidFill>
                <a:latin typeface="Arial"/>
              </a:rPr>
              <a:t>dépend de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2468880" y="4389120"/>
            <a:ext cx="0" cy="365760"/>
          </a:xfrm>
          <a:prstGeom prst="line">
            <a:avLst/>
          </a:prstGeom>
          <a:ln w="19050">
            <a:solidFill>
              <a:srgbClr val="1F3A5F"/>
            </a:solidFill>
            <a:tailEnd type="triangle" w="med" h="med"/>
          </a:ln>
        </p:spPr>
      </p:cxnSp>
      <p:sp>
        <p:nvSpPr>
          <p:cNvPr id="20" name="TextBox 19"/>
          <p:cNvSpPr txBox="1"/>
          <p:nvPr/>
        </p:nvSpPr>
        <p:spPr>
          <a:xfrm>
            <a:off x="2606040" y="4425696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B7A"/>
                </a:solidFill>
                <a:latin typeface="Arial"/>
              </a:rPr>
              <a:t>implémente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182880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Arial"/>
              </a:rPr>
              <a:t>SEPT MODULES FEATURE-FIRST : COUCHES RÉELLEMENT PRÉSENTES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2" y="2240280"/>
            <a:ext cx="1133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5B6B7A"/>
                </a:solidFill>
                <a:latin typeface="Arial"/>
              </a:rPr>
              <a:t>présentation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2240280"/>
            <a:ext cx="1133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5B6B7A"/>
                </a:solidFill>
                <a:latin typeface="Arial"/>
              </a:rPr>
              <a:t>domaine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14432" y="2240280"/>
            <a:ext cx="1133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5B6B7A"/>
                </a:solidFill>
                <a:latin typeface="Arial"/>
              </a:rPr>
              <a:t>données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2606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1B2530"/>
                </a:solidFill>
                <a:latin typeface="Courier New"/>
              </a:rPr>
              <a:t>camera_capture</a:t>
            </a:r>
          </a:p>
        </p:txBody>
      </p:sp>
      <p:sp>
        <p:nvSpPr>
          <p:cNvPr id="26" name="Oval 25"/>
          <p:cNvSpPr/>
          <p:nvPr/>
        </p:nvSpPr>
        <p:spPr>
          <a:xfrm>
            <a:off x="8586216" y="2688336"/>
            <a:ext cx="201168" cy="201168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27" name="Connector 26"/>
          <p:cNvCxnSpPr/>
          <p:nvPr/>
        </p:nvCxnSpPr>
        <p:spPr>
          <a:xfrm>
            <a:off x="9738360" y="2788920"/>
            <a:ext cx="182880" cy="0"/>
          </a:xfrm>
          <a:prstGeom prst="line">
            <a:avLst/>
          </a:prstGeom>
          <a:ln w="12700">
            <a:solidFill>
              <a:srgbClr val="CBD3DB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10789920" y="2788920"/>
            <a:ext cx="182880" cy="0"/>
          </a:xfrm>
          <a:prstGeom prst="line">
            <a:avLst/>
          </a:prstGeom>
          <a:ln w="12700">
            <a:solidFill>
              <a:srgbClr val="CBD3DB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5257800" y="3008376"/>
            <a:ext cx="6172200" cy="0"/>
          </a:xfrm>
          <a:prstGeom prst="line">
            <a:avLst/>
          </a:prstGeom>
          <a:ln w="6350">
            <a:solidFill>
              <a:srgbClr val="CBD3DB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5257800" y="303580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1B2530"/>
                </a:solidFill>
                <a:latin typeface="Courier New"/>
              </a:rPr>
              <a:t>document_detection</a:t>
            </a:r>
          </a:p>
        </p:txBody>
      </p:sp>
      <p:sp>
        <p:nvSpPr>
          <p:cNvPr id="31" name="Oval 30"/>
          <p:cNvSpPr/>
          <p:nvPr/>
        </p:nvSpPr>
        <p:spPr>
          <a:xfrm>
            <a:off x="8586216" y="3118104"/>
            <a:ext cx="201168" cy="201168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729216" y="3118104"/>
            <a:ext cx="201168" cy="20116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10780776" y="3118104"/>
            <a:ext cx="201168" cy="201168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34" name="Connector 33"/>
          <p:cNvCxnSpPr/>
          <p:nvPr/>
        </p:nvCxnSpPr>
        <p:spPr>
          <a:xfrm>
            <a:off x="5257800" y="3438144"/>
            <a:ext cx="6172200" cy="0"/>
          </a:xfrm>
          <a:prstGeom prst="line">
            <a:avLst/>
          </a:prstGeom>
          <a:ln w="6350">
            <a:solidFill>
              <a:srgbClr val="CBD3DB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5257800" y="3465576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1B2530"/>
                </a:solidFill>
                <a:latin typeface="Courier New"/>
              </a:rPr>
              <a:t>image_quality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595360" y="3648456"/>
            <a:ext cx="182880" cy="0"/>
          </a:xfrm>
          <a:prstGeom prst="line">
            <a:avLst/>
          </a:prstGeom>
          <a:ln w="12700">
            <a:solidFill>
              <a:srgbClr val="CBD3DB"/>
            </a:solidFill>
          </a:ln>
        </p:spPr>
      </p:cxnSp>
      <p:cxnSp>
        <p:nvCxnSpPr>
          <p:cNvPr id="37" name="Connector 36"/>
          <p:cNvCxnSpPr/>
          <p:nvPr/>
        </p:nvCxnSpPr>
        <p:spPr>
          <a:xfrm>
            <a:off x="9738360" y="3648456"/>
            <a:ext cx="182880" cy="0"/>
          </a:xfrm>
          <a:prstGeom prst="line">
            <a:avLst/>
          </a:prstGeom>
          <a:ln w="12700">
            <a:solidFill>
              <a:srgbClr val="CBD3DB"/>
            </a:solidFill>
          </a:ln>
        </p:spPr>
      </p:cxnSp>
      <p:sp>
        <p:nvSpPr>
          <p:cNvPr id="38" name="Oval 37"/>
          <p:cNvSpPr/>
          <p:nvPr/>
        </p:nvSpPr>
        <p:spPr>
          <a:xfrm>
            <a:off x="10780776" y="3547872"/>
            <a:ext cx="201168" cy="201168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39" name="Connector 38"/>
          <p:cNvCxnSpPr/>
          <p:nvPr/>
        </p:nvCxnSpPr>
        <p:spPr>
          <a:xfrm>
            <a:off x="5257800" y="3867912"/>
            <a:ext cx="6172200" cy="0"/>
          </a:xfrm>
          <a:prstGeom prst="line">
            <a:avLst/>
          </a:prstGeom>
          <a:ln w="6350">
            <a:solidFill>
              <a:srgbClr val="CBD3DB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5257800" y="389534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1B2530"/>
                </a:solidFill>
                <a:latin typeface="Courier New"/>
              </a:rPr>
              <a:t>autocapture</a:t>
            </a:r>
          </a:p>
        </p:txBody>
      </p:sp>
      <p:sp>
        <p:nvSpPr>
          <p:cNvPr id="41" name="Oval 40"/>
          <p:cNvSpPr/>
          <p:nvPr/>
        </p:nvSpPr>
        <p:spPr>
          <a:xfrm>
            <a:off x="8586216" y="3977639"/>
            <a:ext cx="201168" cy="201168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9729216" y="3977639"/>
            <a:ext cx="201168" cy="20116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43" name="Connector 42"/>
          <p:cNvCxnSpPr/>
          <p:nvPr/>
        </p:nvCxnSpPr>
        <p:spPr>
          <a:xfrm>
            <a:off x="10789920" y="4078224"/>
            <a:ext cx="182880" cy="0"/>
          </a:xfrm>
          <a:prstGeom prst="line">
            <a:avLst/>
          </a:prstGeom>
          <a:ln w="12700">
            <a:solidFill>
              <a:srgbClr val="CBD3DB"/>
            </a:solidFill>
          </a:ln>
        </p:spPr>
      </p:cxnSp>
      <p:cxnSp>
        <p:nvCxnSpPr>
          <p:cNvPr id="44" name="Connector 43"/>
          <p:cNvCxnSpPr/>
          <p:nvPr/>
        </p:nvCxnSpPr>
        <p:spPr>
          <a:xfrm>
            <a:off x="5257800" y="4297680"/>
            <a:ext cx="6172200" cy="0"/>
          </a:xfrm>
          <a:prstGeom prst="line">
            <a:avLst/>
          </a:prstGeom>
          <a:ln w="6350">
            <a:solidFill>
              <a:srgbClr val="CBD3DB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5257800" y="43251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1B2530"/>
                </a:solidFill>
                <a:latin typeface="Courier New"/>
              </a:rPr>
              <a:t>image_postprocessing</a:t>
            </a:r>
          </a:p>
        </p:txBody>
      </p:sp>
      <p:sp>
        <p:nvSpPr>
          <p:cNvPr id="46" name="Oval 45"/>
          <p:cNvSpPr/>
          <p:nvPr/>
        </p:nvSpPr>
        <p:spPr>
          <a:xfrm>
            <a:off x="8586216" y="4407408"/>
            <a:ext cx="201168" cy="201168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9729216" y="4407408"/>
            <a:ext cx="201168" cy="20116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10780776" y="4407408"/>
            <a:ext cx="201168" cy="201168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49" name="Connector 48"/>
          <p:cNvCxnSpPr/>
          <p:nvPr/>
        </p:nvCxnSpPr>
        <p:spPr>
          <a:xfrm>
            <a:off x="5257800" y="4727448"/>
            <a:ext cx="6172200" cy="0"/>
          </a:xfrm>
          <a:prstGeom prst="line">
            <a:avLst/>
          </a:prstGeom>
          <a:ln w="6350">
            <a:solidFill>
              <a:srgbClr val="CBD3DB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5257800" y="4754879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1B2530"/>
                </a:solidFill>
                <a:latin typeface="Courier New"/>
              </a:rPr>
              <a:t>result_preview</a:t>
            </a:r>
          </a:p>
        </p:txBody>
      </p:sp>
      <p:sp>
        <p:nvSpPr>
          <p:cNvPr id="51" name="Oval 50"/>
          <p:cNvSpPr/>
          <p:nvPr/>
        </p:nvSpPr>
        <p:spPr>
          <a:xfrm>
            <a:off x="8586216" y="4837175"/>
            <a:ext cx="201168" cy="201168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9729216" y="4837175"/>
            <a:ext cx="201168" cy="20116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53" name="Connector 52"/>
          <p:cNvCxnSpPr/>
          <p:nvPr/>
        </p:nvCxnSpPr>
        <p:spPr>
          <a:xfrm>
            <a:off x="10789920" y="4937759"/>
            <a:ext cx="182880" cy="0"/>
          </a:xfrm>
          <a:prstGeom prst="line">
            <a:avLst/>
          </a:prstGeom>
          <a:ln w="12700">
            <a:solidFill>
              <a:srgbClr val="CBD3DB"/>
            </a:solidFill>
          </a:ln>
        </p:spPr>
      </p:cxnSp>
      <p:cxnSp>
        <p:nvCxnSpPr>
          <p:cNvPr id="54" name="Connector 53"/>
          <p:cNvCxnSpPr/>
          <p:nvPr/>
        </p:nvCxnSpPr>
        <p:spPr>
          <a:xfrm>
            <a:off x="5257800" y="5157216"/>
            <a:ext cx="6172200" cy="0"/>
          </a:xfrm>
          <a:prstGeom prst="line">
            <a:avLst/>
          </a:prstGeom>
          <a:ln w="6350">
            <a:solidFill>
              <a:srgbClr val="CBD3DB"/>
            </a:solidFill>
          </a:ln>
        </p:spPr>
      </p:cxnSp>
      <p:sp>
        <p:nvSpPr>
          <p:cNvPr id="55" name="TextBox 54"/>
          <p:cNvSpPr txBox="1"/>
          <p:nvPr/>
        </p:nvSpPr>
        <p:spPr>
          <a:xfrm>
            <a:off x="5257800" y="518464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1B2530"/>
                </a:solidFill>
                <a:latin typeface="Courier New"/>
              </a:rPr>
              <a:t>capture_history</a:t>
            </a:r>
          </a:p>
        </p:txBody>
      </p:sp>
      <p:sp>
        <p:nvSpPr>
          <p:cNvPr id="56" name="Oval 55"/>
          <p:cNvSpPr/>
          <p:nvPr/>
        </p:nvSpPr>
        <p:spPr>
          <a:xfrm>
            <a:off x="8586216" y="5266944"/>
            <a:ext cx="201168" cy="201168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57" name="Connector 56"/>
          <p:cNvCxnSpPr/>
          <p:nvPr/>
        </p:nvCxnSpPr>
        <p:spPr>
          <a:xfrm>
            <a:off x="9738360" y="5367528"/>
            <a:ext cx="182880" cy="0"/>
          </a:xfrm>
          <a:prstGeom prst="line">
            <a:avLst/>
          </a:prstGeom>
          <a:ln w="12700">
            <a:solidFill>
              <a:srgbClr val="CBD3DB"/>
            </a:solidFill>
          </a:ln>
        </p:spPr>
      </p:cxnSp>
      <p:cxnSp>
        <p:nvCxnSpPr>
          <p:cNvPr id="58" name="Connector 57"/>
          <p:cNvCxnSpPr/>
          <p:nvPr/>
        </p:nvCxnSpPr>
        <p:spPr>
          <a:xfrm>
            <a:off x="10789920" y="5367528"/>
            <a:ext cx="182880" cy="0"/>
          </a:xfrm>
          <a:prstGeom prst="line">
            <a:avLst/>
          </a:prstGeom>
          <a:ln w="12700">
            <a:solidFill>
              <a:srgbClr val="CBD3DB"/>
            </a:solidFill>
          </a:ln>
        </p:spPr>
      </p:cxnSp>
      <p:cxnSp>
        <p:nvCxnSpPr>
          <p:cNvPr id="59" name="Connector 58"/>
          <p:cNvCxnSpPr/>
          <p:nvPr/>
        </p:nvCxnSpPr>
        <p:spPr>
          <a:xfrm>
            <a:off x="5257800" y="5586984"/>
            <a:ext cx="6172200" cy="0"/>
          </a:xfrm>
          <a:prstGeom prst="line">
            <a:avLst/>
          </a:prstGeom>
          <a:ln w="6350">
            <a:solidFill>
              <a:srgbClr val="CBD3DB"/>
            </a:solidFill>
          </a:ln>
        </p:spPr>
      </p:cxnSp>
      <p:sp>
        <p:nvSpPr>
          <p:cNvPr id="60" name="TextBox 59"/>
          <p:cNvSpPr txBox="1"/>
          <p:nvPr/>
        </p:nvSpPr>
        <p:spPr>
          <a:xfrm>
            <a:off x="5257800" y="566928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Arial"/>
              </a:rPr>
              <a:t>+ transverses : </a:t>
            </a:r>
            <a:r>
              <a:rPr sz="1400" b="0" i="0">
                <a:solidFill>
                  <a:srgbClr val="5B6B7A"/>
                </a:solidFill>
                <a:latin typeface="Courier New"/>
              </a:rPr>
              <a:t>core/services</a:t>
            </a:r>
            <a:r>
              <a:rPr sz="1400" b="0" i="0">
                <a:solidFill>
                  <a:srgbClr val="5B6B7A"/>
                </a:solidFill>
                <a:latin typeface="Arial"/>
              </a:rPr>
              <a:t> (caméra, cascade, stockage) et </a:t>
            </a:r>
            <a:r>
              <a:rPr sz="1400" b="0" i="0">
                <a:solidFill>
                  <a:srgbClr val="5B6B7A"/>
                </a:solidFill>
                <a:latin typeface="Courier New"/>
              </a:rPr>
              <a:t>shared/utils</a:t>
            </a:r>
            <a:r>
              <a:rPr sz="1400" b="0" i="0">
                <a:solidFill>
                  <a:srgbClr val="5B6B7A"/>
                </a:solidFill>
                <a:latin typeface="Arial"/>
              </a:rPr>
              <a:t> (conversion d'image, stabilisation)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30" grpId="0"/>
      <p:bldP spid="31" grpId="0"/>
      <p:bldP spid="32" grpId="0"/>
      <p:bldP spid="33" grpId="0"/>
      <p:bldP spid="35" grpId="0"/>
      <p:bldP spid="38" grpId="0"/>
      <p:bldP spid="40" grpId="0"/>
      <p:bldP spid="41" grpId="0"/>
      <p:bldP spid="42" grpId="0"/>
      <p:bldP spid="45" grpId="0"/>
      <p:bldP spid="46" grpId="0"/>
      <p:bldP spid="47" grpId="0"/>
      <p:bldP spid="48" grpId="0"/>
      <p:bldP spid="50" grpId="0"/>
      <p:bldP spid="51" grpId="0"/>
      <p:bldP spid="52" grpId="0"/>
      <p:bldP spid="55" grpId="0"/>
      <p:bldP spid="56" grpId="0"/>
      <p:bldP spid="60" grpId="0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73775" y="42976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Arial"/>
              </a:rPr>
              <a:t>CONTEXTE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1" i="0">
                <a:solidFill>
                  <a:srgbClr val="2E75B6"/>
                </a:solidFill>
                <a:latin typeface="Arial"/>
              </a:rPr>
              <a:t>CONCEPTION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0" i="0">
                <a:solidFill>
                  <a:srgbClr val="5B6B7A"/>
                </a:solidFill>
                <a:latin typeface="Arial"/>
              </a:rPr>
              <a:t>RÉSULTATS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0" i="0">
                <a:solidFill>
                  <a:srgbClr val="5B6B7A"/>
                </a:solidFill>
                <a:latin typeface="Arial"/>
              </a:rPr>
              <a:t>BILAN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9525">
            <a:solidFill>
              <a:srgbClr val="CBD3DB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548640" y="6455664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A"/>
                </a:solidFill>
                <a:latin typeface="Arial"/>
              </a:rPr>
              <a:t>Avatar-ID · autocapture de la CIN · Mohammed Amine Chaieb · ENSI 2025/2026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5566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Arial"/>
              </a:rPr>
              <a:t>7 / 17</a:t>
            </a:r>
          </a:p>
        </p:txBody>
      </p:sp>
      <p:sp>
        <p:nvSpPr>
          <p:cNvPr id="6" name="Titre"/>
          <p:cNvSpPr txBox="1"/>
          <p:nvPr/>
        </p:nvSpPr>
        <p:spPr>
          <a:xfrm>
            <a:off x="548640" y="77724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Arial"/>
              </a:rPr>
              <a:t>Quatre passes de contours et un score géométrique retiennent le quadrilatère de la carte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1874519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2075688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50008"/>
            <a:ext cx="16459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Arial"/>
              </a:rPr>
              <a:t>Conversion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70632"/>
            <a:ext cx="160019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frame YUV420 ou BGRA → Mat OpenCV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59736" y="3040380"/>
            <a:ext cx="140131" cy="0"/>
          </a:xfrm>
          <a:prstGeom prst="line">
            <a:avLst/>
          </a:prstGeom>
          <a:ln w="19050">
            <a:solidFill>
              <a:srgbClr val="1F3A5F"/>
            </a:solidFill>
            <a:tailEnd type="triangle" w="med" h="med"/>
          </a:ln>
        </p:spPr>
      </p:cxnSp>
      <p:sp>
        <p:nvSpPr>
          <p:cNvPr id="12" name="Rectangle 11"/>
          <p:cNvSpPr/>
          <p:nvPr/>
        </p:nvSpPr>
        <p:spPr>
          <a:xfrm>
            <a:off x="2636443" y="1965960"/>
            <a:ext cx="1508760" cy="2148840"/>
          </a:xfrm>
          <a:prstGeom prst="rect">
            <a:avLst/>
          </a:prstGeom>
          <a:solidFill>
            <a:srgbClr val="EEF2F6"/>
          </a:solidFill>
          <a:ln w="12700">
            <a:solidFill>
              <a:srgbClr val="CBD3DB"/>
            </a:solidFill>
          </a:ln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3603" y="2075688"/>
            <a:ext cx="1234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3603" y="235000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Arial"/>
              </a:rPr>
              <a:t>CLAHE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3603" y="2770632"/>
            <a:ext cx="123443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contraste local</a:t>
            </a:r>
          </a:p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renforcé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81779" y="3040380"/>
            <a:ext cx="140132" cy="0"/>
          </a:xfrm>
          <a:prstGeom prst="line">
            <a:avLst/>
          </a:prstGeom>
          <a:ln w="19050">
            <a:solidFill>
              <a:srgbClr val="1F3A5F"/>
            </a:solidFill>
            <a:tailEnd type="triangle" w="med" h="med"/>
          </a:ln>
        </p:spPr>
      </p:cxnSp>
      <p:sp>
        <p:nvSpPr>
          <p:cNvPr id="17" name="Rectangle 16"/>
          <p:cNvSpPr/>
          <p:nvPr/>
        </p:nvSpPr>
        <p:spPr>
          <a:xfrm>
            <a:off x="4358487" y="1965960"/>
            <a:ext cx="3063240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495647" y="2075688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5647" y="235000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Arial"/>
              </a:rPr>
              <a:t>4 passes → masques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5647" y="2770632"/>
            <a:ext cx="2788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Canny (seuils ×0,66/×1,33 de la médiane) · seuillage adaptatif · saturation HSV + Otsu · gradient morphologique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58303" y="3040380"/>
            <a:ext cx="140132" cy="0"/>
          </a:xfrm>
          <a:prstGeom prst="line">
            <a:avLst/>
          </a:prstGeom>
          <a:ln w="19050">
            <a:solidFill>
              <a:srgbClr val="1F3A5F"/>
            </a:solidFill>
            <a:tailEnd type="triangle" w="med" h="med"/>
          </a:ln>
        </p:spPr>
      </p:cxnSp>
      <p:sp>
        <p:nvSpPr>
          <p:cNvPr id="22" name="Rectangle 21"/>
          <p:cNvSpPr/>
          <p:nvPr/>
        </p:nvSpPr>
        <p:spPr>
          <a:xfrm>
            <a:off x="7635011" y="1965960"/>
            <a:ext cx="1920240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72171" y="207568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171" y="2350008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Arial"/>
              </a:rPr>
              <a:t>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171" y="2770632"/>
            <a:ext cx="1645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0,8 × proportion</a:t>
            </a:r>
          </a:p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+ 0,2 × taille</a:t>
            </a:r>
          </a:p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retenu si ≥ 0,30</a:t>
            </a:r>
          </a:p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×0,85 si quad approché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591827" y="3040380"/>
            <a:ext cx="140132" cy="0"/>
          </a:xfrm>
          <a:prstGeom prst="line">
            <a:avLst/>
          </a:prstGeom>
          <a:ln w="19050">
            <a:solidFill>
              <a:srgbClr val="1F3A5F"/>
            </a:solidFill>
            <a:tailEnd type="triangle" w="med" h="med"/>
          </a:ln>
        </p:spPr>
      </p:cxnSp>
      <p:sp>
        <p:nvSpPr>
          <p:cNvPr id="27" name="Rectangle 26"/>
          <p:cNvSpPr/>
          <p:nvPr/>
        </p:nvSpPr>
        <p:spPr>
          <a:xfrm>
            <a:off x="9768535" y="1965960"/>
            <a:ext cx="1874519" cy="2148840"/>
          </a:xfrm>
          <a:prstGeom prst="rect">
            <a:avLst/>
          </a:prstGeom>
          <a:solidFill>
            <a:srgbClr val="EEF2F6"/>
          </a:solidFill>
          <a:ln w="12700">
            <a:solidFill>
              <a:srgbClr val="CBD3DB"/>
            </a:solidFill>
          </a:ln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905695" y="2075688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5695" y="2350008"/>
            <a:ext cx="16459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Arial"/>
              </a:rPr>
              <a:t>Redressement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5695" y="2770632"/>
            <a:ext cx="160019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homographie</a:t>
            </a:r>
          </a:p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→ 856 × 540 px</a:t>
            </a:r>
          </a:p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quad resserré de 1,5 %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43484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Arial"/>
              </a:rPr>
              <a:t>CONÇU ET DÉVELOPPÉ PENDANT LE STAGE, AUTOUR DES PRIMITIVES OPENCV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4864607"/>
            <a:ext cx="0" cy="987552"/>
          </a:xfrm>
          <a:prstGeom prst="line">
            <a:avLst/>
          </a:prstGeom>
          <a:ln w="25400">
            <a:solidFill>
              <a:srgbClr val="2E75B6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685800" y="4846320"/>
            <a:ext cx="238498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Arial"/>
              </a:rPr>
              <a:t>Sortie anticipée</a:t>
            </a:r>
          </a:p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les passes suivantes ne tournent que si aucun candidat n'atteint 0,65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390823" y="4864607"/>
            <a:ext cx="0" cy="987552"/>
          </a:xfrm>
          <a:prstGeom prst="line">
            <a:avLst/>
          </a:prstGeom>
          <a:ln w="25400">
            <a:solidFill>
              <a:srgbClr val="2E75B6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3527983" y="4846320"/>
            <a:ext cx="238498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Arial"/>
              </a:rPr>
              <a:t>Suivi</a:t>
            </a:r>
          </a:p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carte trouvée : recherche limitée à ±20 % autour du quad précédent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233007" y="4864607"/>
            <a:ext cx="0" cy="987552"/>
          </a:xfrm>
          <a:prstGeom prst="line">
            <a:avLst/>
          </a:prstGeom>
          <a:ln w="25400">
            <a:solidFill>
              <a:srgbClr val="2E75B6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6370167" y="4846320"/>
            <a:ext cx="238498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Arial"/>
              </a:rPr>
              <a:t>Garde-fous</a:t>
            </a:r>
          </a:p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rejet des quads collés au bord ou couvrant plus de 75 % de l'image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075191" y="4864607"/>
            <a:ext cx="0" cy="987552"/>
          </a:xfrm>
          <a:prstGeom prst="line">
            <a:avLst/>
          </a:prstGeom>
          <a:ln w="25400">
            <a:solidFill>
              <a:srgbClr val="2E75B6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9212351" y="4846320"/>
            <a:ext cx="238498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Arial"/>
              </a:rPr>
              <a:t>Isolate Dart</a:t>
            </a:r>
          </a:p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pipeline hors du thread d'interface ; frame ignorée si l'isolate est occupé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6053328"/>
            <a:ext cx="274320" cy="182880"/>
          </a:xfrm>
          <a:prstGeom prst="rect">
            <a:avLst/>
          </a:prstGeom>
          <a:solidFill>
            <a:srgbClr val="EEF2F6"/>
          </a:solidFill>
          <a:ln w="12700">
            <a:solidFill>
              <a:srgbClr val="CBD3DB"/>
            </a:solidFill>
          </a:ln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14400" y="6035040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B7A"/>
                </a:solidFill>
                <a:latin typeface="Arial"/>
              </a:rPr>
              <a:t>primitive OpenCV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0" y="6053328"/>
            <a:ext cx="27432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2926080" y="60350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B7A"/>
                </a:solidFill>
                <a:latin typeface="Arial"/>
              </a:rPr>
              <a:t>conçu dans le stage (la passe 3 combine les deux)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/>
      <p:bldP spid="35" grpId="0"/>
      <p:bldP spid="37" grpId="0"/>
      <p:bldP spid="39" grpId="0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73775" y="42976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Arial"/>
              </a:rPr>
              <a:t>CONTEXTE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1" i="0">
                <a:solidFill>
                  <a:srgbClr val="2E75B6"/>
                </a:solidFill>
                <a:latin typeface="Arial"/>
              </a:rPr>
              <a:t>CONCEPTION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0" i="0">
                <a:solidFill>
                  <a:srgbClr val="5B6B7A"/>
                </a:solidFill>
                <a:latin typeface="Arial"/>
              </a:rPr>
              <a:t>RÉSULTATS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0" i="0">
                <a:solidFill>
                  <a:srgbClr val="5B6B7A"/>
                </a:solidFill>
                <a:latin typeface="Arial"/>
              </a:rPr>
              <a:t>BILAN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9525">
            <a:solidFill>
              <a:srgbClr val="CBD3DB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548640" y="6455664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A"/>
                </a:solidFill>
                <a:latin typeface="Arial"/>
              </a:rPr>
              <a:t>Avatar-ID · autocapture de la CIN · Mohammed Amine Chaieb · ENSI 2025/2026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5566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Arial"/>
              </a:rPr>
              <a:t>8 / 17</a:t>
            </a:r>
          </a:p>
        </p:txBody>
      </p:sp>
      <p:sp>
        <p:nvSpPr>
          <p:cNvPr id="6" name="Titre"/>
          <p:cNvSpPr txBox="1"/>
          <p:nvPr/>
        </p:nvSpPr>
        <p:spPr>
          <a:xfrm>
            <a:off x="548640" y="77724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Arial"/>
              </a:rPr>
              <a:t>Sur fond clair, la détection échouait ; médiane, CLAHE et réglage des seuils l'ont corrigée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Arial"/>
              </a:rPr>
              <a:t>SYMPTÔME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874519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Arial"/>
              </a:rPr>
              <a:t>DEUX CAUSES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874519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Arial"/>
              </a:rPr>
              <a:t>TROIS CORRECTIFS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14800" y="1874519"/>
            <a:ext cx="0" cy="3246121"/>
          </a:xfrm>
          <a:prstGeom prst="line">
            <a:avLst/>
          </a:prstGeom>
          <a:ln w="9525">
            <a:solidFill>
              <a:srgbClr val="CBD3DB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7909560" y="1874519"/>
            <a:ext cx="0" cy="3246121"/>
          </a:xfrm>
          <a:prstGeom prst="line">
            <a:avLst/>
          </a:prstGeom>
          <a:ln w="9525">
            <a:solidFill>
              <a:srgbClr val="CBD3DB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548640" y="2286000"/>
            <a:ext cx="33832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B2530"/>
                </a:solidFill>
                <a:latin typeface="Arial"/>
              </a:rPr>
              <a:t>Carte claire sur table blanche : détection souvent en échec, alors qu'elle marchait sur fond sombre.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31920"/>
            <a:ext cx="1600200" cy="960120"/>
          </a:xfrm>
          <a:prstGeom prst="rect">
            <a:avLst/>
          </a:prstGeom>
          <a:solidFill>
            <a:srgbClr val="2B313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41247" y="4078224"/>
            <a:ext cx="1014984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8640" y="493776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B6B7A"/>
                </a:solidFill>
                <a:latin typeface="Arial"/>
              </a:rPr>
              <a:t>fond sombre : bord net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3931920"/>
            <a:ext cx="1600200" cy="960120"/>
          </a:xfrm>
          <a:prstGeom prst="rect">
            <a:avLst/>
          </a:prstGeom>
          <a:solidFill>
            <a:srgbClr val="F1F3F5"/>
          </a:solidFill>
          <a:ln w="9525">
            <a:solidFill>
              <a:srgbClr val="CBD3DB"/>
            </a:solidFill>
          </a:ln>
        </p:spPr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2578608" y="4078224"/>
            <a:ext cx="1014984" cy="64008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12700">
            <a:solidFill>
              <a:srgbClr val="E4E8EC"/>
            </a:solidFill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286000" y="493776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B6B7A"/>
                </a:solidFill>
                <a:latin typeface="Arial"/>
              </a:rPr>
              <a:t>fond clair : bord faible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286000"/>
            <a:ext cx="34290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1F3A5F"/>
                </a:solidFill>
                <a:latin typeface="Arial"/>
              </a:rPr>
              <a:t>Bug : </a:t>
            </a:r>
            <a:r>
              <a:rPr sz="1800" b="0" i="0">
                <a:solidFill>
                  <a:srgbClr val="1B2530"/>
                </a:solidFill>
                <a:latin typeface="Arial"/>
              </a:rPr>
              <a:t>seuils de Canny calculés sur la </a:t>
            </a:r>
            <a:r>
              <a:rPr sz="1800" b="1" i="0">
                <a:solidFill>
                  <a:srgbClr val="1B2530"/>
                </a:solidFill>
                <a:latin typeface="Arial"/>
              </a:rPr>
              <a:t>moyenne</a:t>
            </a:r>
            <a:r>
              <a:rPr sz="1800" b="0" i="0">
                <a:solidFill>
                  <a:srgbClr val="1B2530"/>
                </a:solidFill>
                <a:latin typeface="Arial"/>
              </a:rPr>
              <a:t> et non sur la médiane : trop hauts dès que la scène est claire.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1F3A5F"/>
                </a:solidFill>
                <a:latin typeface="Arial"/>
              </a:rPr>
              <a:t>Contraste local</a:t>
            </a:r>
            <a:r>
              <a:rPr sz="1800" b="0" i="0">
                <a:solidFill>
                  <a:srgbClr val="1B2530"/>
                </a:solidFill>
                <a:latin typeface="Arial"/>
              </a:rPr>
              <a:t> trop faible entre la carte et le fond.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286000"/>
            <a:ext cx="34290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2E75B6"/>
                </a:solidFill>
                <a:latin typeface="Arial"/>
              </a:rPr>
              <a:t>1  </a:t>
            </a:r>
            <a:r>
              <a:rPr sz="1800" b="0" i="0">
                <a:solidFill>
                  <a:srgbClr val="1B2530"/>
                </a:solidFill>
                <a:latin typeface="Arial"/>
              </a:rPr>
              <a:t>seuils dérivés de la vraie médiane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2E75B6"/>
                </a:solidFill>
                <a:latin typeface="Arial"/>
              </a:rPr>
              <a:t>2  </a:t>
            </a:r>
            <a:r>
              <a:rPr sz="1800" b="0" i="0">
                <a:solidFill>
                  <a:srgbClr val="1B2530"/>
                </a:solidFill>
                <a:latin typeface="Arial"/>
              </a:rPr>
              <a:t>passe CLAHE avant la détection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2E75B6"/>
                </a:solidFill>
                <a:latin typeface="Arial"/>
              </a:rPr>
              <a:t>3  </a:t>
            </a:r>
            <a:r>
              <a:rPr sz="1800" b="0" i="0">
                <a:solidFill>
                  <a:srgbClr val="1B2530"/>
                </a:solidFill>
                <a:latin typeface="Arial"/>
              </a:rPr>
              <a:t>réglage des seuils de score et d'aire du quadrilatère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349240"/>
            <a:ext cx="11094415" cy="68580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5349240"/>
            <a:ext cx="1063721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Arial"/>
              </a:rPr>
              <a:t>Résultat observé : </a:t>
            </a:r>
            <a:r>
              <a:rPr sz="1800" b="0" i="0">
                <a:solidFill>
                  <a:srgbClr val="1B2530"/>
                </a:solidFill>
                <a:latin typeface="Arial"/>
              </a:rPr>
              <a:t>taux de détection comparable sur fond clair et sur fond sombre.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73775" y="42976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Arial"/>
              </a:rPr>
              <a:t>CONTEXTE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1" i="0">
                <a:solidFill>
                  <a:srgbClr val="2E75B6"/>
                </a:solidFill>
                <a:latin typeface="Arial"/>
              </a:rPr>
              <a:t>CONCEPTION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0" i="0">
                <a:solidFill>
                  <a:srgbClr val="5B6B7A"/>
                </a:solidFill>
                <a:latin typeface="Arial"/>
              </a:rPr>
              <a:t>RÉSULTATS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0" i="0">
                <a:solidFill>
                  <a:srgbClr val="5B6B7A"/>
                </a:solidFill>
                <a:latin typeface="Arial"/>
              </a:rPr>
              <a:t>BILAN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9525">
            <a:solidFill>
              <a:srgbClr val="CBD3DB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548640" y="6455664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A"/>
                </a:solidFill>
                <a:latin typeface="Arial"/>
              </a:rPr>
              <a:t>Avatar-ID · autocapture de la CIN · Mohammed Amine Chaieb · ENSI 2025/2026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5566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Arial"/>
              </a:rPr>
              <a:t>9 / 17</a:t>
            </a:r>
          </a:p>
        </p:txBody>
      </p:sp>
      <p:sp>
        <p:nvSpPr>
          <p:cNvPr id="6" name="Titre"/>
          <p:cNvSpPr txBox="1"/>
          <p:nvPr/>
        </p:nvSpPr>
        <p:spPr>
          <a:xfrm>
            <a:off x="548640" y="777240"/>
            <a:ext cx="8412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Arial"/>
              </a:rPr>
              <a:t>La capture part seule après deux frames consécutives nettes, bien exposées et stables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1353312" cy="566928"/>
          </a:xfrm>
          <a:prstGeom prst="rect">
            <a:avLst/>
          </a:prstGeom>
          <a:solidFill>
            <a:srgbClr val="EEF2F6"/>
          </a:solidFill>
          <a:ln w="12700">
            <a:solidFill>
              <a:srgbClr val="CBD3DB"/>
            </a:solidFill>
          </a:ln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135331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ourier New"/>
              </a:rPr>
              <a:t>searching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9384" y="2523744"/>
            <a:ext cx="356616" cy="0"/>
          </a:xfrm>
          <a:prstGeom prst="line">
            <a:avLst/>
          </a:prstGeom>
          <a:ln w="19050">
            <a:solidFill>
              <a:srgbClr val="1F3A5F"/>
            </a:solidFill>
            <a:tailEnd type="triangle" w="med" h="med"/>
          </a:ln>
        </p:spPr>
      </p:cxnSp>
      <p:sp>
        <p:nvSpPr>
          <p:cNvPr id="10" name="Rectangle 9"/>
          <p:cNvSpPr/>
          <p:nvPr/>
        </p:nvSpPr>
        <p:spPr>
          <a:xfrm>
            <a:off x="2313432" y="2240280"/>
            <a:ext cx="1353312" cy="566928"/>
          </a:xfrm>
          <a:prstGeom prst="rect">
            <a:avLst/>
          </a:prstGeom>
          <a:solidFill>
            <a:srgbClr val="EEF2F6"/>
          </a:solidFill>
          <a:ln w="12700">
            <a:solidFill>
              <a:srgbClr val="CBD3DB"/>
            </a:solidFill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313432" y="2240280"/>
            <a:ext cx="135331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ourier New"/>
              </a:rPr>
              <a:t>poorQuality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94176" y="2523744"/>
            <a:ext cx="356615" cy="0"/>
          </a:xfrm>
          <a:prstGeom prst="line">
            <a:avLst/>
          </a:prstGeom>
          <a:ln w="19050">
            <a:solidFill>
              <a:srgbClr val="1F3A5F"/>
            </a:solidFill>
            <a:tailEnd type="triangle" w="med" h="med"/>
          </a:ln>
        </p:spPr>
      </p:cxnSp>
      <p:sp>
        <p:nvSpPr>
          <p:cNvPr id="13" name="Rectangle 12"/>
          <p:cNvSpPr/>
          <p:nvPr/>
        </p:nvSpPr>
        <p:spPr>
          <a:xfrm>
            <a:off x="4078224" y="2240280"/>
            <a:ext cx="1353312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078224" y="2240280"/>
            <a:ext cx="135331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ourier New"/>
              </a:rPr>
              <a:t>holding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58968" y="2523744"/>
            <a:ext cx="356615" cy="0"/>
          </a:xfrm>
          <a:prstGeom prst="line">
            <a:avLst/>
          </a:prstGeom>
          <a:ln w="19050">
            <a:solidFill>
              <a:srgbClr val="1F3A5F"/>
            </a:solidFill>
            <a:tailEnd type="triangle" w="med" h="med"/>
          </a:ln>
        </p:spPr>
      </p:cxnSp>
      <p:sp>
        <p:nvSpPr>
          <p:cNvPr id="16" name="Rectangle 15"/>
          <p:cNvSpPr/>
          <p:nvPr/>
        </p:nvSpPr>
        <p:spPr>
          <a:xfrm>
            <a:off x="5843016" y="2240280"/>
            <a:ext cx="1353312" cy="566928"/>
          </a:xfrm>
          <a:prstGeom prst="rect">
            <a:avLst/>
          </a:prstGeom>
          <a:solidFill>
            <a:srgbClr val="EEF2F6"/>
          </a:solidFill>
          <a:ln w="12700">
            <a:solidFill>
              <a:srgbClr val="CBD3DB"/>
            </a:solidFill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843016" y="2240280"/>
            <a:ext cx="135331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ourier New"/>
              </a:rPr>
              <a:t>triggerCapture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223759" y="2523744"/>
            <a:ext cx="356617" cy="0"/>
          </a:xfrm>
          <a:prstGeom prst="line">
            <a:avLst/>
          </a:prstGeom>
          <a:ln w="19050">
            <a:solidFill>
              <a:srgbClr val="1F3A5F"/>
            </a:solidFill>
            <a:tailEnd type="triangle" w="med" h="med"/>
          </a:ln>
        </p:spPr>
      </p:cxnSp>
      <p:sp>
        <p:nvSpPr>
          <p:cNvPr id="19" name="Rectangle 18"/>
          <p:cNvSpPr/>
          <p:nvPr/>
        </p:nvSpPr>
        <p:spPr>
          <a:xfrm>
            <a:off x="7607808" y="2240280"/>
            <a:ext cx="1353312" cy="566928"/>
          </a:xfrm>
          <a:prstGeom prst="rect">
            <a:avLst/>
          </a:prstGeom>
          <a:solidFill>
            <a:srgbClr val="EEF2F6"/>
          </a:solidFill>
          <a:ln w="12700">
            <a:solidFill>
              <a:srgbClr val="CBD3DB"/>
            </a:solidFill>
          </a:ln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07808" y="2240280"/>
            <a:ext cx="135331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ourier New"/>
              </a:rPr>
              <a:t>captured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3332" y="194767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B6B7A"/>
                </a:solidFill>
                <a:latin typeface="Arial"/>
              </a:rPr>
              <a:t>carte trouvée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8123" y="194767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B6B7A"/>
                </a:solidFill>
                <a:latin typeface="Arial"/>
              </a:rPr>
              <a:t>contrôles 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2915" y="194767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B6B7A"/>
                </a:solidFill>
                <a:latin typeface="Arial"/>
              </a:rPr>
              <a:t>2 frames OK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754880" y="2807208"/>
            <a:ext cx="0" cy="256032"/>
          </a:xfrm>
          <a:prstGeom prst="line">
            <a:avLst/>
          </a:prstGeom>
          <a:ln w="12700">
            <a:solidFill>
              <a:srgbClr val="5B6B7A"/>
            </a:solidFill>
          </a:ln>
        </p:spPr>
      </p:cxnSp>
      <p:cxnSp>
        <p:nvCxnSpPr>
          <p:cNvPr id="25" name="Connector 24"/>
          <p:cNvCxnSpPr/>
          <p:nvPr/>
        </p:nvCxnSpPr>
        <p:spPr>
          <a:xfrm flipH="1">
            <a:off x="2990087" y="3063240"/>
            <a:ext cx="1764793" cy="0"/>
          </a:xfrm>
          <a:prstGeom prst="line">
            <a:avLst/>
          </a:prstGeom>
          <a:ln w="12700">
            <a:solidFill>
              <a:srgbClr val="5B6B7A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990087" y="2825496"/>
            <a:ext cx="0" cy="237744"/>
          </a:xfrm>
          <a:prstGeom prst="line">
            <a:avLst/>
          </a:prstGeom>
          <a:ln w="12700">
            <a:solidFill>
              <a:srgbClr val="5B6B7A"/>
            </a:solidFill>
            <a:tailEnd type="triangle" w="med" h="med"/>
          </a:ln>
        </p:spPr>
      </p:cxnSp>
      <p:sp>
        <p:nvSpPr>
          <p:cNvPr id="27" name="TextBox 26"/>
          <p:cNvSpPr txBox="1"/>
          <p:nvPr/>
        </p:nvSpPr>
        <p:spPr>
          <a:xfrm>
            <a:off x="3081527" y="3090672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B6B7A"/>
                </a:solidFill>
                <a:latin typeface="Arial"/>
              </a:rPr>
              <a:t>un contrôle échoue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284464" y="2807208"/>
            <a:ext cx="0" cy="658368"/>
          </a:xfrm>
          <a:prstGeom prst="line">
            <a:avLst/>
          </a:prstGeom>
          <a:ln w="12700">
            <a:solidFill>
              <a:srgbClr val="5B6B7A"/>
            </a:solidFill>
          </a:ln>
        </p:spPr>
      </p:cxnSp>
      <p:cxnSp>
        <p:nvCxnSpPr>
          <p:cNvPr id="29" name="Connector 28"/>
          <p:cNvCxnSpPr/>
          <p:nvPr/>
        </p:nvCxnSpPr>
        <p:spPr>
          <a:xfrm flipH="1">
            <a:off x="1225295" y="3465576"/>
            <a:ext cx="7059169" cy="0"/>
          </a:xfrm>
          <a:prstGeom prst="line">
            <a:avLst/>
          </a:prstGeom>
          <a:ln w="12700">
            <a:solidFill>
              <a:srgbClr val="5B6B7A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225295" y="2825496"/>
            <a:ext cx="0" cy="640080"/>
          </a:xfrm>
          <a:prstGeom prst="line">
            <a:avLst/>
          </a:prstGeom>
          <a:ln w="12700">
            <a:solidFill>
              <a:srgbClr val="5B6B7A"/>
            </a:solidFill>
            <a:tailEnd type="triangle" w="med" h="med"/>
          </a:ln>
        </p:spPr>
      </p:cxnSp>
      <p:sp>
        <p:nvSpPr>
          <p:cNvPr id="31" name="TextBox 30"/>
          <p:cNvSpPr txBox="1"/>
          <p:nvPr/>
        </p:nvSpPr>
        <p:spPr>
          <a:xfrm>
            <a:off x="1316736" y="3493008"/>
            <a:ext cx="6876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B6B7A"/>
                </a:solidFill>
                <a:latin typeface="Arial"/>
              </a:rPr>
              <a:t>face suivante, ou échec de la capture → reset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93192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Arial"/>
              </a:rPr>
              <a:t>Netteté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40280" y="3950207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variance du Laplacien, après CLAHE, ≥ 120 (à 856 × 540 px)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38912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Arial"/>
              </a:rPr>
              <a:t>Luminosité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407407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moyenne dans [60 ; 225] et ≤ 12 % de pixels ≥ 250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84632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Arial"/>
              </a:rPr>
              <a:t>Stabilité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40280" y="4864607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dérive des coins ≤ 2,5 % de la diagonale, sur 3 frames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30352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Arial"/>
              </a:rPr>
              <a:t>Contenu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321807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la face attendue est reconnue (diapositive suivante)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76072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Arial"/>
              </a:rPr>
              <a:t>Maintien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40280" y="5779007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2 frames consécutives : un compteur, pas une minuterie</a:t>
            </a:r>
          </a:p>
        </p:txBody>
      </p:sp>
      <p:pic>
        <p:nvPicPr>
          <p:cNvPr id="42" name="Picture 41" descr="Écran recto réel : cadre-guide et message « Ne bougez plus… » ; données masqué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1737360"/>
            <a:ext cx="2324040" cy="4160520"/>
          </a:xfrm>
          <a:prstGeom prst="rect">
            <a:avLst/>
          </a:prstGeom>
          <a:ln w="9525">
            <a:solidFill>
              <a:srgbClr val="CBD3DB"/>
            </a:solidFill>
          </a:ln>
        </p:spPr>
      </p:pic>
      <p:sp>
        <p:nvSpPr>
          <p:cNvPr id="43" name="TextBox 42"/>
          <p:cNvSpPr txBox="1"/>
          <p:nvPr/>
        </p:nvSpPr>
        <p:spPr>
          <a:xfrm>
            <a:off x="9372600" y="594360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B7A"/>
                </a:solidFill>
                <a:latin typeface="Arial"/>
              </a:rPr>
              <a:t>Écran réel : message de qualité « Ne bougez plus… »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73775" y="42976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Arial"/>
              </a:rPr>
              <a:t>CONTEXTE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1" i="0">
                <a:solidFill>
                  <a:srgbClr val="2E75B6"/>
                </a:solidFill>
                <a:latin typeface="Arial"/>
              </a:rPr>
              <a:t>CONCEPTION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0" i="0">
                <a:solidFill>
                  <a:srgbClr val="5B6B7A"/>
                </a:solidFill>
                <a:latin typeface="Arial"/>
              </a:rPr>
              <a:t>RÉSULTATS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0" i="0">
                <a:solidFill>
                  <a:srgbClr val="5B6B7A"/>
                </a:solidFill>
                <a:latin typeface="Arial"/>
              </a:rPr>
              <a:t>BILAN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9525">
            <a:solidFill>
              <a:srgbClr val="CBD3DB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548640" y="6455664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A"/>
                </a:solidFill>
                <a:latin typeface="Arial"/>
              </a:rPr>
              <a:t>Avatar-ID · autocapture de la CIN · Mohammed Amine Chaieb · ENSI 2025/2026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5566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Arial"/>
              </a:rPr>
              <a:t>10 / 17</a:t>
            </a:r>
          </a:p>
        </p:txBody>
      </p:sp>
      <p:sp>
        <p:nvSpPr>
          <p:cNvPr id="6" name="Titre"/>
          <p:cNvSpPr txBox="1"/>
          <p:nvPr/>
        </p:nvSpPr>
        <p:spPr>
          <a:xfrm>
            <a:off x="548640" y="77724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Arial"/>
              </a:rPr>
              <a:t>Un visage et deux gabarits identifient le recto ; trois indices votent pour le verso</a:t>
            </a:r>
          </a:p>
        </p:txBody>
      </p:sp>
      <p:pic>
        <p:nvPicPr>
          <p:cNvPr id="7" name="Picture 6" descr="Écran Recto : silhouettes de guidage de l'application ; données masqué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2094190" cy="3749039"/>
          </a:xfrm>
          <a:prstGeom prst="rect">
            <a:avLst/>
          </a:prstGeom>
          <a:ln w="9525">
            <a:solidFill>
              <a:srgbClr val="CBD3D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2917150" y="1828800"/>
            <a:ext cx="302644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Arial"/>
              </a:rPr>
              <a:t>RECTO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17150" y="2240280"/>
            <a:ext cx="293500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F3A5F"/>
                </a:solidFill>
                <a:latin typeface="Arial"/>
              </a:rPr>
              <a:t>Visage : </a:t>
            </a:r>
            <a:r>
              <a:rPr sz="1600" b="0" i="0">
                <a:solidFill>
                  <a:srgbClr val="1B2530"/>
                </a:solidFill>
                <a:latin typeface="Arial"/>
              </a:rPr>
              <a:t>cascade de Haar standard d'OpenCV, pré-entraînée, testée sur 4 rotations (échelle 1,05, 8 voisins) : elle donne aussi l'orientation.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F3A5F"/>
                </a:solidFill>
                <a:latin typeface="Arial"/>
              </a:rPr>
              <a:t>Logo + drapeau : </a:t>
            </a:r>
            <a:r>
              <a:rPr sz="1600" b="0" i="0">
                <a:solidFill>
                  <a:srgbClr val="1B2530"/>
                </a:solidFill>
                <a:latin typeface="Arial"/>
              </a:rPr>
              <a:t>template matching, corrélation ≥ 0,6, CLAHE sur gabarit et région.</a:t>
            </a:r>
          </a:p>
        </p:txBody>
      </p:sp>
      <p:pic>
        <p:nvPicPr>
          <p:cNvPr id="10" name="Picture 9" descr="Écran Verso : silhouettes de guidage de l'application ; données masqué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28800"/>
            <a:ext cx="2094190" cy="3749039"/>
          </a:xfrm>
          <a:prstGeom prst="rect">
            <a:avLst/>
          </a:prstGeom>
          <a:ln w="9525">
            <a:solidFill>
              <a:srgbClr val="CBD3DB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8586430" y="1828800"/>
            <a:ext cx="302644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Arial"/>
              </a:rPr>
              <a:t>VERSO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86430" y="2240280"/>
            <a:ext cx="293500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F3A5F"/>
                </a:solidFill>
                <a:latin typeface="Arial"/>
              </a:rPr>
              <a:t>Code-barres : </a:t>
            </a:r>
            <a:r>
              <a:rPr sz="1600" b="0" i="0">
                <a:solidFill>
                  <a:srgbClr val="1B2530"/>
                </a:solidFill>
                <a:latin typeface="Arial"/>
              </a:rPr>
              <a:t>localisé, non décodé.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F3A5F"/>
                </a:solidFill>
                <a:latin typeface="Arial"/>
              </a:rPr>
              <a:t>Empreinte : </a:t>
            </a:r>
            <a:r>
              <a:rPr sz="1600" b="0" i="0">
                <a:solidFill>
                  <a:srgbClr val="1B2530"/>
                </a:solidFill>
                <a:latin typeface="Arial"/>
              </a:rPr>
              <a:t>variance du Laplacien dans [150 ; 4 000].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F3A5F"/>
                </a:solidFill>
                <a:latin typeface="Arial"/>
              </a:rPr>
              <a:t>Ligne de séparation : </a:t>
            </a:r>
            <a:r>
              <a:rPr sz="1600" b="0" i="0">
                <a:solidFill>
                  <a:srgbClr val="1B2530"/>
                </a:solidFill>
                <a:latin typeface="Arial"/>
              </a:rPr>
              <a:t>Hough probabiliste, bas de la carte.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F3A5F"/>
                </a:solidFill>
                <a:latin typeface="Arial"/>
              </a:rPr>
              <a:t>Vote </a:t>
            </a:r>
            <a:r>
              <a:rPr sz="1600" b="0" i="0">
                <a:solidFill>
                  <a:srgbClr val="1B2530"/>
                </a:solidFill>
                <a:latin typeface="Arial"/>
              </a:rPr>
              <a:t>sur 4 rotations : la mieux soutenue gagne.</a:t>
            </a:r>
          </a:p>
        </p:txBody>
      </p:sp>
      <p:pic>
        <p:nvPicPr>
          <p:cNvPr id="13" name="Picture 12" descr="Gabarit de référence :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7150" y="4800600"/>
            <a:ext cx="483177" cy="685800"/>
          </a:xfrm>
          <a:prstGeom prst="rect">
            <a:avLst/>
          </a:prstGeom>
          <a:ln w="9525">
            <a:solidFill>
              <a:srgbClr val="CBD3DB"/>
            </a:solidFill>
          </a:ln>
        </p:spPr>
      </p:pic>
      <p:pic>
        <p:nvPicPr>
          <p:cNvPr id="14" name="Picture 13" descr="Gabarit de référence : drapeau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950" y="4800600"/>
            <a:ext cx="779526" cy="502920"/>
          </a:xfrm>
          <a:prstGeom prst="rect">
            <a:avLst/>
          </a:prstGeom>
          <a:ln w="9525">
            <a:solidFill>
              <a:srgbClr val="CBD3DB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4517350" y="480060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B6B7A"/>
                </a:solidFill>
                <a:latin typeface="Arial"/>
              </a:rPr>
              <a:t>gabarits de référence embarqués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571500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Arial"/>
              </a:rPr>
              <a:t>Anti-doublon : </a:t>
            </a:r>
            <a:r>
              <a:rPr sz="1600" b="0" i="0">
                <a:solidFill>
                  <a:srgbClr val="1B2530"/>
                </a:solidFill>
                <a:latin typeface="Arial"/>
              </a:rPr>
              <a:t>après le recto, seule une face qui réunit les trois indices du verso peut déclencher la capture.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1996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" b="0" i="0">
                <a:solidFill>
                  <a:srgbClr val="1B2530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5" grpId="0"/>
      <p:bldP spid="11" grpId="0"/>
      <p:bldP spid="12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73775" y="42976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Arial"/>
              </a:rPr>
              <a:t>CONTEXTE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0" i="0">
                <a:solidFill>
                  <a:srgbClr val="5B6B7A"/>
                </a:solidFill>
                <a:latin typeface="Arial"/>
              </a:rPr>
              <a:t>CONCEPTION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1" i="0">
                <a:solidFill>
                  <a:srgbClr val="2E75B6"/>
                </a:solidFill>
                <a:latin typeface="Arial"/>
              </a:rPr>
              <a:t>RÉSULTATS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0" i="0">
                <a:solidFill>
                  <a:srgbClr val="5B6B7A"/>
                </a:solidFill>
                <a:latin typeface="Arial"/>
              </a:rPr>
              <a:t>BILAN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9525">
            <a:solidFill>
              <a:srgbClr val="CBD3DB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548640" y="6455664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A"/>
                </a:solidFill>
                <a:latin typeface="Arial"/>
              </a:rPr>
              <a:t>Avatar-ID · autocapture de la CIN · Mohammed Amine Chaieb · ENSI 2025/2026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5566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Arial"/>
              </a:rPr>
              <a:t>11 / 17</a:t>
            </a:r>
          </a:p>
        </p:txBody>
      </p:sp>
      <p:sp>
        <p:nvSpPr>
          <p:cNvPr id="6" name="Titre"/>
          <p:cNvSpPr txBox="1"/>
          <p:nvPr/>
        </p:nvSpPr>
        <p:spPr>
          <a:xfrm>
            <a:off x="548640" y="77724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Arial"/>
              </a:rPr>
              <a:t>Après les deux captures, l'utilisateur vérifie, ajuste et exporte chaque 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E75B6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Arial"/>
              </a:rPr>
              <a:t>Recto, puis verso</a:t>
            </a:r>
          </a:p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capturés seuls, traités sur l'appareil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79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E75B6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79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Arial"/>
              </a:rPr>
              <a:t>Vérification</a:t>
            </a:r>
          </a:p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contraste, netteté, mode scan (N&amp;B)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39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E75B6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20439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Arial"/>
              </a:rPr>
              <a:t>Ajustement</a:t>
            </a:r>
          </a:p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recadrage par les coins, rotation de 90°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4340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E75B6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343400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Arial"/>
              </a:rPr>
              <a:t>Export</a:t>
            </a:r>
          </a:p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galerie : recto, verso et page A4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6636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E75B6"/>
                </a:solidFill>
                <a:latin typeface="Arial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66360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Arial"/>
              </a:rPr>
              <a:t>Historique</a:t>
            </a:r>
          </a:p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consultation, partage, suppression</a:t>
            </a:r>
          </a:p>
        </p:txBody>
      </p:sp>
      <p:pic>
        <p:nvPicPr>
          <p:cNvPr id="17" name="Picture 16" descr="Vérification, amélioration ; données masqué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83080"/>
            <a:ext cx="1840159" cy="4114800"/>
          </a:xfrm>
          <a:prstGeom prst="rect">
            <a:avLst/>
          </a:prstGeom>
          <a:ln w="9525">
            <a:solidFill>
              <a:srgbClr val="CBD3DB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4892040" y="5971032"/>
            <a:ext cx="2114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B7A"/>
                </a:solidFill>
                <a:latin typeface="Arial"/>
              </a:rPr>
              <a:t>Vérification, amélioration</a:t>
            </a:r>
          </a:p>
        </p:txBody>
      </p:sp>
      <p:pic>
        <p:nvPicPr>
          <p:cNvPr id="19" name="Picture 18" descr="Recadrage du verso ; données masqué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6247" y="1783080"/>
            <a:ext cx="1840159" cy="4114800"/>
          </a:xfrm>
          <a:prstGeom prst="rect">
            <a:avLst/>
          </a:prstGeom>
          <a:ln w="9525">
            <a:solidFill>
              <a:srgbClr val="CBD3DB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7116247" y="5971032"/>
            <a:ext cx="2114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B7A"/>
                </a:solidFill>
                <a:latin typeface="Arial"/>
              </a:rPr>
              <a:t>Recadrage du verso</a:t>
            </a:r>
          </a:p>
        </p:txBody>
      </p:sp>
      <p:pic>
        <p:nvPicPr>
          <p:cNvPr id="21" name="Picture 20" descr="Page A4 à 300 dpi ; données masqué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0454" y="1783080"/>
            <a:ext cx="1838801" cy="4114800"/>
          </a:xfrm>
          <a:prstGeom prst="rect">
            <a:avLst/>
          </a:prstGeom>
          <a:ln w="9525">
            <a:solidFill>
              <a:srgbClr val="CBD3DB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9340454" y="5971032"/>
            <a:ext cx="211312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B7A"/>
                </a:solidFill>
                <a:latin typeface="Arial"/>
              </a:rPr>
              <a:t>Page A4 à 300 dpi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2" grpId="0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73775" y="42976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Arial"/>
              </a:rPr>
              <a:t>CONTEXTE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0" i="0">
                <a:solidFill>
                  <a:srgbClr val="5B6B7A"/>
                </a:solidFill>
                <a:latin typeface="Arial"/>
              </a:rPr>
              <a:t>CONCEPTION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1" i="0">
                <a:solidFill>
                  <a:srgbClr val="2E75B6"/>
                </a:solidFill>
                <a:latin typeface="Arial"/>
              </a:rPr>
              <a:t>RÉSULTATS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0" i="0">
                <a:solidFill>
                  <a:srgbClr val="5B6B7A"/>
                </a:solidFill>
                <a:latin typeface="Arial"/>
              </a:rPr>
              <a:t>BILAN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9525">
            <a:solidFill>
              <a:srgbClr val="CBD3DB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548640" y="6455664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A"/>
                </a:solidFill>
                <a:latin typeface="Arial"/>
              </a:rPr>
              <a:t>Avatar-ID · autocapture de la CIN · Mohammed Amine Chaieb · ENSI 2025/2026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5566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Arial"/>
              </a:rPr>
              <a:t>12 / 17</a:t>
            </a:r>
          </a:p>
        </p:txBody>
      </p:sp>
      <p:sp>
        <p:nvSpPr>
          <p:cNvPr id="6" name="Titre"/>
          <p:cNvSpPr txBox="1"/>
          <p:nvPr/>
        </p:nvSpPr>
        <p:spPr>
          <a:xfrm>
            <a:off x="548640" y="77724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Arial"/>
              </a:rPr>
              <a:t>Démonstration : de la carte posée devant la caméra à la page A4</a:t>
            </a:r>
          </a:p>
        </p:txBody>
      </p:sp>
      <p:pic>
        <p:nvPicPr>
          <p:cNvPr id="7" name="demo.mp4" descr="Vidéo de démonstration ; données personnelles masquées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22959" y="1783080"/>
            <a:ext cx="2340292" cy="4160520"/>
          </a:xfrm>
          <a:prstGeom prst="rect">
            <a:avLst/>
          </a:prstGeom>
          <a:ln w="19050">
            <a:solidFill>
              <a:srgbClr val="1F3A5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480560" y="196596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E75B6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1984248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Arial"/>
              </a:rPr>
              <a:t>Cadre rouge, puis vert</a:t>
            </a:r>
          </a:p>
          <a:p>
            <a:pPr algn="l"/>
            <a:r>
              <a:rPr sz="1800" b="0" i="0">
                <a:solidFill>
                  <a:srgbClr val="1B2530"/>
                </a:solidFill>
                <a:latin typeface="Arial"/>
              </a:rPr>
              <a:t>la carte est détectée, la qualité est guidée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953512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E75B6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29718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Arial"/>
              </a:rPr>
              <a:t>Recto puis verso, capturés seuls</a:t>
            </a:r>
          </a:p>
          <a:p>
            <a:pPr algn="l"/>
            <a:r>
              <a:rPr sz="1800" b="0" i="0">
                <a:solidFill>
                  <a:srgbClr val="1B2530"/>
                </a:solidFill>
                <a:latin typeface="Arial"/>
              </a:rPr>
              <a:t>sans aucun bouton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941064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E75B6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3959352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Arial"/>
              </a:rPr>
              <a:t>Vérification et ajustement</a:t>
            </a:r>
          </a:p>
          <a:p>
            <a:pPr algn="l"/>
            <a:r>
              <a:rPr sz="1800" b="0" i="0">
                <a:solidFill>
                  <a:srgbClr val="1B2530"/>
                </a:solidFill>
                <a:latin typeface="Arial"/>
              </a:rPr>
              <a:t>contraste, netteté, recadrage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928616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E75B6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4946904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Arial"/>
              </a:rPr>
              <a:t>Export</a:t>
            </a:r>
          </a:p>
          <a:p>
            <a:pPr algn="l"/>
            <a:r>
              <a:rPr sz="1800" b="0" i="0">
                <a:solidFill>
                  <a:srgbClr val="1B2530"/>
                </a:solidFill>
                <a:latin typeface="Arial"/>
              </a:rPr>
              <a:t>recto, verso et page A4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73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73775" y="42976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Arial"/>
              </a:rPr>
              <a:t>CONTEXTE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0" i="0">
                <a:solidFill>
                  <a:srgbClr val="5B6B7A"/>
                </a:solidFill>
                <a:latin typeface="Arial"/>
              </a:rPr>
              <a:t>CONCEPTION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1" i="0">
                <a:solidFill>
                  <a:srgbClr val="2E75B6"/>
                </a:solidFill>
                <a:latin typeface="Arial"/>
              </a:rPr>
              <a:t>RÉSULTATS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0" i="0">
                <a:solidFill>
                  <a:srgbClr val="5B6B7A"/>
                </a:solidFill>
                <a:latin typeface="Arial"/>
              </a:rPr>
              <a:t>BILAN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9525">
            <a:solidFill>
              <a:srgbClr val="CBD3DB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548640" y="6455664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A"/>
                </a:solidFill>
                <a:latin typeface="Arial"/>
              </a:rPr>
              <a:t>Avatar-ID · autocapture de la CIN · Mohammed Amine Chaieb · ENSI 2025/2026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5566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Arial"/>
              </a:rPr>
              <a:t>13 / 17</a:t>
            </a:r>
          </a:p>
        </p:txBody>
      </p:sp>
      <p:sp>
        <p:nvSpPr>
          <p:cNvPr id="6" name="Titre"/>
          <p:cNvSpPr txBox="1"/>
          <p:nvPr/>
        </p:nvSpPr>
        <p:spPr>
          <a:xfrm>
            <a:off x="548640" y="77724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Arial"/>
              </a:rPr>
              <a:t>177 cas de test automatisés passent sans échec, organisés en quatre paliers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1F3A5F"/>
                </a:solidFill>
                <a:latin typeface="Arial"/>
              </a:rPr>
              <a:t>177 / 177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B2530"/>
                </a:solidFill>
                <a:latin typeface="Arial"/>
              </a:rPr>
              <a:t>cas de test réussis · 0 échec</a:t>
            </a:r>
          </a:p>
          <a:p>
            <a:pPr algn="l"/>
            <a:r>
              <a:rPr sz="1800" b="0" i="0">
                <a:solidFill>
                  <a:srgbClr val="1B2530"/>
                </a:solidFill>
                <a:latin typeface="Arial"/>
              </a:rPr>
              <a:t>flutter test, en 16 secondes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77639"/>
            <a:ext cx="4023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Arial"/>
              </a:rPr>
              <a:t>Domaine pur → tests rapides : </a:t>
            </a:r>
            <a:r>
              <a:rPr sz="1600" b="0" i="0">
                <a:solidFill>
                  <a:srgbClr val="1B2530"/>
                </a:solidFill>
                <a:latin typeface="Arial"/>
              </a:rPr>
              <a:t>la séparation en couches (diapositive 6) permet de tester la logique sans caméra ni émulateur.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1874519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Arial"/>
              </a:rPr>
              <a:t>QUATRE PALIERS, SELON CE DONT LE TEST A BESOIN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2377439"/>
            <a:ext cx="502920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394960" y="23774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33172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Arial"/>
              </a:rPr>
              <a:t>Logique pure Dart</a:t>
            </a:r>
          </a:p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machine à états, décision de capture, stabilité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94960" y="3291839"/>
            <a:ext cx="502920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394960" y="32918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24612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Arial"/>
              </a:rPr>
              <a:t>Plateforme simulée (mocktail)</a:t>
            </a:r>
          </a:p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caméra, permissions, stockage, chargement de la cascade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60" y="4206240"/>
            <a:ext cx="502920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94960" y="42062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16052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Arial"/>
              </a:rPr>
              <a:t>OpenCV réel, images synthétiques</a:t>
            </a:r>
          </a:p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géométrie du quad, rotation, luminosité, empreinte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5120640"/>
            <a:ext cx="5029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94960" y="51206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507492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Arial"/>
              </a:rPr>
              <a:t>Cartes réelles, sur téléphone</a:t>
            </a:r>
          </a:p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visage, code-barres, empreinte, ligne, parcours complet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73775" y="42976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Arial"/>
              </a:rPr>
              <a:t>CONTEXTE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0" i="0">
                <a:solidFill>
                  <a:srgbClr val="5B6B7A"/>
                </a:solidFill>
                <a:latin typeface="Arial"/>
              </a:rPr>
              <a:t>CONCEPTION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1" i="0">
                <a:solidFill>
                  <a:srgbClr val="2E75B6"/>
                </a:solidFill>
                <a:latin typeface="Arial"/>
              </a:rPr>
              <a:t>RÉSULTATS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0" i="0">
                <a:solidFill>
                  <a:srgbClr val="5B6B7A"/>
                </a:solidFill>
                <a:latin typeface="Arial"/>
              </a:rPr>
              <a:t>BILAN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9525">
            <a:solidFill>
              <a:srgbClr val="CBD3DB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548640" y="6455664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A"/>
                </a:solidFill>
                <a:latin typeface="Arial"/>
              </a:rPr>
              <a:t>Avatar-ID · autocapture de la CIN · Mohammed Amine Chaieb · ENSI 2025/2026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5566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Arial"/>
              </a:rPr>
              <a:t>14 / 17</a:t>
            </a:r>
          </a:p>
        </p:txBody>
      </p:sp>
      <p:sp>
        <p:nvSpPr>
          <p:cNvPr id="6" name="Titre"/>
          <p:cNvSpPr txBox="1"/>
          <p:nvPr/>
        </p:nvSpPr>
        <p:spPr>
          <a:xfrm>
            <a:off x="548640" y="77724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Arial"/>
              </a:rPr>
              <a:t>Les trois cibles du cahier des charges sont atteintes sur appareil réel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Arial"/>
              </a:rPr>
              <a:t>MESURÉ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874519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Arial"/>
              </a:rPr>
              <a:t>CIBLE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79" y="1874519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Arial"/>
              </a:rPr>
              <a:t>CE QUI EST MESURÉ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1874519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Arial"/>
              </a:rPr>
              <a:t/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258568"/>
            <a:ext cx="11094415" cy="0"/>
          </a:xfrm>
          <a:prstGeom prst="line">
            <a:avLst/>
          </a:prstGeom>
          <a:ln w="9525">
            <a:solidFill>
              <a:srgbClr val="CBD3DB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548640" y="233172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 i="0">
                <a:solidFill>
                  <a:srgbClr val="1F3A5F"/>
                </a:solidFill>
                <a:latin typeface="Arial"/>
              </a:rPr>
              <a:t>92–100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33172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1B2530"/>
                </a:solidFill>
                <a:latin typeface="Arial"/>
              </a:rPr>
              <a:t>&lt; 100 ms par 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79" y="2331720"/>
            <a:ext cx="43891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temps de traitement d'une frame dans l'isolate, horodaté avant/après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2331720"/>
            <a:ext cx="140177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Arial"/>
              </a:rPr>
              <a:t>Atteinte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3447287"/>
            <a:ext cx="11094415" cy="0"/>
          </a:xfrm>
          <a:prstGeom prst="line">
            <a:avLst/>
          </a:prstGeom>
          <a:ln w="9525">
            <a:solidFill>
              <a:srgbClr val="CBD3DB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548640" y="3520439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 i="0">
                <a:solidFill>
                  <a:srgbClr val="1F3A5F"/>
                </a:solidFill>
                <a:latin typeface="Arial"/>
              </a:rPr>
              <a:t>92 %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520439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1B2530"/>
                </a:solidFill>
                <a:latin typeface="Arial"/>
              </a:rPr>
              <a:t>≥ 90 %, conditions normales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79" y="3520439"/>
            <a:ext cx="43891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recto/verso bien reconnus, protocole manuel sur cartes réelles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3520439"/>
            <a:ext cx="140177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Arial"/>
              </a:rPr>
              <a:t>Atteinte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4636008"/>
            <a:ext cx="11094415" cy="0"/>
          </a:xfrm>
          <a:prstGeom prst="line">
            <a:avLst/>
          </a:prstGeom>
          <a:ln w="9525">
            <a:solidFill>
              <a:srgbClr val="CBD3DB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548640" y="470916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 i="0">
                <a:solidFill>
                  <a:srgbClr val="1F3A5F"/>
                </a:solidFill>
                <a:latin typeface="Arial"/>
              </a:rPr>
              <a:t>≈ 2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70916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1B2530"/>
                </a:solidFill>
                <a:latin typeface="Arial"/>
              </a:rPr>
              <a:t>≈ 2 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79" y="4709160"/>
            <a:ext cx="43891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1B2530"/>
                </a:solidFill>
                <a:latin typeface="Arial"/>
              </a:rPr>
              <a:t>délai chronométré entre le cadre stabilisé et le déclenchement de la capture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4709160"/>
            <a:ext cx="140177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Arial"/>
              </a:rPr>
              <a:t>Atteinte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5824728"/>
            <a:ext cx="11094415" cy="0"/>
          </a:xfrm>
          <a:prstGeom prst="line">
            <a:avLst/>
          </a:prstGeom>
          <a:ln w="9525">
            <a:solidFill>
              <a:srgbClr val="CBD3DB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548640" y="5623560"/>
            <a:ext cx="11094415" cy="50292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7240" y="562356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Arial"/>
              </a:rPr>
              <a:t>Android et iOS : </a:t>
            </a:r>
            <a:r>
              <a:rPr sz="1600" b="0" i="0">
                <a:solidFill>
                  <a:srgbClr val="1B2530"/>
                </a:solidFill>
                <a:latin typeface="Arial"/>
              </a:rPr>
              <a:t>le même pipeline OpenCV tourne sur les deux plateformes, avec le même comportement.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7" grpId="0"/>
      <p:bldP spid="18" grpId="0"/>
      <p:bldP spid="19" grpId="0"/>
      <p:bldP spid="20" grpId="0"/>
      <p:bldP spid="22" grpId="0"/>
      <p:bldP spid="23" grpId="0"/>
      <p:bldP spid="24" grpId="0"/>
      <p:bldP spid="25" grpId="0"/>
      <p:bldP spid="27" grpId="0"/>
      <p:bldP spid="28" grpId="0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73775" y="42976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Arial"/>
              </a:rPr>
              <a:t>CONTEXTE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0" i="0">
                <a:solidFill>
                  <a:srgbClr val="5B6B7A"/>
                </a:solidFill>
                <a:latin typeface="Arial"/>
              </a:rPr>
              <a:t>CONCEPTION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0" i="0">
                <a:solidFill>
                  <a:srgbClr val="5B6B7A"/>
                </a:solidFill>
                <a:latin typeface="Arial"/>
              </a:rPr>
              <a:t>RÉSULTATS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1" i="0">
                <a:solidFill>
                  <a:srgbClr val="2E75B6"/>
                </a:solidFill>
                <a:latin typeface="Arial"/>
              </a:rPr>
              <a:t>BILAN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9525">
            <a:solidFill>
              <a:srgbClr val="CBD3DB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548640" y="6455664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A"/>
                </a:solidFill>
                <a:latin typeface="Arial"/>
              </a:rPr>
              <a:t>Avatar-ID · autocapture de la CIN · Mohammed Amine Chaieb · ENSI 2025/2026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5566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Arial"/>
              </a:rPr>
              <a:t>15 / 17</a:t>
            </a:r>
          </a:p>
        </p:txBody>
      </p:sp>
      <p:sp>
        <p:nvSpPr>
          <p:cNvPr id="6" name="Titre"/>
          <p:cNvSpPr txBox="1"/>
          <p:nvPr/>
        </p:nvSpPr>
        <p:spPr>
          <a:xfrm>
            <a:off x="548640" y="77724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Arial"/>
              </a:rPr>
              <a:t>Quatre pistes pour amener le module vers la production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75688"/>
            <a:ext cx="128016" cy="5120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Arial"/>
              </a:rPr>
              <a:t>Jeu d'images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965960"/>
            <a:ext cx="8396935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1B2530"/>
                </a:solidFill>
                <a:latin typeface="Arial"/>
              </a:rPr>
              <a:t>constituer un jeu de CIN plus large pour affiner les seuils et, à terme, ajouter un modèle appris.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2807208"/>
            <a:ext cx="10728655" cy="0"/>
          </a:xfrm>
          <a:prstGeom prst="line">
            <a:avLst/>
          </a:prstGeom>
          <a:ln w="6350">
            <a:solidFill>
              <a:srgbClr val="CBD3DB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548640" y="2990088"/>
            <a:ext cx="128016" cy="5120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Arial"/>
              </a:rPr>
              <a:t>Tests réels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880360"/>
            <a:ext cx="8396935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1B2530"/>
                </a:solidFill>
                <a:latin typeface="Arial"/>
              </a:rPr>
              <a:t>automatiser le palier D avec des images de référence (visage, code-barres, empreinte, ligne).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3721608"/>
            <a:ext cx="10728655" cy="0"/>
          </a:xfrm>
          <a:prstGeom prst="line">
            <a:avLst/>
          </a:prstGeom>
          <a:ln w="6350">
            <a:solidFill>
              <a:srgbClr val="CBD3DB"/>
            </a:solidFill>
          </a:ln>
        </p:spPr>
      </p:cxnSp>
      <p:sp>
        <p:nvSpPr>
          <p:cNvPr id="15" name="Rectangle 14"/>
          <p:cNvSpPr/>
          <p:nvPr/>
        </p:nvSpPr>
        <p:spPr>
          <a:xfrm>
            <a:off x="548640" y="3904488"/>
            <a:ext cx="128016" cy="5120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379476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Arial"/>
              </a:rPr>
              <a:t>Timeout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3794760"/>
            <a:ext cx="8396935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1B2530"/>
                </a:solidFill>
                <a:latin typeface="Arial"/>
              </a:rPr>
              <a:t>prévenir l'utilisateur quand aucune carte n'est détectée après un certain délai.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4636008"/>
            <a:ext cx="10728655" cy="0"/>
          </a:xfrm>
          <a:prstGeom prst="line">
            <a:avLst/>
          </a:prstGeom>
          <a:ln w="6350">
            <a:solidFill>
              <a:srgbClr val="CBD3DB"/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548640" y="4818888"/>
            <a:ext cx="128016" cy="5120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4400" y="470916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Arial"/>
              </a:rPr>
              <a:t>Anti-fraude carte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4709160"/>
            <a:ext cx="8396935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1B2530"/>
                </a:solidFill>
                <a:latin typeface="Arial"/>
              </a:rPr>
              <a:t>analyser la texture pour repérer une carte affichée sur un écran, en amont de la vivacité d'Avatar-ID.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1" grpId="0"/>
      <p:bldP spid="12" grpId="0"/>
      <p:bldP spid="13" grpId="0"/>
      <p:bldP spid="15" grpId="0"/>
      <p:bldP spid="16" grpId="0"/>
      <p:bldP spid="17" grpId="0"/>
      <p:bldP spid="19" grpId="0"/>
      <p:bldP spid="20" grpId="0"/>
      <p:bldP spid="21" grpId="0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73775" y="42976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Arial"/>
              </a:rPr>
              <a:t>CONTEXTE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0" i="0">
                <a:solidFill>
                  <a:srgbClr val="5B6B7A"/>
                </a:solidFill>
                <a:latin typeface="Arial"/>
              </a:rPr>
              <a:t>CONCEPTION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0" i="0">
                <a:solidFill>
                  <a:srgbClr val="5B6B7A"/>
                </a:solidFill>
                <a:latin typeface="Arial"/>
              </a:rPr>
              <a:t>RÉSULTATS</a:t>
            </a:r>
            <a:r>
              <a:rPr sz="1100" b="0" i="0">
                <a:solidFill>
                  <a:srgbClr val="CBD3DB"/>
                </a:solidFill>
                <a:latin typeface="Arial"/>
              </a:rPr>
              <a:t>   ·   </a:t>
            </a:r>
            <a:r>
              <a:rPr sz="1100" b="1" i="0">
                <a:solidFill>
                  <a:srgbClr val="2E75B6"/>
                </a:solidFill>
                <a:latin typeface="Arial"/>
              </a:rPr>
              <a:t>BILAN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9525">
            <a:solidFill>
              <a:srgbClr val="CBD3DB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548640" y="6455664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A"/>
                </a:solidFill>
                <a:latin typeface="Arial"/>
              </a:rPr>
              <a:t>Avatar-ID · autocapture de la CIN · Mohammed Amine Chaieb · ENSI 2025/2026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5566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Arial"/>
              </a:rPr>
              <a:t>16 / 17</a:t>
            </a:r>
          </a:p>
        </p:txBody>
      </p:sp>
      <p:sp>
        <p:nvSpPr>
          <p:cNvPr id="6" name="Titre"/>
          <p:cNvSpPr txBox="1"/>
          <p:nvPr/>
        </p:nvSpPr>
        <p:spPr>
          <a:xfrm>
            <a:off x="548640" y="77724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Arial"/>
              </a:rPr>
              <a:t>Une capture recto/verso autonome, sur Android et iOS, livrée en six semaines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965960"/>
            <a:ext cx="3393338" cy="0"/>
          </a:xfrm>
          <a:prstGeom prst="line">
            <a:avLst/>
          </a:prstGeom>
          <a:ln w="38100">
            <a:solidFill>
              <a:srgbClr val="1F3A5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2103120"/>
            <a:ext cx="33933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Arial"/>
              </a:rPr>
              <a:t>LIVRÉ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33933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B2530"/>
                </a:solidFill>
                <a:latin typeface="Arial"/>
              </a:rPr>
              <a:t>Détection : 4 passes et un score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B2530"/>
                </a:solidFill>
                <a:latin typeface="Arial"/>
              </a:rPr>
              <a:t>Autocapture : 4 contrôles, 2 frames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B2530"/>
                </a:solidFill>
                <a:latin typeface="Arial"/>
              </a:rPr>
              <a:t>Recto/verso et anti-doublon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B2530"/>
                </a:solidFill>
                <a:latin typeface="Arial"/>
              </a:rPr>
              <a:t>Vérification, page A4, export, historique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99178" y="1965960"/>
            <a:ext cx="3393338" cy="0"/>
          </a:xfrm>
          <a:prstGeom prst="line">
            <a:avLst/>
          </a:prstGeom>
          <a:ln w="38100">
            <a:solidFill>
              <a:srgbClr val="1F3A5F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4399178" y="2103120"/>
            <a:ext cx="33933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Arial"/>
              </a:rPr>
              <a:t>MESURÉ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9178" y="2560320"/>
            <a:ext cx="33933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B2530"/>
                </a:solidFill>
                <a:latin typeface="Arial"/>
              </a:rPr>
              <a:t>92–100 ms par image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B2530"/>
                </a:solidFill>
                <a:latin typeface="Arial"/>
              </a:rPr>
              <a:t>92 % de recto/verso reconnus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B2530"/>
                </a:solidFill>
                <a:latin typeface="Arial"/>
              </a:rPr>
              <a:t>≈ 2 s jusqu'à la capture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B2530"/>
                </a:solidFill>
                <a:latin typeface="Arial"/>
              </a:rPr>
              <a:t>177 tests réussis · Android et iOS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49716" y="1965960"/>
            <a:ext cx="3393339" cy="0"/>
          </a:xfrm>
          <a:prstGeom prst="line">
            <a:avLst/>
          </a:prstGeom>
          <a:ln w="38100">
            <a:solidFill>
              <a:srgbClr val="2E75B6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8249716" y="2103120"/>
            <a:ext cx="33933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Arial"/>
              </a:rPr>
              <a:t>PERSPECTIVES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9716" y="2560320"/>
            <a:ext cx="33933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B2530"/>
                </a:solidFill>
                <a:latin typeface="Arial"/>
              </a:rPr>
              <a:t>Jeu d'images élargi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B2530"/>
                </a:solidFill>
                <a:latin typeface="Arial"/>
              </a:rPr>
              <a:t>Tests réels automatisés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B2530"/>
                </a:solidFill>
                <a:latin typeface="Arial"/>
              </a:rPr>
              <a:t>Message de timeout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B2530"/>
                </a:solidFill>
                <a:latin typeface="Arial"/>
              </a:rPr>
              <a:t>Anti-fraude sur la carte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4632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F3A5F"/>
                </a:solidFill>
                <a:latin typeface="Arial"/>
              </a:rPr>
              <a:t>Mon apport : </a:t>
            </a:r>
            <a:r>
              <a:rPr sz="1600" b="0" i="0">
                <a:solidFill>
                  <a:srgbClr val="1B2530"/>
                </a:solidFill>
                <a:latin typeface="Arial"/>
              </a:rPr>
              <a:t>l'enchaînement des passes et le score du quadrilatère, l'isolate, la machine à états, le vote recto/verso et le post-traitement, autour des primitives d'OpenCV.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F3A5F"/>
                </a:solidFill>
                <a:latin typeface="Arial"/>
              </a:rPr>
              <a:t>Ce que j'en retiens : </a:t>
            </a:r>
            <a:r>
              <a:rPr sz="1600" b="0" i="0">
                <a:solidFill>
                  <a:srgbClr val="1B2530"/>
                </a:solidFill>
                <a:latin typeface="Arial"/>
              </a:rPr>
              <a:t>un choix technologique se justifie par les contraintes réelles d'un projet.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2" grpId="0"/>
      <p:bldP spid="14" grpId="0"/>
      <p:bldP spid="15" grpId="0"/>
      <p:bldP spid="16" grpId="0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9525">
            <a:solidFill>
              <a:srgbClr val="CBD3DB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548640" y="6455664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A"/>
                </a:solidFill>
                <a:latin typeface="Arial"/>
              </a:rPr>
              <a:t>Avatar-ID · autocapture de la CIN · Mohammed Amine Chaieb · ENSI 2025/2026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645566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Arial"/>
              </a:rPr>
              <a:t>17 / 17</a:t>
            </a:r>
          </a:p>
        </p:txBody>
      </p:sp>
      <p:pic>
        <p:nvPicPr>
          <p:cNvPr id="5" name="Picture 4" descr="Logo manoub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541474" cy="713232"/>
          </a:xfrm>
          <a:prstGeom prst="rect">
            <a:avLst/>
          </a:prstGeom>
        </p:spPr>
      </p:pic>
      <p:pic>
        <p:nvPicPr>
          <p:cNvPr id="6" name="Picture 5" descr="Logo ens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153" y="502920"/>
            <a:ext cx="594360" cy="713232"/>
          </a:xfrm>
          <a:prstGeom prst="rect">
            <a:avLst/>
          </a:prstGeom>
        </p:spPr>
      </p:pic>
      <p:pic>
        <p:nvPicPr>
          <p:cNvPr id="7" name="Picture 6" descr="Logo codingaholi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554" y="649224"/>
            <a:ext cx="1293721" cy="566928"/>
          </a:xfrm>
          <a:prstGeom prst="rect">
            <a:avLst/>
          </a:prstGeom>
        </p:spPr>
      </p:pic>
      <p:sp>
        <p:nvSpPr>
          <p:cNvPr id="8" name="Titre"/>
          <p:cNvSpPr txBox="1"/>
          <p:nvPr/>
        </p:nvSpPr>
        <p:spPr>
          <a:xfrm>
            <a:off x="548640" y="2331720"/>
            <a:ext cx="6949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1F3A5F"/>
                </a:solidFill>
                <a:latin typeface="Arial"/>
              </a:rPr>
              <a:t>Merci pour votre attention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8620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2E75B6"/>
                </a:solidFill>
                <a:latin typeface="Arial"/>
              </a:rPr>
              <a:t>Je suis à votre disposition pour vos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00600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F3A5F"/>
                </a:solidFill>
                <a:latin typeface="Arial"/>
              </a:rPr>
              <a:t>Mohammed Amine Chaieb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B6B7A"/>
                </a:solidFill>
                <a:latin typeface="Arial"/>
              </a:rPr>
              <a:t>Détection automatique et autocapture de la CIN tunisienne · Avatar-ID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2148840"/>
            <a:ext cx="3794760" cy="239389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1F3A5F"/>
            </a:solidFill>
          </a:ln>
        </p:spPr>
        <p:txBody>
          <a:bodyPr rtlCol="0" anchor="ctr"/>
          <a:lstStyle/>
          <a:p/>
        </p:txBody>
      </p:sp>
      <p:cxnSp>
        <p:nvCxnSpPr>
          <p:cNvPr id="12" name="Connector 11"/>
          <p:cNvCxnSpPr/>
          <p:nvPr/>
        </p:nvCxnSpPr>
        <p:spPr>
          <a:xfrm>
            <a:off x="7763256" y="2093976"/>
            <a:ext cx="320497" cy="0"/>
          </a:xfrm>
          <a:prstGeom prst="line">
            <a:avLst/>
          </a:prstGeom>
          <a:ln w="31750">
            <a:solidFill>
              <a:srgbClr val="2E75B6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7763256" y="2093976"/>
            <a:ext cx="0" cy="320497"/>
          </a:xfrm>
          <a:prstGeom prst="line">
            <a:avLst/>
          </a:prstGeom>
          <a:ln w="31750">
            <a:solidFill>
              <a:srgbClr val="2E75B6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347246" y="2093976"/>
            <a:ext cx="320498" cy="0"/>
          </a:xfrm>
          <a:prstGeom prst="line">
            <a:avLst/>
          </a:prstGeom>
          <a:ln w="31750">
            <a:solidFill>
              <a:srgbClr val="2E75B6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11667744" y="2093976"/>
            <a:ext cx="0" cy="320497"/>
          </a:xfrm>
          <a:prstGeom prst="line">
            <a:avLst/>
          </a:prstGeom>
          <a:ln w="31750">
            <a:solidFill>
              <a:srgbClr val="2E75B6"/>
            </a:solidFill>
          </a:ln>
        </p:spPr>
      </p:cxnSp>
      <p:cxnSp>
        <p:nvCxnSpPr>
          <p:cNvPr id="16" name="Connector 15"/>
          <p:cNvCxnSpPr/>
          <p:nvPr/>
        </p:nvCxnSpPr>
        <p:spPr>
          <a:xfrm flipH="1">
            <a:off x="11347246" y="4597594"/>
            <a:ext cx="320498" cy="0"/>
          </a:xfrm>
          <a:prstGeom prst="line">
            <a:avLst/>
          </a:prstGeom>
          <a:ln w="31750">
            <a:solidFill>
              <a:srgbClr val="2E75B6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1667744" y="4277097"/>
            <a:ext cx="0" cy="320497"/>
          </a:xfrm>
          <a:prstGeom prst="line">
            <a:avLst/>
          </a:prstGeom>
          <a:ln w="31750">
            <a:solidFill>
              <a:srgbClr val="2E75B6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7763256" y="4597594"/>
            <a:ext cx="320497" cy="0"/>
          </a:xfrm>
          <a:prstGeom prst="line">
            <a:avLst/>
          </a:prstGeom>
          <a:ln w="31750">
            <a:solidFill>
              <a:srgbClr val="2E75B6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7763256" y="4277097"/>
            <a:ext cx="0" cy="320497"/>
          </a:xfrm>
          <a:prstGeom prst="line">
            <a:avLst/>
          </a:prstGeom>
          <a:ln w="31750">
            <a:solidFill>
              <a:srgbClr val="2E75B6"/>
            </a:solidFill>
          </a:ln>
        </p:spPr>
      </p:cxn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317175" y="384048"/>
            <a:ext cx="1325880" cy="310896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317175" y="384048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5B6B7A"/>
                </a:solidFill>
                <a:latin typeface="Arial"/>
              </a:rPr>
              <a:t>Secours 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9525">
            <a:solidFill>
              <a:srgbClr val="CBD3D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48640" y="6455664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A"/>
                </a:solidFill>
                <a:latin typeface="Arial"/>
              </a:rPr>
              <a:t>Avatar-ID · autocapture de la CIN · Mohammed Amine Chaieb · ENSI 2025/2026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5566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Arial"/>
              </a:rPr>
              <a:t>Secours A</a:t>
            </a:r>
          </a:p>
        </p:txBody>
      </p:sp>
      <p:sp>
        <p:nvSpPr>
          <p:cNvPr id="7" name="Titre"/>
          <p:cNvSpPr txBox="1"/>
          <p:nvPr/>
        </p:nvSpPr>
        <p:spPr>
          <a:xfrm>
            <a:off x="548640" y="77724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Arial"/>
              </a:rPr>
              <a:t>Tous les seuils sont empiriques ; la netteté 120 n'a de sens qu'à 856 × 540 px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5410047" cy="42062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783080"/>
            <a:ext cx="371840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B2530"/>
                </a:solidFill>
                <a:latin typeface="Arial"/>
              </a:rPr>
              <a:t>Score de détection minimal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67047" y="1783080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F3A5F"/>
                </a:solidFill>
                <a:latin typeface="Arial"/>
              </a:rPr>
              <a:t>0,30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203704"/>
            <a:ext cx="371840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B2530"/>
                </a:solidFill>
                <a:latin typeface="Arial"/>
              </a:rPr>
              <a:t>Sortie anticipée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7047" y="2203704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F3A5F"/>
                </a:solidFill>
                <a:latin typeface="Arial"/>
              </a:rPr>
              <a:t>0,65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24328"/>
            <a:ext cx="5410047" cy="42062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624328"/>
            <a:ext cx="371840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B2530"/>
                </a:solidFill>
                <a:latin typeface="Arial"/>
              </a:rPr>
              <a:t>Réduction, recherche pleine 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7047" y="2624328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F3A5F"/>
                </a:solidFill>
                <a:latin typeface="Arial"/>
              </a:rPr>
              <a:t>0,45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044952"/>
            <a:ext cx="371840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B2530"/>
                </a:solidFill>
                <a:latin typeface="Arial"/>
              </a:rPr>
              <a:t>Marge de recherche suivie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7047" y="3044952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F3A5F"/>
                </a:solidFill>
                <a:latin typeface="Arial"/>
              </a:rPr>
              <a:t>20 %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65576"/>
            <a:ext cx="5410047" cy="42062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3465576"/>
            <a:ext cx="371840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B2530"/>
                </a:solidFill>
                <a:latin typeface="Arial"/>
              </a:rPr>
              <a:t>Canny bas / haut (× médiane)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67047" y="3465576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F3A5F"/>
                </a:solidFill>
                <a:latin typeface="Arial"/>
              </a:rPr>
              <a:t>0,66 / 1,33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886200"/>
            <a:ext cx="371840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B2530"/>
                </a:solidFill>
                <a:latin typeface="Arial"/>
              </a:rPr>
              <a:t>Aire de contour minimale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67047" y="3886200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F3A5F"/>
                </a:solidFill>
                <a:latin typeface="Arial"/>
              </a:rPr>
              <a:t>3,5 %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06824"/>
            <a:ext cx="5410047" cy="42062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8368" y="4306824"/>
            <a:ext cx="371840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B2530"/>
                </a:solidFill>
                <a:latin typeface="Arial"/>
              </a:rPr>
              <a:t>Aire maximale acceptée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67047" y="4306824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F3A5F"/>
                </a:solidFill>
                <a:latin typeface="Arial"/>
              </a:rPr>
              <a:t>75 %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727448"/>
            <a:ext cx="371840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B2530"/>
                </a:solidFill>
                <a:latin typeface="Arial"/>
              </a:rPr>
              <a:t>Pénalité quad non net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67047" y="4727448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F3A5F"/>
                </a:solidFill>
                <a:latin typeface="Arial"/>
              </a:rPr>
              <a:t>× 0,85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48072"/>
            <a:ext cx="5410047" cy="42062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8368" y="5148072"/>
            <a:ext cx="371840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B2530"/>
                </a:solidFill>
                <a:latin typeface="Arial"/>
              </a:rPr>
              <a:t>Proportion / taille (score)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67047" y="5148072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F3A5F"/>
                </a:solidFill>
                <a:latin typeface="Arial"/>
              </a:rPr>
              <a:t>0,8 / 0,2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568696"/>
            <a:ext cx="371840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B2530"/>
                </a:solidFill>
                <a:latin typeface="Arial"/>
              </a:rPr>
              <a:t>Redressement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67047" y="5568696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F3A5F"/>
                </a:solidFill>
                <a:latin typeface="Arial"/>
              </a:rPr>
              <a:t>856 × 540 px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33007" y="1783080"/>
            <a:ext cx="5410047" cy="42062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342735" y="1783080"/>
            <a:ext cx="371840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B2530"/>
                </a:solidFill>
                <a:latin typeface="Arial"/>
              </a:rPr>
              <a:t>Netteté minimale (Laplacien)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51415" y="1783080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F3A5F"/>
                </a:solidFill>
                <a:latin typeface="Arial"/>
              </a:rPr>
              <a:t>120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42735" y="2203704"/>
            <a:ext cx="371840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B2530"/>
                </a:solidFill>
                <a:latin typeface="Arial"/>
              </a:rPr>
              <a:t>Luminosité moyenne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1415" y="2203704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F3A5F"/>
                </a:solidFill>
                <a:latin typeface="Arial"/>
              </a:rPr>
              <a:t>[60 ; 225]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33007" y="2624328"/>
            <a:ext cx="5410047" cy="42062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342735" y="2624328"/>
            <a:ext cx="371840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B2530"/>
                </a:solidFill>
                <a:latin typeface="Arial"/>
              </a:rPr>
              <a:t>Pixels saturés tolérés (≥ 250)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51415" y="2624328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F3A5F"/>
                </a:solidFill>
                <a:latin typeface="Arial"/>
              </a:rPr>
              <a:t>12 %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2735" y="3044952"/>
            <a:ext cx="371840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B2530"/>
                </a:solidFill>
                <a:latin typeface="Arial"/>
              </a:rPr>
              <a:t>Dérive de coin maximale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51415" y="3044952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F3A5F"/>
                </a:solidFill>
                <a:latin typeface="Arial"/>
              </a:rPr>
              <a:t>2,5 % diag.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3007" y="3465576"/>
            <a:ext cx="5410047" cy="42062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342735" y="3465576"/>
            <a:ext cx="371840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B2530"/>
                </a:solidFill>
                <a:latin typeface="Arial"/>
              </a:rPr>
              <a:t>Frames stables / reset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51415" y="3465576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F3A5F"/>
                </a:solidFill>
                <a:latin typeface="Arial"/>
              </a:rPr>
              <a:t>3 /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42735" y="3886200"/>
            <a:ext cx="371840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B2530"/>
                </a:solidFill>
                <a:latin typeface="Arial"/>
              </a:rPr>
              <a:t>Frames de maintien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51415" y="3886200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F3A5F"/>
                </a:solidFill>
                <a:latin typeface="Arial"/>
              </a:rPr>
              <a:t>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33007" y="4306824"/>
            <a:ext cx="5410047" cy="42062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342735" y="4306824"/>
            <a:ext cx="371840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B2530"/>
                </a:solidFill>
                <a:latin typeface="Arial"/>
              </a:rPr>
              <a:t>Haar : échelle / voisins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51415" y="4306824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F3A5F"/>
                </a:solidFill>
                <a:latin typeface="Arial"/>
              </a:rPr>
              <a:t>1,05 / 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42735" y="4727448"/>
            <a:ext cx="371840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B2530"/>
                </a:solidFill>
                <a:latin typeface="Arial"/>
              </a:rPr>
              <a:t>Corrélation logo / drapeau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51415" y="4727448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F3A5F"/>
                </a:solidFill>
                <a:latin typeface="Arial"/>
              </a:rPr>
              <a:t>0,6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33007" y="5148072"/>
            <a:ext cx="5410047" cy="42062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342735" y="5148072"/>
            <a:ext cx="371840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B2530"/>
                </a:solidFill>
                <a:latin typeface="Arial"/>
              </a:rPr>
              <a:t>Variance empreinte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51415" y="5148072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F3A5F"/>
                </a:solidFill>
                <a:latin typeface="Arial"/>
              </a:rPr>
              <a:t>[150 ; 4 000]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42735" y="5568696"/>
            <a:ext cx="371840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B2530"/>
                </a:solidFill>
                <a:latin typeface="Arial"/>
              </a:rPr>
              <a:t>Netteté post-traitement (a)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51415" y="5568696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F3A5F"/>
                </a:solidFill>
                <a:latin typeface="Arial"/>
              </a:rPr>
              <a:t>0,6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317175" y="384048"/>
            <a:ext cx="1325880" cy="310896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317175" y="384048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5B6B7A"/>
                </a:solidFill>
                <a:latin typeface="Arial"/>
              </a:rPr>
              <a:t>Secours 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9525">
            <a:solidFill>
              <a:srgbClr val="CBD3D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48640" y="6455664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A"/>
                </a:solidFill>
                <a:latin typeface="Arial"/>
              </a:rPr>
              <a:t>Avatar-ID · autocapture de la CIN · Mohammed Amine Chaieb · ENSI 2025/2026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5566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Arial"/>
              </a:rPr>
              <a:t>Secours B</a:t>
            </a:r>
          </a:p>
        </p:txBody>
      </p:sp>
      <p:sp>
        <p:nvSpPr>
          <p:cNvPr id="7" name="Titre"/>
          <p:cNvSpPr txBox="1"/>
          <p:nvPr/>
        </p:nvSpPr>
        <p:spPr>
          <a:xfrm>
            <a:off x="548640" y="77724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Arial"/>
              </a:rPr>
              <a:t>Chaque composant a sa méthode de test, de la logique pure au téléphone réel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11094415" cy="4325112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6705295"/>
                <a:gridCol w="1463040"/>
              </a:tblGrid>
              <a:tr h="39319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3A5F"/>
                          </a:solidFill>
                          <a:latin typeface="Arial"/>
                        </a:rPr>
                        <a:t>Composant</a:t>
                      </a:r>
                    </a:p>
                  </a:txBody>
                  <a:tcPr anchor="ctr" marT="18288" marB="18288" marL="109728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3A5F"/>
                          </a:solidFill>
                          <a:latin typeface="Arial"/>
                        </a:rPr>
                        <a:t>Méthode de test</a:t>
                      </a:r>
                    </a:p>
                  </a:txBody>
                  <a:tcPr anchor="ctr" marT="18288" marB="18288" marL="109728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3A5F"/>
                          </a:solidFill>
                          <a:latin typeface="Arial"/>
                        </a:rPr>
                        <a:t>Palier</a:t>
                      </a:r>
                    </a:p>
                  </a:txBody>
                  <a:tcPr anchor="ctr" marT="18288" marB="18288" marL="109728">
                    <a:solidFill>
                      <a:srgbClr val="EEF2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3A5F"/>
                          </a:solidFill>
                          <a:latin typeface="Arial"/>
                        </a:rPr>
                        <a:t>Flux caméra</a:t>
                      </a:r>
                    </a:p>
                  </a:txBody>
                  <a:tcPr anchor="ctr" marT="18288" marB="18288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530"/>
                          </a:solidFill>
                          <a:latin typeface="Arial"/>
                        </a:rPr>
                        <a:t>test sur téléphone réel : ni lag ni coupure</a:t>
                      </a:r>
                    </a:p>
                  </a:txBody>
                  <a:tcPr anchor="ctr" marT="18288" marB="18288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3A5F"/>
                          </a:solidFill>
                          <a:latin typeface="Arial"/>
                        </a:rPr>
                        <a:t>manuel</a:t>
                      </a:r>
                    </a:p>
                  </a:txBody>
                  <a:tcPr anchor="ctr" marT="18288" marB="18288" marL="109728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3A5F"/>
                          </a:solidFill>
                          <a:latin typeface="Arial"/>
                        </a:rPr>
                        <a:t>Détection de la carte</a:t>
                      </a:r>
                    </a:p>
                  </a:txBody>
                  <a:tcPr anchor="ctr" marT="18288" marB="18288" marL="109728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530"/>
                          </a:solidFill>
                          <a:latin typeface="Arial"/>
                        </a:rPr>
                        <a:t>géométrie pure, images synthétiques, échantillons à différents angles</a:t>
                      </a:r>
                    </a:p>
                  </a:txBody>
                  <a:tcPr anchor="ctr" marT="18288" marB="18288" marL="109728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3A5F"/>
                          </a:solidFill>
                          <a:latin typeface="Arial"/>
                        </a:rPr>
                        <a:t>A · C · D</a:t>
                      </a:r>
                    </a:p>
                  </a:txBody>
                  <a:tcPr anchor="ctr" marT="18288" marB="18288" marL="109728">
                    <a:solidFill>
                      <a:srgbClr val="EEF2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3A5F"/>
                          </a:solidFill>
                          <a:latin typeface="Arial"/>
                        </a:rPr>
                        <a:t>Netteté et luminosité</a:t>
                      </a:r>
                    </a:p>
                  </a:txBody>
                  <a:tcPr anchor="ctr" marT="18288" marB="18288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530"/>
                          </a:solidFill>
                          <a:latin typeface="Arial"/>
                        </a:rPr>
                        <a:t>images volontairement floues, sombres ou surexposées</a:t>
                      </a:r>
                    </a:p>
                  </a:txBody>
                  <a:tcPr anchor="ctr" marT="18288" marB="18288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3A5F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anchor="ctr" marT="18288" marB="18288" marL="109728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3A5F"/>
                          </a:solidFill>
                          <a:latin typeface="Arial"/>
                        </a:rPr>
                        <a:t>Stabilité</a:t>
                      </a:r>
                    </a:p>
                  </a:txBody>
                  <a:tcPr anchor="ctr" marT="18288" marB="18288" marL="109728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530"/>
                          </a:solidFill>
                          <a:latin typeface="Arial"/>
                        </a:rPr>
                        <a:t>dérive simulée légère, puis franche</a:t>
                      </a:r>
                    </a:p>
                  </a:txBody>
                  <a:tcPr anchor="ctr" marT="18288" marB="18288" marL="109728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3A5F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anchor="ctr" marT="18288" marB="18288" marL="109728">
                    <a:solidFill>
                      <a:srgbClr val="EEF2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3A5F"/>
                          </a:solidFill>
                          <a:latin typeface="Arial"/>
                        </a:rPr>
                        <a:t>Recto/verso</a:t>
                      </a:r>
                    </a:p>
                  </a:txBody>
                  <a:tcPr anchor="ctr" marT="18288" marB="18288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530"/>
                          </a:solidFill>
                          <a:latin typeface="Arial"/>
                        </a:rPr>
                        <a:t>mélange d'images recto et verso</a:t>
                      </a:r>
                    </a:p>
                  </a:txBody>
                  <a:tcPr anchor="ctr" marT="18288" marB="18288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3A5F"/>
                          </a:solidFill>
                          <a:latin typeface="Arial"/>
                        </a:rPr>
                        <a:t>D</a:t>
                      </a:r>
                    </a:p>
                  </a:txBody>
                  <a:tcPr anchor="ctr" marT="18288" marB="18288" marL="109728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3A5F"/>
                          </a:solidFill>
                          <a:latin typeface="Arial"/>
                        </a:rPr>
                        <a:t>Autocapture</a:t>
                      </a:r>
                    </a:p>
                  </a:txBody>
                  <a:tcPr anchor="ctr" marT="18288" marB="18288" marL="109728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530"/>
                          </a:solidFill>
                          <a:latin typeface="Arial"/>
                        </a:rPr>
                        <a:t>bout en bout : délai et absence de faux déclenchement</a:t>
                      </a:r>
                    </a:p>
                  </a:txBody>
                  <a:tcPr anchor="ctr" marT="18288" marB="18288" marL="109728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3A5F"/>
                          </a:solidFill>
                          <a:latin typeface="Arial"/>
                        </a:rPr>
                        <a:t>A · B · D</a:t>
                      </a:r>
                    </a:p>
                  </a:txBody>
                  <a:tcPr anchor="ctr" marT="18288" marB="18288" marL="109728">
                    <a:solidFill>
                      <a:srgbClr val="EEF2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3A5F"/>
                          </a:solidFill>
                          <a:latin typeface="Arial"/>
                        </a:rPr>
                        <a:t>Recadrage</a:t>
                      </a:r>
                    </a:p>
                  </a:txBody>
                  <a:tcPr anchor="ctr" marT="18288" marB="18288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530"/>
                          </a:solidFill>
                          <a:latin typeface="Arial"/>
                        </a:rPr>
                        <a:t>comparaison visuelle : aucun bord coupé</a:t>
                      </a:r>
                    </a:p>
                  </a:txBody>
                  <a:tcPr anchor="ctr" marT="18288" marB="18288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3A5F"/>
                          </a:solidFill>
                          <a:latin typeface="Arial"/>
                        </a:rPr>
                        <a:t>C · D</a:t>
                      </a:r>
                    </a:p>
                  </a:txBody>
                  <a:tcPr anchor="ctr" marT="18288" marB="18288" marL="109728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3A5F"/>
                          </a:solidFill>
                          <a:latin typeface="Arial"/>
                        </a:rPr>
                        <a:t>Anti-doublon</a:t>
                      </a:r>
                    </a:p>
                  </a:txBody>
                  <a:tcPr anchor="ctr" marT="18288" marB="18288" marL="109728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530"/>
                          </a:solidFill>
                          <a:latin typeface="Arial"/>
                        </a:rPr>
                        <a:t>même face présentée deux fois</a:t>
                      </a:r>
                    </a:p>
                  </a:txBody>
                  <a:tcPr anchor="ctr" marT="18288" marB="18288" marL="109728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3A5F"/>
                          </a:solidFill>
                          <a:latin typeface="Arial"/>
                        </a:rPr>
                        <a:t>D</a:t>
                      </a:r>
                    </a:p>
                  </a:txBody>
                  <a:tcPr anchor="ctr" marT="18288" marB="18288" marL="109728">
                    <a:solidFill>
                      <a:srgbClr val="EEF2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3A5F"/>
                          </a:solidFill>
                          <a:latin typeface="Arial"/>
                        </a:rPr>
                        <a:t>Gestion des erreurs</a:t>
                      </a:r>
                    </a:p>
                  </a:txBody>
                  <a:tcPr anchor="ctr" marT="18288" marB="18288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530"/>
                          </a:solidFill>
                          <a:latin typeface="Arial"/>
                        </a:rPr>
                        <a:t>carte cachée, permission caméra refusée</a:t>
                      </a:r>
                    </a:p>
                  </a:txBody>
                  <a:tcPr anchor="ctr" marT="18288" marB="18288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3A5F"/>
                          </a:solidFill>
                          <a:latin typeface="Arial"/>
                        </a:rPr>
                        <a:t>B · D</a:t>
                      </a:r>
                    </a:p>
                  </a:txBody>
                  <a:tcPr anchor="ctr" marT="18288" marB="18288" marL="109728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3A5F"/>
                          </a:solidFill>
                          <a:latin typeface="Arial"/>
                        </a:rPr>
                        <a:t>Test global</a:t>
                      </a:r>
                    </a:p>
                  </a:txBody>
                  <a:tcPr anchor="ctr" marT="18288" marB="18288" marL="109728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530"/>
                          </a:solidFill>
                          <a:latin typeface="Arial"/>
                        </a:rPr>
                        <a:t>recto puis verso, plusieurs téléphones et éclairages</a:t>
                      </a:r>
                    </a:p>
                  </a:txBody>
                  <a:tcPr anchor="ctr" marT="18288" marB="18288" marL="109728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3A5F"/>
                          </a:solidFill>
                          <a:latin typeface="Arial"/>
                        </a:rPr>
                        <a:t>D</a:t>
                      </a:r>
                    </a:p>
                  </a:txBody>
                  <a:tcPr anchor="ctr" marT="18288" marB="18288" marL="109728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317175" y="384048"/>
            <a:ext cx="1325880" cy="310896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317175" y="384048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5B6B7A"/>
                </a:solidFill>
                <a:latin typeface="Arial"/>
              </a:rPr>
              <a:t>Secours 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9525">
            <a:solidFill>
              <a:srgbClr val="CBD3D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48640" y="6455664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A"/>
                </a:solidFill>
                <a:latin typeface="Arial"/>
              </a:rPr>
              <a:t>Avatar-ID · autocapture de la CIN · Mohammed Amine Chaieb · ENSI 2025/2026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5566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Arial"/>
              </a:rPr>
              <a:t>Secours C</a:t>
            </a:r>
          </a:p>
        </p:txBody>
      </p:sp>
      <p:sp>
        <p:nvSpPr>
          <p:cNvPr id="7" name="Titre"/>
          <p:cNvSpPr txBox="1"/>
          <p:nvPr/>
        </p:nvSpPr>
        <p:spPr>
          <a:xfrm>
            <a:off x="548640" y="77724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Arial"/>
              </a:rPr>
              <a:t>La capture est sûre par construction ; la vivacité est vérifiée ensuite par Avatar-ID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527288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Arial"/>
              </a:rPr>
              <a:t>GARANTI PAR 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5272887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B2530"/>
                </a:solidFill>
                <a:latin typeface="Arial"/>
              </a:rPr>
              <a:t>Capture en direct, depuis le flux caméra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B2530"/>
                </a:solidFill>
                <a:latin typeface="Arial"/>
              </a:rPr>
              <a:t>Deux faces distinctes, dans l'ordre recto → verso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B2530"/>
                </a:solidFill>
                <a:latin typeface="Arial"/>
              </a:rPr>
              <a:t>Qualité contrôlée : netteté, luminosité, stabilité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B2530"/>
                </a:solidFill>
                <a:latin typeface="Arial"/>
              </a:rPr>
              <a:t>Traitement sur l'appareil, sans service tiers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5847" y="1828800"/>
            <a:ext cx="0" cy="3291840"/>
          </a:xfrm>
          <a:prstGeom prst="line">
            <a:avLst/>
          </a:prstGeom>
          <a:ln w="9525">
            <a:solidFill>
              <a:srgbClr val="CBD3DB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370167" y="1828800"/>
            <a:ext cx="527288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Arial"/>
              </a:rPr>
              <a:t>EN AVAL ET PROCHAINES ÉTAPES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2286000"/>
            <a:ext cx="5272887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B2530"/>
                </a:solidFill>
                <a:latin typeface="Arial"/>
              </a:rPr>
              <a:t>Vivacité et comparaison des photos : Avatar-ID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B2530"/>
                </a:solidFill>
                <a:latin typeface="Arial"/>
              </a:rPr>
              <a:t>Analyse de texture contre les cartes sur écran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B2530"/>
                </a:solidFill>
                <a:latin typeface="Arial"/>
              </a:rPr>
              <a:t>Informer l'utilisateur lors de l'export en galerie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B2530"/>
                </a:solidFill>
                <a:latin typeface="Arial"/>
              </a:rPr>
              <a:t>Chiffrement des captures stockées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349240"/>
            <a:ext cx="11094415" cy="566928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5349240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Arial"/>
              </a:rPr>
              <a:t>Données de test : </a:t>
            </a:r>
            <a:r>
              <a:rPr sz="1600" b="0" i="0">
                <a:solidFill>
                  <a:srgbClr val="1B2530"/>
                </a:solidFill>
                <a:latin typeface="Arial"/>
              </a:rPr>
              <a:t>les captures montrées dans cette soutenance sont masquées dans les pixels (photo, nom, numéros, code-barres).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317175" y="384048"/>
            <a:ext cx="1325880" cy="310896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317175" y="384048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5B6B7A"/>
                </a:solidFill>
                <a:latin typeface="Arial"/>
              </a:rPr>
              <a:t>Secours 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9525">
            <a:solidFill>
              <a:srgbClr val="CBD3D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48640" y="6455664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A"/>
                </a:solidFill>
                <a:latin typeface="Arial"/>
              </a:rPr>
              <a:t>Avatar-ID · autocapture de la CIN · Mohammed Amine Chaieb · ENSI 2025/2026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5566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Arial"/>
              </a:rPr>
              <a:t>Secours D</a:t>
            </a:r>
          </a:p>
        </p:txBody>
      </p:sp>
      <p:sp>
        <p:nvSpPr>
          <p:cNvPr id="7" name="Titre"/>
          <p:cNvSpPr txBox="1"/>
          <p:nvPr/>
        </p:nvSpPr>
        <p:spPr>
          <a:xfrm>
            <a:off x="548640" y="77724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Arial"/>
              </a:rPr>
              <a:t>OpenCV fournit les primitives ; l'assemblage, les scores et la logique de capture sont développés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5B6B7A"/>
                </a:solidFill>
                <a:latin typeface="Arial"/>
              </a:rPr>
              <a:t>FOURNI (OPENCV, PLUGINS)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31089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B2530"/>
                </a:solidFill>
                <a:latin typeface="Arial"/>
              </a:rPr>
              <a:t>Canny, seuillage adaptatif, Otsu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B2530"/>
                </a:solidFill>
                <a:latin typeface="Arial"/>
              </a:rPr>
              <a:t>CLAHE, morphologie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B2530"/>
                </a:solidFill>
                <a:latin typeface="Arial"/>
              </a:rPr>
              <a:t>findContours, approxPolyDP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B2530"/>
                </a:solidFill>
                <a:latin typeface="Arial"/>
              </a:rPr>
              <a:t>warpPerspective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B2530"/>
                </a:solidFill>
                <a:latin typeface="Arial"/>
              </a:rPr>
              <a:t>Laplacien, HoughLinesP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B2530"/>
                </a:solidFill>
                <a:latin typeface="Arial"/>
              </a:rPr>
              <a:t>BarcodeDetector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B2530"/>
                </a:solidFill>
                <a:latin typeface="Arial"/>
              </a:rPr>
              <a:t>cascade de Haar pré-entraînée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B2530"/>
                </a:solidFill>
                <a:latin typeface="Arial"/>
              </a:rPr>
              <a:t>matchTemplate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B2530"/>
                </a:solidFill>
                <a:latin typeface="Arial"/>
              </a:rPr>
              <a:t>camera, gal,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178308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Arial"/>
              </a:rPr>
              <a:t>DÉVELOPPÉ PENDANT LE 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2194560"/>
            <a:ext cx="338328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B2530"/>
                </a:solidFill>
                <a:latin typeface="Arial"/>
              </a:rPr>
              <a:t>conversion YUV420/BGRA → Mat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B2530"/>
                </a:solidFill>
                <a:latin typeface="Arial"/>
              </a:rPr>
              <a:t>DocumentContourDetector : passes, sortie, suivi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B2530"/>
                </a:solidFill>
                <a:latin typeface="Arial"/>
              </a:rPr>
              <a:t>CardQuadGeometry : score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B2530"/>
                </a:solidFill>
                <a:latin typeface="Arial"/>
              </a:rPr>
              <a:t>DetectionIsolateWorker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B2530"/>
                </a:solidFill>
                <a:latin typeface="Arial"/>
              </a:rPr>
              <a:t>StabilityTracker, stabilisateur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B2530"/>
                </a:solidFill>
                <a:latin typeface="Arial"/>
              </a:rPr>
              <a:t>machine à états d'autocapture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B2530"/>
                </a:solidFill>
                <a:latin typeface="Arial"/>
              </a:rPr>
              <a:t>BackOrientationDetector : vote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B2530"/>
                </a:solidFill>
                <a:latin typeface="Arial"/>
              </a:rPr>
              <a:t>CardImageEnhancer, page A4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B2530"/>
                </a:solidFill>
                <a:latin typeface="Arial"/>
              </a:rPr>
              <a:t>écrans, historique, export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60919" y="1783080"/>
            <a:ext cx="0" cy="4160520"/>
          </a:xfrm>
          <a:prstGeom prst="line">
            <a:avLst/>
          </a:prstGeom>
          <a:ln w="9525">
            <a:solidFill>
              <a:srgbClr val="CBD3DB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7635240" y="1783080"/>
            <a:ext cx="40078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Arial"/>
              </a:rPr>
              <a:t>RÉFÉRENCES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194560"/>
            <a:ext cx="4007815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2530"/>
                </a:solidFill>
                <a:latin typeface="Arial"/>
              </a:rPr>
              <a:t>Canny, IEEE TPAMI, 1986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2530"/>
                </a:solidFill>
                <a:latin typeface="Arial"/>
              </a:rPr>
              <a:t>Otsu, IEEE TSMC, 1979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2530"/>
                </a:solidFill>
                <a:latin typeface="Arial"/>
              </a:rPr>
              <a:t>Zuiderveld, CLAHE, Graphics Gems IV, 1994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2530"/>
                </a:solidFill>
                <a:latin typeface="Arial"/>
              </a:rPr>
              <a:t>Viola &amp; Jones, CVPR, 2001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2530"/>
                </a:solidFill>
                <a:latin typeface="Arial"/>
              </a:rPr>
              <a:t>Matas et al., Hough probabiliste, CVIU, 2000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2530"/>
                </a:solidFill>
                <a:latin typeface="Arial"/>
              </a:rPr>
              <a:t>Hartley &amp; Zisserman, 2004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2530"/>
                </a:solidFill>
                <a:latin typeface="Arial"/>
              </a:rPr>
              <a:t>Martin, Clean Architecture, 2017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2530"/>
                </a:solidFill>
                <a:latin typeface="Arial"/>
              </a:rPr>
              <a:t>ISO/IEC 7810:2019 (ID-1)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2530"/>
                </a:solidFill>
                <a:latin typeface="Arial"/>
              </a:rPr>
              <a:t>Google ML Kit, Document Scanner API [15]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