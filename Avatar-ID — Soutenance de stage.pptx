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Inter" panose="02000503000000020004" pitchFamily="34" charset="0"/>
      <p:regular r:id="rId23"/>
      <p:bold r:id="rId24"/>
      <p:italic r:id="rId25"/>
      <p:boldItalic r:id="rId26"/>
    </p:embeddedFont>
    <p:embeddedFont>
      <p:font typeface="JetBrains Mono" panose="02000009000000000000" pitchFamily="49"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font" Target="fonts/font5.fntdata"/><Relationship Id="rId28"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42" y="1112434"/>
            <a:ext cx="10566515" cy="474951"/>
          </a:xfrm>
          <a:prstGeom prst="rect">
            <a:avLst/>
          </a:prstGeom>
          <a:noFill/>
          <a:ln/>
        </p:spPr>
        <p:txBody>
          <a:bodyPr wrap="square" lIns="0" tIns="0" rIns="0" bIns="0" rtlCol="0" anchor="t"/>
          <a:lstStyle>
            <a:lvl1pPr algn="l" indent="0" marL="0">
              <a:lnSpc>
                <a:spcPct val="115000"/>
              </a:lnSpc>
              <a:buNone/>
              <a:defRPr lang="en-US" sz="3400" dirty="0">
                <a:solidFill>
                  <a:srgbClr val="16181D"/>
                </a:solidFill>
                <a:latin typeface="Inter" pitchFamily="34" charset="0"/>
                <a:ea typeface="Inter" pitchFamily="34" charset="-122"/>
                <a:cs typeface="Inter"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742" y="1892186"/>
            <a:ext cx="10566458" cy="4153014"/>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42" y="1112434"/>
            <a:ext cx="10566515" cy="474951"/>
          </a:xfrm>
          <a:prstGeom prst="rect">
            <a:avLst/>
          </a:prstGeom>
          <a:noFill/>
          <a:ln/>
        </p:spPr>
        <p:txBody>
          <a:bodyPr wrap="square" lIns="0" tIns="0" rIns="0" bIns="0" rtlCol="0" anchor="t"/>
          <a:lstStyle>
            <a:lvl1pPr algn="l" indent="0" marL="0">
              <a:lnSpc>
                <a:spcPct val="115000"/>
              </a:lnSpc>
              <a:buNone/>
              <a:defRPr lang="en-US" sz="3400" dirty="0">
                <a:solidFill>
                  <a:srgbClr val="16181D"/>
                </a:solidFill>
                <a:latin typeface="Inter" pitchFamily="34" charset="0"/>
                <a:ea typeface="Inter" pitchFamily="34" charset="-122"/>
                <a:cs typeface="Inter"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742" y="1892186"/>
            <a:ext cx="10566458" cy="4153014"/>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1881620"/>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563EB"/>
                </a:solidFill>
                <a:latin typeface="JetBrains Mono" pitchFamily="49" charset="0"/>
                <a:ea typeface="JetBrains Mono" pitchFamily="49" charset="-122"/>
                <a:cs typeface="JetBrains Mono" pitchFamily="49" charset="-120"/>
              </a:rPr>
              <a:t>Module Avatar-ID · Flutter, OpenCV</a:t>
            </a:r>
            <a:endParaRPr lang="en-US" sz="1400" dirty="0"/>
          </a:p>
        </p:txBody>
      </p:sp>
      <p:sp>
        <p:nvSpPr>
          <p:cNvPr id="3" name="Text 1"/>
          <p:cNvSpPr/>
          <p:nvPr>
            <p:ph type="title"/>
          </p:nvPr>
        </p:nvSpPr>
        <p:spPr>
          <a:xfrm>
            <a:off x="812742" y="2290416"/>
            <a:ext cx="10883510" cy="119888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16181D"/>
                </a:solidFill>
                <a:latin typeface="Inter" pitchFamily="34" charset="0"/>
                <a:ea typeface="Inter" pitchFamily="34" charset="-122"/>
                <a:cs typeface="Inter" pitchFamily="34" charset="-120"/>
              </a:rPr>
              <a:t>Détection automatique et autocapture de la carte d’identité nationale</a:t>
            </a:r>
            <a:endParaRPr lang="en-US" sz="4200" dirty="0"/>
          </a:p>
        </p:txBody>
      </p:sp>
      <p:sp>
        <p:nvSpPr>
          <p:cNvPr id="4" name="Text 2"/>
          <p:cNvSpPr/>
          <p:nvPr/>
        </p:nvSpPr>
        <p:spPr>
          <a:xfrm>
            <a:off x="812742" y="3641667"/>
            <a:ext cx="10883510"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81D"/>
                </a:solidFill>
                <a:latin typeface="Inter" pitchFamily="34" charset="0"/>
                <a:ea typeface="Inter" pitchFamily="34" charset="-122"/>
                <a:cs typeface="Inter" pitchFamily="34" charset="-120"/>
              </a:rPr>
              <a:t>Mohammed Amine Chaieb · Stage de fin d’études</a:t>
            </a:r>
            <a:endParaRPr lang="en-US" sz="1800" dirty="0"/>
          </a:p>
        </p:txBody>
      </p:sp>
      <p:sp>
        <p:nvSpPr>
          <p:cNvPr id="5" name="Text 3"/>
          <p:cNvSpPr/>
          <p:nvPr/>
        </p:nvSpPr>
        <p:spPr>
          <a:xfrm>
            <a:off x="812742" y="4116618"/>
            <a:ext cx="1088351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168"/>
                </a:solidFill>
                <a:latin typeface="Inter" pitchFamily="34" charset="0"/>
                <a:ea typeface="Inter" pitchFamily="34" charset="-122"/>
                <a:cs typeface="Inter" pitchFamily="34" charset="-120"/>
              </a:rPr>
              <a:t>Université de la Manouba, ENSI · 2025/2026 · Codingaholic, La Marsa</a:t>
            </a:r>
            <a:endParaRPr lang="en-US" sz="1500" dirty="0"/>
          </a:p>
        </p:txBody>
      </p:sp>
      <p:sp>
        <p:nvSpPr>
          <p:cNvPr id="6" name="Text 4"/>
          <p:cNvSpPr/>
          <p:nvPr/>
        </p:nvSpPr>
        <p:spPr>
          <a:xfrm>
            <a:off x="812742" y="4542039"/>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Encadrant entreprise : Jendoubi Mohamed Khalil · Encadrant ENSI : [à confirmer]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3"/>
            <a:ext cx="10883510" cy="218065"/>
          </a:xfrm>
          <a:prstGeom prst="rect">
            <a:avLst/>
          </a:prstGeom>
          <a:noFill/>
          <a:ln/>
        </p:spPr>
        <p:txBody>
          <a:bodyPr wrap="square" lIns="0" tIns="0" rIns="0" bIns="0" rtlCol="0" anchor="t">
            <a:normAutofit/>
          </a:bodyPr>
          <a:lstStyle/>
          <a:p>
            <a:pPr algn="l" indent="0" marL="0">
              <a:lnSpc>
                <a:spcPts val="1521"/>
              </a:lnSpc>
              <a:buNone/>
            </a:pPr>
            <a:r>
              <a:rPr lang="en-US" sz="1170" spc="100" kern="0" dirty="0">
                <a:solidFill>
                  <a:srgbClr val="2563EB"/>
                </a:solidFill>
                <a:latin typeface="JetBrains Mono" pitchFamily="49" charset="0"/>
                <a:ea typeface="JetBrains Mono" pitchFamily="49" charset="-122"/>
                <a:cs typeface="JetBrains Mono" pitchFamily="49" charset="-120"/>
              </a:rPr>
              <a:t>PLAN DE LA PRÉSENTATION</a:t>
            </a:r>
            <a:endParaRPr lang="en-US" sz="1170" dirty="0"/>
          </a:p>
        </p:txBody>
      </p:sp>
      <p:sp>
        <p:nvSpPr>
          <p:cNvPr id="3" name="Text 1"/>
          <p:cNvSpPr/>
          <p:nvPr>
            <p:ph type="title"/>
          </p:nvPr>
        </p:nvSpPr>
        <p:spPr>
          <a:xfrm>
            <a:off x="812742" y="1106978"/>
            <a:ext cx="10883510" cy="487276"/>
          </a:xfrm>
          <a:prstGeom prst="rect">
            <a:avLst/>
          </a:prstGeom>
          <a:noFill/>
          <a:ln/>
        </p:spPr>
        <p:txBody>
          <a:bodyPr wrap="square" lIns="0" tIns="0" rIns="0" bIns="0" rtlCol="0" anchor="t">
            <a:normAutofit/>
          </a:bodyPr>
          <a:lstStyle/>
          <a:p>
            <a:pPr algn="l" indent="0" marL="0">
              <a:lnSpc>
                <a:spcPts val="3670"/>
              </a:lnSpc>
              <a:buNone/>
            </a:pPr>
            <a:r>
              <a:rPr lang="en-US" sz="3336" b="1" i="0" dirty="0">
                <a:solidFill>
                  <a:srgbClr val="16181D"/>
                </a:solidFill>
                <a:latin typeface="Inter" pitchFamily="34" charset="0"/>
                <a:ea typeface="Inter" pitchFamily="34" charset="-122"/>
                <a:cs typeface="Inter" pitchFamily="34" charset="-120"/>
              </a:rPr>
              <a:t>Sommaire</a:t>
            </a:r>
            <a:endParaRPr lang="en-US" sz="3336" dirty="0"/>
          </a:p>
        </p:txBody>
      </p:sp>
      <p:sp>
        <p:nvSpPr>
          <p:cNvPr id="4" name="Shape 2"/>
          <p:cNvSpPr/>
          <p:nvPr/>
        </p:nvSpPr>
        <p:spPr>
          <a:xfrm>
            <a:off x="812742" y="1851371"/>
            <a:ext cx="10566515" cy="0"/>
          </a:xfrm>
          <a:prstGeom prst="line">
            <a:avLst/>
          </a:prstGeom>
          <a:noFill/>
          <a:ln w="6350">
            <a:solidFill>
              <a:srgbClr val="E3E6E4"/>
            </a:solidFill>
            <a:prstDash val="solid"/>
          </a:ln>
        </p:spPr>
      </p:sp>
      <p:sp>
        <p:nvSpPr>
          <p:cNvPr id="5" name="Text 3"/>
          <p:cNvSpPr/>
          <p:nvPr/>
        </p:nvSpPr>
        <p:spPr>
          <a:xfrm>
            <a:off x="812742" y="2054802"/>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EB"/>
                </a:solidFill>
                <a:latin typeface="JetBrains Mono" pitchFamily="49" charset="0"/>
                <a:ea typeface="JetBrains Mono" pitchFamily="49" charset="-122"/>
                <a:cs typeface="JetBrains Mono" pitchFamily="49" charset="-120"/>
              </a:rPr>
              <a:t>01</a:t>
            </a:r>
            <a:endParaRPr lang="en-US" sz="2200" dirty="0"/>
          </a:p>
        </p:txBody>
      </p:sp>
      <p:sp>
        <p:nvSpPr>
          <p:cNvPr id="6" name="Text 4"/>
          <p:cNvSpPr/>
          <p:nvPr/>
        </p:nvSpPr>
        <p:spPr>
          <a:xfrm>
            <a:off x="1638213" y="1983711"/>
            <a:ext cx="5716635"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81D"/>
                </a:solidFill>
                <a:latin typeface="Inter" pitchFamily="34" charset="0"/>
                <a:ea typeface="Inter" pitchFamily="34" charset="-122"/>
                <a:cs typeface="Inter" pitchFamily="34" charset="-120"/>
              </a:rPr>
              <a:t>Cadre et problématique</a:t>
            </a:r>
            <a:endParaRPr lang="en-US" sz="1800" dirty="0"/>
          </a:p>
        </p:txBody>
      </p:sp>
      <p:sp>
        <p:nvSpPr>
          <p:cNvPr id="7" name="Text 5"/>
          <p:cNvSpPr/>
          <p:nvPr/>
        </p:nvSpPr>
        <p:spPr>
          <a:xfrm>
            <a:off x="1638213" y="2318991"/>
            <a:ext cx="57166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JetBrains Mono" pitchFamily="49" charset="0"/>
                <a:ea typeface="JetBrains Mono" pitchFamily="49" charset="-122"/>
                <a:cs typeface="JetBrains Mono" pitchFamily="49" charset="-120"/>
              </a:rPr>
              <a:t>Diapositives 3–5</a:t>
            </a:r>
            <a:endParaRPr lang="en-US" sz="1200" dirty="0"/>
          </a:p>
        </p:txBody>
      </p:sp>
      <p:sp>
        <p:nvSpPr>
          <p:cNvPr id="8" name="Text 6"/>
          <p:cNvSpPr/>
          <p:nvPr/>
        </p:nvSpPr>
        <p:spPr>
          <a:xfrm>
            <a:off x="7442315" y="2134812"/>
            <a:ext cx="405505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Entreprise, projet, objectifs chiffrés</a:t>
            </a:r>
            <a:endParaRPr lang="en-US" sz="1400" dirty="0"/>
          </a:p>
        </p:txBody>
      </p:sp>
      <p:sp>
        <p:nvSpPr>
          <p:cNvPr id="9" name="Shape 7"/>
          <p:cNvSpPr/>
          <p:nvPr/>
        </p:nvSpPr>
        <p:spPr>
          <a:xfrm>
            <a:off x="812742" y="2650172"/>
            <a:ext cx="10566515" cy="0"/>
          </a:xfrm>
          <a:prstGeom prst="line">
            <a:avLst/>
          </a:prstGeom>
          <a:noFill/>
          <a:ln w="6350">
            <a:solidFill>
              <a:srgbClr val="E3E6E4"/>
            </a:solidFill>
            <a:prstDash val="solid"/>
          </a:ln>
        </p:spPr>
      </p:sp>
      <p:sp>
        <p:nvSpPr>
          <p:cNvPr id="10" name="Text 8"/>
          <p:cNvSpPr/>
          <p:nvPr/>
        </p:nvSpPr>
        <p:spPr>
          <a:xfrm>
            <a:off x="812742" y="2853517"/>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EB"/>
                </a:solidFill>
                <a:latin typeface="JetBrains Mono" pitchFamily="49" charset="0"/>
                <a:ea typeface="JetBrains Mono" pitchFamily="49" charset="-122"/>
                <a:cs typeface="JetBrains Mono" pitchFamily="49" charset="-120"/>
              </a:rPr>
              <a:t>02</a:t>
            </a:r>
            <a:endParaRPr lang="en-US" sz="2200" dirty="0"/>
          </a:p>
        </p:txBody>
      </p:sp>
      <p:sp>
        <p:nvSpPr>
          <p:cNvPr id="11" name="Text 9"/>
          <p:cNvSpPr/>
          <p:nvPr/>
        </p:nvSpPr>
        <p:spPr>
          <a:xfrm>
            <a:off x="1638213" y="2782426"/>
            <a:ext cx="5716635"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81D"/>
                </a:solidFill>
                <a:latin typeface="Inter" pitchFamily="34" charset="0"/>
                <a:ea typeface="Inter" pitchFamily="34" charset="-122"/>
                <a:cs typeface="Inter" pitchFamily="34" charset="-120"/>
              </a:rPr>
              <a:t>Technologies et architecture</a:t>
            </a:r>
            <a:endParaRPr lang="en-US" sz="1800" dirty="0"/>
          </a:p>
        </p:txBody>
      </p:sp>
      <p:sp>
        <p:nvSpPr>
          <p:cNvPr id="12" name="Text 10"/>
          <p:cNvSpPr/>
          <p:nvPr/>
        </p:nvSpPr>
        <p:spPr>
          <a:xfrm>
            <a:off x="1638213" y="3117706"/>
            <a:ext cx="57166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JetBrains Mono" pitchFamily="49" charset="0"/>
                <a:ea typeface="JetBrains Mono" pitchFamily="49" charset="-122"/>
                <a:cs typeface="JetBrains Mono" pitchFamily="49" charset="-120"/>
              </a:rPr>
              <a:t>Diapositives 6–7</a:t>
            </a:r>
            <a:endParaRPr lang="en-US" sz="1200" dirty="0"/>
          </a:p>
        </p:txBody>
      </p:sp>
      <p:sp>
        <p:nvSpPr>
          <p:cNvPr id="13" name="Text 11"/>
          <p:cNvSpPr/>
          <p:nvPr/>
        </p:nvSpPr>
        <p:spPr>
          <a:xfrm>
            <a:off x="7442315" y="2933613"/>
            <a:ext cx="405505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Choix techniques, modules, couches</a:t>
            </a:r>
            <a:endParaRPr lang="en-US" sz="1400" dirty="0"/>
          </a:p>
        </p:txBody>
      </p:sp>
      <p:sp>
        <p:nvSpPr>
          <p:cNvPr id="14" name="Shape 12"/>
          <p:cNvSpPr/>
          <p:nvPr/>
        </p:nvSpPr>
        <p:spPr>
          <a:xfrm>
            <a:off x="812742" y="3448887"/>
            <a:ext cx="10566515" cy="0"/>
          </a:xfrm>
          <a:prstGeom prst="line">
            <a:avLst/>
          </a:prstGeom>
          <a:noFill/>
          <a:ln w="6350">
            <a:solidFill>
              <a:srgbClr val="E3E6E4"/>
            </a:solidFill>
            <a:prstDash val="solid"/>
          </a:ln>
        </p:spPr>
      </p:sp>
      <p:sp>
        <p:nvSpPr>
          <p:cNvPr id="15" name="Text 13"/>
          <p:cNvSpPr/>
          <p:nvPr/>
        </p:nvSpPr>
        <p:spPr>
          <a:xfrm>
            <a:off x="812742" y="3652318"/>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EB"/>
                </a:solidFill>
                <a:latin typeface="JetBrains Mono" pitchFamily="49" charset="0"/>
                <a:ea typeface="JetBrains Mono" pitchFamily="49" charset="-122"/>
                <a:cs typeface="JetBrains Mono" pitchFamily="49" charset="-120"/>
              </a:rPr>
              <a:t>03</a:t>
            </a:r>
            <a:endParaRPr lang="en-US" sz="2200" dirty="0"/>
          </a:p>
        </p:txBody>
      </p:sp>
      <p:sp>
        <p:nvSpPr>
          <p:cNvPr id="16" name="Text 14"/>
          <p:cNvSpPr/>
          <p:nvPr/>
        </p:nvSpPr>
        <p:spPr>
          <a:xfrm>
            <a:off x="1638213" y="3581227"/>
            <a:ext cx="5716635"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81D"/>
                </a:solidFill>
                <a:latin typeface="Inter" pitchFamily="34" charset="0"/>
                <a:ea typeface="Inter" pitchFamily="34" charset="-122"/>
                <a:cs typeface="Inter" pitchFamily="34" charset="-120"/>
              </a:rPr>
              <a:t>Détection et autocapture</a:t>
            </a:r>
            <a:endParaRPr lang="en-US" sz="1800" dirty="0"/>
          </a:p>
        </p:txBody>
      </p:sp>
      <p:sp>
        <p:nvSpPr>
          <p:cNvPr id="17" name="Text 15"/>
          <p:cNvSpPr/>
          <p:nvPr/>
        </p:nvSpPr>
        <p:spPr>
          <a:xfrm>
            <a:off x="1638213" y="3916507"/>
            <a:ext cx="57166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JetBrains Mono" pitchFamily="49" charset="0"/>
                <a:ea typeface="JetBrains Mono" pitchFamily="49" charset="-122"/>
                <a:cs typeface="JetBrains Mono" pitchFamily="49" charset="-120"/>
              </a:rPr>
              <a:t>Diapositives 8–10</a:t>
            </a:r>
            <a:endParaRPr lang="en-US" sz="1200" dirty="0"/>
          </a:p>
        </p:txBody>
      </p:sp>
      <p:sp>
        <p:nvSpPr>
          <p:cNvPr id="18" name="Text 16"/>
          <p:cNvSpPr/>
          <p:nvPr/>
        </p:nvSpPr>
        <p:spPr>
          <a:xfrm>
            <a:off x="7442315" y="3732328"/>
            <a:ext cx="405505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Pipeline, états, recto/verso</a:t>
            </a:r>
            <a:endParaRPr lang="en-US" sz="1400" dirty="0"/>
          </a:p>
        </p:txBody>
      </p:sp>
      <p:sp>
        <p:nvSpPr>
          <p:cNvPr id="19" name="Shape 17"/>
          <p:cNvSpPr/>
          <p:nvPr/>
        </p:nvSpPr>
        <p:spPr>
          <a:xfrm>
            <a:off x="812742" y="4247688"/>
            <a:ext cx="10566515" cy="0"/>
          </a:xfrm>
          <a:prstGeom prst="line">
            <a:avLst/>
          </a:prstGeom>
          <a:noFill/>
          <a:ln w="6350">
            <a:solidFill>
              <a:srgbClr val="E3E6E4"/>
            </a:solidFill>
            <a:prstDash val="solid"/>
          </a:ln>
        </p:spPr>
      </p:sp>
      <p:sp>
        <p:nvSpPr>
          <p:cNvPr id="20" name="Text 18"/>
          <p:cNvSpPr/>
          <p:nvPr/>
        </p:nvSpPr>
        <p:spPr>
          <a:xfrm>
            <a:off x="812742" y="4451032"/>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EB"/>
                </a:solidFill>
                <a:latin typeface="JetBrains Mono" pitchFamily="49" charset="0"/>
                <a:ea typeface="JetBrains Mono" pitchFamily="49" charset="-122"/>
                <a:cs typeface="JetBrains Mono" pitchFamily="49" charset="-120"/>
              </a:rPr>
              <a:t>04</a:t>
            </a:r>
            <a:endParaRPr lang="en-US" sz="2200" dirty="0"/>
          </a:p>
        </p:txBody>
      </p:sp>
      <p:sp>
        <p:nvSpPr>
          <p:cNvPr id="21" name="Text 19"/>
          <p:cNvSpPr/>
          <p:nvPr/>
        </p:nvSpPr>
        <p:spPr>
          <a:xfrm>
            <a:off x="1638213" y="4379941"/>
            <a:ext cx="5716635"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81D"/>
                </a:solidFill>
                <a:latin typeface="Inter" pitchFamily="34" charset="0"/>
                <a:ea typeface="Inter" pitchFamily="34" charset="-122"/>
                <a:cs typeface="Inter" pitchFamily="34" charset="-120"/>
              </a:rPr>
              <a:t>Démonstration et validation</a:t>
            </a:r>
            <a:endParaRPr lang="en-US" sz="1800" dirty="0"/>
          </a:p>
        </p:txBody>
      </p:sp>
      <p:sp>
        <p:nvSpPr>
          <p:cNvPr id="22" name="Text 20"/>
          <p:cNvSpPr/>
          <p:nvPr/>
        </p:nvSpPr>
        <p:spPr>
          <a:xfrm>
            <a:off x="1638213" y="4715221"/>
            <a:ext cx="57166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JetBrains Mono" pitchFamily="49" charset="0"/>
                <a:ea typeface="JetBrains Mono" pitchFamily="49" charset="-122"/>
                <a:cs typeface="JetBrains Mono" pitchFamily="49" charset="-120"/>
              </a:rPr>
              <a:t>Diapositives 11–13</a:t>
            </a:r>
            <a:endParaRPr lang="en-US" sz="1200" dirty="0"/>
          </a:p>
        </p:txBody>
      </p:sp>
      <p:sp>
        <p:nvSpPr>
          <p:cNvPr id="23" name="Text 21"/>
          <p:cNvSpPr/>
          <p:nvPr/>
        </p:nvSpPr>
        <p:spPr>
          <a:xfrm>
            <a:off x="7442315" y="4531129"/>
            <a:ext cx="405505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Parcours, tests, mesures</a:t>
            </a:r>
            <a:endParaRPr lang="en-US" sz="1400" dirty="0"/>
          </a:p>
        </p:txBody>
      </p:sp>
      <p:sp>
        <p:nvSpPr>
          <p:cNvPr id="24" name="Shape 22"/>
          <p:cNvSpPr/>
          <p:nvPr/>
        </p:nvSpPr>
        <p:spPr>
          <a:xfrm>
            <a:off x="812742" y="5046403"/>
            <a:ext cx="10566515" cy="0"/>
          </a:xfrm>
          <a:prstGeom prst="line">
            <a:avLst/>
          </a:prstGeom>
          <a:noFill/>
          <a:ln w="6350">
            <a:solidFill>
              <a:srgbClr val="E3E6E4"/>
            </a:solidFill>
            <a:prstDash val="solid"/>
          </a:ln>
        </p:spPr>
      </p:sp>
      <p:sp>
        <p:nvSpPr>
          <p:cNvPr id="25" name="Text 23"/>
          <p:cNvSpPr/>
          <p:nvPr/>
        </p:nvSpPr>
        <p:spPr>
          <a:xfrm>
            <a:off x="812742" y="5249834"/>
            <a:ext cx="622300" cy="41653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563EB"/>
                </a:solidFill>
                <a:latin typeface="JetBrains Mono" pitchFamily="49" charset="0"/>
                <a:ea typeface="JetBrains Mono" pitchFamily="49" charset="-122"/>
                <a:cs typeface="JetBrains Mono" pitchFamily="49" charset="-120"/>
              </a:rPr>
              <a:t>05</a:t>
            </a:r>
            <a:endParaRPr lang="en-US" sz="2200" dirty="0"/>
          </a:p>
        </p:txBody>
      </p:sp>
      <p:sp>
        <p:nvSpPr>
          <p:cNvPr id="26" name="Text 24"/>
          <p:cNvSpPr/>
          <p:nvPr/>
        </p:nvSpPr>
        <p:spPr>
          <a:xfrm>
            <a:off x="1638213" y="5178743"/>
            <a:ext cx="5716635"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181D"/>
                </a:solidFill>
                <a:latin typeface="Inter" pitchFamily="34" charset="0"/>
                <a:ea typeface="Inter" pitchFamily="34" charset="-122"/>
                <a:cs typeface="Inter" pitchFamily="34" charset="-120"/>
              </a:rPr>
              <a:t>Limites et conclusion</a:t>
            </a:r>
            <a:endParaRPr lang="en-US" sz="1800" dirty="0"/>
          </a:p>
        </p:txBody>
      </p:sp>
      <p:sp>
        <p:nvSpPr>
          <p:cNvPr id="27" name="Text 25"/>
          <p:cNvSpPr/>
          <p:nvPr/>
        </p:nvSpPr>
        <p:spPr>
          <a:xfrm>
            <a:off x="1638213" y="5514022"/>
            <a:ext cx="571663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JetBrains Mono" pitchFamily="49" charset="0"/>
                <a:ea typeface="JetBrains Mono" pitchFamily="49" charset="-122"/>
                <a:cs typeface="JetBrains Mono" pitchFamily="49" charset="-120"/>
              </a:rPr>
              <a:t>Diapositives 14–15</a:t>
            </a:r>
            <a:endParaRPr lang="en-US" sz="1200" dirty="0"/>
          </a:p>
        </p:txBody>
      </p:sp>
      <p:sp>
        <p:nvSpPr>
          <p:cNvPr id="28" name="Text 26"/>
          <p:cNvSpPr/>
          <p:nvPr/>
        </p:nvSpPr>
        <p:spPr>
          <a:xfrm>
            <a:off x="7442315" y="5329844"/>
            <a:ext cx="405505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Limites assumées, bilan</a:t>
            </a:r>
            <a:endParaRPr lang="en-US" sz="1400" dirty="0"/>
          </a:p>
        </p:txBody>
      </p:sp>
      <p:sp>
        <p:nvSpPr>
          <p:cNvPr id="29" name="Text 27"/>
          <p:cNvSpPr/>
          <p:nvPr/>
        </p:nvSpPr>
        <p:spPr>
          <a:xfrm>
            <a:off x="812742" y="6238268"/>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30" name="Text 28"/>
          <p:cNvSpPr/>
          <p:nvPr/>
        </p:nvSpPr>
        <p:spPr>
          <a:xfrm>
            <a:off x="9417107" y="6238268"/>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3"/>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01 · CADRE DU STAGE</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Cadre du stage</a:t>
            </a:r>
            <a:endParaRPr lang="en-US" sz="3400" dirty="0"/>
          </a:p>
        </p:txBody>
      </p:sp>
      <p:sp>
        <p:nvSpPr>
          <p:cNvPr id="4" name="Shape 2"/>
          <p:cNvSpPr/>
          <p:nvPr/>
        </p:nvSpPr>
        <p:spPr>
          <a:xfrm>
            <a:off x="815917" y="1869903"/>
            <a:ext cx="3397279" cy="1663123"/>
          </a:xfrm>
          <a:prstGeom prst="roundRect">
            <a:avLst>
              <a:gd name="adj" fmla="val 5918"/>
            </a:avLst>
          </a:prstGeom>
          <a:solidFill>
            <a:srgbClr val="FFFFFF"/>
          </a:solidFill>
          <a:ln w="6350">
            <a:solidFill>
              <a:srgbClr val="E3E6E4"/>
            </a:solidFill>
            <a:prstDash val="solid"/>
          </a:ln>
        </p:spPr>
      </p:sp>
      <p:sp>
        <p:nvSpPr>
          <p:cNvPr id="5" name="Text 3"/>
          <p:cNvSpPr/>
          <p:nvPr/>
        </p:nvSpPr>
        <p:spPr>
          <a:xfrm>
            <a:off x="1046884" y="2100869"/>
            <a:ext cx="302340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ENTREPRISE</a:t>
            </a:r>
            <a:endParaRPr lang="en-US" sz="1200" dirty="0"/>
          </a:p>
        </p:txBody>
      </p:sp>
      <p:sp>
        <p:nvSpPr>
          <p:cNvPr id="6" name="Text 4"/>
          <p:cNvSpPr/>
          <p:nvPr/>
        </p:nvSpPr>
        <p:spPr>
          <a:xfrm>
            <a:off x="1046884" y="2387831"/>
            <a:ext cx="3023405"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181D"/>
                </a:solidFill>
                <a:latin typeface="Inter" pitchFamily="34" charset="0"/>
                <a:ea typeface="Inter" pitchFamily="34" charset="-122"/>
                <a:cs typeface="Inter" pitchFamily="34" charset="-120"/>
              </a:rPr>
              <a:t>Codingaholic</a:t>
            </a:r>
            <a:endParaRPr lang="en-US" sz="2000" dirty="0"/>
          </a:p>
        </p:txBody>
      </p:sp>
      <p:sp>
        <p:nvSpPr>
          <p:cNvPr id="7" name="Text 5"/>
          <p:cNvSpPr/>
          <p:nvPr/>
        </p:nvSpPr>
        <p:spPr>
          <a:xfrm>
            <a:off x="1046884" y="2806759"/>
            <a:ext cx="302340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168"/>
                </a:solidFill>
                <a:latin typeface="Inter" pitchFamily="34" charset="0"/>
                <a:ea typeface="Inter" pitchFamily="34" charset="-122"/>
                <a:cs typeface="Inter" pitchFamily="34" charset="-120"/>
              </a:rPr>
              <a:t>La Marsa</a:t>
            </a:r>
            <a:endParaRPr lang="en-US" sz="1500" dirty="0"/>
          </a:p>
        </p:txBody>
      </p:sp>
      <p:sp>
        <p:nvSpPr>
          <p:cNvPr id="8" name="Shape 6"/>
          <p:cNvSpPr/>
          <p:nvPr/>
        </p:nvSpPr>
        <p:spPr>
          <a:xfrm>
            <a:off x="4397317" y="1869903"/>
            <a:ext cx="3397365" cy="1663123"/>
          </a:xfrm>
          <a:prstGeom prst="roundRect">
            <a:avLst>
              <a:gd name="adj" fmla="val 5918"/>
            </a:avLst>
          </a:prstGeom>
          <a:solidFill>
            <a:srgbClr val="FFFFFF"/>
          </a:solidFill>
          <a:ln w="6350">
            <a:solidFill>
              <a:srgbClr val="E3E6E4"/>
            </a:solidFill>
            <a:prstDash val="solid"/>
          </a:ln>
        </p:spPr>
      </p:sp>
      <p:sp>
        <p:nvSpPr>
          <p:cNvPr id="9" name="Text 7"/>
          <p:cNvSpPr/>
          <p:nvPr/>
        </p:nvSpPr>
        <p:spPr>
          <a:xfrm>
            <a:off x="4628284" y="2100869"/>
            <a:ext cx="302349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PROJET</a:t>
            </a:r>
            <a:endParaRPr lang="en-US" sz="1200" dirty="0"/>
          </a:p>
        </p:txBody>
      </p:sp>
      <p:sp>
        <p:nvSpPr>
          <p:cNvPr id="10" name="Text 8"/>
          <p:cNvSpPr/>
          <p:nvPr/>
        </p:nvSpPr>
        <p:spPr>
          <a:xfrm>
            <a:off x="4628284" y="2387831"/>
            <a:ext cx="3023495"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181D"/>
                </a:solidFill>
                <a:latin typeface="Inter" pitchFamily="34" charset="0"/>
                <a:ea typeface="Inter" pitchFamily="34" charset="-122"/>
                <a:cs typeface="Inter" pitchFamily="34" charset="-120"/>
              </a:rPr>
              <a:t>Avatar-ID</a:t>
            </a:r>
            <a:endParaRPr lang="en-US" sz="2000" dirty="0"/>
          </a:p>
        </p:txBody>
      </p:sp>
      <p:sp>
        <p:nvSpPr>
          <p:cNvPr id="11" name="Text 9"/>
          <p:cNvSpPr/>
          <p:nvPr/>
        </p:nvSpPr>
        <p:spPr>
          <a:xfrm>
            <a:off x="4628284" y="2806759"/>
            <a:ext cx="30234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168"/>
                </a:solidFill>
                <a:latin typeface="Inter" pitchFamily="34" charset="0"/>
                <a:ea typeface="Inter" pitchFamily="34" charset="-122"/>
                <a:cs typeface="Inter" pitchFamily="34" charset="-120"/>
              </a:rPr>
              <a:t>L’utilisateur fournit sa carte d’identité</a:t>
            </a:r>
            <a:endParaRPr lang="en-US" sz="1500" dirty="0"/>
          </a:p>
        </p:txBody>
      </p:sp>
      <p:sp>
        <p:nvSpPr>
          <p:cNvPr id="12" name="Shape 10"/>
          <p:cNvSpPr/>
          <p:nvPr/>
        </p:nvSpPr>
        <p:spPr>
          <a:xfrm>
            <a:off x="7978804" y="1869903"/>
            <a:ext cx="3397279" cy="1663123"/>
          </a:xfrm>
          <a:prstGeom prst="roundRect">
            <a:avLst>
              <a:gd name="adj" fmla="val 5918"/>
            </a:avLst>
          </a:prstGeom>
          <a:solidFill>
            <a:srgbClr val="FFFFFF"/>
          </a:solidFill>
          <a:ln w="6350">
            <a:solidFill>
              <a:srgbClr val="E3E6E4"/>
            </a:solidFill>
            <a:prstDash val="solid"/>
          </a:ln>
        </p:spPr>
      </p:sp>
      <p:sp>
        <p:nvSpPr>
          <p:cNvPr id="13" name="Text 11"/>
          <p:cNvSpPr/>
          <p:nvPr/>
        </p:nvSpPr>
        <p:spPr>
          <a:xfrm>
            <a:off x="8209770" y="2100869"/>
            <a:ext cx="302340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ENCADREMENT</a:t>
            </a:r>
            <a:endParaRPr lang="en-US" sz="1200" dirty="0"/>
          </a:p>
        </p:txBody>
      </p:sp>
      <p:sp>
        <p:nvSpPr>
          <p:cNvPr id="14" name="Text 12"/>
          <p:cNvSpPr/>
          <p:nvPr/>
        </p:nvSpPr>
        <p:spPr>
          <a:xfrm>
            <a:off x="8209770" y="2387831"/>
            <a:ext cx="3023405"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Jendoubi Mohamed Khalil</a:t>
            </a:r>
            <a:endParaRPr lang="en-US" sz="1700" dirty="0"/>
          </a:p>
        </p:txBody>
      </p:sp>
      <p:sp>
        <p:nvSpPr>
          <p:cNvPr id="15" name="Text 13"/>
          <p:cNvSpPr/>
          <p:nvPr/>
        </p:nvSpPr>
        <p:spPr>
          <a:xfrm>
            <a:off x="8209770" y="2757229"/>
            <a:ext cx="3163137"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5B6168"/>
                </a:solidFill>
                <a:latin typeface="Inter" pitchFamily="34" charset="0"/>
                <a:ea typeface="Inter" pitchFamily="34" charset="-122"/>
                <a:cs typeface="Inter" pitchFamily="34" charset="-120"/>
              </a:rPr>
              <a:t>Entreprise · ENSI : [à confirmer]</a:t>
            </a:r>
            <a:endParaRPr lang="en-US" sz="1500" dirty="0"/>
          </a:p>
        </p:txBody>
      </p:sp>
      <p:sp>
        <p:nvSpPr>
          <p:cNvPr id="16" name="Text 14"/>
          <p:cNvSpPr/>
          <p:nvPr/>
        </p:nvSpPr>
        <p:spPr>
          <a:xfrm>
            <a:off x="812742" y="3815542"/>
            <a:ext cx="10883510" cy="48744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JetBrains Mono" pitchFamily="49" charset="0"/>
                <a:ea typeface="JetBrains Mono" pitchFamily="49" charset="-122"/>
                <a:cs typeface="JetBrains Mono" pitchFamily="49" charset="-120"/>
              </a:rPr>
              <a:t>Stage de fin d’études · six semaines · périmètre : détection et autocapture, hors vérification d’identité</a:t>
            </a:r>
            <a:endParaRPr lang="en-US" sz="1400" dirty="0"/>
          </a:p>
        </p:txBody>
      </p:sp>
      <p:sp>
        <p:nvSpPr>
          <p:cNvPr id="17" name="Text 15"/>
          <p:cNvSpPr/>
          <p:nvPr/>
        </p:nvSpPr>
        <p:spPr>
          <a:xfrm>
            <a:off x="812742" y="623826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8" name="Text 16"/>
          <p:cNvSpPr/>
          <p:nvPr/>
        </p:nvSpPr>
        <p:spPr>
          <a:xfrm>
            <a:off x="9417107" y="623826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EEA"/>
        </a:solidFill>
      </p:bgPr>
    </p:bg>
    <p:spTree>
      <p:nvGrpSpPr>
        <p:cNvPr id="1" name=""/>
        <p:cNvGrpSpPr/>
        <p:nvPr/>
      </p:nvGrpSpPr>
      <p:grpSpPr>
        <a:xfrm>
          <a:off x="0" y="0"/>
          <a:ext cx="0" cy="0"/>
          <a:chOff x="0" y="0"/>
          <a:chExt cx="0" cy="0"/>
        </a:xfrm>
      </p:grpSpPr>
      <p:sp>
        <p:nvSpPr>
          <p:cNvPr id="2" name="Text 0"/>
          <p:cNvSpPr/>
          <p:nvPr/>
        </p:nvSpPr>
        <p:spPr>
          <a:xfrm>
            <a:off x="812742" y="812743"/>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01 · PROBLÉMATIQUE</a:t>
            </a:r>
            <a:endParaRPr lang="en-US" sz="1200" dirty="0"/>
          </a:p>
        </p:txBody>
      </p:sp>
      <p:sp>
        <p:nvSpPr>
          <p:cNvPr id="3" name="Text 1"/>
          <p:cNvSpPr/>
          <p:nvPr>
            <p:ph type="title"/>
          </p:nvPr>
        </p:nvSpPr>
        <p:spPr>
          <a:xfrm>
            <a:off x="812742" y="1112433"/>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Problématique</a:t>
            </a:r>
            <a:endParaRPr lang="en-US" sz="3400" dirty="0"/>
          </a:p>
        </p:txBody>
      </p:sp>
      <p:sp>
        <p:nvSpPr>
          <p:cNvPr id="4" name="Text 2"/>
          <p:cNvSpPr/>
          <p:nvPr/>
        </p:nvSpPr>
        <p:spPr>
          <a:xfrm>
            <a:off x="812742" y="1866726"/>
            <a:ext cx="10883510" cy="784629"/>
          </a:xfrm>
          <a:prstGeom prst="rect">
            <a:avLst/>
          </a:prstGeom>
          <a:noFill/>
          <a:ln/>
        </p:spPr>
        <p:txBody>
          <a:bodyPr wrap="square" lIns="0" tIns="0" rIns="0" bIns="0" rtlCol="0" anchor="t">
            <a:normAutofit/>
          </a:bodyPr>
          <a:lstStyle/>
          <a:p>
            <a:pPr algn="l" indent="0" marL="0">
              <a:lnSpc>
                <a:spcPts val="2990"/>
              </a:lnSpc>
              <a:buNone/>
            </a:pPr>
            <a:r>
              <a:rPr lang="en-US" sz="2300" b="1" dirty="0">
                <a:solidFill>
                  <a:srgbClr val="16181D"/>
                </a:solidFill>
                <a:latin typeface="Inter" pitchFamily="34" charset="0"/>
                <a:ea typeface="Inter" pitchFamily="34" charset="-122"/>
                <a:cs typeface="Inter" pitchFamily="34" charset="-120"/>
              </a:rPr>
              <a:t>Comment capturer seule une CIN nette, bien cadrée, une seule fois par face ?</a:t>
            </a:r>
            <a:endParaRPr lang="en-US" sz="2300" dirty="0"/>
          </a:p>
        </p:txBody>
      </p:sp>
      <p:sp>
        <p:nvSpPr>
          <p:cNvPr id="5" name="Shape 3"/>
          <p:cNvSpPr/>
          <p:nvPr/>
        </p:nvSpPr>
        <p:spPr>
          <a:xfrm>
            <a:off x="815917" y="2908474"/>
            <a:ext cx="3397279" cy="1095519"/>
          </a:xfrm>
          <a:prstGeom prst="roundRect">
            <a:avLst>
              <a:gd name="adj" fmla="val 8984"/>
            </a:avLst>
          </a:prstGeom>
          <a:solidFill>
            <a:srgbClr val="EEEEEA"/>
          </a:solidFill>
          <a:ln w="6350">
            <a:solidFill>
              <a:srgbClr val="E3E6E4"/>
            </a:solidFill>
            <a:prstDash val="solid"/>
          </a:ln>
        </p:spPr>
      </p:sp>
      <p:sp>
        <p:nvSpPr>
          <p:cNvPr id="6" name="Text 4"/>
          <p:cNvSpPr/>
          <p:nvPr/>
        </p:nvSpPr>
        <p:spPr>
          <a:xfrm>
            <a:off x="1046884" y="3139439"/>
            <a:ext cx="3023405" cy="339119"/>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6181D"/>
                </a:solidFill>
                <a:latin typeface="Inter" pitchFamily="34" charset="0"/>
                <a:ea typeface="Inter" pitchFamily="34" charset="-122"/>
                <a:cs typeface="Inter" pitchFamily="34" charset="-120"/>
              </a:rPr>
              <a:t>Floue</a:t>
            </a:r>
            <a:endParaRPr lang="en-US" sz="1900" dirty="0"/>
          </a:p>
        </p:txBody>
      </p:sp>
      <p:sp>
        <p:nvSpPr>
          <p:cNvPr id="7" name="Text 5"/>
          <p:cNvSpPr/>
          <p:nvPr/>
        </p:nvSpPr>
        <p:spPr>
          <a:xfrm>
            <a:off x="1046884" y="3542001"/>
            <a:ext cx="3023405"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Image inexploitable</a:t>
            </a:r>
            <a:endParaRPr lang="en-US" sz="1400" dirty="0"/>
          </a:p>
        </p:txBody>
      </p:sp>
      <p:sp>
        <p:nvSpPr>
          <p:cNvPr id="8" name="Shape 6"/>
          <p:cNvSpPr/>
          <p:nvPr/>
        </p:nvSpPr>
        <p:spPr>
          <a:xfrm>
            <a:off x="4397317" y="2908474"/>
            <a:ext cx="3397365" cy="1095519"/>
          </a:xfrm>
          <a:prstGeom prst="roundRect">
            <a:avLst>
              <a:gd name="adj" fmla="val 8984"/>
            </a:avLst>
          </a:prstGeom>
          <a:solidFill>
            <a:srgbClr val="EEEEEA"/>
          </a:solidFill>
          <a:ln w="6350">
            <a:solidFill>
              <a:srgbClr val="E3E6E4"/>
            </a:solidFill>
            <a:prstDash val="solid"/>
          </a:ln>
        </p:spPr>
      </p:sp>
      <p:sp>
        <p:nvSpPr>
          <p:cNvPr id="9" name="Text 7"/>
          <p:cNvSpPr/>
          <p:nvPr/>
        </p:nvSpPr>
        <p:spPr>
          <a:xfrm>
            <a:off x="4628284" y="3139439"/>
            <a:ext cx="3023495" cy="339119"/>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6181D"/>
                </a:solidFill>
                <a:latin typeface="Inter" pitchFamily="34" charset="0"/>
                <a:ea typeface="Inter" pitchFamily="34" charset="-122"/>
                <a:cs typeface="Inter" pitchFamily="34" charset="-120"/>
              </a:rPr>
              <a:t>De travers</a:t>
            </a:r>
            <a:endParaRPr lang="en-US" sz="1900" dirty="0"/>
          </a:p>
        </p:txBody>
      </p:sp>
      <p:sp>
        <p:nvSpPr>
          <p:cNvPr id="10" name="Text 8"/>
          <p:cNvSpPr/>
          <p:nvPr/>
        </p:nvSpPr>
        <p:spPr>
          <a:xfrm>
            <a:off x="4628284" y="3542001"/>
            <a:ext cx="3023495"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Carte mal cadrée</a:t>
            </a:r>
            <a:endParaRPr lang="en-US" sz="1400" dirty="0"/>
          </a:p>
        </p:txBody>
      </p:sp>
      <p:sp>
        <p:nvSpPr>
          <p:cNvPr id="11" name="Shape 9"/>
          <p:cNvSpPr/>
          <p:nvPr/>
        </p:nvSpPr>
        <p:spPr>
          <a:xfrm>
            <a:off x="7978804" y="2908474"/>
            <a:ext cx="3397279" cy="1095519"/>
          </a:xfrm>
          <a:prstGeom prst="roundRect">
            <a:avLst>
              <a:gd name="adj" fmla="val 8984"/>
            </a:avLst>
          </a:prstGeom>
          <a:solidFill>
            <a:srgbClr val="EEEEEA"/>
          </a:solidFill>
          <a:ln w="6350">
            <a:solidFill>
              <a:srgbClr val="E3E6E4"/>
            </a:solidFill>
            <a:prstDash val="solid"/>
          </a:ln>
        </p:spPr>
      </p:sp>
      <p:sp>
        <p:nvSpPr>
          <p:cNvPr id="12" name="Text 10"/>
          <p:cNvSpPr/>
          <p:nvPr/>
        </p:nvSpPr>
        <p:spPr>
          <a:xfrm>
            <a:off x="8209770" y="3139439"/>
            <a:ext cx="3023405" cy="339119"/>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6181D"/>
                </a:solidFill>
                <a:latin typeface="Inter" pitchFamily="34" charset="0"/>
                <a:ea typeface="Inter" pitchFamily="34" charset="-122"/>
                <a:cs typeface="Inter" pitchFamily="34" charset="-120"/>
              </a:rPr>
              <a:t>Recto deux fois</a:t>
            </a:r>
            <a:endParaRPr lang="en-US" sz="1900" dirty="0"/>
          </a:p>
        </p:txBody>
      </p:sp>
      <p:sp>
        <p:nvSpPr>
          <p:cNvPr id="13" name="Text 11"/>
          <p:cNvSpPr/>
          <p:nvPr/>
        </p:nvSpPr>
        <p:spPr>
          <a:xfrm>
            <a:off x="8209770" y="3542001"/>
            <a:ext cx="3023405"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Verso jamais envoyé</a:t>
            </a:r>
            <a:endParaRPr lang="en-US" sz="1400" dirty="0"/>
          </a:p>
        </p:txBody>
      </p:sp>
      <p:sp>
        <p:nvSpPr>
          <p:cNvPr id="14" name="Text 12"/>
          <p:cNvSpPr/>
          <p:nvPr/>
        </p:nvSpPr>
        <p:spPr>
          <a:xfrm>
            <a:off x="812742" y="623826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5" name="Text 13"/>
          <p:cNvSpPr/>
          <p:nvPr/>
        </p:nvSpPr>
        <p:spPr>
          <a:xfrm>
            <a:off x="9417107" y="623826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01 · OBJECTIFS</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Objectifs et cibles chiffrées</a:t>
            </a:r>
            <a:endParaRPr lang="en-US" sz="3400" dirty="0"/>
          </a:p>
        </p:txBody>
      </p:sp>
      <p:sp>
        <p:nvSpPr>
          <p:cNvPr id="4" name="Shape 2"/>
          <p:cNvSpPr/>
          <p:nvPr/>
        </p:nvSpPr>
        <p:spPr>
          <a:xfrm>
            <a:off x="815917" y="1869904"/>
            <a:ext cx="3397279" cy="1745730"/>
          </a:xfrm>
          <a:prstGeom prst="roundRect">
            <a:avLst>
              <a:gd name="adj" fmla="val 5638"/>
            </a:avLst>
          </a:prstGeom>
          <a:solidFill>
            <a:srgbClr val="FFFFFF"/>
          </a:solidFill>
          <a:ln w="6350">
            <a:solidFill>
              <a:srgbClr val="E3E6E4"/>
            </a:solidFill>
            <a:prstDash val="solid"/>
          </a:ln>
        </p:spPr>
      </p:sp>
      <p:sp>
        <p:nvSpPr>
          <p:cNvPr id="5" name="Text 3"/>
          <p:cNvSpPr/>
          <p:nvPr/>
        </p:nvSpPr>
        <p:spPr>
          <a:xfrm>
            <a:off x="1046884" y="2100870"/>
            <a:ext cx="3023405" cy="652665"/>
          </a:xfrm>
          <a:prstGeom prst="rect">
            <a:avLst/>
          </a:prstGeom>
          <a:noFill/>
          <a:ln/>
        </p:spPr>
        <p:txBody>
          <a:bodyPr wrap="square" lIns="0" tIns="0" rIns="0" bIns="0" rtlCol="0" anchor="t">
            <a:normAutofit/>
          </a:bodyPr>
          <a:lstStyle/>
          <a:p>
            <a:pPr algn="l" indent="0" marL="0">
              <a:lnSpc>
                <a:spcPts val="4940"/>
              </a:lnSpc>
              <a:buNone/>
            </a:pPr>
            <a:r>
              <a:rPr lang="en-US" sz="3800" b="1" dirty="0">
                <a:solidFill>
                  <a:srgbClr val="2563EB"/>
                </a:solidFill>
                <a:latin typeface="JetBrains Mono" pitchFamily="49" charset="0"/>
                <a:ea typeface="JetBrains Mono" pitchFamily="49" charset="-122"/>
                <a:cs typeface="JetBrains Mono" pitchFamily="49" charset="-120"/>
              </a:rPr>
              <a:t>&lt; 100 ms</a:t>
            </a:r>
            <a:endParaRPr lang="en-US" sz="3800" dirty="0"/>
          </a:p>
        </p:txBody>
      </p:sp>
      <p:sp>
        <p:nvSpPr>
          <p:cNvPr id="6" name="Text 4"/>
          <p:cNvSpPr/>
          <p:nvPr/>
        </p:nvSpPr>
        <p:spPr>
          <a:xfrm>
            <a:off x="1046884" y="2816975"/>
            <a:ext cx="3023405"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Par frame</a:t>
            </a:r>
            <a:endParaRPr lang="en-US" sz="1600" dirty="0"/>
          </a:p>
        </p:txBody>
      </p:sp>
      <p:sp>
        <p:nvSpPr>
          <p:cNvPr id="7" name="Text 5"/>
          <p:cNvSpPr/>
          <p:nvPr/>
        </p:nvSpPr>
        <p:spPr>
          <a:xfrm>
            <a:off x="1046884" y="3170008"/>
            <a:ext cx="302340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Cible idéale</a:t>
            </a:r>
            <a:endParaRPr lang="en-US" sz="1300" dirty="0"/>
          </a:p>
        </p:txBody>
      </p:sp>
      <p:sp>
        <p:nvSpPr>
          <p:cNvPr id="8" name="Shape 6"/>
          <p:cNvSpPr/>
          <p:nvPr/>
        </p:nvSpPr>
        <p:spPr>
          <a:xfrm>
            <a:off x="4397317" y="1869904"/>
            <a:ext cx="3397365" cy="1745730"/>
          </a:xfrm>
          <a:prstGeom prst="roundRect">
            <a:avLst>
              <a:gd name="adj" fmla="val 5638"/>
            </a:avLst>
          </a:prstGeom>
          <a:solidFill>
            <a:srgbClr val="FFFFFF"/>
          </a:solidFill>
          <a:ln w="6350">
            <a:solidFill>
              <a:srgbClr val="E3E6E4"/>
            </a:solidFill>
            <a:prstDash val="solid"/>
          </a:ln>
        </p:spPr>
      </p:sp>
      <p:sp>
        <p:nvSpPr>
          <p:cNvPr id="9" name="Text 7"/>
          <p:cNvSpPr/>
          <p:nvPr/>
        </p:nvSpPr>
        <p:spPr>
          <a:xfrm>
            <a:off x="4628284" y="2100870"/>
            <a:ext cx="3023495" cy="652665"/>
          </a:xfrm>
          <a:prstGeom prst="rect">
            <a:avLst/>
          </a:prstGeom>
          <a:noFill/>
          <a:ln/>
        </p:spPr>
        <p:txBody>
          <a:bodyPr wrap="square" lIns="0" tIns="0" rIns="0" bIns="0" rtlCol="0" anchor="t">
            <a:normAutofit/>
          </a:bodyPr>
          <a:lstStyle/>
          <a:p>
            <a:pPr algn="l" indent="0" marL="0">
              <a:lnSpc>
                <a:spcPts val="4940"/>
              </a:lnSpc>
              <a:buNone/>
            </a:pPr>
            <a:r>
              <a:rPr lang="en-US" sz="3800" b="1" dirty="0">
                <a:solidFill>
                  <a:srgbClr val="2563EB"/>
                </a:solidFill>
                <a:latin typeface="JetBrains Mono" pitchFamily="49" charset="0"/>
                <a:ea typeface="JetBrains Mono" pitchFamily="49" charset="-122"/>
                <a:cs typeface="JetBrains Mono" pitchFamily="49" charset="-120"/>
              </a:rPr>
              <a:t>≥ 90 %</a:t>
            </a:r>
            <a:endParaRPr lang="en-US" sz="3800" dirty="0"/>
          </a:p>
        </p:txBody>
      </p:sp>
      <p:sp>
        <p:nvSpPr>
          <p:cNvPr id="10" name="Text 8"/>
          <p:cNvSpPr/>
          <p:nvPr/>
        </p:nvSpPr>
        <p:spPr>
          <a:xfrm>
            <a:off x="4628284" y="2816975"/>
            <a:ext cx="3023495"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Recto/verso reconnus</a:t>
            </a:r>
            <a:endParaRPr lang="en-US" sz="1600" dirty="0"/>
          </a:p>
        </p:txBody>
      </p:sp>
      <p:sp>
        <p:nvSpPr>
          <p:cNvPr id="11" name="Text 9"/>
          <p:cNvSpPr/>
          <p:nvPr/>
        </p:nvSpPr>
        <p:spPr>
          <a:xfrm>
            <a:off x="4628284" y="3170008"/>
            <a:ext cx="302349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Conditions normales</a:t>
            </a:r>
            <a:endParaRPr lang="en-US" sz="1300" dirty="0"/>
          </a:p>
        </p:txBody>
      </p:sp>
      <p:sp>
        <p:nvSpPr>
          <p:cNvPr id="12" name="Shape 10"/>
          <p:cNvSpPr/>
          <p:nvPr/>
        </p:nvSpPr>
        <p:spPr>
          <a:xfrm>
            <a:off x="7978804" y="1869904"/>
            <a:ext cx="3397279" cy="1745730"/>
          </a:xfrm>
          <a:prstGeom prst="roundRect">
            <a:avLst>
              <a:gd name="adj" fmla="val 5638"/>
            </a:avLst>
          </a:prstGeom>
          <a:solidFill>
            <a:srgbClr val="FFFFFF"/>
          </a:solidFill>
          <a:ln w="6350">
            <a:solidFill>
              <a:srgbClr val="E3E6E4"/>
            </a:solidFill>
            <a:prstDash val="solid"/>
          </a:ln>
        </p:spPr>
      </p:sp>
      <p:sp>
        <p:nvSpPr>
          <p:cNvPr id="13" name="Text 11"/>
          <p:cNvSpPr/>
          <p:nvPr/>
        </p:nvSpPr>
        <p:spPr>
          <a:xfrm>
            <a:off x="8209770" y="2100870"/>
            <a:ext cx="3023405" cy="652665"/>
          </a:xfrm>
          <a:prstGeom prst="rect">
            <a:avLst/>
          </a:prstGeom>
          <a:noFill/>
          <a:ln/>
        </p:spPr>
        <p:txBody>
          <a:bodyPr wrap="square" lIns="0" tIns="0" rIns="0" bIns="0" rtlCol="0" anchor="t">
            <a:normAutofit/>
          </a:bodyPr>
          <a:lstStyle/>
          <a:p>
            <a:pPr algn="l" indent="0" marL="0">
              <a:lnSpc>
                <a:spcPts val="4940"/>
              </a:lnSpc>
              <a:buNone/>
            </a:pPr>
            <a:r>
              <a:rPr lang="en-US" sz="3800" b="1" dirty="0">
                <a:solidFill>
                  <a:srgbClr val="2563EB"/>
                </a:solidFill>
                <a:latin typeface="JetBrains Mono" pitchFamily="49" charset="0"/>
                <a:ea typeface="JetBrains Mono" pitchFamily="49" charset="-122"/>
                <a:cs typeface="JetBrains Mono" pitchFamily="49" charset="-120"/>
              </a:rPr>
              <a:t>≈ 2 s</a:t>
            </a:r>
            <a:endParaRPr lang="en-US" sz="3800" dirty="0"/>
          </a:p>
        </p:txBody>
      </p:sp>
      <p:sp>
        <p:nvSpPr>
          <p:cNvPr id="14" name="Text 12"/>
          <p:cNvSpPr/>
          <p:nvPr/>
        </p:nvSpPr>
        <p:spPr>
          <a:xfrm>
            <a:off x="8209770" y="2816975"/>
            <a:ext cx="3023405"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Jusqu’à la capture</a:t>
            </a:r>
            <a:endParaRPr lang="en-US" sz="1600" dirty="0"/>
          </a:p>
        </p:txBody>
      </p:sp>
      <p:sp>
        <p:nvSpPr>
          <p:cNvPr id="15" name="Text 13"/>
          <p:cNvSpPr/>
          <p:nvPr/>
        </p:nvSpPr>
        <p:spPr>
          <a:xfrm>
            <a:off x="8209770" y="3170008"/>
            <a:ext cx="302340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Au maximum</a:t>
            </a:r>
            <a:endParaRPr lang="en-US" sz="1300" dirty="0"/>
          </a:p>
        </p:txBody>
      </p:sp>
      <p:sp>
        <p:nvSpPr>
          <p:cNvPr id="16" name="Text 14"/>
          <p:cNvSpPr/>
          <p:nvPr/>
        </p:nvSpPr>
        <p:spPr>
          <a:xfrm>
            <a:off x="812742" y="3898150"/>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JetBrains Mono" pitchFamily="49" charset="0"/>
                <a:ea typeface="JetBrains Mono" pitchFamily="49" charset="-122"/>
                <a:cs typeface="JetBrains Mono" pitchFamily="49" charset="-120"/>
              </a:rPr>
              <a:t>Android et iOS exigés · ce sont des cibles, pas des résultats</a:t>
            </a:r>
            <a:endParaRPr lang="en-US" sz="1400" dirty="0"/>
          </a:p>
        </p:txBody>
      </p:sp>
      <p:sp>
        <p:nvSpPr>
          <p:cNvPr id="17" name="Text 15"/>
          <p:cNvSpPr/>
          <p:nvPr/>
        </p:nvSpPr>
        <p:spPr>
          <a:xfrm>
            <a:off x="812742" y="6238270"/>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8" name="Text 16"/>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EEA"/>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02 · TECHNOLOGIES</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Technologies et choix techniques</a:t>
            </a:r>
            <a:endParaRPr lang="en-US" sz="3400" dirty="0"/>
          </a:p>
        </p:txBody>
      </p:sp>
      <p:sp>
        <p:nvSpPr>
          <p:cNvPr id="4" name="Shape 2"/>
          <p:cNvSpPr/>
          <p:nvPr/>
        </p:nvSpPr>
        <p:spPr>
          <a:xfrm>
            <a:off x="815917" y="1869901"/>
            <a:ext cx="3397279" cy="1613506"/>
          </a:xfrm>
          <a:prstGeom prst="roundRect">
            <a:avLst>
              <a:gd name="adj" fmla="val 6100"/>
            </a:avLst>
          </a:prstGeom>
          <a:solidFill>
            <a:srgbClr val="FFFFFF"/>
          </a:solidFill>
          <a:ln w="6350">
            <a:solidFill>
              <a:srgbClr val="E3E6E4"/>
            </a:solidFill>
            <a:prstDash val="solid"/>
          </a:ln>
        </p:spPr>
      </p:sp>
      <p:sp>
        <p:nvSpPr>
          <p:cNvPr id="5" name="Text 3"/>
          <p:cNvSpPr/>
          <p:nvPr/>
        </p:nvSpPr>
        <p:spPr>
          <a:xfrm>
            <a:off x="1046884" y="2100870"/>
            <a:ext cx="302340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APPLICATION</a:t>
            </a:r>
            <a:endParaRPr lang="en-US" sz="1200" dirty="0"/>
          </a:p>
        </p:txBody>
      </p:sp>
      <p:sp>
        <p:nvSpPr>
          <p:cNvPr id="6" name="Text 4"/>
          <p:cNvSpPr/>
          <p:nvPr/>
        </p:nvSpPr>
        <p:spPr>
          <a:xfrm>
            <a:off x="1046884" y="2387833"/>
            <a:ext cx="3023405" cy="339119"/>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6181D"/>
                </a:solidFill>
                <a:latin typeface="Inter" pitchFamily="34" charset="0"/>
                <a:ea typeface="Inter" pitchFamily="34" charset="-122"/>
                <a:cs typeface="Inter" pitchFamily="34" charset="-120"/>
              </a:rPr>
              <a:t>Flutter · Dart</a:t>
            </a:r>
            <a:endParaRPr lang="en-US" sz="1900" dirty="0"/>
          </a:p>
        </p:txBody>
      </p:sp>
      <p:sp>
        <p:nvSpPr>
          <p:cNvPr id="7" name="Text 5"/>
          <p:cNvSpPr/>
          <p:nvPr/>
        </p:nvSpPr>
        <p:spPr>
          <a:xfrm>
            <a:off x="1046884" y="2790394"/>
            <a:ext cx="3023405" cy="48744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Android et iOS, traitement dans un Isolate persistant</a:t>
            </a:r>
            <a:endParaRPr lang="en-US" sz="1400" dirty="0"/>
          </a:p>
        </p:txBody>
      </p:sp>
      <p:sp>
        <p:nvSpPr>
          <p:cNvPr id="8" name="Shape 6"/>
          <p:cNvSpPr/>
          <p:nvPr/>
        </p:nvSpPr>
        <p:spPr>
          <a:xfrm>
            <a:off x="4397317" y="1869901"/>
            <a:ext cx="3397365" cy="1613506"/>
          </a:xfrm>
          <a:prstGeom prst="roundRect">
            <a:avLst>
              <a:gd name="adj" fmla="val 6100"/>
            </a:avLst>
          </a:prstGeom>
          <a:solidFill>
            <a:srgbClr val="FFFFFF"/>
          </a:solidFill>
          <a:ln w="6350">
            <a:solidFill>
              <a:srgbClr val="E3E6E4"/>
            </a:solidFill>
            <a:prstDash val="solid"/>
          </a:ln>
        </p:spPr>
      </p:sp>
      <p:sp>
        <p:nvSpPr>
          <p:cNvPr id="9" name="Text 7"/>
          <p:cNvSpPr/>
          <p:nvPr/>
        </p:nvSpPr>
        <p:spPr>
          <a:xfrm>
            <a:off x="4628284" y="2100870"/>
            <a:ext cx="302349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VISION</a:t>
            </a:r>
            <a:endParaRPr lang="en-US" sz="1200" dirty="0"/>
          </a:p>
        </p:txBody>
      </p:sp>
      <p:sp>
        <p:nvSpPr>
          <p:cNvPr id="10" name="Text 8"/>
          <p:cNvSpPr/>
          <p:nvPr/>
        </p:nvSpPr>
        <p:spPr>
          <a:xfrm>
            <a:off x="4628284" y="2387833"/>
            <a:ext cx="3023495" cy="339119"/>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6181D"/>
                </a:solidFill>
                <a:latin typeface="Inter" pitchFamily="34" charset="0"/>
                <a:ea typeface="Inter" pitchFamily="34" charset="-122"/>
                <a:cs typeface="Inter" pitchFamily="34" charset="-120"/>
              </a:rPr>
              <a:t>OpenCV</a:t>
            </a:r>
            <a:endParaRPr lang="en-US" sz="1900" dirty="0"/>
          </a:p>
        </p:txBody>
      </p:sp>
      <p:sp>
        <p:nvSpPr>
          <p:cNvPr id="11" name="Text 9"/>
          <p:cNvSpPr/>
          <p:nvPr/>
        </p:nvSpPr>
        <p:spPr>
          <a:xfrm>
            <a:off x="4628284" y="2790394"/>
            <a:ext cx="3023495" cy="48744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Détection, qualité, redressement, sans entraînement</a:t>
            </a:r>
            <a:endParaRPr lang="en-US" sz="1400" dirty="0"/>
          </a:p>
        </p:txBody>
      </p:sp>
      <p:sp>
        <p:nvSpPr>
          <p:cNvPr id="12" name="Shape 10"/>
          <p:cNvSpPr/>
          <p:nvPr/>
        </p:nvSpPr>
        <p:spPr>
          <a:xfrm>
            <a:off x="7978804" y="1869901"/>
            <a:ext cx="3397279" cy="1613506"/>
          </a:xfrm>
          <a:prstGeom prst="roundRect">
            <a:avLst>
              <a:gd name="adj" fmla="val 6100"/>
            </a:avLst>
          </a:prstGeom>
          <a:solidFill>
            <a:srgbClr val="FFFFFF"/>
          </a:solidFill>
          <a:ln w="6350">
            <a:solidFill>
              <a:srgbClr val="E3E6E4"/>
            </a:solidFill>
            <a:prstDash val="solid"/>
          </a:ln>
        </p:spPr>
      </p:sp>
      <p:sp>
        <p:nvSpPr>
          <p:cNvPr id="13" name="Text 11"/>
          <p:cNvSpPr/>
          <p:nvPr/>
        </p:nvSpPr>
        <p:spPr>
          <a:xfrm>
            <a:off x="8209770" y="2100870"/>
            <a:ext cx="302340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RECONNAISSANCE</a:t>
            </a:r>
            <a:endParaRPr lang="en-US" sz="1200" dirty="0"/>
          </a:p>
        </p:txBody>
      </p:sp>
      <p:sp>
        <p:nvSpPr>
          <p:cNvPr id="14" name="Text 12"/>
          <p:cNvSpPr/>
          <p:nvPr/>
        </p:nvSpPr>
        <p:spPr>
          <a:xfrm>
            <a:off x="8209770" y="2387833"/>
            <a:ext cx="3023405" cy="339119"/>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6181D"/>
                </a:solidFill>
                <a:latin typeface="Inter" pitchFamily="34" charset="0"/>
                <a:ea typeface="Inter" pitchFamily="34" charset="-122"/>
                <a:cs typeface="Inter" pitchFamily="34" charset="-120"/>
              </a:rPr>
              <a:t>Haar · gabarits</a:t>
            </a:r>
            <a:endParaRPr lang="en-US" sz="1900" dirty="0"/>
          </a:p>
        </p:txBody>
      </p:sp>
      <p:sp>
        <p:nvSpPr>
          <p:cNvPr id="15" name="Text 13"/>
          <p:cNvSpPr/>
          <p:nvPr/>
        </p:nvSpPr>
        <p:spPr>
          <a:xfrm>
            <a:off x="8209770" y="2790394"/>
            <a:ext cx="3023405" cy="48744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Visage pré-entraîné, logo et drapeau par template matching</a:t>
            </a:r>
            <a:endParaRPr lang="en-US" sz="1400" dirty="0"/>
          </a:p>
        </p:txBody>
      </p:sp>
      <p:sp>
        <p:nvSpPr>
          <p:cNvPr id="16" name="Text 14"/>
          <p:cNvSpPr/>
          <p:nvPr/>
        </p:nvSpPr>
        <p:spPr>
          <a:xfrm>
            <a:off x="812742" y="3765925"/>
            <a:ext cx="11379258"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Écartés : ML Kit (pas de support iOS) · modèle sur mesure (plusieurs centaines d’images annotées, hors des six semaines)</a:t>
            </a:r>
            <a:endParaRPr lang="en-US" sz="1400" dirty="0"/>
          </a:p>
        </p:txBody>
      </p:sp>
      <p:sp>
        <p:nvSpPr>
          <p:cNvPr id="17" name="Text 15"/>
          <p:cNvSpPr/>
          <p:nvPr/>
        </p:nvSpPr>
        <p:spPr>
          <a:xfrm>
            <a:off x="812742" y="6238270"/>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8" name="Text 16"/>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1"/>
            <a:ext cx="10883510" cy="203777"/>
          </a:xfrm>
          <a:prstGeom prst="rect">
            <a:avLst/>
          </a:prstGeom>
          <a:noFill/>
          <a:ln/>
        </p:spPr>
        <p:txBody>
          <a:bodyPr wrap="square" lIns="0" tIns="0" rIns="0" bIns="0" rtlCol="0" anchor="t">
            <a:normAutofit/>
          </a:bodyPr>
          <a:lstStyle/>
          <a:p>
            <a:pPr algn="l" indent="0" marL="0">
              <a:lnSpc>
                <a:spcPts val="1424"/>
              </a:lnSpc>
              <a:buNone/>
            </a:pPr>
            <a:r>
              <a:rPr lang="en-US" sz="1095" spc="100" kern="0" dirty="0">
                <a:solidFill>
                  <a:srgbClr val="2563EB"/>
                </a:solidFill>
                <a:latin typeface="JetBrains Mono" pitchFamily="49" charset="0"/>
                <a:ea typeface="JetBrains Mono" pitchFamily="49" charset="-122"/>
                <a:cs typeface="JetBrains Mono" pitchFamily="49" charset="-120"/>
              </a:rPr>
              <a:t>02 · ARCHITECTURE</a:t>
            </a:r>
            <a:endParaRPr lang="en-US" sz="1095" dirty="0"/>
          </a:p>
        </p:txBody>
      </p:sp>
      <p:sp>
        <p:nvSpPr>
          <p:cNvPr id="3" name="Text 1"/>
          <p:cNvSpPr/>
          <p:nvPr>
            <p:ph type="title"/>
          </p:nvPr>
        </p:nvSpPr>
        <p:spPr>
          <a:xfrm>
            <a:off x="812742" y="1092690"/>
            <a:ext cx="10883510" cy="452813"/>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6181D"/>
                </a:solidFill>
                <a:latin typeface="Inter" pitchFamily="34" charset="0"/>
                <a:ea typeface="Inter" pitchFamily="34" charset="-122"/>
                <a:cs typeface="Inter" pitchFamily="34" charset="-120"/>
              </a:rPr>
              <a:t>Sept modules par fonctionnalité</a:t>
            </a:r>
            <a:endParaRPr lang="en-US" sz="3060" dirty="0"/>
          </a:p>
        </p:txBody>
      </p:sp>
      <p:sp>
        <p:nvSpPr>
          <p:cNvPr id="4" name="Shape 2"/>
          <p:cNvSpPr/>
          <p:nvPr/>
        </p:nvSpPr>
        <p:spPr>
          <a:xfrm>
            <a:off x="815917" y="1802622"/>
            <a:ext cx="5149879" cy="813666"/>
          </a:xfrm>
          <a:prstGeom prst="roundRect">
            <a:avLst>
              <a:gd name="adj" fmla="val 10536"/>
            </a:avLst>
          </a:prstGeom>
          <a:solidFill>
            <a:srgbClr val="FFFFFF"/>
          </a:solidFill>
          <a:ln w="6350">
            <a:solidFill>
              <a:srgbClr val="E3E6E4"/>
            </a:solidFill>
            <a:prstDash val="solid"/>
          </a:ln>
        </p:spPr>
      </p:sp>
      <p:sp>
        <p:nvSpPr>
          <p:cNvPr id="5" name="Text 3"/>
          <p:cNvSpPr/>
          <p:nvPr/>
        </p:nvSpPr>
        <p:spPr>
          <a:xfrm>
            <a:off x="1008784" y="1970029"/>
            <a:ext cx="490706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Présentation</a:t>
            </a:r>
            <a:endParaRPr lang="en-US" sz="1600" dirty="0"/>
          </a:p>
        </p:txBody>
      </p:sp>
      <p:sp>
        <p:nvSpPr>
          <p:cNvPr id="6" name="Text 4"/>
          <p:cNvSpPr/>
          <p:nvPr/>
        </p:nvSpPr>
        <p:spPr>
          <a:xfrm>
            <a:off x="1008784" y="2234220"/>
            <a:ext cx="4907069"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Écrans, view-models</a:t>
            </a:r>
            <a:endParaRPr lang="en-US" sz="1300" dirty="0"/>
          </a:p>
        </p:txBody>
      </p:sp>
      <p:sp>
        <p:nvSpPr>
          <p:cNvPr id="7" name="Shape 5"/>
          <p:cNvSpPr/>
          <p:nvPr/>
        </p:nvSpPr>
        <p:spPr>
          <a:xfrm>
            <a:off x="815917" y="2749578"/>
            <a:ext cx="5149879" cy="813666"/>
          </a:xfrm>
          <a:prstGeom prst="roundRect">
            <a:avLst>
              <a:gd name="adj" fmla="val 10536"/>
            </a:avLst>
          </a:prstGeom>
          <a:solidFill>
            <a:srgbClr val="FFFFFF"/>
          </a:solidFill>
          <a:ln w="6350">
            <a:solidFill>
              <a:srgbClr val="E3E6E4"/>
            </a:solidFill>
            <a:prstDash val="solid"/>
          </a:ln>
        </p:spPr>
      </p:sp>
      <p:sp>
        <p:nvSpPr>
          <p:cNvPr id="8" name="Text 6"/>
          <p:cNvSpPr/>
          <p:nvPr/>
        </p:nvSpPr>
        <p:spPr>
          <a:xfrm>
            <a:off x="1008784" y="2916988"/>
            <a:ext cx="490706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Données</a:t>
            </a:r>
            <a:endParaRPr lang="en-US" sz="1600" dirty="0"/>
          </a:p>
        </p:txBody>
      </p:sp>
      <p:sp>
        <p:nvSpPr>
          <p:cNvPr id="9" name="Text 7"/>
          <p:cNvSpPr/>
          <p:nvPr/>
        </p:nvSpPr>
        <p:spPr>
          <a:xfrm>
            <a:off x="1008784" y="3181176"/>
            <a:ext cx="4907069"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OpenCV, caméra</a:t>
            </a:r>
            <a:endParaRPr lang="en-US" sz="1300" dirty="0"/>
          </a:p>
        </p:txBody>
      </p:sp>
      <p:sp>
        <p:nvSpPr>
          <p:cNvPr id="10" name="Shape 8"/>
          <p:cNvSpPr/>
          <p:nvPr/>
        </p:nvSpPr>
        <p:spPr>
          <a:xfrm>
            <a:off x="815917" y="3696537"/>
            <a:ext cx="5149879" cy="813666"/>
          </a:xfrm>
          <a:prstGeom prst="roundRect">
            <a:avLst>
              <a:gd name="adj" fmla="val 10536"/>
            </a:avLst>
          </a:prstGeom>
          <a:solidFill>
            <a:srgbClr val="DBE7FF"/>
          </a:solidFill>
          <a:ln w="6350">
            <a:solidFill>
              <a:srgbClr val="E3E6E4"/>
            </a:solidFill>
            <a:prstDash val="solid"/>
          </a:ln>
        </p:spPr>
      </p:sp>
      <p:sp>
        <p:nvSpPr>
          <p:cNvPr id="11" name="Text 9"/>
          <p:cNvSpPr/>
          <p:nvPr/>
        </p:nvSpPr>
        <p:spPr>
          <a:xfrm>
            <a:off x="1008784" y="3863947"/>
            <a:ext cx="4907069"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Domaine</a:t>
            </a:r>
            <a:endParaRPr lang="en-US" sz="1600" dirty="0"/>
          </a:p>
        </p:txBody>
      </p:sp>
      <p:sp>
        <p:nvSpPr>
          <p:cNvPr id="12" name="Text 10"/>
          <p:cNvSpPr/>
          <p:nvPr/>
        </p:nvSpPr>
        <p:spPr>
          <a:xfrm>
            <a:off x="1008784" y="4128136"/>
            <a:ext cx="4907069"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Entités et use cases, sans OpenCV</a:t>
            </a:r>
            <a:endParaRPr lang="en-US" sz="1300" dirty="0"/>
          </a:p>
        </p:txBody>
      </p:sp>
      <p:sp>
        <p:nvSpPr>
          <p:cNvPr id="13" name="Text 11"/>
          <p:cNvSpPr/>
          <p:nvPr/>
        </p:nvSpPr>
        <p:spPr>
          <a:xfrm>
            <a:off x="6226117" y="1802622"/>
            <a:ext cx="5149965" cy="425046"/>
          </a:xfrm>
          <a:prstGeom prst="roundRect">
            <a:avLst>
              <a:gd name="adj" fmla="val 17180"/>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camera_capture</a:t>
            </a:r>
            <a:endParaRPr lang="en-US" sz="1016" dirty="0"/>
          </a:p>
        </p:txBody>
      </p:sp>
      <p:sp>
        <p:nvSpPr>
          <p:cNvPr id="14" name="Text 12"/>
          <p:cNvSpPr/>
          <p:nvPr/>
        </p:nvSpPr>
        <p:spPr>
          <a:xfrm>
            <a:off x="6226117" y="2322860"/>
            <a:ext cx="5149965" cy="424959"/>
          </a:xfrm>
          <a:prstGeom prst="roundRect">
            <a:avLst>
              <a:gd name="adj" fmla="val 17184"/>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document_detection</a:t>
            </a:r>
            <a:endParaRPr lang="en-US" sz="1016" dirty="0"/>
          </a:p>
        </p:txBody>
      </p:sp>
      <p:sp>
        <p:nvSpPr>
          <p:cNvPr id="15" name="Text 13"/>
          <p:cNvSpPr/>
          <p:nvPr/>
        </p:nvSpPr>
        <p:spPr>
          <a:xfrm>
            <a:off x="6226117" y="2843011"/>
            <a:ext cx="5149965" cy="424959"/>
          </a:xfrm>
          <a:prstGeom prst="roundRect">
            <a:avLst>
              <a:gd name="adj" fmla="val 17184"/>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image_quality</a:t>
            </a:r>
            <a:endParaRPr lang="en-US" sz="1016" dirty="0"/>
          </a:p>
        </p:txBody>
      </p:sp>
      <p:sp>
        <p:nvSpPr>
          <p:cNvPr id="16" name="Text 14"/>
          <p:cNvSpPr/>
          <p:nvPr/>
        </p:nvSpPr>
        <p:spPr>
          <a:xfrm>
            <a:off x="6226117" y="3363162"/>
            <a:ext cx="5149965" cy="424959"/>
          </a:xfrm>
          <a:prstGeom prst="roundRect">
            <a:avLst>
              <a:gd name="adj" fmla="val 17184"/>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autocapture</a:t>
            </a:r>
            <a:endParaRPr lang="en-US" sz="1016" dirty="0"/>
          </a:p>
        </p:txBody>
      </p:sp>
      <p:sp>
        <p:nvSpPr>
          <p:cNvPr id="17" name="Text 15"/>
          <p:cNvSpPr/>
          <p:nvPr/>
        </p:nvSpPr>
        <p:spPr>
          <a:xfrm>
            <a:off x="6226117" y="3883313"/>
            <a:ext cx="5149965" cy="424959"/>
          </a:xfrm>
          <a:prstGeom prst="roundRect">
            <a:avLst>
              <a:gd name="adj" fmla="val 17184"/>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image_postprocessing</a:t>
            </a:r>
            <a:endParaRPr lang="en-US" sz="1016" dirty="0"/>
          </a:p>
        </p:txBody>
      </p:sp>
      <p:sp>
        <p:nvSpPr>
          <p:cNvPr id="18" name="Text 16"/>
          <p:cNvSpPr/>
          <p:nvPr/>
        </p:nvSpPr>
        <p:spPr>
          <a:xfrm>
            <a:off x="6226117" y="4403465"/>
            <a:ext cx="5149965" cy="424959"/>
          </a:xfrm>
          <a:prstGeom prst="roundRect">
            <a:avLst>
              <a:gd name="adj" fmla="val 17184"/>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result_preview</a:t>
            </a:r>
            <a:endParaRPr lang="en-US" sz="1016" dirty="0"/>
          </a:p>
        </p:txBody>
      </p:sp>
      <p:sp>
        <p:nvSpPr>
          <p:cNvPr id="19" name="Text 17"/>
          <p:cNvSpPr/>
          <p:nvPr/>
        </p:nvSpPr>
        <p:spPr>
          <a:xfrm>
            <a:off x="6226117" y="4923616"/>
            <a:ext cx="5149965" cy="424959"/>
          </a:xfrm>
          <a:prstGeom prst="roundRect">
            <a:avLst>
              <a:gd name="adj" fmla="val 17184"/>
            </a:avLst>
          </a:prstGeom>
          <a:solidFill>
            <a:srgbClr val="FFFFFF"/>
          </a:solidFill>
          <a:ln w="6350">
            <a:solidFill>
              <a:srgbClr val="E3E6E4"/>
            </a:solidFill>
            <a:prstDash val="solid"/>
          </a:ln>
        </p:spPr>
        <p:txBody>
          <a:bodyPr wrap="square" lIns="133379" tIns="107979" rIns="0" bIns="82463" rtlCol="0" anchor="t">
            <a:normAutofit/>
          </a:bodyPr>
          <a:lstStyle/>
          <a:p>
            <a:pPr algn="l" indent="0" marL="0">
              <a:lnSpc>
                <a:spcPts val="1320"/>
              </a:lnSpc>
              <a:buNone/>
            </a:pPr>
            <a:r>
              <a:rPr lang="en-US" sz="1016" dirty="0">
                <a:solidFill>
                  <a:srgbClr val="16181D"/>
                </a:solidFill>
                <a:latin typeface="JetBrains Mono" pitchFamily="49" charset="0"/>
                <a:ea typeface="JetBrains Mono" pitchFamily="49" charset="-122"/>
                <a:cs typeface="JetBrains Mono" pitchFamily="49" charset="-120"/>
              </a:rPr>
              <a:t>capture_history</a:t>
            </a:r>
            <a:endParaRPr lang="en-US" sz="1016" dirty="0"/>
          </a:p>
        </p:txBody>
      </p:sp>
      <p:sp>
        <p:nvSpPr>
          <p:cNvPr id="20" name="Text 18"/>
          <p:cNvSpPr/>
          <p:nvPr/>
        </p:nvSpPr>
        <p:spPr>
          <a:xfrm>
            <a:off x="812742" y="5631092"/>
            <a:ext cx="10883510" cy="236335"/>
          </a:xfrm>
          <a:prstGeom prst="rect">
            <a:avLst/>
          </a:prstGeom>
          <a:noFill/>
          <a:ln/>
        </p:spPr>
        <p:txBody>
          <a:bodyPr wrap="square" lIns="0" tIns="0" rIns="0" bIns="0" rtlCol="0" anchor="t">
            <a:normAutofit/>
          </a:bodyPr>
          <a:lstStyle/>
          <a:p>
            <a:pPr algn="l" indent="0" marL="0">
              <a:lnSpc>
                <a:spcPts val="1672"/>
              </a:lnSpc>
              <a:buNone/>
            </a:pPr>
            <a:r>
              <a:rPr lang="en-US" sz="1286" dirty="0">
                <a:solidFill>
                  <a:srgbClr val="5B6168"/>
                </a:solidFill>
                <a:latin typeface="Inter" pitchFamily="34" charset="0"/>
                <a:ea typeface="Inter" pitchFamily="34" charset="-122"/>
                <a:cs typeface="Inter" pitchFamily="34" charset="-120"/>
              </a:rPr>
              <a:t>Le domaine pur ne dépend ni de Flutter ni d’OpenCV : il se teste sans caméra.</a:t>
            </a:r>
            <a:endParaRPr lang="en-US" sz="1286" dirty="0"/>
          </a:p>
        </p:txBody>
      </p:sp>
      <p:sp>
        <p:nvSpPr>
          <p:cNvPr id="21" name="Text 19"/>
          <p:cNvSpPr/>
          <p:nvPr/>
        </p:nvSpPr>
        <p:spPr>
          <a:xfrm>
            <a:off x="812742" y="6238270"/>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22" name="Text 20"/>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EEA"/>
        </a:solidFill>
      </p:bgPr>
    </p:bg>
    <p:spTree>
      <p:nvGrpSpPr>
        <p:cNvPr id="1" name=""/>
        <p:cNvGrpSpPr/>
        <p:nvPr/>
      </p:nvGrpSpPr>
      <p:grpSpPr>
        <a:xfrm>
          <a:off x="0" y="0"/>
          <a:ext cx="0" cy="0"/>
          <a:chOff x="0" y="0"/>
          <a:chExt cx="0" cy="0"/>
        </a:xfrm>
      </p:grpSpPr>
      <p:sp>
        <p:nvSpPr>
          <p:cNvPr id="2" name="Text 0"/>
          <p:cNvSpPr/>
          <p:nvPr/>
        </p:nvSpPr>
        <p:spPr>
          <a:xfrm>
            <a:off x="812742" y="812741"/>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03 · DÉTECTION</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Pipeline de détection</a:t>
            </a:r>
            <a:endParaRPr lang="en-US" sz="3400" dirty="0"/>
          </a:p>
        </p:txBody>
      </p:sp>
      <p:sp>
        <p:nvSpPr>
          <p:cNvPr id="4" name="Shape 2"/>
          <p:cNvSpPr/>
          <p:nvPr/>
        </p:nvSpPr>
        <p:spPr>
          <a:xfrm>
            <a:off x="815917" y="1869901"/>
            <a:ext cx="2005330" cy="1877868"/>
          </a:xfrm>
          <a:prstGeom prst="roundRect">
            <a:avLst>
              <a:gd name="adj" fmla="val 5241"/>
            </a:avLst>
          </a:prstGeom>
          <a:solidFill>
            <a:srgbClr val="FFFFFF"/>
          </a:solidFill>
          <a:ln w="6350">
            <a:solidFill>
              <a:srgbClr val="E3E6E4"/>
            </a:solidFill>
            <a:prstDash val="solid"/>
          </a:ln>
        </p:spPr>
      </p:sp>
      <p:sp>
        <p:nvSpPr>
          <p:cNvPr id="5" name="Text 3"/>
          <p:cNvSpPr/>
          <p:nvPr/>
        </p:nvSpPr>
        <p:spPr>
          <a:xfrm>
            <a:off x="1046884" y="2100867"/>
            <a:ext cx="1594196"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563EB"/>
                </a:solidFill>
                <a:latin typeface="JetBrains Mono" pitchFamily="49" charset="0"/>
                <a:ea typeface="JetBrains Mono" pitchFamily="49" charset="-122"/>
                <a:cs typeface="JetBrains Mono" pitchFamily="49" charset="-120"/>
              </a:rPr>
              <a:t>1</a:t>
            </a:r>
            <a:endParaRPr lang="en-US" sz="2000" dirty="0"/>
          </a:p>
        </p:txBody>
      </p:sp>
      <p:sp>
        <p:nvSpPr>
          <p:cNvPr id="6" name="Text 4"/>
          <p:cNvSpPr/>
          <p:nvPr/>
        </p:nvSpPr>
        <p:spPr>
          <a:xfrm>
            <a:off x="1046884" y="2519797"/>
            <a:ext cx="1594196"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Frame</a:t>
            </a:r>
            <a:endParaRPr lang="en-US" sz="1600" dirty="0"/>
          </a:p>
        </p:txBody>
      </p:sp>
      <p:sp>
        <p:nvSpPr>
          <p:cNvPr id="7" name="Text 5"/>
          <p:cNvSpPr/>
          <p:nvPr/>
        </p:nvSpPr>
        <p:spPr>
          <a:xfrm>
            <a:off x="1046884" y="2872826"/>
            <a:ext cx="1594196"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YUV420 ou BGRA vers Mat OpenCV</a:t>
            </a:r>
            <a:endParaRPr lang="en-US" sz="1300" dirty="0"/>
          </a:p>
        </p:txBody>
      </p:sp>
      <p:sp>
        <p:nvSpPr>
          <p:cNvPr id="8" name="Shape 6"/>
          <p:cNvSpPr/>
          <p:nvPr/>
        </p:nvSpPr>
        <p:spPr>
          <a:xfrm>
            <a:off x="2954539" y="1869901"/>
            <a:ext cx="2005417" cy="1877868"/>
          </a:xfrm>
          <a:prstGeom prst="roundRect">
            <a:avLst>
              <a:gd name="adj" fmla="val 5241"/>
            </a:avLst>
          </a:prstGeom>
          <a:solidFill>
            <a:srgbClr val="FFFFFF"/>
          </a:solidFill>
          <a:ln w="6350">
            <a:solidFill>
              <a:srgbClr val="E3E6E4"/>
            </a:solidFill>
            <a:prstDash val="solid"/>
          </a:ln>
        </p:spPr>
      </p:sp>
      <p:sp>
        <p:nvSpPr>
          <p:cNvPr id="9" name="Text 7"/>
          <p:cNvSpPr/>
          <p:nvPr/>
        </p:nvSpPr>
        <p:spPr>
          <a:xfrm>
            <a:off x="3185506" y="2100867"/>
            <a:ext cx="1594283"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563EB"/>
                </a:solidFill>
                <a:latin typeface="JetBrains Mono" pitchFamily="49" charset="0"/>
                <a:ea typeface="JetBrains Mono" pitchFamily="49" charset="-122"/>
                <a:cs typeface="JetBrains Mono" pitchFamily="49" charset="-120"/>
              </a:rPr>
              <a:t>2</a:t>
            </a:r>
            <a:endParaRPr lang="en-US" sz="2000" dirty="0"/>
          </a:p>
        </p:txBody>
      </p:sp>
      <p:sp>
        <p:nvSpPr>
          <p:cNvPr id="10" name="Text 8"/>
          <p:cNvSpPr/>
          <p:nvPr/>
        </p:nvSpPr>
        <p:spPr>
          <a:xfrm>
            <a:off x="3185506" y="2519797"/>
            <a:ext cx="159428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CLAHE</a:t>
            </a:r>
            <a:endParaRPr lang="en-US" sz="1600" dirty="0"/>
          </a:p>
        </p:txBody>
      </p:sp>
      <p:sp>
        <p:nvSpPr>
          <p:cNvPr id="11" name="Text 9"/>
          <p:cNvSpPr/>
          <p:nvPr/>
        </p:nvSpPr>
        <p:spPr>
          <a:xfrm>
            <a:off x="3185506" y="2872826"/>
            <a:ext cx="1594283"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Contraste local avant détection</a:t>
            </a:r>
            <a:endParaRPr lang="en-US" sz="1300" dirty="0"/>
          </a:p>
        </p:txBody>
      </p:sp>
      <p:sp>
        <p:nvSpPr>
          <p:cNvPr id="12" name="Shape 10"/>
          <p:cNvSpPr/>
          <p:nvPr/>
        </p:nvSpPr>
        <p:spPr>
          <a:xfrm>
            <a:off x="5093248" y="1869901"/>
            <a:ext cx="2005417" cy="1877868"/>
          </a:xfrm>
          <a:prstGeom prst="roundRect">
            <a:avLst>
              <a:gd name="adj" fmla="val 5241"/>
            </a:avLst>
          </a:prstGeom>
          <a:solidFill>
            <a:srgbClr val="FFFFFF"/>
          </a:solidFill>
          <a:ln w="6350">
            <a:solidFill>
              <a:srgbClr val="E3E6E4"/>
            </a:solidFill>
            <a:prstDash val="solid"/>
          </a:ln>
        </p:spPr>
      </p:sp>
      <p:sp>
        <p:nvSpPr>
          <p:cNvPr id="13" name="Text 11"/>
          <p:cNvSpPr/>
          <p:nvPr/>
        </p:nvSpPr>
        <p:spPr>
          <a:xfrm>
            <a:off x="5324215" y="2100867"/>
            <a:ext cx="1594283"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563EB"/>
                </a:solidFill>
                <a:latin typeface="JetBrains Mono" pitchFamily="49" charset="0"/>
                <a:ea typeface="JetBrains Mono" pitchFamily="49" charset="-122"/>
                <a:cs typeface="JetBrains Mono" pitchFamily="49" charset="-120"/>
              </a:rPr>
              <a:t>3</a:t>
            </a:r>
            <a:endParaRPr lang="en-US" sz="2000" dirty="0"/>
          </a:p>
        </p:txBody>
      </p:sp>
      <p:sp>
        <p:nvSpPr>
          <p:cNvPr id="14" name="Text 12"/>
          <p:cNvSpPr/>
          <p:nvPr/>
        </p:nvSpPr>
        <p:spPr>
          <a:xfrm>
            <a:off x="5324215" y="2519797"/>
            <a:ext cx="159428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Quatre passes</a:t>
            </a:r>
            <a:endParaRPr lang="en-US" sz="1600" dirty="0"/>
          </a:p>
        </p:txBody>
      </p:sp>
      <p:sp>
        <p:nvSpPr>
          <p:cNvPr id="15" name="Text 13"/>
          <p:cNvSpPr/>
          <p:nvPr/>
        </p:nvSpPr>
        <p:spPr>
          <a:xfrm>
            <a:off x="5324215" y="2872826"/>
            <a:ext cx="1594283" cy="669377"/>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Canny, adaptatif, HSV + Otsu, gradient</a:t>
            </a:r>
            <a:endParaRPr lang="en-US" sz="1300" dirty="0"/>
          </a:p>
        </p:txBody>
      </p:sp>
      <p:sp>
        <p:nvSpPr>
          <p:cNvPr id="16" name="Shape 14"/>
          <p:cNvSpPr/>
          <p:nvPr/>
        </p:nvSpPr>
        <p:spPr>
          <a:xfrm>
            <a:off x="7231957" y="1869901"/>
            <a:ext cx="2005417" cy="1877868"/>
          </a:xfrm>
          <a:prstGeom prst="roundRect">
            <a:avLst>
              <a:gd name="adj" fmla="val 5241"/>
            </a:avLst>
          </a:prstGeom>
          <a:solidFill>
            <a:srgbClr val="FFFFFF"/>
          </a:solidFill>
          <a:ln w="6350">
            <a:solidFill>
              <a:srgbClr val="E3E6E4"/>
            </a:solidFill>
            <a:prstDash val="solid"/>
          </a:ln>
        </p:spPr>
      </p:sp>
      <p:sp>
        <p:nvSpPr>
          <p:cNvPr id="17" name="Text 15"/>
          <p:cNvSpPr/>
          <p:nvPr/>
        </p:nvSpPr>
        <p:spPr>
          <a:xfrm>
            <a:off x="7462924" y="2100867"/>
            <a:ext cx="1594283"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563EB"/>
                </a:solidFill>
                <a:latin typeface="JetBrains Mono" pitchFamily="49" charset="0"/>
                <a:ea typeface="JetBrains Mono" pitchFamily="49" charset="-122"/>
                <a:cs typeface="JetBrains Mono" pitchFamily="49" charset="-120"/>
              </a:rPr>
              <a:t>4</a:t>
            </a:r>
            <a:endParaRPr lang="en-US" sz="2000" dirty="0"/>
          </a:p>
        </p:txBody>
      </p:sp>
      <p:sp>
        <p:nvSpPr>
          <p:cNvPr id="18" name="Text 16"/>
          <p:cNvSpPr/>
          <p:nvPr/>
        </p:nvSpPr>
        <p:spPr>
          <a:xfrm>
            <a:off x="7462924" y="2519797"/>
            <a:ext cx="159428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Quadrilatère</a:t>
            </a:r>
            <a:endParaRPr lang="en-US" sz="1600" dirty="0"/>
          </a:p>
        </p:txBody>
      </p:sp>
      <p:sp>
        <p:nvSpPr>
          <p:cNvPr id="19" name="Text 17"/>
          <p:cNvSpPr/>
          <p:nvPr/>
        </p:nvSpPr>
        <p:spPr>
          <a:xfrm>
            <a:off x="7462924" y="2872826"/>
            <a:ext cx="1594283"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Contours et score, retenu si ≥ 0,30</a:t>
            </a:r>
            <a:endParaRPr lang="en-US" sz="1300" dirty="0"/>
          </a:p>
        </p:txBody>
      </p:sp>
      <p:sp>
        <p:nvSpPr>
          <p:cNvPr id="20" name="Shape 18"/>
          <p:cNvSpPr/>
          <p:nvPr/>
        </p:nvSpPr>
        <p:spPr>
          <a:xfrm>
            <a:off x="9370665" y="1869901"/>
            <a:ext cx="2005417" cy="1877868"/>
          </a:xfrm>
          <a:prstGeom prst="roundRect">
            <a:avLst>
              <a:gd name="adj" fmla="val 5241"/>
            </a:avLst>
          </a:prstGeom>
          <a:solidFill>
            <a:srgbClr val="FFFFFF"/>
          </a:solidFill>
          <a:ln w="6350">
            <a:solidFill>
              <a:srgbClr val="E3E6E4"/>
            </a:solidFill>
            <a:prstDash val="solid"/>
          </a:ln>
        </p:spPr>
      </p:sp>
      <p:sp>
        <p:nvSpPr>
          <p:cNvPr id="21" name="Text 19"/>
          <p:cNvSpPr/>
          <p:nvPr/>
        </p:nvSpPr>
        <p:spPr>
          <a:xfrm>
            <a:off x="9601633" y="2100867"/>
            <a:ext cx="1594283"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563EB"/>
                </a:solidFill>
                <a:latin typeface="JetBrains Mono" pitchFamily="49" charset="0"/>
                <a:ea typeface="JetBrains Mono" pitchFamily="49" charset="-122"/>
                <a:cs typeface="JetBrains Mono" pitchFamily="49" charset="-120"/>
              </a:rPr>
              <a:t>5</a:t>
            </a:r>
            <a:endParaRPr lang="en-US" sz="2000" dirty="0"/>
          </a:p>
        </p:txBody>
      </p:sp>
      <p:sp>
        <p:nvSpPr>
          <p:cNvPr id="22" name="Text 20"/>
          <p:cNvSpPr/>
          <p:nvPr/>
        </p:nvSpPr>
        <p:spPr>
          <a:xfrm>
            <a:off x="9601633" y="2519797"/>
            <a:ext cx="159428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Warp</a:t>
            </a:r>
            <a:endParaRPr lang="en-US" sz="1600" dirty="0"/>
          </a:p>
        </p:txBody>
      </p:sp>
      <p:sp>
        <p:nvSpPr>
          <p:cNvPr id="23" name="Text 21"/>
          <p:cNvSpPr/>
          <p:nvPr/>
        </p:nvSpPr>
        <p:spPr>
          <a:xfrm>
            <a:off x="9601633" y="2872826"/>
            <a:ext cx="1594283" cy="454718"/>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Carte redressée en 856 × 540 px</a:t>
            </a:r>
            <a:endParaRPr lang="en-US" sz="1300" dirty="0"/>
          </a:p>
        </p:txBody>
      </p:sp>
      <p:sp>
        <p:nvSpPr>
          <p:cNvPr id="24" name="Text 22"/>
          <p:cNvSpPr/>
          <p:nvPr/>
        </p:nvSpPr>
        <p:spPr>
          <a:xfrm>
            <a:off x="812742" y="4030287"/>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Le gradient morphologique n’agit qu’en dernier recours (aucun candidat à 0,65).</a:t>
            </a:r>
            <a:endParaRPr lang="en-US" sz="1400" dirty="0"/>
          </a:p>
        </p:txBody>
      </p:sp>
      <p:sp>
        <p:nvSpPr>
          <p:cNvPr id="25" name="Text 23"/>
          <p:cNvSpPr/>
          <p:nvPr/>
        </p:nvSpPr>
        <p:spPr>
          <a:xfrm>
            <a:off x="812742" y="6238270"/>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26" name="Text 24"/>
          <p:cNvSpPr/>
          <p:nvPr/>
        </p:nvSpPr>
        <p:spPr>
          <a:xfrm>
            <a:off x="9417107" y="6238270"/>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03 · AUTOCAPTURE</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Autocapture : une machine à états</a:t>
            </a:r>
            <a:endParaRPr lang="en-US" sz="3400" dirty="0"/>
          </a:p>
        </p:txBody>
      </p:sp>
      <p:sp>
        <p:nvSpPr>
          <p:cNvPr id="4" name="Text 2"/>
          <p:cNvSpPr/>
          <p:nvPr/>
        </p:nvSpPr>
        <p:spPr>
          <a:xfrm>
            <a:off x="815917" y="1869901"/>
            <a:ext cx="2025679" cy="498735"/>
          </a:xfrm>
          <a:custGeom>
            <a:avLst/>
            <a:gdLst/>
            <a:ahLst/>
            <a:cxnLst/>
            <a:rect l="l" t="t" r="r" b="b"/>
            <a:pathLst>
              <a:path w="2025679" h="498735">
                <a:moveTo>
                  <a:pt x="73025" y="0"/>
                </a:moveTo>
                <a:lnTo>
                  <a:pt x="1952654" y="0"/>
                </a:lnTo>
                <a:arcTo hR="73025" wR="73025" stAng="16200000" swAng="5400000"/>
                <a:lnTo>
                  <a:pt x="2025679" y="425710"/>
                </a:lnTo>
                <a:arcTo hR="73025" wR="73025" stAng="0" swAng="5400000"/>
                <a:lnTo>
                  <a:pt x="73025" y="498735"/>
                </a:lnTo>
                <a:arcTo hR="73025" wR="73025" stAng="5400000" swAng="5400000"/>
                <a:lnTo>
                  <a:pt x="0" y="73025"/>
                </a:lnTo>
                <a:arcTo hR="73025" wR="73025" stAng="10800000" swAng="5400000"/>
                <a:close/>
              </a:path>
            </a:pathLst>
          </a:custGeom>
          <a:solidFill>
            <a:srgbClr val="FFFFFF"/>
          </a:solidFill>
          <a:ln w="6350">
            <a:solidFill>
              <a:srgbClr val="E3E6E4"/>
            </a:solidFill>
            <a:prstDash val="solid"/>
          </a:ln>
        </p:spPr>
        <p:txBody>
          <a:bodyPr wrap="square" lIns="37428" tIns="142067" rIns="37428" bIns="116609" rtlCol="0" anchor="t">
            <a:normAutofit/>
          </a:bodyPr>
          <a:lstStyle/>
          <a:p>
            <a:pPr algn="ctr" indent="0" marL="0">
              <a:lnSpc>
                <a:spcPts val="1690"/>
              </a:lnSpc>
              <a:buNone/>
            </a:pPr>
            <a:r>
              <a:rPr lang="en-US" sz="1300" dirty="0">
                <a:solidFill>
                  <a:srgbClr val="16181D"/>
                </a:solidFill>
                <a:latin typeface="JetBrains Mono" pitchFamily="49" charset="0"/>
                <a:ea typeface="JetBrains Mono" pitchFamily="49" charset="-122"/>
                <a:cs typeface="JetBrains Mono" pitchFamily="49" charset="-120"/>
              </a:rPr>
              <a:t>searching</a:t>
            </a:r>
            <a:endParaRPr lang="en-US" sz="1300" dirty="0"/>
          </a:p>
        </p:txBody>
      </p:sp>
      <p:sp>
        <p:nvSpPr>
          <p:cNvPr id="5" name="Text 3"/>
          <p:cNvSpPr/>
          <p:nvPr/>
        </p:nvSpPr>
        <p:spPr>
          <a:xfrm>
            <a:off x="2949517" y="1869901"/>
            <a:ext cx="2025765" cy="498735"/>
          </a:xfrm>
          <a:custGeom>
            <a:avLst/>
            <a:gdLst/>
            <a:ahLst/>
            <a:cxnLst/>
            <a:rect l="l" t="t" r="r" b="b"/>
            <a:pathLst>
              <a:path w="2025765" h="498735">
                <a:moveTo>
                  <a:pt x="73025" y="0"/>
                </a:moveTo>
                <a:lnTo>
                  <a:pt x="1952740" y="0"/>
                </a:lnTo>
                <a:arcTo hR="73025" wR="73025" stAng="16200000" swAng="5400000"/>
                <a:lnTo>
                  <a:pt x="2025765" y="425710"/>
                </a:lnTo>
                <a:arcTo hR="73025" wR="73025" stAng="0" swAng="5400000"/>
                <a:lnTo>
                  <a:pt x="73025" y="498735"/>
                </a:lnTo>
                <a:arcTo hR="73025" wR="73025" stAng="5400000" swAng="5400000"/>
                <a:lnTo>
                  <a:pt x="0" y="73025"/>
                </a:lnTo>
                <a:arcTo hR="73025" wR="73025" stAng="10800000" swAng="5400000"/>
                <a:close/>
              </a:path>
            </a:pathLst>
          </a:custGeom>
          <a:solidFill>
            <a:srgbClr val="FFFFFF"/>
          </a:solidFill>
          <a:ln w="6350">
            <a:solidFill>
              <a:srgbClr val="E3E6E4"/>
            </a:solidFill>
            <a:prstDash val="solid"/>
          </a:ln>
        </p:spPr>
        <p:txBody>
          <a:bodyPr wrap="square" lIns="37427" tIns="142067" rIns="37427" bIns="116609" rtlCol="0" anchor="t">
            <a:normAutofit/>
          </a:bodyPr>
          <a:lstStyle/>
          <a:p>
            <a:pPr algn="ctr" indent="0" marL="0">
              <a:lnSpc>
                <a:spcPts val="1690"/>
              </a:lnSpc>
              <a:buNone/>
            </a:pPr>
            <a:r>
              <a:rPr lang="en-US" sz="1300" dirty="0">
                <a:solidFill>
                  <a:srgbClr val="16181D"/>
                </a:solidFill>
                <a:latin typeface="JetBrains Mono" pitchFamily="49" charset="0"/>
                <a:ea typeface="JetBrains Mono" pitchFamily="49" charset="-122"/>
                <a:cs typeface="JetBrains Mono" pitchFamily="49" charset="-120"/>
              </a:rPr>
              <a:t>poorQuality</a:t>
            </a:r>
            <a:endParaRPr lang="en-US" sz="1300" dirty="0"/>
          </a:p>
        </p:txBody>
      </p:sp>
      <p:sp>
        <p:nvSpPr>
          <p:cNvPr id="6" name="Text 4"/>
          <p:cNvSpPr/>
          <p:nvPr/>
        </p:nvSpPr>
        <p:spPr>
          <a:xfrm>
            <a:off x="5083204" y="1869901"/>
            <a:ext cx="2025679" cy="498735"/>
          </a:xfrm>
          <a:custGeom>
            <a:avLst/>
            <a:gdLst/>
            <a:ahLst/>
            <a:cxnLst/>
            <a:rect l="l" t="t" r="r" b="b"/>
            <a:pathLst>
              <a:path w="2025679" h="498735">
                <a:moveTo>
                  <a:pt x="73025" y="0"/>
                </a:moveTo>
                <a:lnTo>
                  <a:pt x="1952654" y="0"/>
                </a:lnTo>
                <a:arcTo hR="73025" wR="73025" stAng="16200000" swAng="5400000"/>
                <a:lnTo>
                  <a:pt x="2025679" y="425710"/>
                </a:lnTo>
                <a:arcTo hR="73025" wR="73025" stAng="0" swAng="5400000"/>
                <a:lnTo>
                  <a:pt x="73025" y="498735"/>
                </a:lnTo>
                <a:arcTo hR="73025" wR="73025" stAng="5400000" swAng="5400000"/>
                <a:lnTo>
                  <a:pt x="0" y="73025"/>
                </a:lnTo>
                <a:arcTo hR="73025" wR="73025" stAng="10800000" swAng="5400000"/>
                <a:close/>
              </a:path>
            </a:pathLst>
          </a:custGeom>
          <a:solidFill>
            <a:srgbClr val="FFFFFF"/>
          </a:solidFill>
          <a:ln w="6350">
            <a:solidFill>
              <a:srgbClr val="E3E6E4"/>
            </a:solidFill>
            <a:prstDash val="solid"/>
          </a:ln>
        </p:spPr>
        <p:txBody>
          <a:bodyPr wrap="square" lIns="37428" tIns="142067" rIns="37428" bIns="116609" rtlCol="0" anchor="t">
            <a:normAutofit/>
          </a:bodyPr>
          <a:lstStyle/>
          <a:p>
            <a:pPr algn="ctr" indent="0" marL="0">
              <a:lnSpc>
                <a:spcPts val="1690"/>
              </a:lnSpc>
              <a:buNone/>
            </a:pPr>
            <a:r>
              <a:rPr lang="en-US" sz="1300" dirty="0">
                <a:solidFill>
                  <a:srgbClr val="16181D"/>
                </a:solidFill>
                <a:latin typeface="JetBrains Mono" pitchFamily="49" charset="0"/>
                <a:ea typeface="JetBrains Mono" pitchFamily="49" charset="-122"/>
                <a:cs typeface="JetBrains Mono" pitchFamily="49" charset="-120"/>
              </a:rPr>
              <a:t>holding</a:t>
            </a:r>
            <a:endParaRPr lang="en-US" sz="1300" dirty="0"/>
          </a:p>
        </p:txBody>
      </p:sp>
      <p:sp>
        <p:nvSpPr>
          <p:cNvPr id="7" name="Text 5"/>
          <p:cNvSpPr/>
          <p:nvPr/>
        </p:nvSpPr>
        <p:spPr>
          <a:xfrm>
            <a:off x="7216804" y="1869901"/>
            <a:ext cx="2025679" cy="498735"/>
          </a:xfrm>
          <a:custGeom>
            <a:avLst/>
            <a:gdLst/>
            <a:ahLst/>
            <a:cxnLst/>
            <a:rect l="l" t="t" r="r" b="b"/>
            <a:pathLst>
              <a:path w="2025679" h="498735">
                <a:moveTo>
                  <a:pt x="73025" y="0"/>
                </a:moveTo>
                <a:lnTo>
                  <a:pt x="1952654" y="0"/>
                </a:lnTo>
                <a:arcTo hR="73025" wR="73025" stAng="16200000" swAng="5400000"/>
                <a:lnTo>
                  <a:pt x="2025679" y="425710"/>
                </a:lnTo>
                <a:arcTo hR="73025" wR="73025" stAng="0" swAng="5400000"/>
                <a:lnTo>
                  <a:pt x="73025" y="498735"/>
                </a:lnTo>
                <a:arcTo hR="73025" wR="73025" stAng="5400000" swAng="5400000"/>
                <a:lnTo>
                  <a:pt x="0" y="73025"/>
                </a:lnTo>
                <a:arcTo hR="73025" wR="73025" stAng="10800000" swAng="5400000"/>
                <a:close/>
              </a:path>
            </a:pathLst>
          </a:custGeom>
          <a:solidFill>
            <a:srgbClr val="FFFFFF"/>
          </a:solidFill>
          <a:ln w="6350">
            <a:solidFill>
              <a:srgbClr val="E3E6E4"/>
            </a:solidFill>
            <a:prstDash val="solid"/>
          </a:ln>
        </p:spPr>
        <p:txBody>
          <a:bodyPr wrap="square" lIns="37428" tIns="142067" rIns="37428" bIns="116609" rtlCol="0" anchor="t">
            <a:normAutofit/>
          </a:bodyPr>
          <a:lstStyle/>
          <a:p>
            <a:pPr algn="ctr" indent="0" marL="0">
              <a:lnSpc>
                <a:spcPts val="1690"/>
              </a:lnSpc>
              <a:buNone/>
            </a:pPr>
            <a:r>
              <a:rPr lang="en-US" sz="1300" dirty="0">
                <a:solidFill>
                  <a:srgbClr val="16181D"/>
                </a:solidFill>
                <a:latin typeface="JetBrains Mono" pitchFamily="49" charset="0"/>
                <a:ea typeface="JetBrains Mono" pitchFamily="49" charset="-122"/>
                <a:cs typeface="JetBrains Mono" pitchFamily="49" charset="-120"/>
              </a:rPr>
              <a:t>triggerCapture</a:t>
            </a:r>
            <a:endParaRPr lang="en-US" sz="1300" dirty="0"/>
          </a:p>
        </p:txBody>
      </p:sp>
      <p:sp>
        <p:nvSpPr>
          <p:cNvPr id="8" name="Text 6"/>
          <p:cNvSpPr/>
          <p:nvPr/>
        </p:nvSpPr>
        <p:spPr>
          <a:xfrm>
            <a:off x="9350403" y="1869901"/>
            <a:ext cx="2025679" cy="498735"/>
          </a:xfrm>
          <a:custGeom>
            <a:avLst/>
            <a:gdLst/>
            <a:ahLst/>
            <a:cxnLst/>
            <a:rect l="l" t="t" r="r" b="b"/>
            <a:pathLst>
              <a:path w="2025679" h="498735">
                <a:moveTo>
                  <a:pt x="73025" y="0"/>
                </a:moveTo>
                <a:lnTo>
                  <a:pt x="1952654" y="0"/>
                </a:lnTo>
                <a:arcTo hR="73025" wR="73025" stAng="16200000" swAng="5400000"/>
                <a:lnTo>
                  <a:pt x="2025679" y="425710"/>
                </a:lnTo>
                <a:arcTo hR="73025" wR="73025" stAng="0" swAng="5400000"/>
                <a:lnTo>
                  <a:pt x="73025" y="498735"/>
                </a:lnTo>
                <a:arcTo hR="73025" wR="73025" stAng="5400000" swAng="5400000"/>
                <a:lnTo>
                  <a:pt x="0" y="73025"/>
                </a:lnTo>
                <a:arcTo hR="73025" wR="73025" stAng="10800000" swAng="5400000"/>
                <a:close/>
              </a:path>
            </a:pathLst>
          </a:custGeom>
          <a:solidFill>
            <a:srgbClr val="DBE7FF"/>
          </a:solidFill>
          <a:ln w="6350">
            <a:solidFill>
              <a:srgbClr val="E3E6E4"/>
            </a:solidFill>
            <a:prstDash val="solid"/>
          </a:ln>
        </p:spPr>
        <p:txBody>
          <a:bodyPr wrap="square" lIns="37429" tIns="142067" rIns="37427" bIns="116609" rtlCol="0" anchor="t">
            <a:normAutofit/>
          </a:bodyPr>
          <a:lstStyle/>
          <a:p>
            <a:pPr algn="ctr" indent="0" marL="0">
              <a:lnSpc>
                <a:spcPts val="1690"/>
              </a:lnSpc>
              <a:buNone/>
            </a:pPr>
            <a:r>
              <a:rPr lang="en-US" sz="1300" dirty="0">
                <a:solidFill>
                  <a:srgbClr val="16181D"/>
                </a:solidFill>
                <a:latin typeface="JetBrains Mono" pitchFamily="49" charset="0"/>
                <a:ea typeface="JetBrains Mono" pitchFamily="49" charset="-122"/>
                <a:cs typeface="JetBrains Mono" pitchFamily="49" charset="-120"/>
              </a:rPr>
              <a:t>captured</a:t>
            </a:r>
            <a:endParaRPr lang="en-US" sz="1300" dirty="0"/>
          </a:p>
        </p:txBody>
      </p:sp>
      <p:sp>
        <p:nvSpPr>
          <p:cNvPr id="9" name="Shape 7"/>
          <p:cNvSpPr/>
          <p:nvPr/>
        </p:nvSpPr>
        <p:spPr>
          <a:xfrm>
            <a:off x="815917" y="2654331"/>
            <a:ext cx="3397279" cy="1045989"/>
          </a:xfrm>
          <a:prstGeom prst="roundRect">
            <a:avLst>
              <a:gd name="adj" fmla="val 9410"/>
            </a:avLst>
          </a:prstGeom>
          <a:solidFill>
            <a:srgbClr val="FFFFFF"/>
          </a:solidFill>
          <a:ln w="6350">
            <a:solidFill>
              <a:srgbClr val="E3E6E4"/>
            </a:solidFill>
            <a:prstDash val="solid"/>
          </a:ln>
        </p:spPr>
      </p:sp>
      <p:sp>
        <p:nvSpPr>
          <p:cNvPr id="10" name="Text 8"/>
          <p:cNvSpPr/>
          <p:nvPr/>
        </p:nvSpPr>
        <p:spPr>
          <a:xfrm>
            <a:off x="1046884" y="2885300"/>
            <a:ext cx="3023405"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Netteté</a:t>
            </a:r>
            <a:endParaRPr lang="en-US" sz="1700" dirty="0"/>
          </a:p>
        </p:txBody>
      </p:sp>
      <p:sp>
        <p:nvSpPr>
          <p:cNvPr id="11" name="Text 9"/>
          <p:cNvSpPr/>
          <p:nvPr/>
        </p:nvSpPr>
        <p:spPr>
          <a:xfrm>
            <a:off x="1046884" y="3254697"/>
            <a:ext cx="302340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Laplacien ≥ 120 à 856 × 540</a:t>
            </a:r>
            <a:endParaRPr lang="en-US" sz="1300" dirty="0"/>
          </a:p>
        </p:txBody>
      </p:sp>
      <p:sp>
        <p:nvSpPr>
          <p:cNvPr id="12" name="Shape 10"/>
          <p:cNvSpPr/>
          <p:nvPr/>
        </p:nvSpPr>
        <p:spPr>
          <a:xfrm>
            <a:off x="4397317" y="2654331"/>
            <a:ext cx="3397365" cy="1045989"/>
          </a:xfrm>
          <a:prstGeom prst="roundRect">
            <a:avLst>
              <a:gd name="adj" fmla="val 9410"/>
            </a:avLst>
          </a:prstGeom>
          <a:solidFill>
            <a:srgbClr val="FFFFFF"/>
          </a:solidFill>
          <a:ln w="6350">
            <a:solidFill>
              <a:srgbClr val="E3E6E4"/>
            </a:solidFill>
            <a:prstDash val="solid"/>
          </a:ln>
        </p:spPr>
      </p:sp>
      <p:sp>
        <p:nvSpPr>
          <p:cNvPr id="13" name="Text 11"/>
          <p:cNvSpPr/>
          <p:nvPr/>
        </p:nvSpPr>
        <p:spPr>
          <a:xfrm>
            <a:off x="4628284" y="2885300"/>
            <a:ext cx="3023495"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Luminosité</a:t>
            </a:r>
            <a:endParaRPr lang="en-US" sz="1700" dirty="0"/>
          </a:p>
        </p:txBody>
      </p:sp>
      <p:sp>
        <p:nvSpPr>
          <p:cNvPr id="14" name="Text 12"/>
          <p:cNvSpPr/>
          <p:nvPr/>
        </p:nvSpPr>
        <p:spPr>
          <a:xfrm>
            <a:off x="4628284" y="3254697"/>
            <a:ext cx="302349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60 à 225, ≤ 12 % saturés</a:t>
            </a:r>
            <a:endParaRPr lang="en-US" sz="1300" dirty="0"/>
          </a:p>
        </p:txBody>
      </p:sp>
      <p:sp>
        <p:nvSpPr>
          <p:cNvPr id="15" name="Shape 13"/>
          <p:cNvSpPr/>
          <p:nvPr/>
        </p:nvSpPr>
        <p:spPr>
          <a:xfrm>
            <a:off x="7978804" y="2654331"/>
            <a:ext cx="3397279" cy="1045989"/>
          </a:xfrm>
          <a:prstGeom prst="roundRect">
            <a:avLst>
              <a:gd name="adj" fmla="val 9410"/>
            </a:avLst>
          </a:prstGeom>
          <a:solidFill>
            <a:srgbClr val="FFFFFF"/>
          </a:solidFill>
          <a:ln w="6350">
            <a:solidFill>
              <a:srgbClr val="E3E6E4"/>
            </a:solidFill>
            <a:prstDash val="solid"/>
          </a:ln>
        </p:spPr>
      </p:sp>
      <p:sp>
        <p:nvSpPr>
          <p:cNvPr id="16" name="Text 14"/>
          <p:cNvSpPr/>
          <p:nvPr/>
        </p:nvSpPr>
        <p:spPr>
          <a:xfrm>
            <a:off x="8209770" y="2885300"/>
            <a:ext cx="3023405"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Stabilité</a:t>
            </a:r>
            <a:endParaRPr lang="en-US" sz="1700" dirty="0"/>
          </a:p>
        </p:txBody>
      </p:sp>
      <p:sp>
        <p:nvSpPr>
          <p:cNvPr id="17" name="Text 15"/>
          <p:cNvSpPr/>
          <p:nvPr/>
        </p:nvSpPr>
        <p:spPr>
          <a:xfrm>
            <a:off x="8209770" y="3254697"/>
            <a:ext cx="302340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 2,5 % de la diagonale, 3 frames</a:t>
            </a:r>
            <a:endParaRPr lang="en-US" sz="1300" dirty="0"/>
          </a:p>
        </p:txBody>
      </p:sp>
      <p:sp>
        <p:nvSpPr>
          <p:cNvPr id="18" name="Text 16"/>
          <p:cNvSpPr/>
          <p:nvPr/>
        </p:nvSpPr>
        <p:spPr>
          <a:xfrm>
            <a:off x="812742" y="3982839"/>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Capture après 2 frames bonnes consécutives.</a:t>
            </a:r>
            <a:endParaRPr lang="en-US" sz="1400" dirty="0"/>
          </a:p>
        </p:txBody>
      </p:sp>
      <p:sp>
        <p:nvSpPr>
          <p:cNvPr id="19" name="Text 17"/>
          <p:cNvSpPr/>
          <p:nvPr/>
        </p:nvSpPr>
        <p:spPr>
          <a:xfrm>
            <a:off x="812742" y="6238273"/>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20" name="Text 18"/>
          <p:cNvSpPr/>
          <p:nvPr/>
        </p:nvSpPr>
        <p:spPr>
          <a:xfrm>
            <a:off x="9417107" y="6238273"/>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09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EEA"/>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03 · RECONNAISSANCE</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Reconnaissance recto et verso</a:t>
            </a:r>
            <a:endParaRPr lang="en-US" sz="3400" dirty="0"/>
          </a:p>
        </p:txBody>
      </p:sp>
      <p:sp>
        <p:nvSpPr>
          <p:cNvPr id="4" name="Shape 2"/>
          <p:cNvSpPr/>
          <p:nvPr/>
        </p:nvSpPr>
        <p:spPr>
          <a:xfrm>
            <a:off x="815917" y="1869901"/>
            <a:ext cx="5187979" cy="1580342"/>
          </a:xfrm>
          <a:prstGeom prst="roundRect">
            <a:avLst>
              <a:gd name="adj" fmla="val 6228"/>
            </a:avLst>
          </a:prstGeom>
          <a:solidFill>
            <a:srgbClr val="FFFFFF"/>
          </a:solidFill>
          <a:ln w="6350">
            <a:solidFill>
              <a:srgbClr val="E3E6E4"/>
            </a:solidFill>
            <a:prstDash val="solid"/>
          </a:ln>
        </p:spPr>
      </p:sp>
      <p:sp>
        <p:nvSpPr>
          <p:cNvPr id="5" name="Text 3"/>
          <p:cNvSpPr/>
          <p:nvPr/>
        </p:nvSpPr>
        <p:spPr>
          <a:xfrm>
            <a:off x="1046884" y="2100870"/>
            <a:ext cx="4867826"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RECTO</a:t>
            </a:r>
            <a:endParaRPr lang="en-US" sz="1200" dirty="0"/>
          </a:p>
        </p:txBody>
      </p:sp>
      <p:sp>
        <p:nvSpPr>
          <p:cNvPr id="6" name="Text 4"/>
          <p:cNvSpPr/>
          <p:nvPr/>
        </p:nvSpPr>
        <p:spPr>
          <a:xfrm>
            <a:off x="1046884" y="2387836"/>
            <a:ext cx="4867826"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Visage (Haar), 4 rotations</a:t>
            </a:r>
            <a:endParaRPr lang="en-US" sz="1700" dirty="0"/>
          </a:p>
        </p:txBody>
      </p:sp>
      <p:sp>
        <p:nvSpPr>
          <p:cNvPr id="7" name="Text 5"/>
          <p:cNvSpPr/>
          <p:nvPr/>
        </p:nvSpPr>
        <p:spPr>
          <a:xfrm>
            <a:off x="1046884" y="2757227"/>
            <a:ext cx="4953837"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Confirmé par gabarits logo et drapeau, corrélation ≥ 0,6</a:t>
            </a:r>
            <a:endParaRPr lang="en-US" sz="1400" dirty="0"/>
          </a:p>
        </p:txBody>
      </p:sp>
      <p:sp>
        <p:nvSpPr>
          <p:cNvPr id="8" name="Shape 6"/>
          <p:cNvSpPr/>
          <p:nvPr/>
        </p:nvSpPr>
        <p:spPr>
          <a:xfrm>
            <a:off x="6188017" y="1869901"/>
            <a:ext cx="5188065" cy="1580342"/>
          </a:xfrm>
          <a:prstGeom prst="roundRect">
            <a:avLst>
              <a:gd name="adj" fmla="val 6228"/>
            </a:avLst>
          </a:prstGeom>
          <a:solidFill>
            <a:srgbClr val="FFFFFF"/>
          </a:solidFill>
          <a:ln w="6350">
            <a:solidFill>
              <a:srgbClr val="E3E6E4"/>
            </a:solidFill>
            <a:prstDash val="solid"/>
          </a:ln>
        </p:spPr>
      </p:sp>
      <p:sp>
        <p:nvSpPr>
          <p:cNvPr id="9" name="Text 7"/>
          <p:cNvSpPr/>
          <p:nvPr/>
        </p:nvSpPr>
        <p:spPr>
          <a:xfrm>
            <a:off x="6418984" y="2100870"/>
            <a:ext cx="4867916"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VERSO</a:t>
            </a:r>
            <a:endParaRPr lang="en-US" sz="1200" dirty="0"/>
          </a:p>
        </p:txBody>
      </p:sp>
      <p:sp>
        <p:nvSpPr>
          <p:cNvPr id="10" name="Text 8"/>
          <p:cNvSpPr/>
          <p:nvPr/>
        </p:nvSpPr>
        <p:spPr>
          <a:xfrm>
            <a:off x="6418984" y="2387836"/>
            <a:ext cx="4867916"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Trois indices, vote sur 4 rotations</a:t>
            </a:r>
            <a:endParaRPr lang="en-US" sz="1700" dirty="0"/>
          </a:p>
        </p:txBody>
      </p:sp>
      <p:sp>
        <p:nvSpPr>
          <p:cNvPr id="11" name="Text 9"/>
          <p:cNvSpPr/>
          <p:nvPr/>
        </p:nvSpPr>
        <p:spPr>
          <a:xfrm>
            <a:off x="6418984" y="2757227"/>
            <a:ext cx="4867916" cy="487449"/>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Code-barres (localisation), texture d’empreinte, ligne de séparation</a:t>
            </a:r>
            <a:endParaRPr lang="en-US" sz="1400" dirty="0"/>
          </a:p>
        </p:txBody>
      </p:sp>
      <p:sp>
        <p:nvSpPr>
          <p:cNvPr id="12" name="Text 10"/>
          <p:cNvSpPr/>
          <p:nvPr/>
        </p:nvSpPr>
        <p:spPr>
          <a:xfrm>
            <a:off x="812742" y="3732764"/>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Un état de progression global évite de capturer deux fois la même face.</a:t>
            </a:r>
            <a:endParaRPr lang="en-US" sz="1400" dirty="0"/>
          </a:p>
        </p:txBody>
      </p:sp>
      <p:sp>
        <p:nvSpPr>
          <p:cNvPr id="13" name="Text 11"/>
          <p:cNvSpPr/>
          <p:nvPr/>
        </p:nvSpPr>
        <p:spPr>
          <a:xfrm>
            <a:off x="812742" y="6238273"/>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4" name="Text 12"/>
          <p:cNvSpPr/>
          <p:nvPr/>
        </p:nvSpPr>
        <p:spPr>
          <a:xfrm>
            <a:off x="9417107" y="6238273"/>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04 · DÉMONSTRATION</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Parcours utilisateur : sept écrans</a:t>
            </a:r>
            <a:endParaRPr lang="en-US" sz="3400" dirty="0"/>
          </a:p>
        </p:txBody>
      </p:sp>
      <p:sp>
        <p:nvSpPr>
          <p:cNvPr id="4" name="Shape 2"/>
          <p:cNvSpPr/>
          <p:nvPr/>
        </p:nvSpPr>
        <p:spPr>
          <a:xfrm>
            <a:off x="815917" y="1869901"/>
            <a:ext cx="2520979" cy="1171460"/>
          </a:xfrm>
          <a:prstGeom prst="roundRect">
            <a:avLst>
              <a:gd name="adj" fmla="val 7318"/>
            </a:avLst>
          </a:prstGeom>
          <a:solidFill>
            <a:srgbClr val="FFFFFF"/>
          </a:solidFill>
          <a:ln w="6350">
            <a:solidFill>
              <a:srgbClr val="E3E6E4"/>
            </a:solidFill>
            <a:prstDash val="solid"/>
          </a:ln>
        </p:spPr>
      </p:sp>
      <p:sp>
        <p:nvSpPr>
          <p:cNvPr id="5" name="Text 3"/>
          <p:cNvSpPr/>
          <p:nvPr/>
        </p:nvSpPr>
        <p:spPr>
          <a:xfrm>
            <a:off x="996055" y="2050039"/>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1</a:t>
            </a:r>
            <a:endParaRPr lang="en-US" sz="1400" dirty="0"/>
          </a:p>
        </p:txBody>
      </p:sp>
      <p:sp>
        <p:nvSpPr>
          <p:cNvPr id="6" name="Text 4"/>
          <p:cNvSpPr/>
          <p:nvPr/>
        </p:nvSpPr>
        <p:spPr>
          <a:xfrm>
            <a:off x="996055" y="2331808"/>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Recto</a:t>
            </a:r>
            <a:endParaRPr lang="en-US" sz="1700" dirty="0"/>
          </a:p>
        </p:txBody>
      </p:sp>
      <p:sp>
        <p:nvSpPr>
          <p:cNvPr id="7" name="Text 5"/>
          <p:cNvSpPr/>
          <p:nvPr/>
        </p:nvSpPr>
        <p:spPr>
          <a:xfrm>
            <a:off x="996055" y="2663106"/>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Cadre rouge ou vert</a:t>
            </a:r>
            <a:endParaRPr lang="en-US" sz="1200" dirty="0"/>
          </a:p>
        </p:txBody>
      </p:sp>
      <p:sp>
        <p:nvSpPr>
          <p:cNvPr id="8" name="Shape 6"/>
          <p:cNvSpPr/>
          <p:nvPr/>
        </p:nvSpPr>
        <p:spPr>
          <a:xfrm>
            <a:off x="3495646" y="1869901"/>
            <a:ext cx="2520979" cy="1171460"/>
          </a:xfrm>
          <a:prstGeom prst="roundRect">
            <a:avLst>
              <a:gd name="adj" fmla="val 7318"/>
            </a:avLst>
          </a:prstGeom>
          <a:solidFill>
            <a:srgbClr val="FFFFFF"/>
          </a:solidFill>
          <a:ln w="6350">
            <a:solidFill>
              <a:srgbClr val="E3E6E4"/>
            </a:solidFill>
            <a:prstDash val="solid"/>
          </a:ln>
        </p:spPr>
      </p:sp>
      <p:sp>
        <p:nvSpPr>
          <p:cNvPr id="9" name="Text 7"/>
          <p:cNvSpPr/>
          <p:nvPr/>
        </p:nvSpPr>
        <p:spPr>
          <a:xfrm>
            <a:off x="3675784" y="2050039"/>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2</a:t>
            </a:r>
            <a:endParaRPr lang="en-US" sz="1400" dirty="0"/>
          </a:p>
        </p:txBody>
      </p:sp>
      <p:sp>
        <p:nvSpPr>
          <p:cNvPr id="10" name="Text 8"/>
          <p:cNvSpPr/>
          <p:nvPr/>
        </p:nvSpPr>
        <p:spPr>
          <a:xfrm>
            <a:off x="3675784" y="2331808"/>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Verso</a:t>
            </a:r>
            <a:endParaRPr lang="en-US" sz="1700" dirty="0"/>
          </a:p>
        </p:txBody>
      </p:sp>
      <p:sp>
        <p:nvSpPr>
          <p:cNvPr id="11" name="Text 9"/>
          <p:cNvSpPr/>
          <p:nvPr/>
        </p:nvSpPr>
        <p:spPr>
          <a:xfrm>
            <a:off x="3675784" y="2663106"/>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Même principe</a:t>
            </a:r>
            <a:endParaRPr lang="en-US" sz="1200" dirty="0"/>
          </a:p>
        </p:txBody>
      </p:sp>
      <p:sp>
        <p:nvSpPr>
          <p:cNvPr id="12" name="Shape 10"/>
          <p:cNvSpPr/>
          <p:nvPr/>
        </p:nvSpPr>
        <p:spPr>
          <a:xfrm>
            <a:off x="6175375" y="1869901"/>
            <a:ext cx="2520979" cy="1171460"/>
          </a:xfrm>
          <a:prstGeom prst="roundRect">
            <a:avLst>
              <a:gd name="adj" fmla="val 7318"/>
            </a:avLst>
          </a:prstGeom>
          <a:solidFill>
            <a:srgbClr val="FFFFFF"/>
          </a:solidFill>
          <a:ln w="6350">
            <a:solidFill>
              <a:srgbClr val="E3E6E4"/>
            </a:solidFill>
            <a:prstDash val="solid"/>
          </a:ln>
        </p:spPr>
      </p:sp>
      <p:sp>
        <p:nvSpPr>
          <p:cNvPr id="13" name="Text 11"/>
          <p:cNvSpPr/>
          <p:nvPr/>
        </p:nvSpPr>
        <p:spPr>
          <a:xfrm>
            <a:off x="6355512" y="2050039"/>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3</a:t>
            </a:r>
            <a:endParaRPr lang="en-US" sz="1400" dirty="0"/>
          </a:p>
        </p:txBody>
      </p:sp>
      <p:sp>
        <p:nvSpPr>
          <p:cNvPr id="14" name="Text 12"/>
          <p:cNvSpPr/>
          <p:nvPr/>
        </p:nvSpPr>
        <p:spPr>
          <a:xfrm>
            <a:off x="6355512" y="2331808"/>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Aperçu</a:t>
            </a:r>
            <a:endParaRPr lang="en-US" sz="1700" dirty="0"/>
          </a:p>
        </p:txBody>
      </p:sp>
      <p:sp>
        <p:nvSpPr>
          <p:cNvPr id="15" name="Text 13"/>
          <p:cNvSpPr/>
          <p:nvPr/>
        </p:nvSpPr>
        <p:spPr>
          <a:xfrm>
            <a:off x="6355512" y="2663106"/>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Recto, verso, page A4</a:t>
            </a:r>
            <a:endParaRPr lang="en-US" sz="1200" dirty="0"/>
          </a:p>
        </p:txBody>
      </p:sp>
      <p:sp>
        <p:nvSpPr>
          <p:cNvPr id="16" name="Shape 14"/>
          <p:cNvSpPr/>
          <p:nvPr/>
        </p:nvSpPr>
        <p:spPr>
          <a:xfrm>
            <a:off x="8855103" y="1869901"/>
            <a:ext cx="2520979" cy="1171460"/>
          </a:xfrm>
          <a:prstGeom prst="roundRect">
            <a:avLst>
              <a:gd name="adj" fmla="val 7318"/>
            </a:avLst>
          </a:prstGeom>
          <a:solidFill>
            <a:srgbClr val="FFFFFF"/>
          </a:solidFill>
          <a:ln w="6350">
            <a:solidFill>
              <a:srgbClr val="E3E6E4"/>
            </a:solidFill>
            <a:prstDash val="solid"/>
          </a:ln>
        </p:spPr>
      </p:sp>
      <p:sp>
        <p:nvSpPr>
          <p:cNvPr id="17" name="Text 15"/>
          <p:cNvSpPr/>
          <p:nvPr/>
        </p:nvSpPr>
        <p:spPr>
          <a:xfrm>
            <a:off x="9035242" y="2050039"/>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4</a:t>
            </a:r>
            <a:endParaRPr lang="en-US" sz="1400" dirty="0"/>
          </a:p>
        </p:txBody>
      </p:sp>
      <p:sp>
        <p:nvSpPr>
          <p:cNvPr id="18" name="Text 16"/>
          <p:cNvSpPr/>
          <p:nvPr/>
        </p:nvSpPr>
        <p:spPr>
          <a:xfrm>
            <a:off x="9035242" y="2331808"/>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Recadrer</a:t>
            </a:r>
            <a:endParaRPr lang="en-US" sz="1700" dirty="0"/>
          </a:p>
        </p:txBody>
      </p:sp>
      <p:sp>
        <p:nvSpPr>
          <p:cNvPr id="19" name="Text 17"/>
          <p:cNvSpPr/>
          <p:nvPr/>
        </p:nvSpPr>
        <p:spPr>
          <a:xfrm>
            <a:off x="9035242" y="2663106"/>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Glisser les coins</a:t>
            </a:r>
            <a:endParaRPr lang="en-US" sz="1200" dirty="0"/>
          </a:p>
        </p:txBody>
      </p:sp>
      <p:sp>
        <p:nvSpPr>
          <p:cNvPr id="20" name="Shape 18"/>
          <p:cNvSpPr/>
          <p:nvPr/>
        </p:nvSpPr>
        <p:spPr>
          <a:xfrm>
            <a:off x="815917" y="3200115"/>
            <a:ext cx="2520979" cy="1171460"/>
          </a:xfrm>
          <a:prstGeom prst="roundRect">
            <a:avLst>
              <a:gd name="adj" fmla="val 7318"/>
            </a:avLst>
          </a:prstGeom>
          <a:solidFill>
            <a:srgbClr val="FFFFFF"/>
          </a:solidFill>
          <a:ln w="6350">
            <a:solidFill>
              <a:srgbClr val="E3E6E4"/>
            </a:solidFill>
            <a:prstDash val="solid"/>
          </a:ln>
        </p:spPr>
      </p:sp>
      <p:sp>
        <p:nvSpPr>
          <p:cNvPr id="21" name="Text 19"/>
          <p:cNvSpPr/>
          <p:nvPr/>
        </p:nvSpPr>
        <p:spPr>
          <a:xfrm>
            <a:off x="996055" y="3380253"/>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5</a:t>
            </a:r>
            <a:endParaRPr lang="en-US" sz="1400" dirty="0"/>
          </a:p>
        </p:txBody>
      </p:sp>
      <p:sp>
        <p:nvSpPr>
          <p:cNvPr id="22" name="Text 20"/>
          <p:cNvSpPr/>
          <p:nvPr/>
        </p:nvSpPr>
        <p:spPr>
          <a:xfrm>
            <a:off x="996055" y="3662015"/>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Pivoter</a:t>
            </a:r>
            <a:endParaRPr lang="en-US" sz="1700" dirty="0"/>
          </a:p>
        </p:txBody>
      </p:sp>
      <p:sp>
        <p:nvSpPr>
          <p:cNvPr id="23" name="Text 21"/>
          <p:cNvSpPr/>
          <p:nvPr/>
        </p:nvSpPr>
        <p:spPr>
          <a:xfrm>
            <a:off x="996055" y="3993313"/>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Quart de tour</a:t>
            </a:r>
            <a:endParaRPr lang="en-US" sz="1200" dirty="0"/>
          </a:p>
        </p:txBody>
      </p:sp>
      <p:sp>
        <p:nvSpPr>
          <p:cNvPr id="24" name="Shape 22"/>
          <p:cNvSpPr/>
          <p:nvPr/>
        </p:nvSpPr>
        <p:spPr>
          <a:xfrm>
            <a:off x="3495646" y="3200115"/>
            <a:ext cx="2520979" cy="1171460"/>
          </a:xfrm>
          <a:prstGeom prst="roundRect">
            <a:avLst>
              <a:gd name="adj" fmla="val 7318"/>
            </a:avLst>
          </a:prstGeom>
          <a:solidFill>
            <a:srgbClr val="FFFFFF"/>
          </a:solidFill>
          <a:ln w="6350">
            <a:solidFill>
              <a:srgbClr val="E3E6E4"/>
            </a:solidFill>
            <a:prstDash val="solid"/>
          </a:ln>
        </p:spPr>
      </p:sp>
      <p:sp>
        <p:nvSpPr>
          <p:cNvPr id="25" name="Text 23"/>
          <p:cNvSpPr/>
          <p:nvPr/>
        </p:nvSpPr>
        <p:spPr>
          <a:xfrm>
            <a:off x="3675784" y="3380253"/>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6</a:t>
            </a:r>
            <a:endParaRPr lang="en-US" sz="1400" dirty="0"/>
          </a:p>
        </p:txBody>
      </p:sp>
      <p:sp>
        <p:nvSpPr>
          <p:cNvPr id="26" name="Text 24"/>
          <p:cNvSpPr/>
          <p:nvPr/>
        </p:nvSpPr>
        <p:spPr>
          <a:xfrm>
            <a:off x="3675784" y="3662015"/>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Améliorer</a:t>
            </a:r>
            <a:endParaRPr lang="en-US" sz="1700" dirty="0"/>
          </a:p>
        </p:txBody>
      </p:sp>
      <p:sp>
        <p:nvSpPr>
          <p:cNvPr id="27" name="Text 25"/>
          <p:cNvSpPr/>
          <p:nvPr/>
        </p:nvSpPr>
        <p:spPr>
          <a:xfrm>
            <a:off x="3675784" y="3993313"/>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Contraste, netteté, scan</a:t>
            </a:r>
            <a:endParaRPr lang="en-US" sz="1200" dirty="0"/>
          </a:p>
        </p:txBody>
      </p:sp>
      <p:sp>
        <p:nvSpPr>
          <p:cNvPr id="28" name="Shape 26"/>
          <p:cNvSpPr/>
          <p:nvPr/>
        </p:nvSpPr>
        <p:spPr>
          <a:xfrm>
            <a:off x="6175375" y="3200115"/>
            <a:ext cx="2520979" cy="1171460"/>
          </a:xfrm>
          <a:prstGeom prst="roundRect">
            <a:avLst>
              <a:gd name="adj" fmla="val 7318"/>
            </a:avLst>
          </a:prstGeom>
          <a:solidFill>
            <a:srgbClr val="FFFFFF"/>
          </a:solidFill>
          <a:ln w="6350">
            <a:solidFill>
              <a:srgbClr val="E3E6E4"/>
            </a:solidFill>
            <a:prstDash val="solid"/>
          </a:ln>
        </p:spPr>
      </p:sp>
      <p:sp>
        <p:nvSpPr>
          <p:cNvPr id="29" name="Text 27"/>
          <p:cNvSpPr/>
          <p:nvPr/>
        </p:nvSpPr>
        <p:spPr>
          <a:xfrm>
            <a:off x="6355512" y="3380253"/>
            <a:ext cx="2225524" cy="25642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2563EB"/>
                </a:solidFill>
                <a:latin typeface="JetBrains Mono" pitchFamily="49" charset="0"/>
                <a:ea typeface="JetBrains Mono" pitchFamily="49" charset="-122"/>
                <a:cs typeface="JetBrains Mono" pitchFamily="49" charset="-120"/>
              </a:rPr>
              <a:t>7</a:t>
            </a:r>
            <a:endParaRPr lang="en-US" sz="1400" dirty="0"/>
          </a:p>
        </p:txBody>
      </p:sp>
      <p:sp>
        <p:nvSpPr>
          <p:cNvPr id="30" name="Text 28"/>
          <p:cNvSpPr/>
          <p:nvPr/>
        </p:nvSpPr>
        <p:spPr>
          <a:xfrm>
            <a:off x="6355512" y="3662015"/>
            <a:ext cx="2225524" cy="30595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6181D"/>
                </a:solidFill>
                <a:latin typeface="Inter" pitchFamily="34" charset="0"/>
                <a:ea typeface="Inter" pitchFamily="34" charset="-122"/>
                <a:cs typeface="Inter" pitchFamily="34" charset="-120"/>
              </a:rPr>
              <a:t>Historique</a:t>
            </a:r>
            <a:endParaRPr lang="en-US" sz="1700" dirty="0"/>
          </a:p>
        </p:txBody>
      </p:sp>
      <p:sp>
        <p:nvSpPr>
          <p:cNvPr id="31" name="Text 29"/>
          <p:cNvSpPr/>
          <p:nvPr/>
        </p:nvSpPr>
        <p:spPr>
          <a:xfrm>
            <a:off x="6355512" y="3993313"/>
            <a:ext cx="222552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168"/>
                </a:solidFill>
                <a:latin typeface="Inter" pitchFamily="34" charset="0"/>
                <a:ea typeface="Inter" pitchFamily="34" charset="-122"/>
                <a:cs typeface="Inter" pitchFamily="34" charset="-120"/>
              </a:rPr>
              <a:t>Captures de la session</a:t>
            </a:r>
            <a:endParaRPr lang="en-US" sz="1200" dirty="0"/>
          </a:p>
        </p:txBody>
      </p:sp>
      <p:sp>
        <p:nvSpPr>
          <p:cNvPr id="32" name="Text 30"/>
          <p:cNvSpPr/>
          <p:nvPr/>
        </p:nvSpPr>
        <p:spPr>
          <a:xfrm>
            <a:off x="812742" y="4654091"/>
            <a:ext cx="10883510"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Parcours présenté à partir de captures de la session de test.</a:t>
            </a:r>
            <a:endParaRPr lang="en-US" sz="1300" dirty="0"/>
          </a:p>
        </p:txBody>
      </p:sp>
      <p:sp>
        <p:nvSpPr>
          <p:cNvPr id="33" name="Text 31"/>
          <p:cNvSpPr/>
          <p:nvPr/>
        </p:nvSpPr>
        <p:spPr>
          <a:xfrm>
            <a:off x="812742" y="6238267"/>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34" name="Text 32"/>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EEA"/>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04 · VALIDATION</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Tests automatisés</a:t>
            </a:r>
            <a:endParaRPr lang="en-US" sz="3400" dirty="0"/>
          </a:p>
        </p:txBody>
      </p:sp>
      <p:sp>
        <p:nvSpPr>
          <p:cNvPr id="4" name="Shape 2"/>
          <p:cNvSpPr/>
          <p:nvPr/>
        </p:nvSpPr>
        <p:spPr>
          <a:xfrm>
            <a:off x="815917" y="1869901"/>
            <a:ext cx="5149879" cy="1939521"/>
          </a:xfrm>
          <a:prstGeom prst="roundRect">
            <a:avLst>
              <a:gd name="adj" fmla="val 5075"/>
            </a:avLst>
          </a:prstGeom>
          <a:solidFill>
            <a:srgbClr val="FFFFFF"/>
          </a:solidFill>
          <a:ln w="6350">
            <a:solidFill>
              <a:srgbClr val="E3E6E4"/>
            </a:solidFill>
            <a:prstDash val="solid"/>
          </a:ln>
        </p:spPr>
      </p:sp>
      <p:sp>
        <p:nvSpPr>
          <p:cNvPr id="5" name="Text 3"/>
          <p:cNvSpPr/>
          <p:nvPr/>
        </p:nvSpPr>
        <p:spPr>
          <a:xfrm>
            <a:off x="1046884" y="2100870"/>
            <a:ext cx="4828583" cy="718820"/>
          </a:xfrm>
          <a:prstGeom prst="rect">
            <a:avLst/>
          </a:prstGeom>
          <a:noFill/>
          <a:ln/>
        </p:spPr>
        <p:txBody>
          <a:bodyPr wrap="square" lIns="0" tIns="0" rIns="0" bIns="0" rtlCol="0" anchor="t">
            <a:normAutofit/>
          </a:bodyPr>
          <a:lstStyle/>
          <a:p>
            <a:pPr algn="l" indent="0" marL="0">
              <a:lnSpc>
                <a:spcPts val="5460"/>
              </a:lnSpc>
              <a:buNone/>
            </a:pPr>
            <a:r>
              <a:rPr lang="en-US" sz="4200" b="1" dirty="0">
                <a:solidFill>
                  <a:srgbClr val="2563EB"/>
                </a:solidFill>
                <a:latin typeface="JetBrains Mono" pitchFamily="49" charset="0"/>
                <a:ea typeface="JetBrains Mono" pitchFamily="49" charset="-122"/>
                <a:cs typeface="JetBrains Mono" pitchFamily="49" charset="-120"/>
              </a:rPr>
              <a:t>177 / 177</a:t>
            </a:r>
            <a:endParaRPr lang="en-US" sz="4200" dirty="0"/>
          </a:p>
        </p:txBody>
      </p:sp>
      <p:sp>
        <p:nvSpPr>
          <p:cNvPr id="6" name="Text 4"/>
          <p:cNvSpPr/>
          <p:nvPr/>
        </p:nvSpPr>
        <p:spPr>
          <a:xfrm>
            <a:off x="1046884" y="2883129"/>
            <a:ext cx="4828583" cy="28958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181D"/>
                </a:solidFill>
                <a:latin typeface="Inter" pitchFamily="34" charset="0"/>
                <a:ea typeface="Inter" pitchFamily="34" charset="-122"/>
                <a:cs typeface="Inter" pitchFamily="34" charset="-120"/>
              </a:rPr>
              <a:t>cas exécutés, 0 échec</a:t>
            </a:r>
            <a:endParaRPr lang="en-US" sz="1600" dirty="0"/>
          </a:p>
        </p:txBody>
      </p:sp>
      <p:sp>
        <p:nvSpPr>
          <p:cNvPr id="7" name="Text 5"/>
          <p:cNvSpPr/>
          <p:nvPr/>
        </p:nvSpPr>
        <p:spPr>
          <a:xfrm>
            <a:off x="1046884" y="3236162"/>
            <a:ext cx="4828583"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21 fichiers de test sur 28</a:t>
            </a:r>
            <a:endParaRPr lang="en-US" sz="1300" dirty="0"/>
          </a:p>
        </p:txBody>
      </p:sp>
      <p:sp>
        <p:nvSpPr>
          <p:cNvPr id="8" name="Shape 6"/>
          <p:cNvSpPr/>
          <p:nvPr/>
        </p:nvSpPr>
        <p:spPr>
          <a:xfrm>
            <a:off x="6226117" y="1869901"/>
            <a:ext cx="5149965" cy="1939521"/>
          </a:xfrm>
          <a:prstGeom prst="roundRect">
            <a:avLst>
              <a:gd name="adj" fmla="val 5075"/>
            </a:avLst>
          </a:prstGeom>
          <a:solidFill>
            <a:srgbClr val="FFFFFF"/>
          </a:solidFill>
          <a:ln w="6350">
            <a:solidFill>
              <a:srgbClr val="E3E6E4"/>
            </a:solidFill>
            <a:prstDash val="solid"/>
          </a:ln>
        </p:spPr>
      </p:sp>
      <p:sp>
        <p:nvSpPr>
          <p:cNvPr id="9" name="Text 7"/>
          <p:cNvSpPr/>
          <p:nvPr/>
        </p:nvSpPr>
        <p:spPr>
          <a:xfrm>
            <a:off x="6457084" y="2100870"/>
            <a:ext cx="4828673"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QUATRE PALIERS</a:t>
            </a:r>
            <a:endParaRPr lang="en-US" sz="1200" dirty="0"/>
          </a:p>
        </p:txBody>
      </p:sp>
      <p:sp>
        <p:nvSpPr>
          <p:cNvPr id="10" name="Text 8"/>
          <p:cNvSpPr/>
          <p:nvPr/>
        </p:nvSpPr>
        <p:spPr>
          <a:xfrm>
            <a:off x="6457084" y="2387829"/>
            <a:ext cx="4828673"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6181D"/>
                </a:solidFill>
                <a:latin typeface="Inter" pitchFamily="34" charset="0"/>
                <a:ea typeface="Inter" pitchFamily="34" charset="-122"/>
                <a:cs typeface="Inter" pitchFamily="34" charset="-120"/>
              </a:rPr>
              <a:t>A · logique pure Dart</a:t>
            </a:r>
            <a:endParaRPr lang="en-US" sz="1400" dirty="0"/>
          </a:p>
        </p:txBody>
      </p:sp>
      <p:sp>
        <p:nvSpPr>
          <p:cNvPr id="11" name="Text 9"/>
          <p:cNvSpPr/>
          <p:nvPr/>
        </p:nvSpPr>
        <p:spPr>
          <a:xfrm>
            <a:off x="6457084" y="2707698"/>
            <a:ext cx="4828673"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6181D"/>
                </a:solidFill>
                <a:latin typeface="Inter" pitchFamily="34" charset="0"/>
                <a:ea typeface="Inter" pitchFamily="34" charset="-122"/>
                <a:cs typeface="Inter" pitchFamily="34" charset="-120"/>
              </a:rPr>
              <a:t>B · plateforme simulée</a:t>
            </a:r>
            <a:endParaRPr lang="en-US" sz="1400" dirty="0"/>
          </a:p>
        </p:txBody>
      </p:sp>
      <p:sp>
        <p:nvSpPr>
          <p:cNvPr id="12" name="Text 10"/>
          <p:cNvSpPr/>
          <p:nvPr/>
        </p:nvSpPr>
        <p:spPr>
          <a:xfrm>
            <a:off x="6457084" y="3027567"/>
            <a:ext cx="4828673"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6181D"/>
                </a:solidFill>
                <a:latin typeface="Inter" pitchFamily="34" charset="0"/>
                <a:ea typeface="Inter" pitchFamily="34" charset="-122"/>
                <a:cs typeface="Inter" pitchFamily="34" charset="-120"/>
              </a:rPr>
              <a:t>C · OpenCV réel, images synthétiques</a:t>
            </a:r>
            <a:endParaRPr lang="en-US" sz="1400" dirty="0"/>
          </a:p>
        </p:txBody>
      </p:sp>
      <p:sp>
        <p:nvSpPr>
          <p:cNvPr id="13" name="Text 11"/>
          <p:cNvSpPr/>
          <p:nvPr/>
        </p:nvSpPr>
        <p:spPr>
          <a:xfrm>
            <a:off x="6457084" y="3347430"/>
            <a:ext cx="4828673"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6181D"/>
                </a:solidFill>
                <a:latin typeface="Inter" pitchFamily="34" charset="0"/>
                <a:ea typeface="Inter" pitchFamily="34" charset="-122"/>
                <a:cs typeface="Inter" pitchFamily="34" charset="-120"/>
              </a:rPr>
              <a:t>D · cartes réelles, manuel</a:t>
            </a:r>
            <a:endParaRPr lang="en-US" sz="1400" dirty="0"/>
          </a:p>
        </p:txBody>
      </p:sp>
      <p:sp>
        <p:nvSpPr>
          <p:cNvPr id="14" name="Text 12"/>
          <p:cNvSpPr/>
          <p:nvPr/>
        </p:nvSpPr>
        <p:spPr>
          <a:xfrm>
            <a:off x="812742" y="4091942"/>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Couverture non mesurée.</a:t>
            </a:r>
            <a:endParaRPr lang="en-US" sz="1400" dirty="0"/>
          </a:p>
        </p:txBody>
      </p:sp>
      <p:sp>
        <p:nvSpPr>
          <p:cNvPr id="15" name="Text 13"/>
          <p:cNvSpPr/>
          <p:nvPr/>
        </p:nvSpPr>
        <p:spPr>
          <a:xfrm>
            <a:off x="812742" y="6238267"/>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6" name="Text 14"/>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04 · MESURES</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Trois mesures manuelles</a:t>
            </a:r>
            <a:endParaRPr lang="en-US" sz="3400" dirty="0"/>
          </a:p>
        </p:txBody>
      </p:sp>
      <p:sp>
        <p:nvSpPr>
          <p:cNvPr id="4" name="Shape 2"/>
          <p:cNvSpPr/>
          <p:nvPr/>
        </p:nvSpPr>
        <p:spPr>
          <a:xfrm>
            <a:off x="815917" y="1869901"/>
            <a:ext cx="3397279" cy="1884189"/>
          </a:xfrm>
          <a:prstGeom prst="roundRect">
            <a:avLst>
              <a:gd name="adj" fmla="val 5224"/>
            </a:avLst>
          </a:prstGeom>
          <a:solidFill>
            <a:srgbClr val="FFFFFF"/>
          </a:solidFill>
          <a:ln w="6350">
            <a:solidFill>
              <a:srgbClr val="E3E6E4"/>
            </a:solidFill>
            <a:prstDash val="solid"/>
          </a:ln>
        </p:spPr>
      </p:sp>
      <p:sp>
        <p:nvSpPr>
          <p:cNvPr id="5" name="Text 3"/>
          <p:cNvSpPr/>
          <p:nvPr/>
        </p:nvSpPr>
        <p:spPr>
          <a:xfrm>
            <a:off x="1046884" y="2100870"/>
            <a:ext cx="3023405" cy="520700"/>
          </a:xfrm>
          <a:prstGeom prst="rect">
            <a:avLst/>
          </a:prstGeom>
          <a:noFill/>
          <a:ln/>
        </p:spPr>
        <p:txBody>
          <a:bodyPr wrap="square" lIns="0" tIns="0" rIns="0" bIns="0" rtlCol="0" anchor="t">
            <a:normAutofit/>
          </a:bodyPr>
          <a:lstStyle/>
          <a:p>
            <a:pPr algn="l" indent="0" marL="0">
              <a:lnSpc>
                <a:spcPts val="3900"/>
              </a:lnSpc>
              <a:buNone/>
            </a:pPr>
            <a:r>
              <a:rPr lang="en-US" sz="3000" b="1" dirty="0">
                <a:solidFill>
                  <a:srgbClr val="2563EB"/>
                </a:solidFill>
                <a:latin typeface="JetBrains Mono" pitchFamily="49" charset="0"/>
                <a:ea typeface="JetBrains Mono" pitchFamily="49" charset="-122"/>
                <a:cs typeface="JetBrains Mono" pitchFamily="49" charset="-120"/>
              </a:rPr>
              <a:t>92–100 ms</a:t>
            </a:r>
            <a:endParaRPr lang="en-US" sz="3000" dirty="0"/>
          </a:p>
        </p:txBody>
      </p:sp>
      <p:sp>
        <p:nvSpPr>
          <p:cNvPr id="6" name="Text 4"/>
          <p:cNvSpPr/>
          <p:nvPr/>
        </p:nvSpPr>
        <p:spPr>
          <a:xfrm>
            <a:off x="1046884" y="2685014"/>
            <a:ext cx="302340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6181D"/>
                </a:solidFill>
                <a:latin typeface="Inter" pitchFamily="34" charset="0"/>
                <a:ea typeface="Inter" pitchFamily="34" charset="-122"/>
                <a:cs typeface="Inter" pitchFamily="34" charset="-120"/>
              </a:rPr>
              <a:t>Par frame</a:t>
            </a:r>
            <a:endParaRPr lang="en-US" sz="1500" dirty="0"/>
          </a:p>
        </p:txBody>
      </p:sp>
      <p:sp>
        <p:nvSpPr>
          <p:cNvPr id="7" name="Text 5"/>
          <p:cNvSpPr/>
          <p:nvPr/>
        </p:nvSpPr>
        <p:spPr>
          <a:xfrm>
            <a:off x="1046884" y="3021502"/>
            <a:ext cx="302340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Cible : &lt; 100 ms</a:t>
            </a:r>
            <a:endParaRPr lang="en-US" sz="1300" dirty="0"/>
          </a:p>
        </p:txBody>
      </p:sp>
      <p:sp>
        <p:nvSpPr>
          <p:cNvPr id="8" name="Text 6"/>
          <p:cNvSpPr/>
          <p:nvPr/>
        </p:nvSpPr>
        <p:spPr>
          <a:xfrm>
            <a:off x="1046884" y="3325006"/>
            <a:ext cx="3023405" cy="223520"/>
          </a:xfrm>
          <a:prstGeom prst="rect">
            <a:avLst/>
          </a:prstGeom>
          <a:noFill/>
          <a:ln/>
        </p:spPr>
        <p:txBody>
          <a:bodyPr wrap="square" lIns="0" tIns="0" rIns="0" bIns="0" rtlCol="0" anchor="t">
            <a:normAutofit/>
          </a:bodyPr>
          <a:lstStyle/>
          <a:p>
            <a:pPr algn="l" indent="0" marL="0">
              <a:lnSpc>
                <a:spcPts val="1560"/>
              </a:lnSpc>
              <a:buNone/>
            </a:pPr>
            <a:r>
              <a:rPr lang="en-US" sz="1200" i="1" dirty="0">
                <a:solidFill>
                  <a:srgbClr val="5B6168"/>
                </a:solidFill>
                <a:latin typeface="Inter" pitchFamily="34" charset="0"/>
                <a:ea typeface="Inter" pitchFamily="34" charset="-122"/>
                <a:cs typeface="Inter" pitchFamily="34" charset="-120"/>
              </a:rPr>
              <a:t>Appareil non documenté</a:t>
            </a:r>
            <a:endParaRPr lang="en-US" sz="1200" dirty="0"/>
          </a:p>
        </p:txBody>
      </p:sp>
      <p:sp>
        <p:nvSpPr>
          <p:cNvPr id="9" name="Shape 7"/>
          <p:cNvSpPr/>
          <p:nvPr/>
        </p:nvSpPr>
        <p:spPr>
          <a:xfrm>
            <a:off x="4397317" y="1869901"/>
            <a:ext cx="3397365" cy="1884189"/>
          </a:xfrm>
          <a:prstGeom prst="roundRect">
            <a:avLst>
              <a:gd name="adj" fmla="val 5224"/>
            </a:avLst>
          </a:prstGeom>
          <a:solidFill>
            <a:srgbClr val="FFFFFF"/>
          </a:solidFill>
          <a:ln w="6350">
            <a:solidFill>
              <a:srgbClr val="E3E6E4"/>
            </a:solidFill>
            <a:prstDash val="solid"/>
          </a:ln>
        </p:spPr>
      </p:sp>
      <p:sp>
        <p:nvSpPr>
          <p:cNvPr id="10" name="Text 8"/>
          <p:cNvSpPr/>
          <p:nvPr/>
        </p:nvSpPr>
        <p:spPr>
          <a:xfrm>
            <a:off x="4628284" y="2100870"/>
            <a:ext cx="3023495" cy="520700"/>
          </a:xfrm>
          <a:prstGeom prst="rect">
            <a:avLst/>
          </a:prstGeom>
          <a:noFill/>
          <a:ln/>
        </p:spPr>
        <p:txBody>
          <a:bodyPr wrap="square" lIns="0" tIns="0" rIns="0" bIns="0" rtlCol="0" anchor="t">
            <a:normAutofit/>
          </a:bodyPr>
          <a:lstStyle/>
          <a:p>
            <a:pPr algn="l" indent="0" marL="0">
              <a:lnSpc>
                <a:spcPts val="3900"/>
              </a:lnSpc>
              <a:buNone/>
            </a:pPr>
            <a:r>
              <a:rPr lang="en-US" sz="3000" b="1" dirty="0">
                <a:solidFill>
                  <a:srgbClr val="2563EB"/>
                </a:solidFill>
                <a:latin typeface="JetBrains Mono" pitchFamily="49" charset="0"/>
                <a:ea typeface="JetBrains Mono" pitchFamily="49" charset="-122"/>
                <a:cs typeface="JetBrains Mono" pitchFamily="49" charset="-120"/>
              </a:rPr>
              <a:t>92 %</a:t>
            </a:r>
            <a:endParaRPr lang="en-US" sz="3000" dirty="0"/>
          </a:p>
        </p:txBody>
      </p:sp>
      <p:sp>
        <p:nvSpPr>
          <p:cNvPr id="11" name="Text 9"/>
          <p:cNvSpPr/>
          <p:nvPr/>
        </p:nvSpPr>
        <p:spPr>
          <a:xfrm>
            <a:off x="4628284" y="2685014"/>
            <a:ext cx="302349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6181D"/>
                </a:solidFill>
                <a:latin typeface="Inter" pitchFamily="34" charset="0"/>
                <a:ea typeface="Inter" pitchFamily="34" charset="-122"/>
                <a:cs typeface="Inter" pitchFamily="34" charset="-120"/>
              </a:rPr>
              <a:t>Recto/verso reconnus</a:t>
            </a:r>
            <a:endParaRPr lang="en-US" sz="1500" dirty="0"/>
          </a:p>
        </p:txBody>
      </p:sp>
      <p:sp>
        <p:nvSpPr>
          <p:cNvPr id="12" name="Text 10"/>
          <p:cNvSpPr/>
          <p:nvPr/>
        </p:nvSpPr>
        <p:spPr>
          <a:xfrm>
            <a:off x="4628284" y="3021502"/>
            <a:ext cx="302349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Cible : ≥ 90 %</a:t>
            </a:r>
            <a:endParaRPr lang="en-US" sz="1300" dirty="0"/>
          </a:p>
        </p:txBody>
      </p:sp>
      <p:sp>
        <p:nvSpPr>
          <p:cNvPr id="13" name="Text 11"/>
          <p:cNvSpPr/>
          <p:nvPr/>
        </p:nvSpPr>
        <p:spPr>
          <a:xfrm>
            <a:off x="4628284" y="3325006"/>
            <a:ext cx="3023495" cy="223520"/>
          </a:xfrm>
          <a:prstGeom prst="rect">
            <a:avLst/>
          </a:prstGeom>
          <a:noFill/>
          <a:ln/>
        </p:spPr>
        <p:txBody>
          <a:bodyPr wrap="square" lIns="0" tIns="0" rIns="0" bIns="0" rtlCol="0" anchor="t">
            <a:normAutofit/>
          </a:bodyPr>
          <a:lstStyle/>
          <a:p>
            <a:pPr algn="l" indent="0" marL="0">
              <a:lnSpc>
                <a:spcPts val="1560"/>
              </a:lnSpc>
              <a:buNone/>
            </a:pPr>
            <a:r>
              <a:rPr lang="en-US" sz="1200" i="1" dirty="0">
                <a:solidFill>
                  <a:srgbClr val="5B6168"/>
                </a:solidFill>
                <a:latin typeface="Inter" pitchFamily="34" charset="0"/>
                <a:ea typeface="Inter" pitchFamily="34" charset="-122"/>
                <a:cs typeface="Inter" pitchFamily="34" charset="-120"/>
              </a:rPr>
              <a:t>Échantillon non documenté</a:t>
            </a:r>
            <a:endParaRPr lang="en-US" sz="1200" dirty="0"/>
          </a:p>
        </p:txBody>
      </p:sp>
      <p:sp>
        <p:nvSpPr>
          <p:cNvPr id="14" name="Shape 12"/>
          <p:cNvSpPr/>
          <p:nvPr/>
        </p:nvSpPr>
        <p:spPr>
          <a:xfrm>
            <a:off x="7978804" y="1869901"/>
            <a:ext cx="3397279" cy="1884189"/>
          </a:xfrm>
          <a:prstGeom prst="roundRect">
            <a:avLst>
              <a:gd name="adj" fmla="val 5224"/>
            </a:avLst>
          </a:prstGeom>
          <a:solidFill>
            <a:srgbClr val="FFFFFF"/>
          </a:solidFill>
          <a:ln w="6350">
            <a:solidFill>
              <a:srgbClr val="E3E6E4"/>
            </a:solidFill>
            <a:prstDash val="solid"/>
          </a:ln>
        </p:spPr>
      </p:sp>
      <p:sp>
        <p:nvSpPr>
          <p:cNvPr id="15" name="Text 13"/>
          <p:cNvSpPr/>
          <p:nvPr/>
        </p:nvSpPr>
        <p:spPr>
          <a:xfrm>
            <a:off x="8209770" y="2100870"/>
            <a:ext cx="3023405" cy="520700"/>
          </a:xfrm>
          <a:prstGeom prst="rect">
            <a:avLst/>
          </a:prstGeom>
          <a:noFill/>
          <a:ln/>
        </p:spPr>
        <p:txBody>
          <a:bodyPr wrap="square" lIns="0" tIns="0" rIns="0" bIns="0" rtlCol="0" anchor="t">
            <a:normAutofit/>
          </a:bodyPr>
          <a:lstStyle/>
          <a:p>
            <a:pPr algn="l" indent="0" marL="0">
              <a:lnSpc>
                <a:spcPts val="3900"/>
              </a:lnSpc>
              <a:buNone/>
            </a:pPr>
            <a:r>
              <a:rPr lang="en-US" sz="3000" b="1" dirty="0">
                <a:solidFill>
                  <a:srgbClr val="2563EB"/>
                </a:solidFill>
                <a:latin typeface="JetBrains Mono" pitchFamily="49" charset="0"/>
                <a:ea typeface="JetBrains Mono" pitchFamily="49" charset="-122"/>
                <a:cs typeface="JetBrains Mono" pitchFamily="49" charset="-120"/>
              </a:rPr>
              <a:t>≈ 2 s</a:t>
            </a:r>
            <a:endParaRPr lang="en-US" sz="3000" dirty="0"/>
          </a:p>
        </p:txBody>
      </p:sp>
      <p:sp>
        <p:nvSpPr>
          <p:cNvPr id="16" name="Text 14"/>
          <p:cNvSpPr/>
          <p:nvPr/>
        </p:nvSpPr>
        <p:spPr>
          <a:xfrm>
            <a:off x="8209770" y="2685014"/>
            <a:ext cx="302340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6181D"/>
                </a:solidFill>
                <a:latin typeface="Inter" pitchFamily="34" charset="0"/>
                <a:ea typeface="Inter" pitchFamily="34" charset="-122"/>
                <a:cs typeface="Inter" pitchFamily="34" charset="-120"/>
              </a:rPr>
              <a:t>Stabilisation à capture</a:t>
            </a:r>
            <a:endParaRPr lang="en-US" sz="1500" dirty="0"/>
          </a:p>
        </p:txBody>
      </p:sp>
      <p:sp>
        <p:nvSpPr>
          <p:cNvPr id="17" name="Text 15"/>
          <p:cNvSpPr/>
          <p:nvPr/>
        </p:nvSpPr>
        <p:spPr>
          <a:xfrm>
            <a:off x="8209770" y="3021502"/>
            <a:ext cx="3023405" cy="24005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168"/>
                </a:solidFill>
                <a:latin typeface="Inter" pitchFamily="34" charset="0"/>
                <a:ea typeface="Inter" pitchFamily="34" charset="-122"/>
                <a:cs typeface="Inter" pitchFamily="34" charset="-120"/>
              </a:rPr>
              <a:t>Cible : ≈ 2 s</a:t>
            </a:r>
            <a:endParaRPr lang="en-US" sz="1300" dirty="0"/>
          </a:p>
        </p:txBody>
      </p:sp>
      <p:sp>
        <p:nvSpPr>
          <p:cNvPr id="18" name="Text 16"/>
          <p:cNvSpPr/>
          <p:nvPr/>
        </p:nvSpPr>
        <p:spPr>
          <a:xfrm>
            <a:off x="8209770" y="3325006"/>
            <a:ext cx="3023405" cy="223520"/>
          </a:xfrm>
          <a:prstGeom prst="rect">
            <a:avLst/>
          </a:prstGeom>
          <a:noFill/>
          <a:ln/>
        </p:spPr>
        <p:txBody>
          <a:bodyPr wrap="square" lIns="0" tIns="0" rIns="0" bIns="0" rtlCol="0" anchor="t">
            <a:normAutofit/>
          </a:bodyPr>
          <a:lstStyle/>
          <a:p>
            <a:pPr algn="l" indent="0" marL="0">
              <a:lnSpc>
                <a:spcPts val="1560"/>
              </a:lnSpc>
              <a:buNone/>
            </a:pPr>
            <a:r>
              <a:rPr lang="en-US" sz="1200" i="1" dirty="0">
                <a:solidFill>
                  <a:srgbClr val="5B6168"/>
                </a:solidFill>
                <a:latin typeface="Inter" pitchFamily="34" charset="0"/>
                <a:ea typeface="Inter" pitchFamily="34" charset="-122"/>
                <a:cs typeface="Inter" pitchFamily="34" charset="-120"/>
              </a:rPr>
              <a:t>Départ à la stabilisation</a:t>
            </a:r>
            <a:endParaRPr lang="en-US" sz="1200" dirty="0"/>
          </a:p>
        </p:txBody>
      </p:sp>
      <p:sp>
        <p:nvSpPr>
          <p:cNvPr id="19" name="Text 17"/>
          <p:cNvSpPr/>
          <p:nvPr/>
        </p:nvSpPr>
        <p:spPr>
          <a:xfrm>
            <a:off x="812742" y="4036609"/>
            <a:ext cx="10883510" cy="256425"/>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168"/>
                </a:solidFill>
                <a:latin typeface="Inter" pitchFamily="34" charset="0"/>
                <a:ea typeface="Inter" pitchFamily="34" charset="-122"/>
                <a:cs typeface="Inter" pitchFamily="34" charset="-120"/>
              </a:rPr>
              <a:t>Chaque mesure est à la limite de sa cible.</a:t>
            </a:r>
            <a:endParaRPr lang="en-US" sz="1400" dirty="0"/>
          </a:p>
        </p:txBody>
      </p:sp>
      <p:sp>
        <p:nvSpPr>
          <p:cNvPr id="20" name="Text 18"/>
          <p:cNvSpPr/>
          <p:nvPr/>
        </p:nvSpPr>
        <p:spPr>
          <a:xfrm>
            <a:off x="812742" y="6238267"/>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21" name="Text 19"/>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EEA"/>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05 · LIMITES</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Limites et perspectives</a:t>
            </a:r>
            <a:endParaRPr lang="en-US" sz="3400" dirty="0"/>
          </a:p>
        </p:txBody>
      </p:sp>
      <p:sp>
        <p:nvSpPr>
          <p:cNvPr id="4" name="Shape 2"/>
          <p:cNvSpPr/>
          <p:nvPr/>
        </p:nvSpPr>
        <p:spPr>
          <a:xfrm>
            <a:off x="815917" y="1869901"/>
            <a:ext cx="5187979" cy="1669530"/>
          </a:xfrm>
          <a:prstGeom prst="roundRect">
            <a:avLst>
              <a:gd name="adj" fmla="val 5895"/>
            </a:avLst>
          </a:prstGeom>
          <a:solidFill>
            <a:srgbClr val="EEEEEA"/>
          </a:solidFill>
          <a:ln w="6350">
            <a:solidFill>
              <a:srgbClr val="E3E6E4"/>
            </a:solidFill>
            <a:prstDash val="solid"/>
          </a:ln>
        </p:spPr>
      </p:sp>
      <p:sp>
        <p:nvSpPr>
          <p:cNvPr id="5" name="Text 3"/>
          <p:cNvSpPr/>
          <p:nvPr/>
        </p:nvSpPr>
        <p:spPr>
          <a:xfrm>
            <a:off x="1046884" y="2100870"/>
            <a:ext cx="4867826"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LIMITES</a:t>
            </a:r>
            <a:endParaRPr lang="en-US" sz="1200" dirty="0"/>
          </a:p>
        </p:txBody>
      </p:sp>
      <p:sp>
        <p:nvSpPr>
          <p:cNvPr id="6" name="Text 4"/>
          <p:cNvSpPr/>
          <p:nvPr/>
        </p:nvSpPr>
        <p:spPr>
          <a:xfrm>
            <a:off x="1046884" y="2387829"/>
            <a:ext cx="486782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Message de timeout non implémenté</a:t>
            </a:r>
            <a:endParaRPr lang="en-US" sz="1500" dirty="0"/>
          </a:p>
        </p:txBody>
      </p:sp>
      <p:sp>
        <p:nvSpPr>
          <p:cNvPr id="7" name="Text 5"/>
          <p:cNvSpPr/>
          <p:nvPr/>
        </p:nvSpPr>
        <p:spPr>
          <a:xfrm>
            <a:off x="1046884" y="2724324"/>
            <a:ext cx="486782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Anti-fraude et vivacité hors périmètre</a:t>
            </a:r>
            <a:endParaRPr lang="en-US" sz="1500" dirty="0"/>
          </a:p>
        </p:txBody>
      </p:sp>
      <p:sp>
        <p:nvSpPr>
          <p:cNvPr id="8" name="Text 6"/>
          <p:cNvSpPr/>
          <p:nvPr/>
        </p:nvSpPr>
        <p:spPr>
          <a:xfrm>
            <a:off x="1046884" y="3060818"/>
            <a:ext cx="486782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Conditions des mesures non documentées</a:t>
            </a:r>
            <a:endParaRPr lang="en-US" sz="1500" dirty="0"/>
          </a:p>
        </p:txBody>
      </p:sp>
      <p:sp>
        <p:nvSpPr>
          <p:cNvPr id="9" name="Shape 7"/>
          <p:cNvSpPr/>
          <p:nvPr/>
        </p:nvSpPr>
        <p:spPr>
          <a:xfrm>
            <a:off x="6188017" y="1869901"/>
            <a:ext cx="5188065" cy="1669530"/>
          </a:xfrm>
          <a:prstGeom prst="roundRect">
            <a:avLst>
              <a:gd name="adj" fmla="val 5895"/>
            </a:avLst>
          </a:prstGeom>
          <a:solidFill>
            <a:srgbClr val="FFFFFF"/>
          </a:solidFill>
          <a:ln w="6350">
            <a:solidFill>
              <a:srgbClr val="E3E6E4"/>
            </a:solidFill>
            <a:prstDash val="solid"/>
          </a:ln>
        </p:spPr>
      </p:sp>
      <p:sp>
        <p:nvSpPr>
          <p:cNvPr id="10" name="Text 8"/>
          <p:cNvSpPr/>
          <p:nvPr/>
        </p:nvSpPr>
        <p:spPr>
          <a:xfrm>
            <a:off x="6418984" y="2100870"/>
            <a:ext cx="4867916"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PERSPECTIVES</a:t>
            </a:r>
            <a:endParaRPr lang="en-US" sz="1200" dirty="0"/>
          </a:p>
        </p:txBody>
      </p:sp>
      <p:sp>
        <p:nvSpPr>
          <p:cNvPr id="11" name="Text 9"/>
          <p:cNvSpPr/>
          <p:nvPr/>
        </p:nvSpPr>
        <p:spPr>
          <a:xfrm>
            <a:off x="6418984" y="2387829"/>
            <a:ext cx="486791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Tests sur iOS</a:t>
            </a:r>
            <a:endParaRPr lang="en-US" sz="1500" dirty="0"/>
          </a:p>
        </p:txBody>
      </p:sp>
      <p:sp>
        <p:nvSpPr>
          <p:cNvPr id="12" name="Text 10"/>
          <p:cNvSpPr/>
          <p:nvPr/>
        </p:nvSpPr>
        <p:spPr>
          <a:xfrm>
            <a:off x="6418984" y="2724324"/>
            <a:ext cx="486791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Mesure de la couverture</a:t>
            </a:r>
            <a:endParaRPr lang="en-US" sz="1500" dirty="0"/>
          </a:p>
        </p:txBody>
      </p:sp>
      <p:sp>
        <p:nvSpPr>
          <p:cNvPr id="13" name="Text 11"/>
          <p:cNvSpPr/>
          <p:nvPr/>
        </p:nvSpPr>
        <p:spPr>
          <a:xfrm>
            <a:off x="6418984" y="3060818"/>
            <a:ext cx="486791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Timeout et échantillon élargi</a:t>
            </a:r>
            <a:endParaRPr lang="en-US" sz="1500" dirty="0"/>
          </a:p>
        </p:txBody>
      </p:sp>
      <p:sp>
        <p:nvSpPr>
          <p:cNvPr id="14" name="Text 12"/>
          <p:cNvSpPr/>
          <p:nvPr/>
        </p:nvSpPr>
        <p:spPr>
          <a:xfrm>
            <a:off x="812742" y="6238267"/>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5" name="Text 13"/>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Text 0"/>
          <p:cNvSpPr/>
          <p:nvPr/>
        </p:nvSpPr>
        <p:spPr>
          <a:xfrm>
            <a:off x="812742" y="812744"/>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05 · CONCLUSION</a:t>
            </a:r>
            <a:endParaRPr lang="en-US" sz="1200" dirty="0"/>
          </a:p>
        </p:txBody>
      </p:sp>
      <p:sp>
        <p:nvSpPr>
          <p:cNvPr id="3" name="Text 1"/>
          <p:cNvSpPr/>
          <p:nvPr>
            <p:ph type="title"/>
          </p:nvPr>
        </p:nvSpPr>
        <p:spPr>
          <a:xfrm>
            <a:off x="812742" y="1112434"/>
            <a:ext cx="10883510" cy="500351"/>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6181D"/>
                </a:solidFill>
                <a:latin typeface="Inter" pitchFamily="34" charset="0"/>
                <a:ea typeface="Inter" pitchFamily="34" charset="-122"/>
                <a:cs typeface="Inter" pitchFamily="34" charset="-120"/>
              </a:rPr>
              <a:t>Conclusion</a:t>
            </a:r>
            <a:endParaRPr lang="en-US" sz="3400" dirty="0"/>
          </a:p>
        </p:txBody>
      </p:sp>
      <p:sp>
        <p:nvSpPr>
          <p:cNvPr id="4" name="Shape 2"/>
          <p:cNvSpPr/>
          <p:nvPr/>
        </p:nvSpPr>
        <p:spPr>
          <a:xfrm>
            <a:off x="815917" y="1869901"/>
            <a:ext cx="3397279" cy="1491846"/>
          </a:xfrm>
          <a:prstGeom prst="roundRect">
            <a:avLst>
              <a:gd name="adj" fmla="val 6598"/>
            </a:avLst>
          </a:prstGeom>
          <a:solidFill>
            <a:srgbClr val="FFFFFF"/>
          </a:solidFill>
          <a:ln w="6350">
            <a:solidFill>
              <a:srgbClr val="E3E6E4"/>
            </a:solidFill>
            <a:prstDash val="solid"/>
          </a:ln>
        </p:spPr>
      </p:sp>
      <p:sp>
        <p:nvSpPr>
          <p:cNvPr id="5" name="Text 3"/>
          <p:cNvSpPr/>
          <p:nvPr/>
        </p:nvSpPr>
        <p:spPr>
          <a:xfrm>
            <a:off x="1046884" y="2100870"/>
            <a:ext cx="302340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LIVRÉ</a:t>
            </a:r>
            <a:endParaRPr lang="en-US" sz="1200" dirty="0"/>
          </a:p>
        </p:txBody>
      </p:sp>
      <p:sp>
        <p:nvSpPr>
          <p:cNvPr id="6" name="Text 4"/>
          <p:cNvSpPr/>
          <p:nvPr/>
        </p:nvSpPr>
        <p:spPr>
          <a:xfrm>
            <a:off x="1046884" y="2387829"/>
            <a:ext cx="3023405" cy="7683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Autocapture recto/verso, aperçu, recadrage, page A4, historique</a:t>
            </a:r>
            <a:endParaRPr lang="en-US" sz="1500" dirty="0"/>
          </a:p>
        </p:txBody>
      </p:sp>
      <p:sp>
        <p:nvSpPr>
          <p:cNvPr id="7" name="Shape 5"/>
          <p:cNvSpPr/>
          <p:nvPr/>
        </p:nvSpPr>
        <p:spPr>
          <a:xfrm>
            <a:off x="4397317" y="1869901"/>
            <a:ext cx="3397365" cy="1491846"/>
          </a:xfrm>
          <a:prstGeom prst="roundRect">
            <a:avLst>
              <a:gd name="adj" fmla="val 6598"/>
            </a:avLst>
          </a:prstGeom>
          <a:solidFill>
            <a:srgbClr val="FFFFFF"/>
          </a:solidFill>
          <a:ln w="6350">
            <a:solidFill>
              <a:srgbClr val="E3E6E4"/>
            </a:solidFill>
            <a:prstDash val="solid"/>
          </a:ln>
        </p:spPr>
      </p:sp>
      <p:sp>
        <p:nvSpPr>
          <p:cNvPr id="8" name="Text 6"/>
          <p:cNvSpPr/>
          <p:nvPr/>
        </p:nvSpPr>
        <p:spPr>
          <a:xfrm>
            <a:off x="4628284" y="2100870"/>
            <a:ext cx="302349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MESURÉ</a:t>
            </a:r>
            <a:endParaRPr lang="en-US" sz="1200" dirty="0"/>
          </a:p>
        </p:txBody>
      </p:sp>
      <p:sp>
        <p:nvSpPr>
          <p:cNvPr id="9" name="Text 7"/>
          <p:cNvSpPr/>
          <p:nvPr/>
        </p:nvSpPr>
        <p:spPr>
          <a:xfrm>
            <a:off x="4628284" y="2387829"/>
            <a:ext cx="30234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92–100 ms, 92 %, ≈ 2 s · 177 cas sur 21 fichiers</a:t>
            </a:r>
            <a:endParaRPr lang="en-US" sz="1500" dirty="0"/>
          </a:p>
        </p:txBody>
      </p:sp>
      <p:sp>
        <p:nvSpPr>
          <p:cNvPr id="10" name="Shape 8"/>
          <p:cNvSpPr/>
          <p:nvPr/>
        </p:nvSpPr>
        <p:spPr>
          <a:xfrm>
            <a:off x="7978804" y="1869901"/>
            <a:ext cx="3397279" cy="1491846"/>
          </a:xfrm>
          <a:prstGeom prst="roundRect">
            <a:avLst>
              <a:gd name="adj" fmla="val 6598"/>
            </a:avLst>
          </a:prstGeom>
          <a:solidFill>
            <a:srgbClr val="FFFFFF"/>
          </a:solidFill>
          <a:ln w="6350">
            <a:solidFill>
              <a:srgbClr val="E3E6E4"/>
            </a:solidFill>
            <a:prstDash val="solid"/>
          </a:ln>
        </p:spPr>
      </p:sp>
      <p:sp>
        <p:nvSpPr>
          <p:cNvPr id="11" name="Text 9"/>
          <p:cNvSpPr/>
          <p:nvPr/>
        </p:nvSpPr>
        <p:spPr>
          <a:xfrm>
            <a:off x="8209770" y="2100870"/>
            <a:ext cx="3023405"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2563EB"/>
                </a:solidFill>
                <a:latin typeface="JetBrains Mono" pitchFamily="49" charset="0"/>
                <a:ea typeface="JetBrains Mono" pitchFamily="49" charset="-122"/>
                <a:cs typeface="JetBrains Mono" pitchFamily="49" charset="-120"/>
              </a:rPr>
              <a:t>NON FAIT</a:t>
            </a:r>
            <a:endParaRPr lang="en-US" sz="1200" dirty="0"/>
          </a:p>
        </p:txBody>
      </p:sp>
      <p:sp>
        <p:nvSpPr>
          <p:cNvPr id="12" name="Text 10"/>
          <p:cNvSpPr/>
          <p:nvPr/>
        </p:nvSpPr>
        <p:spPr>
          <a:xfrm>
            <a:off x="8209770" y="2387829"/>
            <a:ext cx="302340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6181D"/>
                </a:solidFill>
                <a:latin typeface="Inter" pitchFamily="34" charset="0"/>
                <a:ea typeface="Inter" pitchFamily="34" charset="-122"/>
                <a:cs typeface="Inter" pitchFamily="34" charset="-120"/>
              </a:rPr>
              <a:t>Message de timeout, échantillon de mesures élargi</a:t>
            </a:r>
            <a:endParaRPr lang="en-US" sz="1500" dirty="0"/>
          </a:p>
        </p:txBody>
      </p:sp>
      <p:sp>
        <p:nvSpPr>
          <p:cNvPr id="13" name="Text 11"/>
          <p:cNvSpPr/>
          <p:nvPr/>
        </p:nvSpPr>
        <p:spPr>
          <a:xfrm>
            <a:off x="812742" y="6238267"/>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Avatar-ID</a:t>
            </a:r>
            <a:endParaRPr lang="en-US" sz="1200" dirty="0"/>
          </a:p>
        </p:txBody>
      </p:sp>
      <p:sp>
        <p:nvSpPr>
          <p:cNvPr id="14" name="Text 12"/>
          <p:cNvSpPr/>
          <p:nvPr/>
        </p:nvSpPr>
        <p:spPr>
          <a:xfrm>
            <a:off x="9417107" y="6238267"/>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168"/>
                </a:solidFill>
                <a:latin typeface="JetBrains Mono" pitchFamily="49" charset="0"/>
                <a:ea typeface="JetBrains Mono" pitchFamily="49" charset="-122"/>
                <a:cs typeface="JetBrains Mono" pitchFamily="49"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81D"/>
        </a:solidFill>
      </p:bgPr>
    </p:bg>
    <p:spTree>
      <p:nvGrpSpPr>
        <p:cNvPr id="1" name=""/>
        <p:cNvGrpSpPr/>
        <p:nvPr/>
      </p:nvGrpSpPr>
      <p:grpSpPr>
        <a:xfrm>
          <a:off x="0" y="0"/>
          <a:ext cx="0" cy="0"/>
          <a:chOff x="0" y="0"/>
          <a:chExt cx="0" cy="0"/>
        </a:xfrm>
      </p:grpSpPr>
      <p:sp>
        <p:nvSpPr>
          <p:cNvPr id="2" name="Text 0"/>
          <p:cNvSpPr/>
          <p:nvPr/>
        </p:nvSpPr>
        <p:spPr>
          <a:xfrm>
            <a:off x="812742" y="2321068"/>
            <a:ext cx="10883510" cy="223520"/>
          </a:xfrm>
          <a:prstGeom prst="rect">
            <a:avLst/>
          </a:prstGeom>
          <a:noFill/>
          <a:ln/>
        </p:spPr>
        <p:txBody>
          <a:bodyPr wrap="square" lIns="0" tIns="0" rIns="0" bIns="0" rtlCol="0" anchor="t">
            <a:normAutofit/>
          </a:bodyPr>
          <a:lstStyle/>
          <a:p>
            <a:pPr algn="l" indent="0" marL="0">
              <a:lnSpc>
                <a:spcPts val="1560"/>
              </a:lnSpc>
              <a:buNone/>
            </a:pPr>
            <a:r>
              <a:rPr lang="en-US" sz="1200" spc="100" kern="0" dirty="0">
                <a:solidFill>
                  <a:srgbClr val="7AB0FF"/>
                </a:solidFill>
                <a:latin typeface="JetBrains Mono" pitchFamily="49" charset="0"/>
                <a:ea typeface="JetBrains Mono" pitchFamily="49" charset="-122"/>
                <a:cs typeface="JetBrains Mono" pitchFamily="49" charset="-120"/>
              </a:rPr>
              <a:t>Remerciements et questions</a:t>
            </a:r>
            <a:endParaRPr lang="en-US" sz="1200" dirty="0"/>
          </a:p>
        </p:txBody>
      </p:sp>
      <p:sp>
        <p:nvSpPr>
          <p:cNvPr id="3" name="Text 1"/>
          <p:cNvSpPr/>
          <p:nvPr>
            <p:ph type="title"/>
          </p:nvPr>
        </p:nvSpPr>
        <p:spPr>
          <a:xfrm>
            <a:off x="812742" y="2696958"/>
            <a:ext cx="10883510"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7F7F4"/>
                </a:solidFill>
                <a:latin typeface="Inter" pitchFamily="34" charset="0"/>
                <a:ea typeface="Inter" pitchFamily="34" charset="-122"/>
                <a:cs typeface="Inter" pitchFamily="34" charset="-120"/>
              </a:rPr>
              <a:t>Merci de votre attention</a:t>
            </a:r>
            <a:endParaRPr lang="en-US" sz="4800" dirty="0"/>
          </a:p>
        </p:txBody>
      </p:sp>
      <p:sp>
        <p:nvSpPr>
          <p:cNvPr id="4" name="Text 2"/>
          <p:cNvSpPr/>
          <p:nvPr/>
        </p:nvSpPr>
        <p:spPr>
          <a:xfrm>
            <a:off x="812742" y="3545291"/>
            <a:ext cx="10883510" cy="305955"/>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B8BCC4"/>
                </a:solidFill>
                <a:latin typeface="Inter" pitchFamily="34" charset="0"/>
                <a:ea typeface="Inter" pitchFamily="34" charset="-122"/>
                <a:cs typeface="Inter" pitchFamily="34" charset="-120"/>
              </a:rPr>
              <a:t>Merci à mes encadrants, à l’ENSI et aux membres du jury.</a:t>
            </a:r>
            <a:endParaRPr lang="en-US" sz="1700" dirty="0"/>
          </a:p>
        </p:txBody>
      </p:sp>
      <p:sp>
        <p:nvSpPr>
          <p:cNvPr id="5" name="Text 3"/>
          <p:cNvSpPr/>
          <p:nvPr/>
        </p:nvSpPr>
        <p:spPr>
          <a:xfrm>
            <a:off x="812742" y="4003619"/>
            <a:ext cx="10883510" cy="355485"/>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7AB0FF"/>
                </a:solidFill>
                <a:latin typeface="JetBrains Mono" pitchFamily="49" charset="0"/>
                <a:ea typeface="JetBrains Mono" pitchFamily="49" charset="-122"/>
                <a:cs typeface="JetBrains Mono" pitchFamily="49" charset="-120"/>
              </a:rPr>
              <a:t>Questions ?</a:t>
            </a:r>
            <a:endParaRPr lang="en-US" sz="2000" dirty="0"/>
          </a:p>
        </p:txBody>
      </p:sp>
      <p:sp>
        <p:nvSpPr>
          <p:cNvPr id="6" name="Text 4"/>
          <p:cNvSpPr/>
          <p:nvPr/>
        </p:nvSpPr>
        <p:spPr>
          <a:xfrm>
            <a:off x="812742" y="6238273"/>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CC4"/>
                </a:solidFill>
                <a:latin typeface="JetBrains Mono" pitchFamily="49" charset="0"/>
                <a:ea typeface="JetBrains Mono" pitchFamily="49" charset="-122"/>
                <a:cs typeface="JetBrains Mono" pitchFamily="49" charset="-120"/>
              </a:rPr>
              <a:t>Avatar-ID</a:t>
            </a:r>
            <a:endParaRPr lang="en-US" sz="1200" dirty="0"/>
          </a:p>
        </p:txBody>
      </p:sp>
      <p:sp>
        <p:nvSpPr>
          <p:cNvPr id="7" name="Text 5"/>
          <p:cNvSpPr/>
          <p:nvPr/>
        </p:nvSpPr>
        <p:spPr>
          <a:xfrm>
            <a:off x="9417107" y="6238273"/>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CC4"/>
                </a:solidFill>
                <a:latin typeface="JetBrains Mono" pitchFamily="49" charset="0"/>
                <a:ea typeface="JetBrains Mono" pitchFamily="49" charset="-122"/>
                <a:cs typeface="JetBrains Mono" pitchFamily="49" charset="-120"/>
              </a:rPr>
              <a:t>16 / 16</a:t>
            </a:r>
            <a:endParaRPr lang="en-US" sz="1200" dirty="0"/>
          </a:p>
        </p:txBody>
      </p:sp>
    </p:spTree>
  </p:cSld>
  <p:clrMapOvr>
    <a:masterClrMapping/>
  </p:clrMapOvr>
</p:sld>
</file>

<file path=ppt/theme/theme1.xml><?xml version="1.0" encoding="utf-8"?>
<a:theme xmlns:a="http://schemas.openxmlformats.org/drawingml/2006/main" name="Avatar-ID — Soutenance de stage">
  <a:themeElements>
    <a:clrScheme name="Avatar-ID — Soutenance de stage">
      <a:dk1>
        <a:srgbClr val="16181D"/>
      </a:dk1>
      <a:lt1>
        <a:srgbClr val="F7F7F4"/>
      </a:lt1>
      <a:dk2>
        <a:srgbClr val="4E5053"/>
      </a:dk2>
      <a:lt2>
        <a:srgbClr val="E1E1DF"/>
      </a:lt2>
      <a:accent1>
        <a:srgbClr val="2563EB"/>
      </a:accent1>
      <a:accent2>
        <a:srgbClr val="7AB0FF"/>
      </a:accent2>
      <a:accent3>
        <a:srgbClr val="5B6168"/>
      </a:accent3>
      <a:accent4>
        <a:srgbClr val="B8BCC4"/>
      </a:accent4>
      <a:accent5>
        <a:srgbClr val="DBE7FF"/>
      </a:accent5>
      <a:accent6>
        <a:srgbClr val="9AA0A6"/>
      </a:accent6>
      <a:hlink>
        <a:srgbClr val="0563C1"/>
      </a:hlink>
      <a:folHlink>
        <a:srgbClr val="954F72"/>
      </a:folHlink>
    </a:clrScheme>
    <a:fontScheme name="Avatar-ID — Soutenance de stag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Avatar-ID — Soutenance de stage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2026-10-23T07:58:34Z</dcterms:created>
  <dcterms:modified xsi:type="dcterms:W3CDTF">2026-10-23T07:58:34Z</dcterms:modified>
</cp:coreProperties>
</file>