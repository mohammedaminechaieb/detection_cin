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25 s (cumul 0:25). TEXTE ORAL : « Mesdames et Messieurs les membres du jury, bonjour. Je présente le module de détection automatique et d'autocapture de la carte d'identité nationale, réalisé pendant mon stage chez Codingaholic, à La Marsa, dans le projet Avatar-ID. Quinze minutes : le problème, la solution, une démonstration, puis les résultats et leurs limites. » TRANSITION : « Commençons par le problème. » À RETENIR : le sujet tient en une phrase : une application mobile qui capture seule recto et verso de la CIN. QUESTION PROBABLE : « Quel était votre périmètre exact ? » → le module de détection et d'autocapture ; pas de vérification d'identité ni d'anti-fraude biométrique (rapport, §7.2.4, p. 43). À COMPLÉTER AVANT LE JOUR J : date de soutenance, encadrant ENSI, fichiers officiels des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45 s (cumul 1:10). TEXTE ORAL : « Dans Avatar-ID, l'utilisateur doit fournir sa carte d'identité. Si on lui demande une simple photo, on obtient une image floue, mal cadrée, ou le recto envoyé deux fois à la place du verso. Ce sont les défauts que le rapport relève dès le chapitre 1. Mon module guide l'utilisateur et ne capture que lorsque l'image est exploitable, une seule fois par face. » TRANSITION : « Pour juger si c'est réussi, il fallait des cibles chiffrées. » À RETENIR : trois défauts typiques ; l'autocapture les évite par construction. ATTENTION : les trois schémas sont illustratifs ; ne pas les présenter comme des mesures. QUESTION PROBABLE : « Pourquoi ne pas utiliser le scanner natif du téléphone ? » → le rapport compare trois options techniques (tableau 1.2, p. 16) ; il ne documente pas de test du scanner natif. Ne pas inventer.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45 s (cumul 1:55). TEXTE ORAL : « Le cahier des charges fixe trois cibles : moins de 100 ms de traitement par frame, au moins 90 % de reconnaissance recto/verso en conditions normales, et une capture en environ deux secondes au plus après le bon positionnement de la carte. L'application doit tourner sur Android et sur iOS. Je précise tout de suite : ce sont des cibles. Les mesures viendront plus tard, avec leurs limites. » TRANSITION : « Ces contraintes ont dicté le choix technologique. » À RETENIR : cibles ≠ résultats ; Android et iOS exigés. QUESTION PROBABLE : « Avez-vous testé sur iOS ? » → le rapport n'en documente aucun ; OpenCV est multiplateforme par nature, mais je ne présente pas cela comme une validation. [À COMPLÉTER si vous avez testé 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45 s (cumul 2:40). TEXTE ORAL : « Trois options ont été évaluées. ML Kit : simple, mais pas de support iOS. Un modèle entraîné sur mesure : possible sur iOS, mais il faut plusieurs centaines d'images annotées, ce qui est incompatible avec six semaines. OpenCV : multiplateforme, sans entraînement ; le prix à payer est un réglage empirique des seuils. Notez que ces deux éliminations viennent d'une analyse des contraintes, pas d'un benchmark. » TRANSITION : « Voyons l'architecture qui isole OpenCV. » À RETENIR : choix par élimination ; coût assumé = réglage empirique. QUESTION PROBABLE : « Pourquoi pas du deep learning ? » → pas de jeu de données annoté disponible et six semaines ; le rapport le dit explicitement (p. 15–16). Le classificateur de Haar utilisé au ch. 6 est pré-entraîné, fourni par OpenCV.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55 s (cumul 3:35). TEXTE ORAL : « L'application est organisée en sept modules par fonctionnalité, plus deux modules transverses. Chaque fonctionnalité suit le même motif en trois couches : présentation, données, et un domaine pur qui ne dépend ni de Flutter ni d'OpenCV. Conséquence directe : la plus grande partie de la logique métier se teste sans caméra, sans OpenCV et sans émulateur, d'où la proportion de tests de palier A, détaillée en diapositive de secours B. » TRANSITION : « Entrons dans le cœur : le pipeline de détection. » À RETENIR : le domaine en orange est la couche qui rend les tests rapides. QUESTION PROBABLE : « Pourquoi feature-first ? » → un module ne peut pas casser silencieusement la logique d'un autre : ils ne partagent que des interfaces de domaine explicites (rapport, p.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75 s (cumul 4:50). TEXTE ORAL : « Voici le pipeline. Chaque frame caméra, en YUV420 ou BGRA, devient une matrice OpenCV. On applique un CLAHE pour renforcer le contraste local. Puis quatre passes produisent chacune un masque : Canny avec des seuils à 0,66 et 1,33 fois la médiane, un seuillage adaptatif gaussien, la saturation HSV avec Otsu, et en dernier recours un gradient morphologique, qui n'intervient que si aucun candidat n'atteint 0,65. Les contours sont ensuite approchés par un quadrilatère ; un score combine 80 % de proportion et 20 % de taille ; on accepte à partir de 0,30. La carte est redressée en 856 par 540 pixels. Tout cela tourne dans un Isolate Dart persistant ; si une frame arrive pendant un traitement, elle est abandonnée, ce qui évite de saccader l'aperçu. » TRANSITION : « Cette étape a connu une vraie difficulté. » À RETENIR : quatre passes, un score, seuil 0,30 ; le gradient est un dernier recours. DÉTAILS : recherche grossière à l'échelle 0,45 puis affinage pleine résolution ; rejet si un coin touche le bord ou si l'aire dépasse 75 % ; repli minAreaRect avec pénalité ×0,85. QUESTION PROBABLE : « Comment avez-vous choisi les seuils ? » → empiriquement, sur un petit nombre d'échantillons de CIN (rapport, p. 16 et tableau 5.1). Pas de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65 s (cumul 5:55). TEXTE ORAL : « La difficulté principale : la détection marchait sur fond sombre mais échouait souvent sur une carte claire posée sur une table blanche, un cas pourtant courant. Deux causes. Un bug : les seuils de Canny étaient calculés à partir de la moyenne de l'image et non de sa médiane, ce qui les poussait trop haut sur les scènes claires. Et un manque de contraste local. Correctif : seuils sur la médiane, et passe CLAHE avant la détection. Le rapport conclut à un taux de détection comparable entre fond clair et fond sombre ; je dois préciser honnêtement qu'il ne le chiffre pas. » TRANSITION : « Une fois la carte détectée, il faut décider quand capturer. » À RETENIR : cause = moyenne au lieu de médiane ; correctif = médiane + CLAHE ; effet non chiffré. QUESTION PROBABLE : « Quel est le gain chiffré du correctif ? » → aucune mesure avant/après n'est documentée ; le rapport parle d'un taux « comparable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65 s (cumul 7:00). TEXTE ORAL : « L'autocapture est une machine à états : searching, poorQuality, holding, triggerCapture, captured. Tant que le quadrilatère est détecté mais que la qualité est insuffisante, on reste en poorQuality. Trois contrôles : la netteté, variance du Laplacien au moins 120 ; la luminosité moyenne entre 60 et 225 avec au plus 12 % de pixels saturés ; la stabilité, dérive des coins inférieure à 2,5 % de la diagonale sur trois frames. Quand tout est bon, il faut tenir deux frames bonnes consécutives : c'est un compteur de frames, pas un minuteur. Seulement alors la capture se déclenche. » TRANSITION : « Reste à savoir si on photographie le recto ou le verso. » À RETENIR : le seuil 120 n'a de sens qu'à 856 × 540 px ; le maintien = 2 frames. QUESTION PROBABLE : « Pourquoi 120 ? » → seuil empirique, valable uniquement sur l'image redressée 856×540 (tableau 5.1). Voir la diapositive de secours A. QUESTION PROBABLE 2 : « Et si l'utilisateur n'y arrive pas ? » → le message de timeout n'est pas implémenté (limite assumée, diapositive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55 s (cumul 7:55). TEXTE ORAL : « Pour le recto, on cherche un visage avec un classificateur de Haar pré-entraîné fourni par OpenCV, dans une zone en haut à gauche, sur quatre rotations, et on confirme par template matching du logo et du drapeau avec un seuil de corrélation de 0,6. Pour le verso, trois indices : un code-barres, dont on ne fait que la localisation, une texture compatible avec une empreinte, et une ligne de séparation détectée par Hough ; les quatre rotations votent. Un état global de progression empêche de capturer deux fois la même face. Les deux images montrent les silhouettes de guidage de l'application, pas des détections. » TRANSITION : « Que voit l'utilisateur ensuite ? » À RETENIR : indices multiples + vote sur 4 rotations + anti-doublon. ATTENTION : les légendes du rapport (fig. 6.3 / 6.4) parlent de « région d'intérêt détectée » ; les images montrent en fait les silhouettes de guidage. Ne pas dire « voici la détection ». QUESTION PROBABLE : « Pourquoi pas de lecture du code-barres ? » → seule sa présence compte pour distinguer le verso ; le décodage n'est pas dans le périmètre. QUESTION PROBABLE 2 : « Un visage sur une photo d'écran ? » → pas de détection de vivacité (§7.2.4, p.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30 s (cumul 8:25). TEXTE ORAL : « Une fois les deux faces capturées, l'utilisateur voit un aperçu du recto, du verso et d'une page A4 composée. Il peut recadrer, pivoter ou améliorer chaque face, valider ou reprendre. » TRANSITION : « Place à la démonstration. » À RETENIR : validation humaine à chaque face ; page A4 composée en 2480 × 3508 px. NOTE : les cases grises masquent photo, nom, numéros et texte arabe de la carte du rapport. QUESTION PROBABLE : « Où vont les images exportées ? » → galerie de l'appareil via package:gal ; elles échappent ensuite au contrôle de l'application (cloud, partage), ce dont l'utilisateur doit être informé (§7.2.4, p. 43). QUESTION PROBABLE 2 : « La page A4 est-elle testée ? » → le fichier de test du compositeur n'apparaît pas dans la campagne d'exécution (tableau 9.2, p. 50) ; ne pas l'affirmer testé.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110 s (cumul 10:15). Début à 8:25. PARCOURS (≈ 15 s par écran ; un clic fait apparaître chaque écran) : 1. RECTO : le cadre-guide passe du rouge au vert selon la détection ; le message guide l'utilisateur tant que l'image n'est pas assez nette. 2. VERSO : même principe ; la face est reconnue par son contenu. 3. APERÇU : recto, verso et page à imprimer. 4. RECADRER : l'utilisateur glisse les coins du cadre. 5. PIVOTER : par quart de tour. 6. AMÉLIORER : contraste, netteté, mode scan. 7. HISTORIQUE : captures de la session. TEXTE ORAL : « Voici le parcours tel qu'il se déroule à l'écran, à partir de captures de la session de test. Le cadre-guide est rouge ou vert selon la détection, et la capture ne part qu'après deux frames bonnes consécutives. Une fois recto et verso capturés, l'utilisateur voit l'aperçu, recadre, pivote, améliore, puis retrouve ses captures dans l'historique. » PRÉCISION À DIRE : les captures sont fixes ; elles ne montrent pas le changement de couleur du cadre ni le déclenchement automatique. « Sur l'application, la capture se déclenche seule dès que l'image est stable. » TRANSITION : « Voyons maintenant ce que disent les tests. » QUESTION PROBABLE : « Pourquoi pas de démonstration en direct ? » → dire simplement que le parcours est présenté à partir de captures de la session de test ; ne pas inventer d'autre raison.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45 s (cumul 11:00). TEXTE ORAL : « Côté tests automatisés, la dernière campagne disponible exécute 177 cas, tous réussis, sur 21 des 28 fichiers de test. Ils sont organisés en quatre paliers : logique pure, plateforme simulée, OpenCV réel sur images synthétiques, et le palier D, manuel, avec de vraies cartes. » TRANSITION : « Et sur appareil réel ? » À RETENIR : « 177/177 » et « 21 fichiers sur 28 » vont toujours ensemble. POURQUOI UNE TRANSCRIPTION : la figure 9.1 du rapport est une image de 265 × 20 px, illisible en projection. Si vous relancez flutter test, remplacez par une vraie capture. QUESTION PROBABLE : « Pourquoi ces sept fichiers n'ont-ils pas tourné ? » → le rapport ne le sait pas : aucun message d'erreur associé (p. 50). Cinq des sept fichiers de palier C se sont bien exécutés, donc le binaire natif d'opencv_dart n'est pas la cause générale. QUESTION PROBABLE 2 : « Quelle est la couverture ? » → jamais mesurée ; flutter test --coverage est l'option indiquée au rapport (p. 52). [À COMPLÉTER si vous l'avez relancé.] POUR LE JURY : la liste des sept fichiers sans résultat et la couverture ne sont plus sur la diapositive ; les réponses sont prêtes ci-dessus.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50 s (cumul 11:50). TEXTE ORAL : « Trois mesures manuelles sur appareil réel. Traitement par frame : entre 92 et 100 ms, pour une cible idéale sous 100 ms : on est à la limite. Reconnaissance recto/verso : 92 % pour une cible de 90 % en conditions normales. Délai entre stabilisation et capture : environ deux secondes, pour une cible d'environ deux secondes au maximum. Chaque ligne a sa limite : l'appareil, le nombre de frames, les conditions et la taille de l'échantillon ne sont pas documentés, et le délai se compte à partir de la stabilisation, pas de la pose de la carte. » TRANSITION : « Voyons les limites dans leur ensemble. » À RETENIR : ces chiffres sont à la limite de leurs cibles ; aucun n'est prouvé statistiquement. QUESTION PROBABLE : « Sur combien de cartes le 92 % ? » → non documenté dans le rapport. [À COMPLÉTER si vous connaissez l'échantillon et l'appareil.] Ne pas improviser un nombre. QUESTION PROBABLE 2 : « Les 100 ms incluent-elles la conversion de la frame ? » → la mesure est prise avant/après le traitement d'une frame dans DetectionIsolateWorker (tableau 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45 s (cumul 12:35). TEXTE ORAL : « Je préfère nommer moi-même les limites. Le message de timeout n'est pas implémenté. Il n'y a pas de détection de vivacité ni d'anti-fraude, ce qui est hors du périmètre du stage. Et les conditions des mesures manuelles ne sont pas documentées. » TRANSITION : « Pour conclure. » À RETENIR : le jury doit entendre ces limites de ma bouche avant de les trouver. ATTENTION : le rapport contient un passage (§1.1.2) qui laisse entendre une garantie de sécurité plus forte que le §7.2.4. Toujours citer le §7.2.4 : contrôles qui réduisent le risque de photo d'écran, sans détecter le rejeu ni le spoofing. QUESTION PROBABLE : « Peut-on utiliser le module en production ? » → il a atteint ses trois cibles à la limite, avec des mesures non étendues ; avant production : tests iOS, couverture, timeout, échantillon élargi.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45 s (cumul 13:20). Marge restante ≈ 100 s pour les transitions, jusqu'à 15:00. TEXTE ORAL : « En six semaines, le module capture seul le recto puis le verso d'une CIN : détection par quatre passes et un score, autocapture par netteté, luminosité et stabilité, reconnaissance recto/verso, aperçu, recadrage, page A4 et historique. Trois mesures manuelles sont à la limite de leurs cibles, 177 tests passent sur 21 fichiers sur 28. Il reste à implémenter le message de timeout et à élargir l'échantillon de mesures. Merci de votre attention ; je suis à votre disposition pour vos questions. » À RETENIR : livré / mesuré / non fait. GRAPHIQUE : durées du tableau 2.4 : 1,5 + 8 + 2 + 4 + 5 + 5 = 25,5 jours sur 30 ; le reste est une marge tampon d'environ 4,5 jours (§2.8, p. 23). Q&amp;R : voir le fichier jury_qa.md ; diapositives de secours A à C après celle-ci.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SECOURS A : à ouvrir seulement si le jury interroge les seuils. RÉPONSE : tous ces seuils sont fixés par réglage empirique sur les échantillons de CIN disponibles (rapport, §5.5, p. 35). Le seuil de netteté 120 est calibré sur l'image redressée de 856 × 540 px ; à une autre résolution, la variance du Laplacien change et le seuil n'est plus valable. Aucun benchmark ni analyse de sensibilité n'est documenté.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SECOURS B : détail des tests. RÉPONSE : 28 fichiers (15 de palier A, 6 de B, 7 de C). La campagne disponible en exécute 21, soit 177 cas, tous réussis. Les paliers A et B sont rapides et sans matériel ; le palier C dépend du binaire natif d'opencv_dart ; le palier D (visage réel, code-barres, empreinte, flux caméra de bout en bout) est manuel. Cinq des sept fichiers de palier C se sont exécutés, ce qui prouve que le binaire natif était disponible sur la machine ayant produit le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SECOURS C : confidentialité et fraude. RÉPONSE : les contrôles (netteté, luminosité, stabilité, reconnaissance recto/verso) réduisent fortement le risque de photo d'écran ou d'image préparée, sans constituer une détection de rejeu ou de spoofing : pas de vivacité biométrique, pas d'analyse de texture anti-fraude ; hors périmètre (rapport, p. 43). Deux points de confidentialité : l'export galerie (les images suivent ensuite le cycle de vie des photos : sauvegarde cloud, partage) et l'historique des captures de la session. ATTENTION : ne pas citer le §1.1.2, plus optimiste ; s'en tenir au §7.2.4. Chiffrement et conformité : le rapport n'en parle pas ; répondre « non évalué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42" y="812744"/>
            <a:ext cx="10566515" cy="826510"/>
          </a:xfrm>
          <a:prstGeom prst="rect">
            <a:avLst/>
          </a:prstGeom>
          <a:noFill/>
          <a:ln/>
        </p:spPr>
        <p:txBody>
          <a:bodyPr wrap="square" lIns="0" tIns="0" rIns="0" bIns="0" rtlCol="0" anchor="t"/>
          <a:lstStyle>
            <a:lvl1pPr algn="l" indent="0" marL="0">
              <a:lnSpc>
                <a:spcPct val="115000"/>
              </a:lnSpc>
              <a:buNone/>
              <a:defRPr lang="en-US" sz="2900" dirty="0">
                <a:solidFill>
                  <a:srgbClr val="14202B"/>
                </a:solidFill>
                <a:latin typeface="Arial" pitchFamily="34" charset="0"/>
                <a:ea typeface="Arial" pitchFamily="34" charset="-122"/>
                <a:cs typeface="Arial" pitchFamily="34" charset="-120"/>
              </a:defRPr>
            </a:lvl1pPr>
          </a:lstStyle>
          <a:p>
            <a:pPr algn="l" indent="0" marL="0">
              <a:lnSpc>
                <a:spcPct val="115000"/>
              </a:lnSpc>
              <a:buNone/>
            </a:pPr>
            <a:endParaRPr lang="en-US" sz="2900" dirty="0"/>
          </a:p>
        </p:txBody>
      </p:sp>
      <p:sp>
        <p:nvSpPr>
          <p:cNvPr id="3" name="Text Placeholder 2"/>
          <p:cNvSpPr/>
          <p:nvPr>
            <p:ph idx="101" type="body"/>
          </p:nvPr>
        </p:nvSpPr>
        <p:spPr>
          <a:xfrm>
            <a:off x="812742" y="1944054"/>
            <a:ext cx="10566458" cy="4101146"/>
          </a:xfrm>
          <a:prstGeom prst="rect">
            <a:avLst/>
          </a:prstGeom>
          <a:noFill/>
          <a:ln/>
        </p:spPr>
        <p:txBody>
          <a:bodyPr wrap="square" lIns="0" tIns="0" rIns="0" bIns="0" rtlCol="0" anchor="t"/>
          <a:lstStyle>
            <a:lvl1pPr algn="l" indent="0" marL="0">
              <a:lnSpc>
                <a:spcPct val="140000"/>
              </a:lnSpc>
              <a:buNone/>
              <a:defRPr lang="en-US" sz="1600" dirty="0">
                <a:solidFill>
                  <a:srgbClr val="14202B"/>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42" y="812744"/>
            <a:ext cx="10566515" cy="826510"/>
          </a:xfrm>
          <a:prstGeom prst="rect">
            <a:avLst/>
          </a:prstGeom>
          <a:noFill/>
          <a:ln/>
        </p:spPr>
        <p:txBody>
          <a:bodyPr wrap="square" lIns="0" tIns="0" rIns="0" bIns="0" rtlCol="0" anchor="t"/>
          <a:lstStyle>
            <a:lvl1pPr algn="l" indent="0" marL="0">
              <a:lnSpc>
                <a:spcPct val="115000"/>
              </a:lnSpc>
              <a:buNone/>
              <a:defRPr lang="en-US" sz="2900" dirty="0">
                <a:solidFill>
                  <a:srgbClr val="14202B"/>
                </a:solidFill>
                <a:latin typeface="Arial" pitchFamily="34" charset="0"/>
                <a:ea typeface="Arial" pitchFamily="34" charset="-122"/>
                <a:cs typeface="Arial" pitchFamily="34" charset="-120"/>
              </a:defRPr>
            </a:lvl1pPr>
          </a:lstStyle>
          <a:p>
            <a:pPr algn="l" indent="0" marL="0">
              <a:lnSpc>
                <a:spcPct val="115000"/>
              </a:lnSpc>
              <a:buNone/>
            </a:pPr>
            <a:endParaRPr lang="en-US" sz="2900" dirty="0"/>
          </a:p>
        </p:txBody>
      </p:sp>
      <p:sp>
        <p:nvSpPr>
          <p:cNvPr id="3" name="Text Placeholder 2"/>
          <p:cNvSpPr/>
          <p:nvPr>
            <p:ph idx="101" type="body"/>
          </p:nvPr>
        </p:nvSpPr>
        <p:spPr>
          <a:xfrm>
            <a:off x="812742" y="1944054"/>
            <a:ext cx="10566458" cy="4101146"/>
          </a:xfrm>
          <a:prstGeom prst="rect">
            <a:avLst/>
          </a:prstGeom>
          <a:noFill/>
          <a:ln/>
        </p:spPr>
        <p:txBody>
          <a:bodyPr wrap="square" lIns="0" tIns="0" rIns="0" bIns="0" rtlCol="0" anchor="t"/>
          <a:lstStyle>
            <a:lvl1pPr algn="l" indent="0" marL="0">
              <a:lnSpc>
                <a:spcPct val="140000"/>
              </a:lnSpc>
              <a:buNone/>
              <a:defRPr lang="en-US" sz="1600" dirty="0">
                <a:solidFill>
                  <a:srgbClr val="14202B"/>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2.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manouba">    </p:cNvPr>
          <p:cNvPicPr>
            <a:picLocks noChangeAspect="1"/>
          </p:cNvPicPr>
          <p:nvPr/>
        </p:nvPicPr>
        <p:blipFill>
          <a:blip r:embed="rId1"/>
          <a:srcRect l="-122" r="-122" t="0" b="0"/>
          <a:stretch/>
        </p:blipFill>
        <p:spPr>
          <a:xfrm>
            <a:off x="812742" y="812742"/>
            <a:ext cx="546042" cy="717492"/>
          </a:xfrm>
          <a:prstGeom prst="rect">
            <a:avLst/>
          </a:prstGeom>
        </p:spPr>
      </p:pic>
      <p:pic>
        <p:nvPicPr>
          <p:cNvPr id="3" name="Image 1" descr="ensi">    </p:cNvPr>
          <p:cNvPicPr>
            <a:picLocks noChangeAspect="1"/>
          </p:cNvPicPr>
          <p:nvPr/>
        </p:nvPicPr>
        <p:blipFill>
          <a:blip r:embed="rId2"/>
          <a:srcRect l="0" r="0" t="-87" b="-87"/>
          <a:stretch/>
        </p:blipFill>
        <p:spPr>
          <a:xfrm>
            <a:off x="1612756" y="812742"/>
            <a:ext cx="596871" cy="717492"/>
          </a:xfrm>
          <a:prstGeom prst="rect">
            <a:avLst/>
          </a:prstGeom>
        </p:spPr>
      </p:pic>
      <p:pic>
        <p:nvPicPr>
          <p:cNvPr id="4" name="Image 2" descr="coding">    </p:cNvPr>
          <p:cNvPicPr>
            <a:picLocks noChangeAspect="1"/>
          </p:cNvPicPr>
          <p:nvPr/>
        </p:nvPicPr>
        <p:blipFill>
          <a:blip r:embed="rId3"/>
          <a:srcRect l="-30" r="-30" t="0" b="0"/>
          <a:stretch/>
        </p:blipFill>
        <p:spPr>
          <a:xfrm>
            <a:off x="2463598" y="812742"/>
            <a:ext cx="1638300" cy="717492"/>
          </a:xfrm>
          <a:prstGeom prst="rect">
            <a:avLst/>
          </a:prstGeom>
        </p:spPr>
      </p:pic>
      <p:sp>
        <p:nvSpPr>
          <p:cNvPr id="5" name="Text 0"/>
          <p:cNvSpPr/>
          <p:nvPr>
            <p:ph type="title"/>
          </p:nvPr>
        </p:nvSpPr>
        <p:spPr>
          <a:xfrm>
            <a:off x="812742" y="2489229"/>
            <a:ext cx="10883510" cy="1115060"/>
          </a:xfrm>
          <a:prstGeom prst="rect">
            <a:avLst/>
          </a:prstGeom>
          <a:noFill/>
          <a:ln/>
        </p:spPr>
        <p:txBody>
          <a:bodyPr wrap="square" lIns="0" tIns="0" rIns="0" bIns="0" rtlCol="0" anchor="t">
            <a:normAutofit/>
          </a:bodyPr>
          <a:lstStyle/>
          <a:p>
            <a:pPr algn="l" indent="0" marL="0">
              <a:lnSpc>
                <a:spcPts val="4290"/>
              </a:lnSpc>
              <a:buNone/>
            </a:pPr>
            <a:r>
              <a:rPr lang="en-US" sz="3900" b="1" i="0" dirty="0">
                <a:solidFill>
                  <a:srgbClr val="14202B"/>
                </a:solidFill>
                <a:latin typeface="Arial" pitchFamily="34" charset="0"/>
                <a:ea typeface="Arial" pitchFamily="34" charset="-122"/>
                <a:cs typeface="Arial" pitchFamily="34" charset="-120"/>
              </a:rPr>
              <a:t>Détection automatique et autocapture de la carte d’identité nationale</a:t>
            </a:r>
            <a:endParaRPr lang="en-US" sz="3900" dirty="0"/>
          </a:p>
        </p:txBody>
      </p:sp>
      <p:sp>
        <p:nvSpPr>
          <p:cNvPr id="6" name="Text 1"/>
          <p:cNvSpPr/>
          <p:nvPr/>
        </p:nvSpPr>
        <p:spPr>
          <a:xfrm>
            <a:off x="812742" y="3718560"/>
            <a:ext cx="1088351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770"/>
                </a:solidFill>
                <a:latin typeface="Arial" pitchFamily="34" charset="0"/>
                <a:ea typeface="Arial" pitchFamily="34" charset="-122"/>
                <a:cs typeface="Arial" pitchFamily="34" charset="-120"/>
              </a:rPr>
              <a:t>Module Avatar-ID · Flutter, OpenCV · Université de la Manouba, ENSI · 2025/2026</a:t>
            </a:r>
            <a:endParaRPr lang="en-US" sz="1500" dirty="0"/>
          </a:p>
        </p:txBody>
      </p:sp>
      <p:sp>
        <p:nvSpPr>
          <p:cNvPr id="7" name="Text 2"/>
          <p:cNvSpPr/>
          <p:nvPr/>
        </p:nvSpPr>
        <p:spPr>
          <a:xfrm>
            <a:off x="812742" y="4105881"/>
            <a:ext cx="1088351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770"/>
                </a:solidFill>
                <a:latin typeface="Arial" pitchFamily="34" charset="0"/>
                <a:ea typeface="Arial" pitchFamily="34" charset="-122"/>
                <a:cs typeface="Arial" pitchFamily="34" charset="-120"/>
              </a:rPr>
              <a:t>Mohammed Amine Chaieb · stage à Codingaholic, La Marsa</a:t>
            </a:r>
            <a:endParaRPr lang="en-US" sz="1500" dirty="0"/>
          </a:p>
        </p:txBody>
      </p:sp>
      <p:sp>
        <p:nvSpPr>
          <p:cNvPr id="8" name="Text 3"/>
          <p:cNvSpPr/>
          <p:nvPr/>
        </p:nvSpPr>
        <p:spPr>
          <a:xfrm>
            <a:off x="812742" y="4493202"/>
            <a:ext cx="1088351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770"/>
                </a:solidFill>
                <a:latin typeface="Arial" pitchFamily="34" charset="0"/>
                <a:ea typeface="Arial" pitchFamily="34" charset="-122"/>
                <a:cs typeface="Arial" pitchFamily="34" charset="-120"/>
              </a:rPr>
              <a:t>Encadrant entreprise : Jendoubi Mohamed Khalil</a:t>
            </a:r>
            <a:endParaRPr lang="en-US" sz="1500" dirty="0"/>
          </a:p>
        </p:txBody>
      </p:sp>
      <p:sp>
        <p:nvSpPr>
          <p:cNvPr id="9" name="Text 4"/>
          <p:cNvSpPr/>
          <p:nvPr/>
        </p:nvSpPr>
        <p:spPr>
          <a:xfrm>
            <a:off x="812742" y="4880523"/>
            <a:ext cx="10883510" cy="256425"/>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C2410C"/>
                </a:solidFill>
                <a:latin typeface="Arial" pitchFamily="34" charset="0"/>
                <a:ea typeface="Arial" pitchFamily="34" charset="-122"/>
                <a:cs typeface="Arial" pitchFamily="34" charset="-120"/>
              </a:rPr>
              <a:t>[Date de soutenance et encadrant ENSI : à confirmer]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43"/>
            <a:ext cx="10883510" cy="448830"/>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Sommaire</a:t>
            </a:r>
            <a:endParaRPr lang="en-US" sz="2900" dirty="0"/>
          </a:p>
        </p:txBody>
      </p:sp>
      <p:sp>
        <p:nvSpPr>
          <p:cNvPr id="3" name="Shape 1"/>
          <p:cNvSpPr/>
          <p:nvPr/>
        </p:nvSpPr>
        <p:spPr>
          <a:xfrm>
            <a:off x="812742" y="1471122"/>
            <a:ext cx="10566515" cy="0"/>
          </a:xfrm>
          <a:prstGeom prst="line">
            <a:avLst/>
          </a:prstGeom>
          <a:noFill/>
          <a:ln w="12700">
            <a:solidFill>
              <a:srgbClr val="DDE3E9"/>
            </a:solidFill>
            <a:prstDash val="solid"/>
          </a:ln>
        </p:spPr>
      </p:sp>
      <p:sp>
        <p:nvSpPr>
          <p:cNvPr id="4" name="Text 2"/>
          <p:cNvSpPr/>
          <p:nvPr/>
        </p:nvSpPr>
        <p:spPr>
          <a:xfrm>
            <a:off x="812742" y="1667568"/>
            <a:ext cx="622300" cy="41653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Arial" pitchFamily="34" charset="0"/>
                <a:ea typeface="Arial" pitchFamily="34" charset="-122"/>
                <a:cs typeface="Arial" pitchFamily="34" charset="-120"/>
              </a:rPr>
              <a:t>01</a:t>
            </a:r>
            <a:endParaRPr lang="en-US" sz="2200" dirty="0"/>
          </a:p>
        </p:txBody>
      </p:sp>
      <p:sp>
        <p:nvSpPr>
          <p:cNvPr id="5" name="Text 3"/>
          <p:cNvSpPr/>
          <p:nvPr/>
        </p:nvSpPr>
        <p:spPr>
          <a:xfrm>
            <a:off x="1612842" y="1602798"/>
            <a:ext cx="5638059" cy="3225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4202B"/>
                </a:solidFill>
                <a:latin typeface="Arial" pitchFamily="34" charset="0"/>
                <a:ea typeface="Arial" pitchFamily="34" charset="-122"/>
                <a:cs typeface="Arial" pitchFamily="34" charset="-120"/>
              </a:rPr>
              <a:t>Cadre et problématique</a:t>
            </a:r>
            <a:endParaRPr lang="en-US" sz="1800" dirty="0"/>
          </a:p>
        </p:txBody>
      </p:sp>
      <p:sp>
        <p:nvSpPr>
          <p:cNvPr id="6" name="Text 4"/>
          <p:cNvSpPr/>
          <p:nvPr/>
        </p:nvSpPr>
        <p:spPr>
          <a:xfrm>
            <a:off x="1612842" y="1925349"/>
            <a:ext cx="563805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Courier New" pitchFamily="49" charset="0"/>
                <a:ea typeface="Courier New" pitchFamily="49" charset="-122"/>
                <a:cs typeface="Courier New" pitchFamily="49" charset="-120"/>
              </a:rPr>
              <a:t>Diapositives 3–5</a:t>
            </a:r>
            <a:endParaRPr lang="en-US" sz="1200" dirty="0"/>
          </a:p>
        </p:txBody>
      </p:sp>
      <p:sp>
        <p:nvSpPr>
          <p:cNvPr id="7" name="Text 5"/>
          <p:cNvSpPr/>
          <p:nvPr/>
        </p:nvSpPr>
        <p:spPr>
          <a:xfrm>
            <a:off x="7315286" y="1747578"/>
            <a:ext cx="418589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770"/>
                </a:solidFill>
                <a:latin typeface="Arial" pitchFamily="34" charset="0"/>
                <a:ea typeface="Arial" pitchFamily="34" charset="-122"/>
                <a:cs typeface="Arial" pitchFamily="34" charset="-120"/>
              </a:rPr>
              <a:t>Entreprise, projet, objectifs</a:t>
            </a:r>
            <a:endParaRPr lang="en-US" sz="1400" dirty="0"/>
          </a:p>
        </p:txBody>
      </p:sp>
      <p:sp>
        <p:nvSpPr>
          <p:cNvPr id="8" name="Shape 6"/>
          <p:cNvSpPr/>
          <p:nvPr/>
        </p:nvSpPr>
        <p:spPr>
          <a:xfrm>
            <a:off x="812742" y="2256761"/>
            <a:ext cx="10566515" cy="0"/>
          </a:xfrm>
          <a:prstGeom prst="line">
            <a:avLst/>
          </a:prstGeom>
          <a:noFill/>
          <a:ln w="12700">
            <a:solidFill>
              <a:srgbClr val="DDE3E9"/>
            </a:solidFill>
            <a:prstDash val="solid"/>
          </a:ln>
        </p:spPr>
      </p:sp>
      <p:sp>
        <p:nvSpPr>
          <p:cNvPr id="9" name="Text 7"/>
          <p:cNvSpPr/>
          <p:nvPr/>
        </p:nvSpPr>
        <p:spPr>
          <a:xfrm>
            <a:off x="812742" y="2453207"/>
            <a:ext cx="622300" cy="41653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Arial" pitchFamily="34" charset="0"/>
                <a:ea typeface="Arial" pitchFamily="34" charset="-122"/>
                <a:cs typeface="Arial" pitchFamily="34" charset="-120"/>
              </a:rPr>
              <a:t>02</a:t>
            </a:r>
            <a:endParaRPr lang="en-US" sz="2200" dirty="0"/>
          </a:p>
        </p:txBody>
      </p:sp>
      <p:sp>
        <p:nvSpPr>
          <p:cNvPr id="10" name="Text 8"/>
          <p:cNvSpPr/>
          <p:nvPr/>
        </p:nvSpPr>
        <p:spPr>
          <a:xfrm>
            <a:off x="1612842" y="2388437"/>
            <a:ext cx="5638059" cy="3225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4202B"/>
                </a:solidFill>
                <a:latin typeface="Arial" pitchFamily="34" charset="0"/>
                <a:ea typeface="Arial" pitchFamily="34" charset="-122"/>
                <a:cs typeface="Arial" pitchFamily="34" charset="-120"/>
              </a:rPr>
              <a:t>Technologies et architecture</a:t>
            </a:r>
            <a:endParaRPr lang="en-US" sz="1800" dirty="0"/>
          </a:p>
        </p:txBody>
      </p:sp>
      <p:sp>
        <p:nvSpPr>
          <p:cNvPr id="11" name="Text 9"/>
          <p:cNvSpPr/>
          <p:nvPr/>
        </p:nvSpPr>
        <p:spPr>
          <a:xfrm>
            <a:off x="1612842" y="2710988"/>
            <a:ext cx="563805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Courier New" pitchFamily="49" charset="0"/>
                <a:ea typeface="Courier New" pitchFamily="49" charset="-122"/>
                <a:cs typeface="Courier New" pitchFamily="49" charset="-120"/>
              </a:rPr>
              <a:t>Diapositives 6–9</a:t>
            </a:r>
            <a:endParaRPr lang="en-US" sz="1200" dirty="0"/>
          </a:p>
        </p:txBody>
      </p:sp>
      <p:sp>
        <p:nvSpPr>
          <p:cNvPr id="12" name="Text 10"/>
          <p:cNvSpPr/>
          <p:nvPr/>
        </p:nvSpPr>
        <p:spPr>
          <a:xfrm>
            <a:off x="7315286" y="2533217"/>
            <a:ext cx="418589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770"/>
                </a:solidFill>
                <a:latin typeface="Arial" pitchFamily="34" charset="0"/>
                <a:ea typeface="Arial" pitchFamily="34" charset="-122"/>
                <a:cs typeface="Arial" pitchFamily="34" charset="-120"/>
              </a:rPr>
              <a:t>Choix techniques, modules, couches</a:t>
            </a:r>
            <a:endParaRPr lang="en-US" sz="1400" dirty="0"/>
          </a:p>
        </p:txBody>
      </p:sp>
      <p:sp>
        <p:nvSpPr>
          <p:cNvPr id="13" name="Shape 11"/>
          <p:cNvSpPr/>
          <p:nvPr/>
        </p:nvSpPr>
        <p:spPr>
          <a:xfrm>
            <a:off x="812742" y="3042400"/>
            <a:ext cx="10566515" cy="0"/>
          </a:xfrm>
          <a:prstGeom prst="line">
            <a:avLst/>
          </a:prstGeom>
          <a:noFill/>
          <a:ln w="12700">
            <a:solidFill>
              <a:srgbClr val="DDE3E9"/>
            </a:solidFill>
            <a:prstDash val="solid"/>
          </a:ln>
        </p:spPr>
      </p:sp>
      <p:sp>
        <p:nvSpPr>
          <p:cNvPr id="14" name="Text 12"/>
          <p:cNvSpPr/>
          <p:nvPr/>
        </p:nvSpPr>
        <p:spPr>
          <a:xfrm>
            <a:off x="812742" y="3238846"/>
            <a:ext cx="622300" cy="41653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Arial" pitchFamily="34" charset="0"/>
                <a:ea typeface="Arial" pitchFamily="34" charset="-122"/>
                <a:cs typeface="Arial" pitchFamily="34" charset="-120"/>
              </a:rPr>
              <a:t>03</a:t>
            </a:r>
            <a:endParaRPr lang="en-US" sz="2200" dirty="0"/>
          </a:p>
        </p:txBody>
      </p:sp>
      <p:sp>
        <p:nvSpPr>
          <p:cNvPr id="15" name="Text 13"/>
          <p:cNvSpPr/>
          <p:nvPr/>
        </p:nvSpPr>
        <p:spPr>
          <a:xfrm>
            <a:off x="1612842" y="3174077"/>
            <a:ext cx="5638059" cy="3225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4202B"/>
                </a:solidFill>
                <a:latin typeface="Arial" pitchFamily="34" charset="0"/>
                <a:ea typeface="Arial" pitchFamily="34" charset="-122"/>
                <a:cs typeface="Arial" pitchFamily="34" charset="-120"/>
              </a:rPr>
              <a:t>Détection et autocapture</a:t>
            </a:r>
            <a:endParaRPr lang="en-US" sz="1800" dirty="0"/>
          </a:p>
        </p:txBody>
      </p:sp>
      <p:sp>
        <p:nvSpPr>
          <p:cNvPr id="16" name="Text 14"/>
          <p:cNvSpPr/>
          <p:nvPr/>
        </p:nvSpPr>
        <p:spPr>
          <a:xfrm>
            <a:off x="1612842" y="3496628"/>
            <a:ext cx="563805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Courier New" pitchFamily="49" charset="0"/>
                <a:ea typeface="Courier New" pitchFamily="49" charset="-122"/>
                <a:cs typeface="Courier New" pitchFamily="49" charset="-120"/>
              </a:rPr>
              <a:t>Diapositives 10–14</a:t>
            </a:r>
            <a:endParaRPr lang="en-US" sz="1200" dirty="0"/>
          </a:p>
        </p:txBody>
      </p:sp>
      <p:sp>
        <p:nvSpPr>
          <p:cNvPr id="17" name="Text 15"/>
          <p:cNvSpPr/>
          <p:nvPr/>
        </p:nvSpPr>
        <p:spPr>
          <a:xfrm>
            <a:off x="7315286" y="3318856"/>
            <a:ext cx="418589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770"/>
                </a:solidFill>
                <a:latin typeface="Arial" pitchFamily="34" charset="0"/>
                <a:ea typeface="Arial" pitchFamily="34" charset="-122"/>
                <a:cs typeface="Arial" pitchFamily="34" charset="-120"/>
              </a:rPr>
              <a:t>Pipeline, états, recto/verso, aperçu</a:t>
            </a:r>
            <a:endParaRPr lang="en-US" sz="1400" dirty="0"/>
          </a:p>
        </p:txBody>
      </p:sp>
      <p:sp>
        <p:nvSpPr>
          <p:cNvPr id="18" name="Shape 16"/>
          <p:cNvSpPr/>
          <p:nvPr/>
        </p:nvSpPr>
        <p:spPr>
          <a:xfrm>
            <a:off x="812742" y="3828040"/>
            <a:ext cx="10566515" cy="0"/>
          </a:xfrm>
          <a:prstGeom prst="line">
            <a:avLst/>
          </a:prstGeom>
          <a:noFill/>
          <a:ln w="12700">
            <a:solidFill>
              <a:srgbClr val="DDE3E9"/>
            </a:solidFill>
            <a:prstDash val="solid"/>
          </a:ln>
        </p:spPr>
      </p:sp>
      <p:sp>
        <p:nvSpPr>
          <p:cNvPr id="19" name="Text 17"/>
          <p:cNvSpPr/>
          <p:nvPr/>
        </p:nvSpPr>
        <p:spPr>
          <a:xfrm>
            <a:off x="812742" y="4024485"/>
            <a:ext cx="622300" cy="41653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Arial" pitchFamily="34" charset="0"/>
                <a:ea typeface="Arial" pitchFamily="34" charset="-122"/>
                <a:cs typeface="Arial" pitchFamily="34" charset="-120"/>
              </a:rPr>
              <a:t>04</a:t>
            </a:r>
            <a:endParaRPr lang="en-US" sz="2200" dirty="0"/>
          </a:p>
        </p:txBody>
      </p:sp>
      <p:sp>
        <p:nvSpPr>
          <p:cNvPr id="20" name="Text 18"/>
          <p:cNvSpPr/>
          <p:nvPr/>
        </p:nvSpPr>
        <p:spPr>
          <a:xfrm>
            <a:off x="1612842" y="3959716"/>
            <a:ext cx="5638059" cy="3225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4202B"/>
                </a:solidFill>
                <a:latin typeface="Arial" pitchFamily="34" charset="0"/>
                <a:ea typeface="Arial" pitchFamily="34" charset="-122"/>
                <a:cs typeface="Arial" pitchFamily="34" charset="-120"/>
              </a:rPr>
              <a:t>Démonstration et validation</a:t>
            </a:r>
            <a:endParaRPr lang="en-US" sz="1800" dirty="0"/>
          </a:p>
        </p:txBody>
      </p:sp>
      <p:sp>
        <p:nvSpPr>
          <p:cNvPr id="21" name="Text 19"/>
          <p:cNvSpPr/>
          <p:nvPr/>
        </p:nvSpPr>
        <p:spPr>
          <a:xfrm>
            <a:off x="1612842" y="4282267"/>
            <a:ext cx="563805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Courier New" pitchFamily="49" charset="0"/>
                <a:ea typeface="Courier New" pitchFamily="49" charset="-122"/>
                <a:cs typeface="Courier New" pitchFamily="49" charset="-120"/>
              </a:rPr>
              <a:t>Diapositives 15–17</a:t>
            </a:r>
            <a:endParaRPr lang="en-US" sz="1200" dirty="0"/>
          </a:p>
        </p:txBody>
      </p:sp>
      <p:sp>
        <p:nvSpPr>
          <p:cNvPr id="22" name="Text 20"/>
          <p:cNvSpPr/>
          <p:nvPr/>
        </p:nvSpPr>
        <p:spPr>
          <a:xfrm>
            <a:off x="7315286" y="4104496"/>
            <a:ext cx="418589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770"/>
                </a:solidFill>
                <a:latin typeface="Arial" pitchFamily="34" charset="0"/>
                <a:ea typeface="Arial" pitchFamily="34" charset="-122"/>
                <a:cs typeface="Arial" pitchFamily="34" charset="-120"/>
              </a:rPr>
              <a:t>Parcours, tests, mesures</a:t>
            </a:r>
            <a:endParaRPr lang="en-US" sz="1400" dirty="0"/>
          </a:p>
        </p:txBody>
      </p:sp>
      <p:sp>
        <p:nvSpPr>
          <p:cNvPr id="23" name="Shape 21"/>
          <p:cNvSpPr/>
          <p:nvPr/>
        </p:nvSpPr>
        <p:spPr>
          <a:xfrm>
            <a:off x="812742" y="4613679"/>
            <a:ext cx="10566515" cy="0"/>
          </a:xfrm>
          <a:prstGeom prst="line">
            <a:avLst/>
          </a:prstGeom>
          <a:noFill/>
          <a:ln w="12700">
            <a:solidFill>
              <a:srgbClr val="DDE3E9"/>
            </a:solidFill>
            <a:prstDash val="solid"/>
          </a:ln>
        </p:spPr>
      </p:sp>
      <p:sp>
        <p:nvSpPr>
          <p:cNvPr id="24" name="Text 22"/>
          <p:cNvSpPr/>
          <p:nvPr/>
        </p:nvSpPr>
        <p:spPr>
          <a:xfrm>
            <a:off x="812742" y="4810125"/>
            <a:ext cx="622300" cy="41653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Arial" pitchFamily="34" charset="0"/>
                <a:ea typeface="Arial" pitchFamily="34" charset="-122"/>
                <a:cs typeface="Arial" pitchFamily="34" charset="-120"/>
              </a:rPr>
              <a:t>05</a:t>
            </a:r>
            <a:endParaRPr lang="en-US" sz="2200" dirty="0"/>
          </a:p>
        </p:txBody>
      </p:sp>
      <p:sp>
        <p:nvSpPr>
          <p:cNvPr id="25" name="Text 23"/>
          <p:cNvSpPr/>
          <p:nvPr/>
        </p:nvSpPr>
        <p:spPr>
          <a:xfrm>
            <a:off x="1612842" y="4745355"/>
            <a:ext cx="5638059" cy="3225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4202B"/>
                </a:solidFill>
                <a:latin typeface="Arial" pitchFamily="34" charset="0"/>
                <a:ea typeface="Arial" pitchFamily="34" charset="-122"/>
                <a:cs typeface="Arial" pitchFamily="34" charset="-120"/>
              </a:rPr>
              <a:t>Limites et conclusion</a:t>
            </a:r>
            <a:endParaRPr lang="en-US" sz="1800" dirty="0"/>
          </a:p>
        </p:txBody>
      </p:sp>
      <p:sp>
        <p:nvSpPr>
          <p:cNvPr id="26" name="Text 24"/>
          <p:cNvSpPr/>
          <p:nvPr/>
        </p:nvSpPr>
        <p:spPr>
          <a:xfrm>
            <a:off x="1612842" y="5067906"/>
            <a:ext cx="563805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Courier New" pitchFamily="49" charset="0"/>
                <a:ea typeface="Courier New" pitchFamily="49" charset="-122"/>
                <a:cs typeface="Courier New" pitchFamily="49" charset="-120"/>
              </a:rPr>
              <a:t>Diapositives 18–19</a:t>
            </a:r>
            <a:endParaRPr lang="en-US" sz="1200" dirty="0"/>
          </a:p>
        </p:txBody>
      </p:sp>
      <p:sp>
        <p:nvSpPr>
          <p:cNvPr id="27" name="Text 25"/>
          <p:cNvSpPr/>
          <p:nvPr/>
        </p:nvSpPr>
        <p:spPr>
          <a:xfrm>
            <a:off x="7315286" y="4890135"/>
            <a:ext cx="418589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770"/>
                </a:solidFill>
                <a:latin typeface="Arial" pitchFamily="34" charset="0"/>
                <a:ea typeface="Arial" pitchFamily="34" charset="-122"/>
                <a:cs typeface="Arial" pitchFamily="34" charset="-120"/>
              </a:rPr>
              <a:t>Limites assumées, bilan</a:t>
            </a:r>
            <a:endParaRPr lang="en-US" sz="1400" dirty="0"/>
          </a:p>
        </p:txBody>
      </p:sp>
      <p:sp>
        <p:nvSpPr>
          <p:cNvPr id="28" name="Text 26"/>
          <p:cNvSpPr/>
          <p:nvPr/>
        </p:nvSpPr>
        <p:spPr>
          <a:xfrm>
            <a:off x="812742" y="6238268"/>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29" name="Text 27"/>
          <p:cNvSpPr/>
          <p:nvPr/>
        </p:nvSpPr>
        <p:spPr>
          <a:xfrm>
            <a:off x="9417107" y="6238268"/>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2 / 23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43"/>
            <a:ext cx="10883510" cy="448830"/>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Cadre du stage</a:t>
            </a:r>
            <a:endParaRPr lang="en-US" sz="2900" dirty="0"/>
          </a:p>
        </p:txBody>
      </p:sp>
      <p:sp>
        <p:nvSpPr>
          <p:cNvPr id="3" name="Shape 1"/>
          <p:cNvSpPr/>
          <p:nvPr/>
        </p:nvSpPr>
        <p:spPr>
          <a:xfrm>
            <a:off x="812742" y="1464773"/>
            <a:ext cx="3420514" cy="2176549"/>
          </a:xfrm>
          <a:prstGeom prst="roundRect">
            <a:avLst>
              <a:gd name="adj" fmla="val 2917"/>
            </a:avLst>
          </a:prstGeom>
          <a:solidFill>
            <a:srgbClr val="F1F4F7"/>
          </a:solidFill>
          <a:ln/>
        </p:spPr>
      </p:sp>
      <p:sp>
        <p:nvSpPr>
          <p:cNvPr id="4" name="Text 2"/>
          <p:cNvSpPr/>
          <p:nvPr/>
        </p:nvSpPr>
        <p:spPr>
          <a:xfrm>
            <a:off x="1015885" y="1667915"/>
            <a:ext cx="3104656"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C2410C"/>
                </a:solidFill>
                <a:latin typeface="Courier New" pitchFamily="49" charset="0"/>
                <a:ea typeface="Courier New" pitchFamily="49" charset="-122"/>
                <a:cs typeface="Courier New" pitchFamily="49" charset="-120"/>
              </a:rPr>
              <a:t>ÉTABLISSEMENT</a:t>
            </a:r>
            <a:endParaRPr lang="en-US" sz="1200" dirty="0"/>
          </a:p>
        </p:txBody>
      </p:sp>
      <p:pic>
        <p:nvPicPr>
          <p:cNvPr id="5" name="Image 0" descr="manouba">    </p:cNvPr>
          <p:cNvPicPr>
            <a:picLocks noChangeAspect="1"/>
          </p:cNvPicPr>
          <p:nvPr/>
        </p:nvPicPr>
        <p:blipFill>
          <a:blip r:embed="rId1"/>
          <a:srcRect l="-113" r="-113" t="0" b="0"/>
          <a:stretch/>
        </p:blipFill>
        <p:spPr>
          <a:xfrm>
            <a:off x="1015885" y="1942235"/>
            <a:ext cx="444471" cy="584142"/>
          </a:xfrm>
          <a:prstGeom prst="rect">
            <a:avLst/>
          </a:prstGeom>
        </p:spPr>
      </p:pic>
      <p:pic>
        <p:nvPicPr>
          <p:cNvPr id="6" name="Image 1" descr="ensi">    </p:cNvPr>
          <p:cNvPicPr>
            <a:picLocks noChangeAspect="1"/>
          </p:cNvPicPr>
          <p:nvPr/>
        </p:nvPicPr>
        <p:blipFill>
          <a:blip r:embed="rId2"/>
          <a:srcRect l="-216" r="-216" t="0" b="0"/>
          <a:stretch/>
        </p:blipFill>
        <p:spPr>
          <a:xfrm>
            <a:off x="1612756" y="1942235"/>
            <a:ext cx="488892" cy="584142"/>
          </a:xfrm>
          <a:prstGeom prst="rect">
            <a:avLst/>
          </a:prstGeom>
        </p:spPr>
      </p:pic>
      <p:sp>
        <p:nvSpPr>
          <p:cNvPr id="7" name="Text 3"/>
          <p:cNvSpPr/>
          <p:nvPr/>
        </p:nvSpPr>
        <p:spPr>
          <a:xfrm>
            <a:off x="1015885" y="2602578"/>
            <a:ext cx="3104656" cy="553778"/>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B"/>
                </a:solidFill>
                <a:latin typeface="Arial" pitchFamily="34" charset="0"/>
                <a:ea typeface="Arial" pitchFamily="34" charset="-122"/>
                <a:cs typeface="Arial" pitchFamily="34" charset="-120"/>
              </a:rPr>
              <a:t>ENSI, Université de la Manouba</a:t>
            </a:r>
            <a:endParaRPr lang="en-US" sz="1600" dirty="0"/>
          </a:p>
        </p:txBody>
      </p:sp>
      <p:sp>
        <p:nvSpPr>
          <p:cNvPr id="8" name="Text 4"/>
          <p:cNvSpPr/>
          <p:nvPr/>
        </p:nvSpPr>
        <p:spPr>
          <a:xfrm>
            <a:off x="1015885" y="3207155"/>
            <a:ext cx="3104656"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770"/>
                </a:solidFill>
                <a:latin typeface="Arial" pitchFamily="34" charset="0"/>
                <a:ea typeface="Arial" pitchFamily="34" charset="-122"/>
                <a:cs typeface="Arial" pitchFamily="34" charset="-120"/>
              </a:rPr>
              <a:t>Stage de fin d’études · 2025/2026</a:t>
            </a:r>
            <a:endParaRPr lang="en-US" sz="1400" dirty="0"/>
          </a:p>
        </p:txBody>
      </p:sp>
      <p:sp>
        <p:nvSpPr>
          <p:cNvPr id="9" name="Shape 5"/>
          <p:cNvSpPr/>
          <p:nvPr/>
        </p:nvSpPr>
        <p:spPr>
          <a:xfrm>
            <a:off x="4385656" y="1464773"/>
            <a:ext cx="3420601" cy="2176549"/>
          </a:xfrm>
          <a:prstGeom prst="roundRect">
            <a:avLst>
              <a:gd name="adj" fmla="val 2917"/>
            </a:avLst>
          </a:prstGeom>
          <a:solidFill>
            <a:srgbClr val="F1F4F7"/>
          </a:solidFill>
          <a:ln/>
        </p:spPr>
      </p:sp>
      <p:sp>
        <p:nvSpPr>
          <p:cNvPr id="10" name="Text 6"/>
          <p:cNvSpPr/>
          <p:nvPr/>
        </p:nvSpPr>
        <p:spPr>
          <a:xfrm>
            <a:off x="4588798" y="1667915"/>
            <a:ext cx="3104745"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C2410C"/>
                </a:solidFill>
                <a:latin typeface="Courier New" pitchFamily="49" charset="0"/>
                <a:ea typeface="Courier New" pitchFamily="49" charset="-122"/>
                <a:cs typeface="Courier New" pitchFamily="49" charset="-120"/>
              </a:rPr>
              <a:t>ENTREPRISE</a:t>
            </a:r>
            <a:endParaRPr lang="en-US" sz="1200" dirty="0"/>
          </a:p>
        </p:txBody>
      </p:sp>
      <p:pic>
        <p:nvPicPr>
          <p:cNvPr id="11" name="Image 2" descr="coding">    </p:cNvPr>
          <p:cNvPicPr>
            <a:picLocks noChangeAspect="1"/>
          </p:cNvPicPr>
          <p:nvPr/>
        </p:nvPicPr>
        <p:blipFill>
          <a:blip r:embed="rId3"/>
          <a:srcRect l="-395" r="-395" t="0" b="0"/>
          <a:stretch/>
        </p:blipFill>
        <p:spPr>
          <a:xfrm>
            <a:off x="4588798" y="1942235"/>
            <a:ext cx="1460442" cy="634971"/>
          </a:xfrm>
          <a:prstGeom prst="rect">
            <a:avLst/>
          </a:prstGeom>
        </p:spPr>
      </p:pic>
      <p:sp>
        <p:nvSpPr>
          <p:cNvPr id="12" name="Text 7"/>
          <p:cNvSpPr/>
          <p:nvPr/>
        </p:nvSpPr>
        <p:spPr>
          <a:xfrm>
            <a:off x="4588798" y="2653405"/>
            <a:ext cx="3104745"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B"/>
                </a:solidFill>
                <a:latin typeface="Arial" pitchFamily="34" charset="0"/>
                <a:ea typeface="Arial" pitchFamily="34" charset="-122"/>
                <a:cs typeface="Arial" pitchFamily="34" charset="-120"/>
              </a:rPr>
              <a:t>Codingaholic, La Marsa</a:t>
            </a:r>
            <a:endParaRPr lang="en-US" sz="1600" dirty="0"/>
          </a:p>
        </p:txBody>
      </p:sp>
      <p:sp>
        <p:nvSpPr>
          <p:cNvPr id="13" name="Text 8"/>
          <p:cNvSpPr/>
          <p:nvPr/>
        </p:nvSpPr>
        <p:spPr>
          <a:xfrm>
            <a:off x="4588798" y="2993794"/>
            <a:ext cx="3217458"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770"/>
                </a:solidFill>
                <a:latin typeface="Arial" pitchFamily="34" charset="0"/>
                <a:ea typeface="Arial" pitchFamily="34" charset="-122"/>
                <a:cs typeface="Arial" pitchFamily="34" charset="-120"/>
              </a:rPr>
              <a:t>Encadrant : Jendoubi Mohamed Khalil</a:t>
            </a:r>
            <a:endParaRPr lang="en-US" sz="1400" dirty="0"/>
          </a:p>
        </p:txBody>
      </p:sp>
      <p:sp>
        <p:nvSpPr>
          <p:cNvPr id="14" name="Shape 9"/>
          <p:cNvSpPr/>
          <p:nvPr/>
        </p:nvSpPr>
        <p:spPr>
          <a:xfrm>
            <a:off x="7958657" y="1464773"/>
            <a:ext cx="3420601" cy="2176549"/>
          </a:xfrm>
          <a:prstGeom prst="roundRect">
            <a:avLst>
              <a:gd name="adj" fmla="val 2917"/>
            </a:avLst>
          </a:prstGeom>
          <a:solidFill>
            <a:srgbClr val="F1F4F7"/>
          </a:solidFill>
          <a:ln/>
        </p:spPr>
      </p:sp>
      <p:sp>
        <p:nvSpPr>
          <p:cNvPr id="15" name="Text 10"/>
          <p:cNvSpPr/>
          <p:nvPr/>
        </p:nvSpPr>
        <p:spPr>
          <a:xfrm>
            <a:off x="8161799" y="1667915"/>
            <a:ext cx="3104745"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C2410C"/>
                </a:solidFill>
                <a:latin typeface="Courier New" pitchFamily="49" charset="0"/>
                <a:ea typeface="Courier New" pitchFamily="49" charset="-122"/>
                <a:cs typeface="Courier New" pitchFamily="49" charset="-120"/>
              </a:rPr>
              <a:t>PROJET</a:t>
            </a:r>
            <a:endParaRPr lang="en-US" sz="1200" dirty="0"/>
          </a:p>
        </p:txBody>
      </p:sp>
      <p:sp>
        <p:nvSpPr>
          <p:cNvPr id="16" name="Text 11"/>
          <p:cNvSpPr/>
          <p:nvPr/>
        </p:nvSpPr>
        <p:spPr>
          <a:xfrm>
            <a:off x="8161799" y="1942235"/>
            <a:ext cx="3104745" cy="355485"/>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4202B"/>
                </a:solidFill>
                <a:latin typeface="Arial" pitchFamily="34" charset="0"/>
                <a:ea typeface="Arial" pitchFamily="34" charset="-122"/>
                <a:cs typeface="Arial" pitchFamily="34" charset="-120"/>
              </a:rPr>
              <a:t>Avatar-ID</a:t>
            </a:r>
            <a:endParaRPr lang="en-US" sz="2000" dirty="0"/>
          </a:p>
        </p:txBody>
      </p:sp>
      <p:sp>
        <p:nvSpPr>
          <p:cNvPr id="17" name="Text 12"/>
          <p:cNvSpPr/>
          <p:nvPr/>
        </p:nvSpPr>
        <p:spPr>
          <a:xfrm>
            <a:off x="8161799" y="2348519"/>
            <a:ext cx="310474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770"/>
                </a:solidFill>
                <a:latin typeface="Arial" pitchFamily="34" charset="0"/>
                <a:ea typeface="Arial" pitchFamily="34" charset="-122"/>
                <a:cs typeface="Arial" pitchFamily="34" charset="-120"/>
              </a:rPr>
              <a:t>L’utilisateur fournit sa carte d’identité</a:t>
            </a:r>
            <a:endParaRPr lang="en-US" sz="1500" dirty="0"/>
          </a:p>
        </p:txBody>
      </p:sp>
      <p:sp>
        <p:nvSpPr>
          <p:cNvPr id="18" name="Text 13"/>
          <p:cNvSpPr/>
          <p:nvPr/>
        </p:nvSpPr>
        <p:spPr>
          <a:xfrm>
            <a:off x="8161799" y="2920019"/>
            <a:ext cx="3104745"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Mon module : détection et autocapture</a:t>
            </a:r>
            <a:endParaRPr lang="en-US" sz="1500" dirty="0"/>
          </a:p>
        </p:txBody>
      </p:sp>
      <p:sp>
        <p:nvSpPr>
          <p:cNvPr id="19" name="Text 14"/>
          <p:cNvSpPr/>
          <p:nvPr/>
        </p:nvSpPr>
        <p:spPr>
          <a:xfrm>
            <a:off x="812742" y="3869922"/>
            <a:ext cx="1088351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770"/>
                </a:solidFill>
                <a:latin typeface="Arial" pitchFamily="34" charset="0"/>
                <a:ea typeface="Arial" pitchFamily="34" charset="-122"/>
                <a:cs typeface="Arial" pitchFamily="34" charset="-120"/>
              </a:rPr>
              <a:t>Six semaines · périmètre : détection et autocapture, hors vérification d’identité</a:t>
            </a:r>
            <a:endParaRPr lang="en-US" sz="1400" dirty="0"/>
          </a:p>
        </p:txBody>
      </p:sp>
      <p:sp>
        <p:nvSpPr>
          <p:cNvPr id="20" name="Text 15"/>
          <p:cNvSpPr/>
          <p:nvPr/>
        </p:nvSpPr>
        <p:spPr>
          <a:xfrm>
            <a:off x="812742" y="623826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21" name="Text 16"/>
          <p:cNvSpPr/>
          <p:nvPr/>
        </p:nvSpPr>
        <p:spPr>
          <a:xfrm>
            <a:off x="9417107" y="6238269"/>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3 / 23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43"/>
            <a:ext cx="10883510" cy="872259"/>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Problématique : comment capturer seule</a:t>
            </a:r>
            <a:endParaRPr lang="en-US" sz="2900" dirty="0"/>
          </a:p>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une CIN nette, bien cadrée, une seule fois par face ?</a:t>
            </a:r>
            <a:endParaRPr lang="en-US" sz="2900" dirty="0"/>
          </a:p>
        </p:txBody>
      </p:sp>
      <p:sp>
        <p:nvSpPr>
          <p:cNvPr id="3" name="Shape 1"/>
          <p:cNvSpPr/>
          <p:nvPr/>
        </p:nvSpPr>
        <p:spPr>
          <a:xfrm>
            <a:off x="812742" y="1888201"/>
            <a:ext cx="3420514" cy="2067358"/>
          </a:xfrm>
          <a:prstGeom prst="roundRect">
            <a:avLst>
              <a:gd name="adj" fmla="val 3072"/>
            </a:avLst>
          </a:prstGeom>
          <a:solidFill>
            <a:srgbClr val="F1F4F7"/>
          </a:solidFill>
          <a:ln/>
        </p:spPr>
      </p:sp>
      <p:pic>
        <p:nvPicPr>
          <p:cNvPr id="4" name="Image 0" descr="Image floue">    </p:cNvPr>
          <p:cNvPicPr>
            <a:picLocks noChangeAspect="1"/>
          </p:cNvPicPr>
          <p:nvPr/>
        </p:nvPicPr>
        <p:blipFill>
          <a:blip r:embed="rId1"/>
          <a:srcRect l="-2" r="-2" t="0" b="0"/>
          <a:stretch/>
        </p:blipFill>
        <p:spPr>
          <a:xfrm>
            <a:off x="1015885" y="2091344"/>
            <a:ext cx="2286000" cy="1269942"/>
          </a:xfrm>
          <a:prstGeom prst="rect">
            <a:avLst/>
          </a:prstGeom>
        </p:spPr>
      </p:pic>
      <p:sp>
        <p:nvSpPr>
          <p:cNvPr id="5" name="Text 2"/>
          <p:cNvSpPr/>
          <p:nvPr/>
        </p:nvSpPr>
        <p:spPr>
          <a:xfrm>
            <a:off x="970671" y="3488227"/>
            <a:ext cx="3104656" cy="289589"/>
          </a:xfrm>
          <a:prstGeom prst="rect">
            <a:avLst/>
          </a:prstGeom>
          <a:noFill/>
          <a:ln/>
        </p:spPr>
        <p:txBody>
          <a:bodyPr wrap="square" lIns="0" tIns="0" rIns="0" bIns="0" rtlCol="0" anchor="t">
            <a:normAutofit/>
          </a:bodyPr>
          <a:lstStyle/>
          <a:p>
            <a:pPr algn="ctr" indent="0" marL="0">
              <a:lnSpc>
                <a:spcPts val="2080"/>
              </a:lnSpc>
              <a:buNone/>
            </a:pPr>
            <a:r>
              <a:rPr lang="en-US" sz="1600" b="1" dirty="0">
                <a:solidFill>
                  <a:srgbClr val="14202B"/>
                </a:solidFill>
                <a:latin typeface="Arial" pitchFamily="34" charset="0"/>
                <a:ea typeface="Arial" pitchFamily="34" charset="-122"/>
                <a:cs typeface="Arial" pitchFamily="34" charset="-120"/>
              </a:rPr>
              <a:t>Floue</a:t>
            </a:r>
            <a:endParaRPr lang="en-US" sz="1600" dirty="0"/>
          </a:p>
        </p:txBody>
      </p:sp>
      <p:sp>
        <p:nvSpPr>
          <p:cNvPr id="6" name="Shape 3"/>
          <p:cNvSpPr/>
          <p:nvPr/>
        </p:nvSpPr>
        <p:spPr>
          <a:xfrm>
            <a:off x="4385656" y="1888201"/>
            <a:ext cx="3420601" cy="2067358"/>
          </a:xfrm>
          <a:prstGeom prst="roundRect">
            <a:avLst>
              <a:gd name="adj" fmla="val 3072"/>
            </a:avLst>
          </a:prstGeom>
          <a:solidFill>
            <a:srgbClr val="F1F4F7"/>
          </a:solidFill>
          <a:ln/>
        </p:spPr>
      </p:sp>
      <p:pic>
        <p:nvPicPr>
          <p:cNvPr id="7" name="Image 1" descr="Carte de travers">    </p:cNvPr>
          <p:cNvPicPr>
            <a:picLocks noChangeAspect="1"/>
          </p:cNvPicPr>
          <p:nvPr/>
        </p:nvPicPr>
        <p:blipFill>
          <a:blip r:embed="rId2"/>
          <a:srcRect l="-2" r="-2" t="0" b="0"/>
          <a:stretch/>
        </p:blipFill>
        <p:spPr>
          <a:xfrm>
            <a:off x="4588798" y="2091344"/>
            <a:ext cx="2286000" cy="1269942"/>
          </a:xfrm>
          <a:prstGeom prst="rect">
            <a:avLst/>
          </a:prstGeom>
        </p:spPr>
      </p:pic>
      <p:sp>
        <p:nvSpPr>
          <p:cNvPr id="8" name="Text 4"/>
          <p:cNvSpPr/>
          <p:nvPr/>
        </p:nvSpPr>
        <p:spPr>
          <a:xfrm>
            <a:off x="4543583" y="3488227"/>
            <a:ext cx="3104745" cy="289589"/>
          </a:xfrm>
          <a:prstGeom prst="rect">
            <a:avLst/>
          </a:prstGeom>
          <a:noFill/>
          <a:ln/>
        </p:spPr>
        <p:txBody>
          <a:bodyPr wrap="square" lIns="0" tIns="0" rIns="0" bIns="0" rtlCol="0" anchor="t">
            <a:normAutofit/>
          </a:bodyPr>
          <a:lstStyle/>
          <a:p>
            <a:pPr algn="ctr" indent="0" marL="0">
              <a:lnSpc>
                <a:spcPts val="2080"/>
              </a:lnSpc>
              <a:buNone/>
            </a:pPr>
            <a:r>
              <a:rPr lang="en-US" sz="1600" b="1" dirty="0">
                <a:solidFill>
                  <a:srgbClr val="14202B"/>
                </a:solidFill>
                <a:latin typeface="Arial" pitchFamily="34" charset="0"/>
                <a:ea typeface="Arial" pitchFamily="34" charset="-122"/>
                <a:cs typeface="Arial" pitchFamily="34" charset="-120"/>
              </a:rPr>
              <a:t>De travers</a:t>
            </a:r>
            <a:endParaRPr lang="en-US" sz="1600" dirty="0"/>
          </a:p>
        </p:txBody>
      </p:sp>
      <p:sp>
        <p:nvSpPr>
          <p:cNvPr id="9" name="Shape 5"/>
          <p:cNvSpPr/>
          <p:nvPr/>
        </p:nvSpPr>
        <p:spPr>
          <a:xfrm>
            <a:off x="7958657" y="1888201"/>
            <a:ext cx="3420601" cy="2067358"/>
          </a:xfrm>
          <a:prstGeom prst="roundRect">
            <a:avLst>
              <a:gd name="adj" fmla="val 3072"/>
            </a:avLst>
          </a:prstGeom>
          <a:solidFill>
            <a:srgbClr val="F1F4F7"/>
          </a:solidFill>
          <a:ln/>
        </p:spPr>
      </p:sp>
      <p:pic>
        <p:nvPicPr>
          <p:cNvPr id="10" name="Image 2" descr="Recto envoyé deux fois">    </p:cNvPr>
          <p:cNvPicPr>
            <a:picLocks noChangeAspect="1"/>
          </p:cNvPicPr>
          <p:nvPr/>
        </p:nvPicPr>
        <p:blipFill>
          <a:blip r:embed="rId3"/>
          <a:srcRect l="-2" r="-2" t="0" b="0"/>
          <a:stretch/>
        </p:blipFill>
        <p:spPr>
          <a:xfrm>
            <a:off x="8161799" y="2091344"/>
            <a:ext cx="2286000" cy="1269942"/>
          </a:xfrm>
          <a:prstGeom prst="rect">
            <a:avLst/>
          </a:prstGeom>
        </p:spPr>
      </p:pic>
      <p:sp>
        <p:nvSpPr>
          <p:cNvPr id="11" name="Text 6"/>
          <p:cNvSpPr/>
          <p:nvPr/>
        </p:nvSpPr>
        <p:spPr>
          <a:xfrm>
            <a:off x="8116584" y="3488227"/>
            <a:ext cx="3104745" cy="289589"/>
          </a:xfrm>
          <a:prstGeom prst="rect">
            <a:avLst/>
          </a:prstGeom>
          <a:noFill/>
          <a:ln/>
        </p:spPr>
        <p:txBody>
          <a:bodyPr wrap="square" lIns="0" tIns="0" rIns="0" bIns="0" rtlCol="0" anchor="t">
            <a:normAutofit/>
          </a:bodyPr>
          <a:lstStyle/>
          <a:p>
            <a:pPr algn="ctr" indent="0" marL="0">
              <a:lnSpc>
                <a:spcPts val="2080"/>
              </a:lnSpc>
              <a:buNone/>
            </a:pPr>
            <a:r>
              <a:rPr lang="en-US" sz="1600" b="1" dirty="0">
                <a:solidFill>
                  <a:srgbClr val="14202B"/>
                </a:solidFill>
                <a:latin typeface="Arial" pitchFamily="34" charset="0"/>
                <a:ea typeface="Arial" pitchFamily="34" charset="-122"/>
                <a:cs typeface="Arial" pitchFamily="34" charset="-120"/>
              </a:rPr>
              <a:t>Recto deux fois</a:t>
            </a:r>
            <a:endParaRPr lang="en-US" sz="1600" dirty="0"/>
          </a:p>
        </p:txBody>
      </p:sp>
      <p:sp>
        <p:nvSpPr>
          <p:cNvPr id="12" name="Text 7"/>
          <p:cNvSpPr/>
          <p:nvPr/>
        </p:nvSpPr>
        <p:spPr>
          <a:xfrm>
            <a:off x="812742" y="4184159"/>
            <a:ext cx="1088351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770"/>
                </a:solidFill>
                <a:latin typeface="Arial" pitchFamily="34" charset="0"/>
                <a:ea typeface="Arial" pitchFamily="34" charset="-122"/>
                <a:cs typeface="Arial" pitchFamily="34" charset="-120"/>
              </a:rPr>
              <a:t>Le module ne doit enregistrer qu’une image nette, bien cadrée, une seule fois par face.</a:t>
            </a:r>
            <a:endParaRPr lang="en-US" sz="1500" dirty="0"/>
          </a:p>
        </p:txBody>
      </p:sp>
      <p:sp>
        <p:nvSpPr>
          <p:cNvPr id="13" name="Text 8"/>
          <p:cNvSpPr/>
          <p:nvPr/>
        </p:nvSpPr>
        <p:spPr>
          <a:xfrm>
            <a:off x="812742" y="623826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14" name="Text 9"/>
          <p:cNvSpPr/>
          <p:nvPr/>
        </p:nvSpPr>
        <p:spPr>
          <a:xfrm>
            <a:off x="9417107" y="6238269"/>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4 / 23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44"/>
            <a:ext cx="10883510" cy="448830"/>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Trois cibles chiffrées : 100 ms, 90 %, 2 secondes</a:t>
            </a:r>
            <a:endParaRPr lang="en-US" sz="2900" dirty="0"/>
          </a:p>
        </p:txBody>
      </p:sp>
      <p:sp>
        <p:nvSpPr>
          <p:cNvPr id="3" name="Shape 1"/>
          <p:cNvSpPr/>
          <p:nvPr/>
        </p:nvSpPr>
        <p:spPr>
          <a:xfrm>
            <a:off x="812742" y="1464773"/>
            <a:ext cx="5862810" cy="924444"/>
          </a:xfrm>
          <a:prstGeom prst="roundRect">
            <a:avLst>
              <a:gd name="adj" fmla="val 6869"/>
            </a:avLst>
          </a:prstGeom>
          <a:solidFill>
            <a:srgbClr val="F1F4F7"/>
          </a:solidFill>
          <a:ln/>
        </p:spPr>
      </p:sp>
      <p:sp>
        <p:nvSpPr>
          <p:cNvPr id="4" name="Text 2"/>
          <p:cNvSpPr/>
          <p:nvPr/>
        </p:nvSpPr>
        <p:spPr>
          <a:xfrm>
            <a:off x="990513" y="1642545"/>
            <a:ext cx="2158365" cy="594302"/>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4202B"/>
                </a:solidFill>
                <a:latin typeface="Arial" pitchFamily="34" charset="0"/>
                <a:ea typeface="Arial" pitchFamily="34" charset="-122"/>
                <a:cs typeface="Arial" pitchFamily="34" charset="-120"/>
              </a:rPr>
              <a:t>&lt; 100 ms</a:t>
            </a:r>
            <a:endParaRPr lang="en-US" sz="3200" dirty="0"/>
          </a:p>
        </p:txBody>
      </p:sp>
      <p:sp>
        <p:nvSpPr>
          <p:cNvPr id="5" name="Text 3"/>
          <p:cNvSpPr/>
          <p:nvPr/>
        </p:nvSpPr>
        <p:spPr>
          <a:xfrm>
            <a:off x="3339985" y="1704110"/>
            <a:ext cx="9782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par frame</a:t>
            </a:r>
            <a:endParaRPr lang="en-US" sz="1500" dirty="0"/>
          </a:p>
        </p:txBody>
      </p:sp>
      <p:sp>
        <p:nvSpPr>
          <p:cNvPr id="6" name="Text 4"/>
          <p:cNvSpPr/>
          <p:nvPr/>
        </p:nvSpPr>
        <p:spPr>
          <a:xfrm>
            <a:off x="3339985" y="1951760"/>
            <a:ext cx="86596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cible idéale</a:t>
            </a:r>
            <a:endParaRPr lang="en-US" sz="1200" dirty="0"/>
          </a:p>
        </p:txBody>
      </p:sp>
      <p:sp>
        <p:nvSpPr>
          <p:cNvPr id="7" name="Shape 5"/>
          <p:cNvSpPr/>
          <p:nvPr/>
        </p:nvSpPr>
        <p:spPr>
          <a:xfrm>
            <a:off x="812742" y="2541619"/>
            <a:ext cx="5862810" cy="924444"/>
          </a:xfrm>
          <a:prstGeom prst="roundRect">
            <a:avLst>
              <a:gd name="adj" fmla="val 6869"/>
            </a:avLst>
          </a:prstGeom>
          <a:solidFill>
            <a:srgbClr val="F1F4F7"/>
          </a:solidFill>
          <a:ln/>
        </p:spPr>
      </p:sp>
      <p:sp>
        <p:nvSpPr>
          <p:cNvPr id="8" name="Text 6"/>
          <p:cNvSpPr/>
          <p:nvPr/>
        </p:nvSpPr>
        <p:spPr>
          <a:xfrm>
            <a:off x="990513" y="2719388"/>
            <a:ext cx="2158365" cy="594302"/>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4202B"/>
                </a:solidFill>
                <a:latin typeface="Arial" pitchFamily="34" charset="0"/>
                <a:ea typeface="Arial" pitchFamily="34" charset="-122"/>
                <a:cs typeface="Arial" pitchFamily="34" charset="-120"/>
              </a:rPr>
              <a:t>≥ 90 %</a:t>
            </a:r>
            <a:endParaRPr lang="en-US" sz="3200" dirty="0"/>
          </a:p>
        </p:txBody>
      </p:sp>
      <p:sp>
        <p:nvSpPr>
          <p:cNvPr id="9" name="Text 7"/>
          <p:cNvSpPr/>
          <p:nvPr/>
        </p:nvSpPr>
        <p:spPr>
          <a:xfrm>
            <a:off x="3339985" y="2780956"/>
            <a:ext cx="226137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recto / verso reconnus</a:t>
            </a:r>
            <a:endParaRPr lang="en-US" sz="1500" dirty="0"/>
          </a:p>
        </p:txBody>
      </p:sp>
      <p:sp>
        <p:nvSpPr>
          <p:cNvPr id="10" name="Text 8"/>
          <p:cNvSpPr/>
          <p:nvPr/>
        </p:nvSpPr>
        <p:spPr>
          <a:xfrm>
            <a:off x="3339985" y="3028606"/>
            <a:ext cx="194101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en conditions normales</a:t>
            </a:r>
            <a:endParaRPr lang="en-US" sz="1200" dirty="0"/>
          </a:p>
        </p:txBody>
      </p:sp>
      <p:sp>
        <p:nvSpPr>
          <p:cNvPr id="11" name="Shape 9"/>
          <p:cNvSpPr/>
          <p:nvPr/>
        </p:nvSpPr>
        <p:spPr>
          <a:xfrm>
            <a:off x="812742" y="3618461"/>
            <a:ext cx="5862810" cy="924444"/>
          </a:xfrm>
          <a:prstGeom prst="roundRect">
            <a:avLst>
              <a:gd name="adj" fmla="val 6869"/>
            </a:avLst>
          </a:prstGeom>
          <a:solidFill>
            <a:srgbClr val="F1F4F7"/>
          </a:solidFill>
          <a:ln/>
        </p:spPr>
      </p:sp>
      <p:sp>
        <p:nvSpPr>
          <p:cNvPr id="12" name="Text 10"/>
          <p:cNvSpPr/>
          <p:nvPr/>
        </p:nvSpPr>
        <p:spPr>
          <a:xfrm>
            <a:off x="990513" y="3796233"/>
            <a:ext cx="2158365" cy="594302"/>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4202B"/>
                </a:solidFill>
                <a:latin typeface="Arial" pitchFamily="34" charset="0"/>
                <a:ea typeface="Arial" pitchFamily="34" charset="-122"/>
                <a:cs typeface="Arial" pitchFamily="34" charset="-120"/>
              </a:rPr>
              <a:t>≈ 2 s</a:t>
            </a:r>
            <a:endParaRPr lang="en-US" sz="3200" dirty="0"/>
          </a:p>
        </p:txBody>
      </p:sp>
      <p:sp>
        <p:nvSpPr>
          <p:cNvPr id="13" name="Text 11"/>
          <p:cNvSpPr/>
          <p:nvPr/>
        </p:nvSpPr>
        <p:spPr>
          <a:xfrm>
            <a:off x="3339985" y="3857799"/>
            <a:ext cx="236492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au maximum</a:t>
            </a:r>
            <a:endParaRPr lang="en-US" sz="1500" dirty="0"/>
          </a:p>
        </p:txBody>
      </p:sp>
      <p:sp>
        <p:nvSpPr>
          <p:cNvPr id="14" name="Text 12"/>
          <p:cNvSpPr/>
          <p:nvPr/>
        </p:nvSpPr>
        <p:spPr>
          <a:xfrm>
            <a:off x="3339985" y="4105449"/>
            <a:ext cx="275525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de la pose de la carte à la capture</a:t>
            </a:r>
            <a:endParaRPr lang="en-US" sz="1200" dirty="0"/>
          </a:p>
        </p:txBody>
      </p:sp>
      <p:sp>
        <p:nvSpPr>
          <p:cNvPr id="15" name="Text 13"/>
          <p:cNvSpPr/>
          <p:nvPr/>
        </p:nvSpPr>
        <p:spPr>
          <a:xfrm>
            <a:off x="6939049" y="1474298"/>
            <a:ext cx="4430683" cy="3059083"/>
          </a:xfrm>
          <a:prstGeom prst="roundRect">
            <a:avLst>
              <a:gd name="adj" fmla="val 1764"/>
            </a:avLst>
          </a:prstGeom>
          <a:solidFill>
            <a:srgbClr val="FFFFFF"/>
          </a:solidFill>
          <a:ln w="19050">
            <a:solidFill>
              <a:srgbClr val="C2410C"/>
            </a:solidFill>
            <a:prstDash val="solid"/>
          </a:ln>
        </p:spPr>
        <p:txBody>
          <a:bodyPr wrap="square" lIns="186635" tIns="245292" rIns="186635" bIns="245292" rtlCol="0" anchor="t">
            <a:normAutofit/>
          </a:bodyPr>
          <a:lstStyle/>
          <a:p>
            <a:pPr algn="ctr" indent="0" marL="0">
              <a:lnSpc>
                <a:spcPts val="2210"/>
              </a:lnSpc>
              <a:buNone/>
            </a:pPr>
            <a:r>
              <a:rPr lang="en-US" sz="1700" b="1" dirty="0">
                <a:solidFill>
                  <a:srgbClr val="14202B"/>
                </a:solidFill>
                <a:latin typeface="Arial" pitchFamily="34" charset="0"/>
                <a:ea typeface="Arial" pitchFamily="34" charset="-122"/>
                <a:cs typeface="Arial" pitchFamily="34" charset="-120"/>
              </a:rPr>
              <a:t>Android et iOS exigés</a:t>
            </a:r>
            <a:endParaRPr lang="en-US" sz="1700" dirty="0"/>
          </a:p>
        </p:txBody>
      </p:sp>
      <p:sp>
        <p:nvSpPr>
          <p:cNvPr id="16" name="Text 14"/>
          <p:cNvSpPr/>
          <p:nvPr/>
        </p:nvSpPr>
        <p:spPr>
          <a:xfrm>
            <a:off x="812742" y="623827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17" name="Text 15"/>
          <p:cNvSpPr/>
          <p:nvPr/>
        </p:nvSpPr>
        <p:spPr>
          <a:xfrm>
            <a:off x="9417107" y="6238270"/>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5 / 23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44"/>
            <a:ext cx="10883510" cy="448830"/>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Technologies utilisées</a:t>
            </a:r>
            <a:endParaRPr lang="en-US" sz="2900" dirty="0"/>
          </a:p>
        </p:txBody>
      </p:sp>
      <p:sp>
        <p:nvSpPr>
          <p:cNvPr id="3" name="Shape 1"/>
          <p:cNvSpPr/>
          <p:nvPr/>
        </p:nvSpPr>
        <p:spPr>
          <a:xfrm>
            <a:off x="812742" y="1464773"/>
            <a:ext cx="2527329" cy="1681336"/>
          </a:xfrm>
          <a:prstGeom prst="roundRect">
            <a:avLst>
              <a:gd name="adj" fmla="val 3777"/>
            </a:avLst>
          </a:prstGeom>
          <a:solidFill>
            <a:srgbClr val="F1F4F7"/>
          </a:solidFill>
          <a:ln/>
        </p:spPr>
      </p:sp>
      <p:sp>
        <p:nvSpPr>
          <p:cNvPr id="4" name="Text 2"/>
          <p:cNvSpPr/>
          <p:nvPr/>
        </p:nvSpPr>
        <p:spPr>
          <a:xfrm>
            <a:off x="1015885" y="1667914"/>
            <a:ext cx="2184676"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C2410C"/>
                </a:solidFill>
                <a:latin typeface="Courier New" pitchFamily="49" charset="0"/>
                <a:ea typeface="Courier New" pitchFamily="49" charset="-122"/>
                <a:cs typeface="Courier New" pitchFamily="49" charset="-120"/>
              </a:rPr>
              <a:t>APPLICATION</a:t>
            </a:r>
            <a:endParaRPr lang="en-US" sz="1200" dirty="0"/>
          </a:p>
        </p:txBody>
      </p:sp>
      <p:sp>
        <p:nvSpPr>
          <p:cNvPr id="5" name="Text 3"/>
          <p:cNvSpPr/>
          <p:nvPr/>
        </p:nvSpPr>
        <p:spPr>
          <a:xfrm>
            <a:off x="1015885" y="1942235"/>
            <a:ext cx="2184676" cy="30595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4202B"/>
                </a:solidFill>
                <a:latin typeface="Arial" pitchFamily="34" charset="0"/>
                <a:ea typeface="Arial" pitchFamily="34" charset="-122"/>
                <a:cs typeface="Arial" pitchFamily="34" charset="-120"/>
              </a:rPr>
              <a:t>Flutter · Dart</a:t>
            </a:r>
            <a:endParaRPr lang="en-US" sz="1700" dirty="0"/>
          </a:p>
        </p:txBody>
      </p:sp>
      <p:sp>
        <p:nvSpPr>
          <p:cNvPr id="6" name="Text 4"/>
          <p:cNvSpPr/>
          <p:nvPr/>
        </p:nvSpPr>
        <p:spPr>
          <a:xfrm>
            <a:off x="1015885" y="2298988"/>
            <a:ext cx="2184676" cy="454718"/>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770"/>
                </a:solidFill>
                <a:latin typeface="Arial" pitchFamily="34" charset="0"/>
                <a:ea typeface="Arial" pitchFamily="34" charset="-122"/>
                <a:cs typeface="Arial" pitchFamily="34" charset="-120"/>
              </a:rPr>
              <a:t>Android et iOS depuis une seule base de code</a:t>
            </a:r>
            <a:endParaRPr lang="en-US" sz="1300" dirty="0"/>
          </a:p>
        </p:txBody>
      </p:sp>
      <p:sp>
        <p:nvSpPr>
          <p:cNvPr id="7" name="Shape 5"/>
          <p:cNvSpPr/>
          <p:nvPr/>
        </p:nvSpPr>
        <p:spPr>
          <a:xfrm>
            <a:off x="3492471" y="1464773"/>
            <a:ext cx="2527329" cy="1681336"/>
          </a:xfrm>
          <a:prstGeom prst="roundRect">
            <a:avLst>
              <a:gd name="adj" fmla="val 3777"/>
            </a:avLst>
          </a:prstGeom>
          <a:solidFill>
            <a:srgbClr val="F1F4F7"/>
          </a:solidFill>
          <a:ln/>
        </p:spPr>
      </p:sp>
      <p:sp>
        <p:nvSpPr>
          <p:cNvPr id="8" name="Text 6"/>
          <p:cNvSpPr/>
          <p:nvPr/>
        </p:nvSpPr>
        <p:spPr>
          <a:xfrm>
            <a:off x="3695613" y="1667914"/>
            <a:ext cx="2184676"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C2410C"/>
                </a:solidFill>
                <a:latin typeface="Courier New" pitchFamily="49" charset="0"/>
                <a:ea typeface="Courier New" pitchFamily="49" charset="-122"/>
                <a:cs typeface="Courier New" pitchFamily="49" charset="-120"/>
              </a:rPr>
              <a:t>VISION</a:t>
            </a:r>
            <a:endParaRPr lang="en-US" sz="1200" dirty="0"/>
          </a:p>
        </p:txBody>
      </p:sp>
      <p:sp>
        <p:nvSpPr>
          <p:cNvPr id="9" name="Text 7"/>
          <p:cNvSpPr/>
          <p:nvPr/>
        </p:nvSpPr>
        <p:spPr>
          <a:xfrm>
            <a:off x="3695613" y="1942235"/>
            <a:ext cx="2184676" cy="30595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4202B"/>
                </a:solidFill>
                <a:latin typeface="Arial" pitchFamily="34" charset="0"/>
                <a:ea typeface="Arial" pitchFamily="34" charset="-122"/>
                <a:cs typeface="Arial" pitchFamily="34" charset="-120"/>
              </a:rPr>
              <a:t>OpenCV</a:t>
            </a:r>
            <a:endParaRPr lang="en-US" sz="1700" dirty="0"/>
          </a:p>
        </p:txBody>
      </p:sp>
      <p:sp>
        <p:nvSpPr>
          <p:cNvPr id="10" name="Text 8"/>
          <p:cNvSpPr/>
          <p:nvPr/>
        </p:nvSpPr>
        <p:spPr>
          <a:xfrm>
            <a:off x="3695613" y="2298988"/>
            <a:ext cx="2184676" cy="454718"/>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770"/>
                </a:solidFill>
                <a:latin typeface="Arial" pitchFamily="34" charset="0"/>
                <a:ea typeface="Arial" pitchFamily="34" charset="-122"/>
                <a:cs typeface="Arial" pitchFamily="34" charset="-120"/>
              </a:rPr>
              <a:t>Détection, qualité, redressement (opencv_dart)</a:t>
            </a:r>
            <a:endParaRPr lang="en-US" sz="1300" dirty="0"/>
          </a:p>
        </p:txBody>
      </p:sp>
      <p:sp>
        <p:nvSpPr>
          <p:cNvPr id="11" name="Shape 9"/>
          <p:cNvSpPr/>
          <p:nvPr/>
        </p:nvSpPr>
        <p:spPr>
          <a:xfrm>
            <a:off x="6172200" y="1464773"/>
            <a:ext cx="2527329" cy="1681336"/>
          </a:xfrm>
          <a:prstGeom prst="roundRect">
            <a:avLst>
              <a:gd name="adj" fmla="val 3777"/>
            </a:avLst>
          </a:prstGeom>
          <a:solidFill>
            <a:srgbClr val="F1F4F7"/>
          </a:solidFill>
          <a:ln/>
        </p:spPr>
      </p:sp>
      <p:sp>
        <p:nvSpPr>
          <p:cNvPr id="12" name="Text 10"/>
          <p:cNvSpPr/>
          <p:nvPr/>
        </p:nvSpPr>
        <p:spPr>
          <a:xfrm>
            <a:off x="6375342" y="1667914"/>
            <a:ext cx="2184676"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C2410C"/>
                </a:solidFill>
                <a:latin typeface="Courier New" pitchFamily="49" charset="0"/>
                <a:ea typeface="Courier New" pitchFamily="49" charset="-122"/>
                <a:cs typeface="Courier New" pitchFamily="49" charset="-120"/>
              </a:rPr>
              <a:t>TRAITEMENT</a:t>
            </a:r>
            <a:endParaRPr lang="en-US" sz="1200" dirty="0"/>
          </a:p>
        </p:txBody>
      </p:sp>
      <p:sp>
        <p:nvSpPr>
          <p:cNvPr id="13" name="Text 11"/>
          <p:cNvSpPr/>
          <p:nvPr/>
        </p:nvSpPr>
        <p:spPr>
          <a:xfrm>
            <a:off x="6375342" y="1942235"/>
            <a:ext cx="2184676" cy="30595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4202B"/>
                </a:solidFill>
                <a:latin typeface="Arial" pitchFamily="34" charset="0"/>
                <a:ea typeface="Arial" pitchFamily="34" charset="-122"/>
                <a:cs typeface="Arial" pitchFamily="34" charset="-120"/>
              </a:rPr>
              <a:t>Isolate Dart</a:t>
            </a:r>
            <a:endParaRPr lang="en-US" sz="1700" dirty="0"/>
          </a:p>
        </p:txBody>
      </p:sp>
      <p:sp>
        <p:nvSpPr>
          <p:cNvPr id="14" name="Text 12"/>
          <p:cNvSpPr/>
          <p:nvPr/>
        </p:nvSpPr>
        <p:spPr>
          <a:xfrm>
            <a:off x="6375342" y="2298988"/>
            <a:ext cx="2184676" cy="669377"/>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770"/>
                </a:solidFill>
                <a:latin typeface="Arial" pitchFamily="34" charset="0"/>
                <a:ea typeface="Arial" pitchFamily="34" charset="-122"/>
                <a:cs typeface="Arial" pitchFamily="34" charset="-120"/>
              </a:rPr>
              <a:t>Persistant, hors du fil principal ; frames en excès abandonnées</a:t>
            </a:r>
            <a:endParaRPr lang="en-US" sz="1300" dirty="0"/>
          </a:p>
        </p:txBody>
      </p:sp>
      <p:sp>
        <p:nvSpPr>
          <p:cNvPr id="15" name="Shape 13"/>
          <p:cNvSpPr/>
          <p:nvPr/>
        </p:nvSpPr>
        <p:spPr>
          <a:xfrm>
            <a:off x="8851928" y="1464773"/>
            <a:ext cx="2527329" cy="1681336"/>
          </a:xfrm>
          <a:prstGeom prst="roundRect">
            <a:avLst>
              <a:gd name="adj" fmla="val 3777"/>
            </a:avLst>
          </a:prstGeom>
          <a:solidFill>
            <a:srgbClr val="F1F4F7"/>
          </a:solidFill>
          <a:ln/>
        </p:spPr>
      </p:sp>
      <p:sp>
        <p:nvSpPr>
          <p:cNvPr id="16" name="Text 14"/>
          <p:cNvSpPr/>
          <p:nvPr/>
        </p:nvSpPr>
        <p:spPr>
          <a:xfrm>
            <a:off x="9055071" y="1667914"/>
            <a:ext cx="2184676"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C2410C"/>
                </a:solidFill>
                <a:latin typeface="Courier New" pitchFamily="49" charset="0"/>
                <a:ea typeface="Courier New" pitchFamily="49" charset="-122"/>
                <a:cs typeface="Courier New" pitchFamily="49" charset="-120"/>
              </a:rPr>
              <a:t>RECONNAISSANCE</a:t>
            </a:r>
            <a:endParaRPr lang="en-US" sz="1200" dirty="0"/>
          </a:p>
        </p:txBody>
      </p:sp>
      <p:sp>
        <p:nvSpPr>
          <p:cNvPr id="17" name="Text 15"/>
          <p:cNvSpPr/>
          <p:nvPr/>
        </p:nvSpPr>
        <p:spPr>
          <a:xfrm>
            <a:off x="9055071" y="1942235"/>
            <a:ext cx="2184676" cy="30595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4202B"/>
                </a:solidFill>
                <a:latin typeface="Arial" pitchFamily="34" charset="0"/>
                <a:ea typeface="Arial" pitchFamily="34" charset="-122"/>
                <a:cs typeface="Arial" pitchFamily="34" charset="-120"/>
              </a:rPr>
              <a:t>Haar · gabarits</a:t>
            </a:r>
            <a:endParaRPr lang="en-US" sz="1700" dirty="0"/>
          </a:p>
        </p:txBody>
      </p:sp>
      <p:sp>
        <p:nvSpPr>
          <p:cNvPr id="18" name="Text 16"/>
          <p:cNvSpPr/>
          <p:nvPr/>
        </p:nvSpPr>
        <p:spPr>
          <a:xfrm>
            <a:off x="9055071" y="2298988"/>
            <a:ext cx="2184676" cy="669377"/>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770"/>
                </a:solidFill>
                <a:latin typeface="Arial" pitchFamily="34" charset="0"/>
                <a:ea typeface="Arial" pitchFamily="34" charset="-122"/>
                <a:cs typeface="Arial" pitchFamily="34" charset="-120"/>
              </a:rPr>
              <a:t>Visage pré-entraîné ; logo et drapeau par template matching</a:t>
            </a:r>
            <a:endParaRPr lang="en-US" sz="1300" dirty="0"/>
          </a:p>
        </p:txBody>
      </p:sp>
      <p:sp>
        <p:nvSpPr>
          <p:cNvPr id="19" name="Text 17"/>
          <p:cNvSpPr/>
          <p:nvPr/>
        </p:nvSpPr>
        <p:spPr>
          <a:xfrm>
            <a:off x="812742" y="3374709"/>
            <a:ext cx="1088351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770"/>
                </a:solidFill>
                <a:latin typeface="Arial" pitchFamily="34" charset="0"/>
                <a:ea typeface="Arial" pitchFamily="34" charset="-122"/>
                <a:cs typeface="Arial" pitchFamily="34" charset="-120"/>
              </a:rPr>
              <a:t>Export galerie : package:gal · Tests : flutter test</a:t>
            </a:r>
            <a:endParaRPr lang="en-US" sz="1400" dirty="0"/>
          </a:p>
        </p:txBody>
      </p:sp>
      <p:sp>
        <p:nvSpPr>
          <p:cNvPr id="20" name="Text 18"/>
          <p:cNvSpPr/>
          <p:nvPr/>
        </p:nvSpPr>
        <p:spPr>
          <a:xfrm>
            <a:off x="812742" y="623827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21" name="Text 19"/>
          <p:cNvSpPr/>
          <p:nvPr/>
        </p:nvSpPr>
        <p:spPr>
          <a:xfrm>
            <a:off x="9417107" y="6238270"/>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6 / 23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41"/>
            <a:ext cx="10883510" cy="872259"/>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OpenCV retenu : ML Kit exclut iOS,</a:t>
            </a:r>
            <a:endParaRPr lang="en-US" sz="2900" dirty="0"/>
          </a:p>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un modèle exige temps et données</a:t>
            </a:r>
            <a:endParaRPr lang="en-US" sz="2900" dirty="0"/>
          </a:p>
        </p:txBody>
      </p:sp>
      <p:sp>
        <p:nvSpPr>
          <p:cNvPr id="3" name="Text 1"/>
          <p:cNvSpPr/>
          <p:nvPr/>
        </p:nvSpPr>
        <p:spPr>
          <a:xfrm>
            <a:off x="812742" y="1888201"/>
            <a:ext cx="2622579" cy="494001"/>
          </a:xfrm>
          <a:prstGeom prst="rect">
            <a:avLst/>
          </a:prstGeom>
          <a:solidFill>
            <a:srgbClr val="DDE3E9"/>
          </a:solidFill>
          <a:ln/>
        </p:spPr>
        <p:txBody>
          <a:bodyPr wrap="square" lIns="165042" tIns="139700" rIns="96267" bIns="114242" rtlCol="0" anchor="t">
            <a:normAutofit/>
          </a:bodyPr>
          <a:lstStyle/>
          <a:p>
            <a:pPr algn="l" indent="0" marL="0">
              <a:lnSpc>
                <a:spcPts val="1690"/>
              </a:lnSpc>
              <a:buNone/>
            </a:pPr>
            <a:r>
              <a:rPr lang="en-US" sz="1300" b="1" dirty="0">
                <a:solidFill>
                  <a:srgbClr val="14202B"/>
                </a:solidFill>
                <a:latin typeface="Arial" pitchFamily="34" charset="0"/>
                <a:ea typeface="Arial" pitchFamily="34" charset="-122"/>
                <a:cs typeface="Arial" pitchFamily="34" charset="-120"/>
              </a:rPr>
              <a:t>Critère</a:t>
            </a:r>
            <a:endParaRPr lang="en-US" sz="1300" dirty="0"/>
          </a:p>
        </p:txBody>
      </p:sp>
      <p:sp>
        <p:nvSpPr>
          <p:cNvPr id="4" name="Text 2"/>
          <p:cNvSpPr/>
          <p:nvPr/>
        </p:nvSpPr>
        <p:spPr>
          <a:xfrm>
            <a:off x="3460692" y="1888201"/>
            <a:ext cx="2622665" cy="494001"/>
          </a:xfrm>
          <a:prstGeom prst="rect">
            <a:avLst/>
          </a:prstGeom>
          <a:solidFill>
            <a:srgbClr val="DDE3E9"/>
          </a:solidFill>
          <a:ln/>
        </p:spPr>
        <p:txBody>
          <a:bodyPr wrap="square" lIns="165042" tIns="139700" rIns="96265" bIns="114242" rtlCol="0" anchor="t">
            <a:normAutofit/>
          </a:bodyPr>
          <a:lstStyle/>
          <a:p>
            <a:pPr algn="l" indent="0" marL="0">
              <a:lnSpc>
                <a:spcPts val="1690"/>
              </a:lnSpc>
              <a:buNone/>
            </a:pPr>
            <a:r>
              <a:rPr lang="en-US" sz="1300" b="1" dirty="0">
                <a:solidFill>
                  <a:srgbClr val="14202B"/>
                </a:solidFill>
                <a:latin typeface="Arial" pitchFamily="34" charset="0"/>
                <a:ea typeface="Arial" pitchFamily="34" charset="-122"/>
                <a:cs typeface="Arial" pitchFamily="34" charset="-120"/>
              </a:rPr>
              <a:t>ML Kit</a:t>
            </a:r>
            <a:endParaRPr lang="en-US" sz="1300" dirty="0"/>
          </a:p>
        </p:txBody>
      </p:sp>
      <p:sp>
        <p:nvSpPr>
          <p:cNvPr id="5" name="Text 3"/>
          <p:cNvSpPr/>
          <p:nvPr/>
        </p:nvSpPr>
        <p:spPr>
          <a:xfrm>
            <a:off x="6108728" y="1888201"/>
            <a:ext cx="2622579" cy="494001"/>
          </a:xfrm>
          <a:prstGeom prst="rect">
            <a:avLst/>
          </a:prstGeom>
          <a:solidFill>
            <a:srgbClr val="DDE3E9"/>
          </a:solidFill>
          <a:ln/>
        </p:spPr>
        <p:txBody>
          <a:bodyPr wrap="square" lIns="165042" tIns="139700" rIns="96267" bIns="114242" rtlCol="0" anchor="t">
            <a:normAutofit/>
          </a:bodyPr>
          <a:lstStyle/>
          <a:p>
            <a:pPr algn="l" indent="0" marL="0">
              <a:lnSpc>
                <a:spcPts val="1690"/>
              </a:lnSpc>
              <a:buNone/>
            </a:pPr>
            <a:r>
              <a:rPr lang="en-US" sz="1300" b="1" dirty="0">
                <a:solidFill>
                  <a:srgbClr val="14202B"/>
                </a:solidFill>
                <a:latin typeface="Arial" pitchFamily="34" charset="0"/>
                <a:ea typeface="Arial" pitchFamily="34" charset="-122"/>
                <a:cs typeface="Arial" pitchFamily="34" charset="-120"/>
              </a:rPr>
              <a:t>Modèle sur mesure</a:t>
            </a:r>
            <a:endParaRPr lang="en-US" sz="1300" dirty="0"/>
          </a:p>
        </p:txBody>
      </p:sp>
      <p:sp>
        <p:nvSpPr>
          <p:cNvPr id="6" name="Text 4"/>
          <p:cNvSpPr/>
          <p:nvPr/>
        </p:nvSpPr>
        <p:spPr>
          <a:xfrm>
            <a:off x="8756678" y="1888201"/>
            <a:ext cx="2622579" cy="494001"/>
          </a:xfrm>
          <a:prstGeom prst="rect">
            <a:avLst/>
          </a:prstGeom>
          <a:solidFill>
            <a:srgbClr val="DDE3E9"/>
          </a:solidFill>
          <a:ln/>
        </p:spPr>
        <p:txBody>
          <a:bodyPr wrap="square" lIns="165043" tIns="139700" rIns="96267" bIns="114242" rtlCol="0" anchor="t">
            <a:normAutofit/>
          </a:bodyPr>
          <a:lstStyle/>
          <a:p>
            <a:pPr algn="l" indent="0" marL="0">
              <a:lnSpc>
                <a:spcPts val="1690"/>
              </a:lnSpc>
              <a:buNone/>
            </a:pPr>
            <a:r>
              <a:rPr lang="en-US" sz="1300" b="1" dirty="0">
                <a:solidFill>
                  <a:srgbClr val="C2410C"/>
                </a:solidFill>
                <a:latin typeface="Arial" pitchFamily="34" charset="0"/>
                <a:ea typeface="Arial" pitchFamily="34" charset="-122"/>
                <a:cs typeface="Arial" pitchFamily="34" charset="-120"/>
              </a:rPr>
              <a:t>OpenCV (retenu)</a:t>
            </a:r>
            <a:endParaRPr lang="en-US" sz="1300" dirty="0"/>
          </a:p>
        </p:txBody>
      </p:sp>
      <p:sp>
        <p:nvSpPr>
          <p:cNvPr id="7" name="Text 5"/>
          <p:cNvSpPr/>
          <p:nvPr/>
        </p:nvSpPr>
        <p:spPr>
          <a:xfrm>
            <a:off x="812742" y="2407574"/>
            <a:ext cx="2622579" cy="494001"/>
          </a:xfrm>
          <a:prstGeom prst="rect">
            <a:avLst/>
          </a:prstGeom>
          <a:solidFill>
            <a:srgbClr val="F1F4F7"/>
          </a:solidFill>
          <a:ln/>
        </p:spPr>
        <p:txBody>
          <a:bodyPr wrap="square" lIns="165042" tIns="139700" rIns="96267" bIns="114242" rtlCol="0" anchor="t">
            <a:normAutofit/>
          </a:bodyPr>
          <a:lstStyle/>
          <a:p>
            <a:pPr algn="l" indent="0" marL="0">
              <a:lnSpc>
                <a:spcPts val="1690"/>
              </a:lnSpc>
              <a:buNone/>
            </a:pPr>
            <a:r>
              <a:rPr lang="en-US" sz="1300" b="1" dirty="0">
                <a:solidFill>
                  <a:srgbClr val="14202B"/>
                </a:solidFill>
                <a:latin typeface="Arial" pitchFamily="34" charset="0"/>
                <a:ea typeface="Arial" pitchFamily="34" charset="-122"/>
                <a:cs typeface="Arial" pitchFamily="34" charset="-120"/>
              </a:rPr>
              <a:t>Support iOS</a:t>
            </a:r>
            <a:endParaRPr lang="en-US" sz="1300" dirty="0"/>
          </a:p>
        </p:txBody>
      </p:sp>
      <p:sp>
        <p:nvSpPr>
          <p:cNvPr id="8" name="Text 6"/>
          <p:cNvSpPr/>
          <p:nvPr/>
        </p:nvSpPr>
        <p:spPr>
          <a:xfrm>
            <a:off x="3460692" y="2407574"/>
            <a:ext cx="2622665" cy="494001"/>
          </a:xfrm>
          <a:prstGeom prst="rect">
            <a:avLst/>
          </a:prstGeom>
          <a:solidFill>
            <a:srgbClr val="F1F4F7"/>
          </a:solidFill>
          <a:ln/>
        </p:spPr>
        <p:txBody>
          <a:bodyPr wrap="square" lIns="165042" tIns="139700" rIns="96265" bIns="114242" rtlCol="0" anchor="t">
            <a:normAutofit/>
          </a:bodyPr>
          <a:lstStyle/>
          <a:p>
            <a:pPr algn="l" indent="0" marL="0">
              <a:lnSpc>
                <a:spcPts val="1690"/>
              </a:lnSpc>
              <a:buNone/>
            </a:pPr>
            <a:r>
              <a:rPr lang="en-US" sz="1300" b="1" dirty="0">
                <a:solidFill>
                  <a:srgbClr val="B42318"/>
                </a:solidFill>
                <a:latin typeface="Arial" pitchFamily="34" charset="0"/>
                <a:ea typeface="Arial" pitchFamily="34" charset="-122"/>
                <a:cs typeface="Arial" pitchFamily="34" charset="-120"/>
              </a:rPr>
              <a:t>Non</a:t>
            </a:r>
            <a:endParaRPr lang="en-US" sz="1300" dirty="0"/>
          </a:p>
        </p:txBody>
      </p:sp>
      <p:sp>
        <p:nvSpPr>
          <p:cNvPr id="9" name="Text 7"/>
          <p:cNvSpPr/>
          <p:nvPr/>
        </p:nvSpPr>
        <p:spPr>
          <a:xfrm>
            <a:off x="6108728" y="2407574"/>
            <a:ext cx="2622579" cy="494001"/>
          </a:xfrm>
          <a:prstGeom prst="rect">
            <a:avLst/>
          </a:prstGeom>
          <a:solidFill>
            <a:srgbClr val="F1F4F7"/>
          </a:solidFill>
          <a:ln/>
        </p:spPr>
        <p:txBody>
          <a:bodyPr wrap="square" lIns="165042" tIns="139700" rIns="96267" bIns="114242" rtlCol="0" anchor="t">
            <a:normAutofit/>
          </a:bodyPr>
          <a:lstStyle/>
          <a:p>
            <a:pPr algn="l" indent="0" marL="0">
              <a:lnSpc>
                <a:spcPts val="1690"/>
              </a:lnSpc>
              <a:buNone/>
            </a:pPr>
            <a:r>
              <a:rPr lang="en-US" sz="1300" dirty="0">
                <a:solidFill>
                  <a:srgbClr val="14202B"/>
                </a:solidFill>
                <a:latin typeface="Arial" pitchFamily="34" charset="0"/>
                <a:ea typeface="Arial" pitchFamily="34" charset="-122"/>
                <a:cs typeface="Arial" pitchFamily="34" charset="-120"/>
              </a:rPr>
              <a:t>Oui, si entraîné</a:t>
            </a:r>
            <a:endParaRPr lang="en-US" sz="1300" dirty="0"/>
          </a:p>
        </p:txBody>
      </p:sp>
      <p:sp>
        <p:nvSpPr>
          <p:cNvPr id="10" name="Text 8"/>
          <p:cNvSpPr/>
          <p:nvPr/>
        </p:nvSpPr>
        <p:spPr>
          <a:xfrm>
            <a:off x="8756678" y="2407574"/>
            <a:ext cx="2622579" cy="494001"/>
          </a:xfrm>
          <a:prstGeom prst="rect">
            <a:avLst/>
          </a:prstGeom>
          <a:solidFill>
            <a:srgbClr val="F1F4F7"/>
          </a:solidFill>
          <a:ln/>
        </p:spPr>
        <p:txBody>
          <a:bodyPr wrap="square" lIns="165043" tIns="139700" rIns="96267" bIns="114242" rtlCol="0" anchor="t">
            <a:normAutofit/>
          </a:bodyPr>
          <a:lstStyle/>
          <a:p>
            <a:pPr algn="l" indent="0" marL="0">
              <a:lnSpc>
                <a:spcPts val="1690"/>
              </a:lnSpc>
              <a:buNone/>
            </a:pPr>
            <a:r>
              <a:rPr lang="en-US" sz="1300" b="1" dirty="0">
                <a:solidFill>
                  <a:srgbClr val="14202B"/>
                </a:solidFill>
                <a:latin typeface="Arial" pitchFamily="34" charset="0"/>
                <a:ea typeface="Arial" pitchFamily="34" charset="-122"/>
                <a:cs typeface="Arial" pitchFamily="34" charset="-120"/>
              </a:rPr>
              <a:t>Oui</a:t>
            </a:r>
            <a:endParaRPr lang="en-US" sz="1300" dirty="0"/>
          </a:p>
        </p:txBody>
      </p:sp>
      <p:sp>
        <p:nvSpPr>
          <p:cNvPr id="11" name="Text 9"/>
          <p:cNvSpPr/>
          <p:nvPr/>
        </p:nvSpPr>
        <p:spPr>
          <a:xfrm>
            <a:off x="812742" y="2926947"/>
            <a:ext cx="2622579" cy="708660"/>
          </a:xfrm>
          <a:prstGeom prst="rect">
            <a:avLst/>
          </a:prstGeom>
          <a:solidFill>
            <a:srgbClr val="F1F4F7"/>
          </a:solidFill>
          <a:ln/>
        </p:spPr>
        <p:txBody>
          <a:bodyPr wrap="square" lIns="165042" tIns="139700" rIns="96267" bIns="139700" rtlCol="0" anchor="t">
            <a:normAutofit/>
          </a:bodyPr>
          <a:lstStyle/>
          <a:p>
            <a:pPr algn="l" indent="0" marL="0">
              <a:lnSpc>
                <a:spcPts val="1690"/>
              </a:lnSpc>
              <a:buNone/>
            </a:pPr>
            <a:r>
              <a:rPr lang="en-US" sz="1300" b="1" dirty="0">
                <a:solidFill>
                  <a:srgbClr val="14202B"/>
                </a:solidFill>
                <a:latin typeface="Arial" pitchFamily="34" charset="0"/>
                <a:ea typeface="Arial" pitchFamily="34" charset="-122"/>
                <a:cs typeface="Arial" pitchFamily="34" charset="-120"/>
              </a:rPr>
              <a:t>Jeu de données</a:t>
            </a:r>
            <a:endParaRPr lang="en-US" sz="1300" dirty="0"/>
          </a:p>
        </p:txBody>
      </p:sp>
      <p:sp>
        <p:nvSpPr>
          <p:cNvPr id="12" name="Text 10"/>
          <p:cNvSpPr/>
          <p:nvPr/>
        </p:nvSpPr>
        <p:spPr>
          <a:xfrm>
            <a:off x="3460692" y="2926947"/>
            <a:ext cx="2622665" cy="708660"/>
          </a:xfrm>
          <a:prstGeom prst="rect">
            <a:avLst/>
          </a:prstGeom>
          <a:solidFill>
            <a:srgbClr val="F1F4F7"/>
          </a:solidFill>
          <a:ln/>
        </p:spPr>
        <p:txBody>
          <a:bodyPr wrap="square" lIns="165042" tIns="139700" rIns="96265" bIns="139700" rtlCol="0" anchor="t">
            <a:normAutofit/>
          </a:bodyPr>
          <a:lstStyle/>
          <a:p>
            <a:pPr algn="l" indent="0" marL="0">
              <a:lnSpc>
                <a:spcPts val="1690"/>
              </a:lnSpc>
              <a:buNone/>
            </a:pPr>
            <a:r>
              <a:rPr lang="en-US" sz="1300" dirty="0">
                <a:solidFill>
                  <a:srgbClr val="14202B"/>
                </a:solidFill>
                <a:latin typeface="Arial" pitchFamily="34" charset="0"/>
                <a:ea typeface="Arial" pitchFamily="34" charset="-122"/>
                <a:cs typeface="Arial" pitchFamily="34" charset="-120"/>
              </a:rPr>
              <a:t>Aucun</a:t>
            </a:r>
            <a:endParaRPr lang="en-US" sz="1300" dirty="0"/>
          </a:p>
        </p:txBody>
      </p:sp>
      <p:sp>
        <p:nvSpPr>
          <p:cNvPr id="13" name="Text 11"/>
          <p:cNvSpPr/>
          <p:nvPr/>
        </p:nvSpPr>
        <p:spPr>
          <a:xfrm>
            <a:off x="6108728" y="2926947"/>
            <a:ext cx="2622579" cy="708660"/>
          </a:xfrm>
          <a:prstGeom prst="rect">
            <a:avLst/>
          </a:prstGeom>
          <a:solidFill>
            <a:srgbClr val="F1F4F7"/>
          </a:solidFill>
          <a:ln/>
        </p:spPr>
        <p:txBody>
          <a:bodyPr wrap="square" lIns="165042" tIns="139700" rIns="96267" bIns="114242" rtlCol="0" anchor="t">
            <a:normAutofit/>
          </a:bodyPr>
          <a:lstStyle/>
          <a:p>
            <a:pPr algn="l" indent="0" marL="0">
              <a:lnSpc>
                <a:spcPts val="1690"/>
              </a:lnSpc>
              <a:buNone/>
            </a:pPr>
            <a:r>
              <a:rPr lang="en-US" sz="1300" dirty="0">
                <a:solidFill>
                  <a:srgbClr val="14202B"/>
                </a:solidFill>
                <a:latin typeface="Arial" pitchFamily="34" charset="0"/>
                <a:ea typeface="Arial" pitchFamily="34" charset="-122"/>
                <a:cs typeface="Arial" pitchFamily="34" charset="-120"/>
              </a:rPr>
              <a:t>Plusieurs centaines d’images annotées</a:t>
            </a:r>
            <a:endParaRPr lang="en-US" sz="1300" dirty="0"/>
          </a:p>
        </p:txBody>
      </p:sp>
      <p:sp>
        <p:nvSpPr>
          <p:cNvPr id="14" name="Text 12"/>
          <p:cNvSpPr/>
          <p:nvPr/>
        </p:nvSpPr>
        <p:spPr>
          <a:xfrm>
            <a:off x="8756678" y="2926947"/>
            <a:ext cx="2622579" cy="708660"/>
          </a:xfrm>
          <a:prstGeom prst="rect">
            <a:avLst/>
          </a:prstGeom>
          <a:solidFill>
            <a:srgbClr val="F1F4F7"/>
          </a:solidFill>
          <a:ln/>
        </p:spPr>
        <p:txBody>
          <a:bodyPr wrap="square" lIns="165043" tIns="139700" rIns="96267" bIns="139700" rtlCol="0" anchor="t">
            <a:normAutofit/>
          </a:bodyPr>
          <a:lstStyle/>
          <a:p>
            <a:pPr algn="l" indent="0" marL="0">
              <a:lnSpc>
                <a:spcPts val="1690"/>
              </a:lnSpc>
              <a:buNone/>
            </a:pPr>
            <a:r>
              <a:rPr lang="en-US" sz="1300" b="1" dirty="0">
                <a:solidFill>
                  <a:srgbClr val="14202B"/>
                </a:solidFill>
                <a:latin typeface="Arial" pitchFamily="34" charset="0"/>
                <a:ea typeface="Arial" pitchFamily="34" charset="-122"/>
                <a:cs typeface="Arial" pitchFamily="34" charset="-120"/>
              </a:rPr>
              <a:t>Aucun</a:t>
            </a:r>
            <a:endParaRPr lang="en-US" sz="1300" dirty="0"/>
          </a:p>
        </p:txBody>
      </p:sp>
      <p:sp>
        <p:nvSpPr>
          <p:cNvPr id="15" name="Text 13"/>
          <p:cNvSpPr/>
          <p:nvPr/>
        </p:nvSpPr>
        <p:spPr>
          <a:xfrm>
            <a:off x="812742" y="3660977"/>
            <a:ext cx="2622579" cy="494001"/>
          </a:xfrm>
          <a:prstGeom prst="rect">
            <a:avLst/>
          </a:prstGeom>
          <a:solidFill>
            <a:srgbClr val="F1F4F7"/>
          </a:solidFill>
          <a:ln/>
        </p:spPr>
        <p:txBody>
          <a:bodyPr wrap="square" lIns="165042" tIns="139700" rIns="96267" bIns="114242" rtlCol="0" anchor="t">
            <a:normAutofit/>
          </a:bodyPr>
          <a:lstStyle/>
          <a:p>
            <a:pPr algn="l" indent="0" marL="0">
              <a:lnSpc>
                <a:spcPts val="1690"/>
              </a:lnSpc>
              <a:buNone/>
            </a:pPr>
            <a:r>
              <a:rPr lang="en-US" sz="1300" b="1" dirty="0">
                <a:solidFill>
                  <a:srgbClr val="14202B"/>
                </a:solidFill>
                <a:latin typeface="Arial" pitchFamily="34" charset="0"/>
                <a:ea typeface="Arial" pitchFamily="34" charset="-122"/>
                <a:cs typeface="Arial" pitchFamily="34" charset="-120"/>
              </a:rPr>
              <a:t>Délai de 6 semaines</a:t>
            </a:r>
            <a:endParaRPr lang="en-US" sz="1300" dirty="0"/>
          </a:p>
        </p:txBody>
      </p:sp>
      <p:sp>
        <p:nvSpPr>
          <p:cNvPr id="16" name="Text 14"/>
          <p:cNvSpPr/>
          <p:nvPr/>
        </p:nvSpPr>
        <p:spPr>
          <a:xfrm>
            <a:off x="3460692" y="3660977"/>
            <a:ext cx="2622665" cy="494001"/>
          </a:xfrm>
          <a:prstGeom prst="rect">
            <a:avLst/>
          </a:prstGeom>
          <a:solidFill>
            <a:srgbClr val="F1F4F7"/>
          </a:solidFill>
          <a:ln/>
        </p:spPr>
        <p:txBody>
          <a:bodyPr wrap="square" lIns="165042" tIns="139700" rIns="96265" bIns="114242" rtlCol="0" anchor="t">
            <a:normAutofit/>
          </a:bodyPr>
          <a:lstStyle/>
          <a:p>
            <a:pPr algn="l" indent="0" marL="0">
              <a:lnSpc>
                <a:spcPts val="1690"/>
              </a:lnSpc>
              <a:buNone/>
            </a:pPr>
            <a:r>
              <a:rPr lang="en-US" sz="1300" dirty="0">
                <a:solidFill>
                  <a:srgbClr val="14202B"/>
                </a:solidFill>
                <a:latin typeface="Arial" pitchFamily="34" charset="0"/>
                <a:ea typeface="Arial" pitchFamily="34" charset="-122"/>
                <a:cs typeface="Arial" pitchFamily="34" charset="-120"/>
              </a:rPr>
              <a:t>Compatible</a:t>
            </a:r>
            <a:endParaRPr lang="en-US" sz="1300" dirty="0"/>
          </a:p>
        </p:txBody>
      </p:sp>
      <p:sp>
        <p:nvSpPr>
          <p:cNvPr id="17" name="Text 15"/>
          <p:cNvSpPr/>
          <p:nvPr/>
        </p:nvSpPr>
        <p:spPr>
          <a:xfrm>
            <a:off x="6108728" y="3660977"/>
            <a:ext cx="2622579" cy="494001"/>
          </a:xfrm>
          <a:prstGeom prst="rect">
            <a:avLst/>
          </a:prstGeom>
          <a:solidFill>
            <a:srgbClr val="F1F4F7"/>
          </a:solidFill>
          <a:ln/>
        </p:spPr>
        <p:txBody>
          <a:bodyPr wrap="square" lIns="165042" tIns="139700" rIns="96267" bIns="114242" rtlCol="0" anchor="t">
            <a:normAutofit/>
          </a:bodyPr>
          <a:lstStyle/>
          <a:p>
            <a:pPr algn="l" indent="0" marL="0">
              <a:lnSpc>
                <a:spcPts val="1690"/>
              </a:lnSpc>
              <a:buNone/>
            </a:pPr>
            <a:r>
              <a:rPr lang="en-US" sz="1300" b="1" dirty="0">
                <a:solidFill>
                  <a:srgbClr val="B42318"/>
                </a:solidFill>
                <a:latin typeface="Arial" pitchFamily="34" charset="0"/>
                <a:ea typeface="Arial" pitchFamily="34" charset="-122"/>
                <a:cs typeface="Arial" pitchFamily="34" charset="-120"/>
              </a:rPr>
              <a:t>Non</a:t>
            </a:r>
            <a:endParaRPr lang="en-US" sz="1300" dirty="0"/>
          </a:p>
        </p:txBody>
      </p:sp>
      <p:sp>
        <p:nvSpPr>
          <p:cNvPr id="18" name="Text 16"/>
          <p:cNvSpPr/>
          <p:nvPr/>
        </p:nvSpPr>
        <p:spPr>
          <a:xfrm>
            <a:off x="8756678" y="3660977"/>
            <a:ext cx="2622579" cy="494001"/>
          </a:xfrm>
          <a:prstGeom prst="rect">
            <a:avLst/>
          </a:prstGeom>
          <a:solidFill>
            <a:srgbClr val="F1F4F7"/>
          </a:solidFill>
          <a:ln/>
        </p:spPr>
        <p:txBody>
          <a:bodyPr wrap="square" lIns="165043" tIns="139700" rIns="96267" bIns="114242" rtlCol="0" anchor="t">
            <a:normAutofit/>
          </a:bodyPr>
          <a:lstStyle/>
          <a:p>
            <a:pPr algn="l" indent="0" marL="0">
              <a:lnSpc>
                <a:spcPts val="1690"/>
              </a:lnSpc>
              <a:buNone/>
            </a:pPr>
            <a:r>
              <a:rPr lang="en-US" sz="1300" b="1" dirty="0">
                <a:solidFill>
                  <a:srgbClr val="14202B"/>
                </a:solidFill>
                <a:latin typeface="Arial" pitchFamily="34" charset="0"/>
                <a:ea typeface="Arial" pitchFamily="34" charset="-122"/>
                <a:cs typeface="Arial" pitchFamily="34" charset="-120"/>
              </a:rPr>
              <a:t>Compatible</a:t>
            </a:r>
            <a:endParaRPr lang="en-US" sz="1300" dirty="0"/>
          </a:p>
        </p:txBody>
      </p:sp>
      <p:sp>
        <p:nvSpPr>
          <p:cNvPr id="19" name="Text 17"/>
          <p:cNvSpPr/>
          <p:nvPr/>
        </p:nvSpPr>
        <p:spPr>
          <a:xfrm>
            <a:off x="812742" y="4383577"/>
            <a:ext cx="1088351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770"/>
                </a:solidFill>
                <a:latin typeface="Arial" pitchFamily="34" charset="0"/>
                <a:ea typeface="Arial" pitchFamily="34" charset="-122"/>
                <a:cs typeface="Arial" pitchFamily="34" charset="-120"/>
              </a:rPr>
              <a:t>Aucun entraînement : un réglage empirique de seuils suffit, compatible avec les six semaines.</a:t>
            </a:r>
            <a:endParaRPr lang="en-US" sz="1400" dirty="0"/>
          </a:p>
        </p:txBody>
      </p:sp>
      <p:sp>
        <p:nvSpPr>
          <p:cNvPr id="20" name="Text 18"/>
          <p:cNvSpPr/>
          <p:nvPr/>
        </p:nvSpPr>
        <p:spPr>
          <a:xfrm>
            <a:off x="812742" y="623827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21" name="Text 19"/>
          <p:cNvSpPr/>
          <p:nvPr/>
        </p:nvSpPr>
        <p:spPr>
          <a:xfrm>
            <a:off x="9417107" y="6238270"/>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7 / 23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41"/>
            <a:ext cx="10883510" cy="448830"/>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Architecture globale du module</a:t>
            </a:r>
            <a:endParaRPr lang="en-US" sz="2900" dirty="0"/>
          </a:p>
        </p:txBody>
      </p:sp>
      <p:sp>
        <p:nvSpPr>
          <p:cNvPr id="3" name="Shape 1"/>
          <p:cNvSpPr/>
          <p:nvPr/>
        </p:nvSpPr>
        <p:spPr>
          <a:xfrm>
            <a:off x="812742" y="1464773"/>
            <a:ext cx="2271366" cy="1483562"/>
          </a:xfrm>
          <a:prstGeom prst="roundRect">
            <a:avLst>
              <a:gd name="adj" fmla="val 4280"/>
            </a:avLst>
          </a:prstGeom>
          <a:solidFill>
            <a:srgbClr val="F1F4F7"/>
          </a:solidFill>
          <a:ln/>
        </p:spPr>
      </p:sp>
      <p:sp>
        <p:nvSpPr>
          <p:cNvPr id="4" name="Text 2"/>
          <p:cNvSpPr/>
          <p:nvPr/>
        </p:nvSpPr>
        <p:spPr>
          <a:xfrm>
            <a:off x="1015885" y="1667914"/>
            <a:ext cx="1921034"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C2410C"/>
                </a:solidFill>
                <a:latin typeface="Courier New" pitchFamily="49" charset="0"/>
                <a:ea typeface="Courier New" pitchFamily="49" charset="-122"/>
                <a:cs typeface="Courier New" pitchFamily="49" charset="-120"/>
              </a:rPr>
              <a:t>1</a:t>
            </a:r>
            <a:endParaRPr lang="en-US" sz="1200" dirty="0"/>
          </a:p>
        </p:txBody>
      </p:sp>
      <p:sp>
        <p:nvSpPr>
          <p:cNvPr id="5" name="Text 3"/>
          <p:cNvSpPr/>
          <p:nvPr/>
        </p:nvSpPr>
        <p:spPr>
          <a:xfrm>
            <a:off x="1015885" y="1942235"/>
            <a:ext cx="1921034"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B"/>
                </a:solidFill>
                <a:latin typeface="Arial" pitchFamily="34" charset="0"/>
                <a:ea typeface="Arial" pitchFamily="34" charset="-122"/>
                <a:cs typeface="Arial" pitchFamily="34" charset="-120"/>
              </a:rPr>
              <a:t>Caméra</a:t>
            </a:r>
            <a:endParaRPr lang="en-US" sz="1600" dirty="0"/>
          </a:p>
        </p:txBody>
      </p:sp>
      <p:sp>
        <p:nvSpPr>
          <p:cNvPr id="6" name="Text 4"/>
          <p:cNvSpPr/>
          <p:nvPr/>
        </p:nvSpPr>
        <p:spPr>
          <a:xfrm>
            <a:off x="1015885" y="2282623"/>
            <a:ext cx="1921034" cy="454718"/>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770"/>
                </a:solidFill>
                <a:latin typeface="Arial" pitchFamily="34" charset="0"/>
                <a:ea typeface="Arial" pitchFamily="34" charset="-122"/>
                <a:cs typeface="Arial" pitchFamily="34" charset="-120"/>
              </a:rPr>
              <a:t>Flux de frames, YUV420 ou BGRA</a:t>
            </a:r>
            <a:endParaRPr lang="en-US" sz="1300" dirty="0"/>
          </a:p>
        </p:txBody>
      </p:sp>
      <p:sp>
        <p:nvSpPr>
          <p:cNvPr id="7" name="Text 5"/>
          <p:cNvSpPr/>
          <p:nvPr/>
        </p:nvSpPr>
        <p:spPr>
          <a:xfrm>
            <a:off x="3185679" y="2024928"/>
            <a:ext cx="335315" cy="388649"/>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5B6770"/>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3576204" y="1474298"/>
            <a:ext cx="2285654" cy="1464512"/>
          </a:xfrm>
          <a:prstGeom prst="roundRect">
            <a:avLst>
              <a:gd name="adj" fmla="val 3686"/>
            </a:avLst>
          </a:prstGeom>
          <a:solidFill>
            <a:srgbClr val="FFFFFF"/>
          </a:solidFill>
          <a:ln w="19050">
            <a:solidFill>
              <a:srgbClr val="C2410C"/>
            </a:solidFill>
            <a:prstDash val="solid"/>
          </a:ln>
        </p:spPr>
      </p:sp>
      <p:sp>
        <p:nvSpPr>
          <p:cNvPr id="9" name="Text 7"/>
          <p:cNvSpPr/>
          <p:nvPr/>
        </p:nvSpPr>
        <p:spPr>
          <a:xfrm>
            <a:off x="3786447" y="1684539"/>
            <a:ext cx="1921123"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C2410C"/>
                </a:solidFill>
                <a:latin typeface="Courier New" pitchFamily="49" charset="0"/>
                <a:ea typeface="Courier New" pitchFamily="49" charset="-122"/>
                <a:cs typeface="Courier New" pitchFamily="49" charset="-120"/>
              </a:rPr>
              <a:t>2</a:t>
            </a:r>
            <a:endParaRPr lang="en-US" sz="1200" dirty="0"/>
          </a:p>
        </p:txBody>
      </p:sp>
      <p:sp>
        <p:nvSpPr>
          <p:cNvPr id="10" name="Text 8"/>
          <p:cNvSpPr/>
          <p:nvPr/>
        </p:nvSpPr>
        <p:spPr>
          <a:xfrm>
            <a:off x="3786447" y="1958860"/>
            <a:ext cx="1921123"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B"/>
                </a:solidFill>
                <a:latin typeface="Arial" pitchFamily="34" charset="0"/>
                <a:ea typeface="Arial" pitchFamily="34" charset="-122"/>
                <a:cs typeface="Arial" pitchFamily="34" charset="-120"/>
              </a:rPr>
              <a:t>Isolate</a:t>
            </a:r>
            <a:endParaRPr lang="en-US" sz="1600" dirty="0"/>
          </a:p>
        </p:txBody>
      </p:sp>
      <p:sp>
        <p:nvSpPr>
          <p:cNvPr id="11" name="Text 9"/>
          <p:cNvSpPr/>
          <p:nvPr/>
        </p:nvSpPr>
        <p:spPr>
          <a:xfrm>
            <a:off x="3786447" y="2299249"/>
            <a:ext cx="1921123" cy="454718"/>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770"/>
                </a:solidFill>
                <a:latin typeface="Arial" pitchFamily="34" charset="0"/>
                <a:ea typeface="Arial" pitchFamily="34" charset="-122"/>
                <a:cs typeface="Arial" pitchFamily="34" charset="-120"/>
              </a:rPr>
              <a:t>Détection OpenCV, hors du fil principal</a:t>
            </a:r>
            <a:endParaRPr lang="en-US" sz="1300" dirty="0"/>
          </a:p>
        </p:txBody>
      </p:sp>
      <p:sp>
        <p:nvSpPr>
          <p:cNvPr id="12" name="Text 10"/>
          <p:cNvSpPr/>
          <p:nvPr/>
        </p:nvSpPr>
        <p:spPr>
          <a:xfrm>
            <a:off x="5972954" y="2024928"/>
            <a:ext cx="335315" cy="388649"/>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5B6770"/>
                </a:solidFill>
                <a:latin typeface="Arial" pitchFamily="34" charset="0"/>
                <a:ea typeface="Arial" pitchFamily="34" charset="-122"/>
                <a:cs typeface="Arial" pitchFamily="34" charset="-120"/>
              </a:rPr>
              <a:t>→</a:t>
            </a:r>
            <a:endParaRPr lang="en-US" sz="2200" dirty="0"/>
          </a:p>
        </p:txBody>
      </p:sp>
      <p:sp>
        <p:nvSpPr>
          <p:cNvPr id="13" name="Shape 11"/>
          <p:cNvSpPr/>
          <p:nvPr/>
        </p:nvSpPr>
        <p:spPr>
          <a:xfrm>
            <a:off x="6353954" y="1464773"/>
            <a:ext cx="2271366" cy="1483562"/>
          </a:xfrm>
          <a:prstGeom prst="roundRect">
            <a:avLst>
              <a:gd name="adj" fmla="val 4280"/>
            </a:avLst>
          </a:prstGeom>
          <a:solidFill>
            <a:srgbClr val="F1F4F7"/>
          </a:solidFill>
          <a:ln/>
        </p:spPr>
      </p:sp>
      <p:sp>
        <p:nvSpPr>
          <p:cNvPr id="14" name="Text 12"/>
          <p:cNvSpPr/>
          <p:nvPr/>
        </p:nvSpPr>
        <p:spPr>
          <a:xfrm>
            <a:off x="6557096" y="1667914"/>
            <a:ext cx="1921034"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C2410C"/>
                </a:solidFill>
                <a:latin typeface="Courier New" pitchFamily="49" charset="0"/>
                <a:ea typeface="Courier New" pitchFamily="49" charset="-122"/>
                <a:cs typeface="Courier New" pitchFamily="49" charset="-120"/>
              </a:rPr>
              <a:t>3</a:t>
            </a:r>
            <a:endParaRPr lang="en-US" sz="1200" dirty="0"/>
          </a:p>
        </p:txBody>
      </p:sp>
      <p:sp>
        <p:nvSpPr>
          <p:cNvPr id="15" name="Text 13"/>
          <p:cNvSpPr/>
          <p:nvPr/>
        </p:nvSpPr>
        <p:spPr>
          <a:xfrm>
            <a:off x="6557096" y="1942235"/>
            <a:ext cx="1921034"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B"/>
                </a:solidFill>
                <a:latin typeface="Arial" pitchFamily="34" charset="0"/>
                <a:ea typeface="Arial" pitchFamily="34" charset="-122"/>
                <a:cs typeface="Arial" pitchFamily="34" charset="-120"/>
              </a:rPr>
              <a:t>Domaine</a:t>
            </a:r>
            <a:endParaRPr lang="en-US" sz="1600" dirty="0"/>
          </a:p>
        </p:txBody>
      </p:sp>
      <p:sp>
        <p:nvSpPr>
          <p:cNvPr id="16" name="Text 14"/>
          <p:cNvSpPr/>
          <p:nvPr/>
        </p:nvSpPr>
        <p:spPr>
          <a:xfrm>
            <a:off x="6557096" y="2282623"/>
            <a:ext cx="1921034" cy="454718"/>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770"/>
                </a:solidFill>
                <a:latin typeface="Arial" pitchFamily="34" charset="0"/>
                <a:ea typeface="Arial" pitchFamily="34" charset="-122"/>
                <a:cs typeface="Arial" pitchFamily="34" charset="-120"/>
              </a:rPr>
              <a:t>Qualité et machine à états d’autocapture</a:t>
            </a:r>
            <a:endParaRPr lang="en-US" sz="1300" dirty="0"/>
          </a:p>
        </p:txBody>
      </p:sp>
      <p:sp>
        <p:nvSpPr>
          <p:cNvPr id="17" name="Text 15"/>
          <p:cNvSpPr/>
          <p:nvPr/>
        </p:nvSpPr>
        <p:spPr>
          <a:xfrm>
            <a:off x="8726891" y="2024928"/>
            <a:ext cx="335315" cy="388649"/>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5B6770"/>
                </a:solidFill>
                <a:latin typeface="Arial" pitchFamily="34" charset="0"/>
                <a:ea typeface="Arial" pitchFamily="34" charset="-122"/>
                <a:cs typeface="Arial" pitchFamily="34" charset="-120"/>
              </a:rPr>
              <a:t>→</a:t>
            </a:r>
            <a:endParaRPr lang="en-US" sz="2200" dirty="0"/>
          </a:p>
        </p:txBody>
      </p:sp>
      <p:sp>
        <p:nvSpPr>
          <p:cNvPr id="18" name="Shape 16"/>
          <p:cNvSpPr/>
          <p:nvPr/>
        </p:nvSpPr>
        <p:spPr>
          <a:xfrm>
            <a:off x="9107891" y="1464773"/>
            <a:ext cx="2271366" cy="1483562"/>
          </a:xfrm>
          <a:prstGeom prst="roundRect">
            <a:avLst>
              <a:gd name="adj" fmla="val 4280"/>
            </a:avLst>
          </a:prstGeom>
          <a:solidFill>
            <a:srgbClr val="F1F4F7"/>
          </a:solidFill>
          <a:ln/>
        </p:spPr>
      </p:sp>
      <p:sp>
        <p:nvSpPr>
          <p:cNvPr id="19" name="Text 17"/>
          <p:cNvSpPr/>
          <p:nvPr/>
        </p:nvSpPr>
        <p:spPr>
          <a:xfrm>
            <a:off x="9311033" y="1667914"/>
            <a:ext cx="1921034"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C2410C"/>
                </a:solidFill>
                <a:latin typeface="Courier New" pitchFamily="49" charset="0"/>
                <a:ea typeface="Courier New" pitchFamily="49" charset="-122"/>
                <a:cs typeface="Courier New" pitchFamily="49" charset="-120"/>
              </a:rPr>
              <a:t>4</a:t>
            </a:r>
            <a:endParaRPr lang="en-US" sz="1200" dirty="0"/>
          </a:p>
        </p:txBody>
      </p:sp>
      <p:sp>
        <p:nvSpPr>
          <p:cNvPr id="20" name="Text 18"/>
          <p:cNvSpPr/>
          <p:nvPr/>
        </p:nvSpPr>
        <p:spPr>
          <a:xfrm>
            <a:off x="9311033" y="1942235"/>
            <a:ext cx="1921034"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B"/>
                </a:solidFill>
                <a:latin typeface="Arial" pitchFamily="34" charset="0"/>
                <a:ea typeface="Arial" pitchFamily="34" charset="-122"/>
                <a:cs typeface="Arial" pitchFamily="34" charset="-120"/>
              </a:rPr>
              <a:t>Interface</a:t>
            </a:r>
            <a:endParaRPr lang="en-US" sz="1600" dirty="0"/>
          </a:p>
        </p:txBody>
      </p:sp>
      <p:sp>
        <p:nvSpPr>
          <p:cNvPr id="21" name="Text 19"/>
          <p:cNvSpPr/>
          <p:nvPr/>
        </p:nvSpPr>
        <p:spPr>
          <a:xfrm>
            <a:off x="9311033" y="2282623"/>
            <a:ext cx="1921034" cy="454718"/>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770"/>
                </a:solidFill>
                <a:latin typeface="Arial" pitchFamily="34" charset="0"/>
                <a:ea typeface="Arial" pitchFamily="34" charset="-122"/>
                <a:cs typeface="Arial" pitchFamily="34" charset="-120"/>
              </a:rPr>
              <a:t>Guidage, aperçu, export galerie</a:t>
            </a:r>
            <a:endParaRPr lang="en-US" sz="1300" dirty="0"/>
          </a:p>
        </p:txBody>
      </p:sp>
      <p:sp>
        <p:nvSpPr>
          <p:cNvPr id="22" name="Text 20"/>
          <p:cNvSpPr/>
          <p:nvPr/>
        </p:nvSpPr>
        <p:spPr>
          <a:xfrm>
            <a:off x="812742" y="3176935"/>
            <a:ext cx="1088351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770"/>
                </a:solidFill>
                <a:latin typeface="Arial" pitchFamily="34" charset="0"/>
                <a:ea typeface="Arial" pitchFamily="34" charset="-122"/>
                <a:cs typeface="Arial" pitchFamily="34" charset="-120"/>
              </a:rPr>
              <a:t>Chaque frame est détectée puis jugée ; la capture ne part que lorsque l’image est exploitable.</a:t>
            </a:r>
            <a:endParaRPr lang="en-US" sz="1500" dirty="0"/>
          </a:p>
        </p:txBody>
      </p:sp>
      <p:sp>
        <p:nvSpPr>
          <p:cNvPr id="23" name="Text 21"/>
          <p:cNvSpPr/>
          <p:nvPr/>
        </p:nvSpPr>
        <p:spPr>
          <a:xfrm>
            <a:off x="812742" y="623827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24" name="Text 22"/>
          <p:cNvSpPr/>
          <p:nvPr/>
        </p:nvSpPr>
        <p:spPr>
          <a:xfrm>
            <a:off x="9417107" y="6238270"/>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8 / 23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44"/>
            <a:ext cx="10883510" cy="872259"/>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Sept modules feature-first isolent</a:t>
            </a:r>
            <a:endParaRPr lang="en-US" sz="2900" dirty="0"/>
          </a:p>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la logique pure d’OpenCV et de la caméra</a:t>
            </a:r>
            <a:endParaRPr lang="en-US" sz="2900" dirty="0"/>
          </a:p>
        </p:txBody>
      </p:sp>
      <p:sp>
        <p:nvSpPr>
          <p:cNvPr id="3" name="Text 1"/>
          <p:cNvSpPr/>
          <p:nvPr/>
        </p:nvSpPr>
        <p:spPr>
          <a:xfrm>
            <a:off x="812742" y="1888201"/>
            <a:ext cx="1960851" cy="452005"/>
          </a:xfrm>
          <a:prstGeom prst="roundRect">
            <a:avLst>
              <a:gd name="adj" fmla="val 11239"/>
            </a:avLst>
          </a:prstGeom>
          <a:solidFill>
            <a:srgbClr val="F1F4F7"/>
          </a:solidFill>
          <a:ln/>
        </p:spPr>
        <p:txBody>
          <a:bodyPr wrap="square" lIns="124792" tIns="112121" rIns="73992" bIns="86606" rtlCol="0" anchor="t">
            <a:normAutofit/>
          </a:bodyPr>
          <a:lstStyle/>
          <a:p>
            <a:pPr algn="l" indent="0" marL="0">
              <a:lnSpc>
                <a:spcPts val="1560"/>
              </a:lnSpc>
              <a:buNone/>
            </a:pPr>
            <a:r>
              <a:rPr lang="en-US" sz="1200" b="1" dirty="0">
                <a:solidFill>
                  <a:srgbClr val="14202B"/>
                </a:solidFill>
                <a:latin typeface="Courier New" pitchFamily="49" charset="0"/>
                <a:ea typeface="Courier New" pitchFamily="49" charset="-122"/>
                <a:cs typeface="Courier New" pitchFamily="49" charset="-120"/>
              </a:rPr>
              <a:t>camera_capture</a:t>
            </a:r>
            <a:endParaRPr lang="en-US" sz="1200" dirty="0"/>
          </a:p>
        </p:txBody>
      </p:sp>
      <p:sp>
        <p:nvSpPr>
          <p:cNvPr id="4" name="Text 2"/>
          <p:cNvSpPr/>
          <p:nvPr/>
        </p:nvSpPr>
        <p:spPr>
          <a:xfrm>
            <a:off x="2925993" y="1888201"/>
            <a:ext cx="1960938" cy="452005"/>
          </a:xfrm>
          <a:prstGeom prst="roundRect">
            <a:avLst>
              <a:gd name="adj" fmla="val 11239"/>
            </a:avLst>
          </a:prstGeom>
          <a:solidFill>
            <a:srgbClr val="F1F4F7"/>
          </a:solidFill>
          <a:ln/>
        </p:spPr>
        <p:txBody>
          <a:bodyPr wrap="square" lIns="124792" tIns="112121" rIns="73992" bIns="86606" rtlCol="0" anchor="t">
            <a:normAutofit/>
          </a:bodyPr>
          <a:lstStyle/>
          <a:p>
            <a:pPr algn="l" indent="0" marL="0">
              <a:lnSpc>
                <a:spcPts val="1560"/>
              </a:lnSpc>
              <a:buNone/>
            </a:pPr>
            <a:r>
              <a:rPr lang="en-US" sz="1200" b="1" dirty="0">
                <a:solidFill>
                  <a:srgbClr val="14202B"/>
                </a:solidFill>
                <a:latin typeface="Courier New" pitchFamily="49" charset="0"/>
                <a:ea typeface="Courier New" pitchFamily="49" charset="-122"/>
                <a:cs typeface="Courier New" pitchFamily="49" charset="-120"/>
              </a:rPr>
              <a:t>document_detection</a:t>
            </a:r>
            <a:endParaRPr lang="en-US" sz="1200" dirty="0"/>
          </a:p>
        </p:txBody>
      </p:sp>
      <p:sp>
        <p:nvSpPr>
          <p:cNvPr id="5" name="Text 3"/>
          <p:cNvSpPr/>
          <p:nvPr/>
        </p:nvSpPr>
        <p:spPr>
          <a:xfrm>
            <a:off x="5039331" y="1888201"/>
            <a:ext cx="1960938" cy="452005"/>
          </a:xfrm>
          <a:prstGeom prst="roundRect">
            <a:avLst>
              <a:gd name="adj" fmla="val 11239"/>
            </a:avLst>
          </a:prstGeom>
          <a:solidFill>
            <a:srgbClr val="F1F4F7"/>
          </a:solidFill>
          <a:ln/>
        </p:spPr>
        <p:txBody>
          <a:bodyPr wrap="square" lIns="124793" tIns="112121" rIns="73992" bIns="86606" rtlCol="0" anchor="t">
            <a:normAutofit/>
          </a:bodyPr>
          <a:lstStyle/>
          <a:p>
            <a:pPr algn="l" indent="0" marL="0">
              <a:lnSpc>
                <a:spcPts val="1560"/>
              </a:lnSpc>
              <a:buNone/>
            </a:pPr>
            <a:r>
              <a:rPr lang="en-US" sz="1200" b="1" dirty="0">
                <a:solidFill>
                  <a:srgbClr val="14202B"/>
                </a:solidFill>
                <a:latin typeface="Courier New" pitchFamily="49" charset="0"/>
                <a:ea typeface="Courier New" pitchFamily="49" charset="-122"/>
                <a:cs typeface="Courier New" pitchFamily="49" charset="-120"/>
              </a:rPr>
              <a:t>image_quality</a:t>
            </a:r>
            <a:endParaRPr lang="en-US" sz="1200" dirty="0"/>
          </a:p>
        </p:txBody>
      </p:sp>
      <p:sp>
        <p:nvSpPr>
          <p:cNvPr id="6" name="Text 4"/>
          <p:cNvSpPr/>
          <p:nvPr/>
        </p:nvSpPr>
        <p:spPr>
          <a:xfrm>
            <a:off x="812742" y="2441780"/>
            <a:ext cx="1960851" cy="650125"/>
          </a:xfrm>
          <a:prstGeom prst="roundRect">
            <a:avLst>
              <a:gd name="adj" fmla="val 7814"/>
            </a:avLst>
          </a:prstGeom>
          <a:solidFill>
            <a:srgbClr val="F1F4F7"/>
          </a:solidFill>
          <a:ln/>
        </p:spPr>
        <p:txBody>
          <a:bodyPr wrap="square" lIns="124792" tIns="112121" rIns="73992" bIns="112121" rtlCol="0" anchor="t">
            <a:normAutofit/>
          </a:bodyPr>
          <a:lstStyle/>
          <a:p>
            <a:pPr algn="l" indent="0" marL="0">
              <a:lnSpc>
                <a:spcPts val="1560"/>
              </a:lnSpc>
              <a:buNone/>
            </a:pPr>
            <a:r>
              <a:rPr lang="en-US" sz="1200" b="1" dirty="0">
                <a:solidFill>
                  <a:srgbClr val="14202B"/>
                </a:solidFill>
                <a:latin typeface="Courier New" pitchFamily="49" charset="0"/>
                <a:ea typeface="Courier New" pitchFamily="49" charset="-122"/>
                <a:cs typeface="Courier New" pitchFamily="49" charset="-120"/>
              </a:rPr>
              <a:t>autocapture</a:t>
            </a:r>
            <a:endParaRPr lang="en-US" sz="1200" dirty="0"/>
          </a:p>
        </p:txBody>
      </p:sp>
      <p:sp>
        <p:nvSpPr>
          <p:cNvPr id="7" name="Text 5"/>
          <p:cNvSpPr/>
          <p:nvPr/>
        </p:nvSpPr>
        <p:spPr>
          <a:xfrm>
            <a:off x="2925993" y="2441780"/>
            <a:ext cx="1960938" cy="650125"/>
          </a:xfrm>
          <a:prstGeom prst="roundRect">
            <a:avLst>
              <a:gd name="adj" fmla="val 7814"/>
            </a:avLst>
          </a:prstGeom>
          <a:solidFill>
            <a:srgbClr val="F1F4F7"/>
          </a:solidFill>
          <a:ln/>
        </p:spPr>
        <p:txBody>
          <a:bodyPr wrap="square" lIns="124792" tIns="112121" rIns="73992" bIns="86606" rtlCol="0" anchor="t">
            <a:normAutofit/>
          </a:bodyPr>
          <a:lstStyle/>
          <a:p>
            <a:pPr algn="l" indent="0" marL="0">
              <a:lnSpc>
                <a:spcPts val="1560"/>
              </a:lnSpc>
              <a:buNone/>
            </a:pPr>
            <a:r>
              <a:rPr lang="en-US" sz="1200" b="1" dirty="0">
                <a:solidFill>
                  <a:srgbClr val="14202B"/>
                </a:solidFill>
                <a:latin typeface="Courier New" pitchFamily="49" charset="0"/>
                <a:ea typeface="Courier New" pitchFamily="49" charset="-122"/>
                <a:cs typeface="Courier New" pitchFamily="49" charset="-120"/>
              </a:rPr>
              <a:t>image_postprocessing</a:t>
            </a:r>
            <a:endParaRPr lang="en-US" sz="1200" dirty="0"/>
          </a:p>
        </p:txBody>
      </p:sp>
      <p:sp>
        <p:nvSpPr>
          <p:cNvPr id="8" name="Text 6"/>
          <p:cNvSpPr/>
          <p:nvPr/>
        </p:nvSpPr>
        <p:spPr>
          <a:xfrm>
            <a:off x="5039331" y="2441780"/>
            <a:ext cx="1960938" cy="650125"/>
          </a:xfrm>
          <a:prstGeom prst="roundRect">
            <a:avLst>
              <a:gd name="adj" fmla="val 7814"/>
            </a:avLst>
          </a:prstGeom>
          <a:solidFill>
            <a:srgbClr val="F1F4F7"/>
          </a:solidFill>
          <a:ln/>
        </p:spPr>
        <p:txBody>
          <a:bodyPr wrap="square" lIns="124793" tIns="112121" rIns="73992" bIns="112121" rtlCol="0" anchor="t">
            <a:normAutofit/>
          </a:bodyPr>
          <a:lstStyle/>
          <a:p>
            <a:pPr algn="l" indent="0" marL="0">
              <a:lnSpc>
                <a:spcPts val="1560"/>
              </a:lnSpc>
              <a:buNone/>
            </a:pPr>
            <a:r>
              <a:rPr lang="en-US" sz="1200" b="1" dirty="0">
                <a:solidFill>
                  <a:srgbClr val="14202B"/>
                </a:solidFill>
                <a:latin typeface="Courier New" pitchFamily="49" charset="0"/>
                <a:ea typeface="Courier New" pitchFamily="49" charset="-122"/>
                <a:cs typeface="Courier New" pitchFamily="49" charset="-120"/>
              </a:rPr>
              <a:t>result_preview</a:t>
            </a:r>
            <a:endParaRPr lang="en-US" sz="1200" dirty="0"/>
          </a:p>
        </p:txBody>
      </p:sp>
      <p:sp>
        <p:nvSpPr>
          <p:cNvPr id="9" name="Text 7"/>
          <p:cNvSpPr/>
          <p:nvPr/>
        </p:nvSpPr>
        <p:spPr>
          <a:xfrm>
            <a:off x="812742" y="3193473"/>
            <a:ext cx="1946131" cy="474172"/>
          </a:xfrm>
          <a:prstGeom prst="roundRect">
            <a:avLst>
              <a:gd name="adj" fmla="val 10713"/>
            </a:avLst>
          </a:prstGeom>
          <a:solidFill>
            <a:srgbClr val="F1F4F7"/>
          </a:solidFill>
          <a:ln/>
        </p:spPr>
        <p:txBody>
          <a:bodyPr wrap="square" lIns="124792" tIns="112121" rIns="73992" bIns="108773" rtlCol="0" anchor="t">
            <a:normAutofit/>
          </a:bodyPr>
          <a:lstStyle/>
          <a:p>
            <a:pPr algn="l" indent="0" marL="0">
              <a:lnSpc>
                <a:spcPts val="1560"/>
              </a:lnSpc>
              <a:buNone/>
            </a:pPr>
            <a:r>
              <a:rPr lang="en-US" sz="1200" b="1" dirty="0">
                <a:solidFill>
                  <a:srgbClr val="14202B"/>
                </a:solidFill>
                <a:latin typeface="Courier New" pitchFamily="49" charset="0"/>
                <a:ea typeface="Courier New" pitchFamily="49" charset="-122"/>
                <a:cs typeface="Courier New" pitchFamily="49" charset="-120"/>
              </a:rPr>
              <a:t>capture_history</a:t>
            </a:r>
            <a:endParaRPr lang="en-US" sz="1200" dirty="0"/>
          </a:p>
        </p:txBody>
      </p:sp>
      <p:sp>
        <p:nvSpPr>
          <p:cNvPr id="10" name="Text 8"/>
          <p:cNvSpPr/>
          <p:nvPr/>
        </p:nvSpPr>
        <p:spPr>
          <a:xfrm>
            <a:off x="2917623" y="3199823"/>
            <a:ext cx="1955598" cy="461472"/>
          </a:xfrm>
          <a:prstGeom prst="roundRect">
            <a:avLst>
              <a:gd name="adj" fmla="val 9632"/>
            </a:avLst>
          </a:prstGeom>
          <a:solidFill>
            <a:srgbClr val="F1F4F7"/>
          </a:solidFill>
          <a:ln w="12700">
            <a:solidFill>
              <a:srgbClr val="9AA5B1"/>
            </a:solidFill>
            <a:prstDash val="dash"/>
          </a:ln>
        </p:spPr>
        <p:txBody>
          <a:bodyPr wrap="square" lIns="131386" tIns="118715" rIns="80586" bIns="93199" rtlCol="0" anchor="t">
            <a:normAutofit/>
          </a:bodyPr>
          <a:lstStyle/>
          <a:p>
            <a:pPr algn="l" indent="0" marL="0">
              <a:lnSpc>
                <a:spcPts val="1560"/>
              </a:lnSpc>
              <a:buNone/>
            </a:pPr>
            <a:r>
              <a:rPr lang="en-US" sz="1200" b="1" dirty="0">
                <a:solidFill>
                  <a:srgbClr val="14202B"/>
                </a:solidFill>
                <a:latin typeface="Courier New" pitchFamily="49" charset="0"/>
                <a:ea typeface="Courier New" pitchFamily="49" charset="-122"/>
                <a:cs typeface="Courier New" pitchFamily="49" charset="-120"/>
              </a:rPr>
              <a:t>shared/utils</a:t>
            </a:r>
            <a:endParaRPr lang="en-US" sz="1200" dirty="0"/>
          </a:p>
        </p:txBody>
      </p:sp>
      <p:sp>
        <p:nvSpPr>
          <p:cNvPr id="11" name="Text 9"/>
          <p:cNvSpPr/>
          <p:nvPr/>
        </p:nvSpPr>
        <p:spPr>
          <a:xfrm>
            <a:off x="5038321" y="3199823"/>
            <a:ext cx="1955598" cy="461472"/>
          </a:xfrm>
          <a:prstGeom prst="roundRect">
            <a:avLst>
              <a:gd name="adj" fmla="val 9632"/>
            </a:avLst>
          </a:prstGeom>
          <a:solidFill>
            <a:srgbClr val="F1F4F7"/>
          </a:solidFill>
          <a:ln w="12700">
            <a:solidFill>
              <a:srgbClr val="9AA5B1"/>
            </a:solidFill>
            <a:prstDash val="dash"/>
          </a:ln>
        </p:spPr>
        <p:txBody>
          <a:bodyPr wrap="square" lIns="131386" tIns="118715" rIns="80586" bIns="93199" rtlCol="0" anchor="t">
            <a:normAutofit/>
          </a:bodyPr>
          <a:lstStyle/>
          <a:p>
            <a:pPr algn="l" indent="0" marL="0">
              <a:lnSpc>
                <a:spcPts val="1560"/>
              </a:lnSpc>
              <a:buNone/>
            </a:pPr>
            <a:r>
              <a:rPr lang="en-US" sz="1200" b="1" dirty="0">
                <a:solidFill>
                  <a:srgbClr val="14202B"/>
                </a:solidFill>
                <a:latin typeface="Courier New" pitchFamily="49" charset="0"/>
                <a:ea typeface="Courier New" pitchFamily="49" charset="-122"/>
                <a:cs typeface="Courier New" pitchFamily="49" charset="-120"/>
              </a:rPr>
              <a:t>core/services</a:t>
            </a:r>
            <a:endParaRPr lang="en-US" sz="1200" dirty="0"/>
          </a:p>
        </p:txBody>
      </p:sp>
      <p:sp>
        <p:nvSpPr>
          <p:cNvPr id="12" name="Shape 10"/>
          <p:cNvSpPr/>
          <p:nvPr/>
        </p:nvSpPr>
        <p:spPr>
          <a:xfrm>
            <a:off x="7254239" y="1888201"/>
            <a:ext cx="4125018" cy="801312"/>
          </a:xfrm>
          <a:prstGeom prst="roundRect">
            <a:avLst>
              <a:gd name="adj" fmla="val 7925"/>
            </a:avLst>
          </a:prstGeom>
          <a:solidFill>
            <a:srgbClr val="F1F4F7"/>
          </a:solidFill>
          <a:ln/>
        </p:spPr>
      </p:sp>
      <p:sp>
        <p:nvSpPr>
          <p:cNvPr id="13" name="Text 11"/>
          <p:cNvSpPr/>
          <p:nvPr/>
        </p:nvSpPr>
        <p:spPr>
          <a:xfrm>
            <a:off x="7393911" y="2027876"/>
            <a:ext cx="396104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Présentation</a:t>
            </a:r>
            <a:endParaRPr lang="en-US" sz="1500" dirty="0"/>
          </a:p>
        </p:txBody>
      </p:sp>
      <p:sp>
        <p:nvSpPr>
          <p:cNvPr id="14" name="Text 12"/>
          <p:cNvSpPr/>
          <p:nvPr/>
        </p:nvSpPr>
        <p:spPr>
          <a:xfrm>
            <a:off x="7393911" y="2351726"/>
            <a:ext cx="396104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écrans, view-models</a:t>
            </a:r>
            <a:endParaRPr lang="en-US" sz="1200" dirty="0"/>
          </a:p>
        </p:txBody>
      </p:sp>
      <p:sp>
        <p:nvSpPr>
          <p:cNvPr id="15" name="Shape 13"/>
          <p:cNvSpPr/>
          <p:nvPr/>
        </p:nvSpPr>
        <p:spPr>
          <a:xfrm>
            <a:off x="7254239" y="2791085"/>
            <a:ext cx="4125018" cy="801312"/>
          </a:xfrm>
          <a:prstGeom prst="roundRect">
            <a:avLst>
              <a:gd name="adj" fmla="val 7925"/>
            </a:avLst>
          </a:prstGeom>
          <a:solidFill>
            <a:srgbClr val="F1F4F7"/>
          </a:solidFill>
          <a:ln/>
        </p:spPr>
      </p:sp>
      <p:sp>
        <p:nvSpPr>
          <p:cNvPr id="16" name="Text 14"/>
          <p:cNvSpPr/>
          <p:nvPr/>
        </p:nvSpPr>
        <p:spPr>
          <a:xfrm>
            <a:off x="7393911" y="2930761"/>
            <a:ext cx="396104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Données</a:t>
            </a:r>
            <a:endParaRPr lang="en-US" sz="1500" dirty="0"/>
          </a:p>
        </p:txBody>
      </p:sp>
      <p:sp>
        <p:nvSpPr>
          <p:cNvPr id="17" name="Text 15"/>
          <p:cNvSpPr/>
          <p:nvPr/>
        </p:nvSpPr>
        <p:spPr>
          <a:xfrm>
            <a:off x="7393911" y="3254611"/>
            <a:ext cx="396104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OpenCV, caméra</a:t>
            </a:r>
            <a:endParaRPr lang="en-US" sz="1200" dirty="0"/>
          </a:p>
        </p:txBody>
      </p:sp>
      <p:sp>
        <p:nvSpPr>
          <p:cNvPr id="18" name="Shape 16"/>
          <p:cNvSpPr/>
          <p:nvPr/>
        </p:nvSpPr>
        <p:spPr>
          <a:xfrm>
            <a:off x="7263764" y="3703495"/>
            <a:ext cx="4105968" cy="815513"/>
          </a:xfrm>
          <a:prstGeom prst="roundRect">
            <a:avLst>
              <a:gd name="adj" fmla="val 6619"/>
            </a:avLst>
          </a:prstGeom>
          <a:solidFill>
            <a:srgbClr val="FFFFFF"/>
          </a:solidFill>
          <a:ln w="19050">
            <a:solidFill>
              <a:srgbClr val="C2410C"/>
            </a:solidFill>
            <a:prstDash val="solid"/>
          </a:ln>
        </p:spPr>
      </p:sp>
      <p:sp>
        <p:nvSpPr>
          <p:cNvPr id="19" name="Text 17"/>
          <p:cNvSpPr/>
          <p:nvPr/>
        </p:nvSpPr>
        <p:spPr>
          <a:xfrm>
            <a:off x="7410536" y="3850264"/>
            <a:ext cx="392679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Domaine</a:t>
            </a:r>
            <a:endParaRPr lang="en-US" sz="1500" dirty="0"/>
          </a:p>
        </p:txBody>
      </p:sp>
      <p:sp>
        <p:nvSpPr>
          <p:cNvPr id="20" name="Text 18"/>
          <p:cNvSpPr/>
          <p:nvPr/>
        </p:nvSpPr>
        <p:spPr>
          <a:xfrm>
            <a:off x="7410536" y="4174114"/>
            <a:ext cx="392679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entités, use cases, sans OpenCV</a:t>
            </a:r>
            <a:endParaRPr lang="en-US" sz="1200" dirty="0"/>
          </a:p>
        </p:txBody>
      </p:sp>
      <p:sp>
        <p:nvSpPr>
          <p:cNvPr id="21" name="Text 19"/>
          <p:cNvSpPr/>
          <p:nvPr/>
        </p:nvSpPr>
        <p:spPr>
          <a:xfrm>
            <a:off x="812742" y="4757136"/>
            <a:ext cx="1088351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770"/>
                </a:solidFill>
                <a:latin typeface="Arial" pitchFamily="34" charset="0"/>
                <a:ea typeface="Arial" pitchFamily="34" charset="-122"/>
                <a:cs typeface="Arial" pitchFamily="34" charset="-120"/>
              </a:rPr>
              <a:t>Le domaine pur ne dépend ni de Flutter ni d’OpenCV : il se teste sans caméra ni émulateur.</a:t>
            </a:r>
            <a:endParaRPr lang="en-US" sz="1400" dirty="0"/>
          </a:p>
        </p:txBody>
      </p:sp>
      <p:sp>
        <p:nvSpPr>
          <p:cNvPr id="22" name="Text 20"/>
          <p:cNvSpPr/>
          <p:nvPr/>
        </p:nvSpPr>
        <p:spPr>
          <a:xfrm>
            <a:off x="812742" y="6238273"/>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23" name="Text 21"/>
          <p:cNvSpPr/>
          <p:nvPr/>
        </p:nvSpPr>
        <p:spPr>
          <a:xfrm>
            <a:off x="9417107" y="6238273"/>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9 / 23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44"/>
            <a:ext cx="10883510" cy="872259"/>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Quatre passes produisent des masques,</a:t>
            </a:r>
            <a:endParaRPr lang="en-US" sz="2900" dirty="0"/>
          </a:p>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un score retient le quadrilatère</a:t>
            </a:r>
            <a:endParaRPr lang="en-US" sz="2900" dirty="0"/>
          </a:p>
        </p:txBody>
      </p:sp>
      <p:sp>
        <p:nvSpPr>
          <p:cNvPr id="3" name="Shape 1"/>
          <p:cNvSpPr/>
          <p:nvPr/>
        </p:nvSpPr>
        <p:spPr>
          <a:xfrm>
            <a:off x="812742" y="1888201"/>
            <a:ext cx="2025361" cy="1058141"/>
          </a:xfrm>
          <a:prstGeom prst="roundRect">
            <a:avLst>
              <a:gd name="adj" fmla="val 6001"/>
            </a:avLst>
          </a:prstGeom>
          <a:solidFill>
            <a:srgbClr val="F1F4F7"/>
          </a:solidFill>
          <a:ln/>
        </p:spPr>
      </p:sp>
      <p:sp>
        <p:nvSpPr>
          <p:cNvPr id="4" name="Text 2"/>
          <p:cNvSpPr/>
          <p:nvPr/>
        </p:nvSpPr>
        <p:spPr>
          <a:xfrm>
            <a:off x="965142" y="2040601"/>
            <a:ext cx="177217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1 Frame</a:t>
            </a:r>
            <a:endParaRPr lang="en-US" sz="1500" dirty="0"/>
          </a:p>
        </p:txBody>
      </p:sp>
      <p:sp>
        <p:nvSpPr>
          <p:cNvPr id="5" name="Text 3"/>
          <p:cNvSpPr/>
          <p:nvPr/>
        </p:nvSpPr>
        <p:spPr>
          <a:xfrm>
            <a:off x="965142" y="2364451"/>
            <a:ext cx="1772178"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YUV420 / BGRA → Mat OpenCV</a:t>
            </a:r>
            <a:endParaRPr lang="en-US" sz="1200" dirty="0"/>
          </a:p>
        </p:txBody>
      </p:sp>
      <p:sp>
        <p:nvSpPr>
          <p:cNvPr id="6" name="Shape 4"/>
          <p:cNvSpPr/>
          <p:nvPr/>
        </p:nvSpPr>
        <p:spPr>
          <a:xfrm>
            <a:off x="2939675" y="1888201"/>
            <a:ext cx="2025448" cy="1058141"/>
          </a:xfrm>
          <a:prstGeom prst="roundRect">
            <a:avLst>
              <a:gd name="adj" fmla="val 6001"/>
            </a:avLst>
          </a:prstGeom>
          <a:solidFill>
            <a:srgbClr val="F1F4F7"/>
          </a:solidFill>
          <a:ln/>
        </p:spPr>
      </p:sp>
      <p:sp>
        <p:nvSpPr>
          <p:cNvPr id="7" name="Text 5"/>
          <p:cNvSpPr/>
          <p:nvPr/>
        </p:nvSpPr>
        <p:spPr>
          <a:xfrm>
            <a:off x="3092075" y="2040601"/>
            <a:ext cx="177226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2 CLAHE</a:t>
            </a:r>
            <a:endParaRPr lang="en-US" sz="1500" dirty="0"/>
          </a:p>
        </p:txBody>
      </p:sp>
      <p:sp>
        <p:nvSpPr>
          <p:cNvPr id="8" name="Text 6"/>
          <p:cNvSpPr/>
          <p:nvPr/>
        </p:nvSpPr>
        <p:spPr>
          <a:xfrm>
            <a:off x="3092075" y="2364451"/>
            <a:ext cx="177226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contraste local avant détection</a:t>
            </a:r>
            <a:endParaRPr lang="en-US" sz="1200" dirty="0"/>
          </a:p>
        </p:txBody>
      </p:sp>
      <p:sp>
        <p:nvSpPr>
          <p:cNvPr id="9" name="Shape 7"/>
          <p:cNvSpPr/>
          <p:nvPr/>
        </p:nvSpPr>
        <p:spPr>
          <a:xfrm>
            <a:off x="5076218" y="1897726"/>
            <a:ext cx="2039562" cy="1039091"/>
          </a:xfrm>
          <a:prstGeom prst="roundRect">
            <a:avLst>
              <a:gd name="adj" fmla="val 5194"/>
            </a:avLst>
          </a:prstGeom>
          <a:solidFill>
            <a:srgbClr val="FFFFFF"/>
          </a:solidFill>
          <a:ln w="19050">
            <a:solidFill>
              <a:srgbClr val="C2410C"/>
            </a:solidFill>
            <a:prstDash val="solid"/>
          </a:ln>
        </p:spPr>
      </p:sp>
      <p:sp>
        <p:nvSpPr>
          <p:cNvPr id="10" name="Text 8"/>
          <p:cNvSpPr/>
          <p:nvPr/>
        </p:nvSpPr>
        <p:spPr>
          <a:xfrm>
            <a:off x="5235719" y="2057226"/>
            <a:ext cx="177217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3 Quatre passes</a:t>
            </a:r>
            <a:endParaRPr lang="en-US" sz="1500" dirty="0"/>
          </a:p>
        </p:txBody>
      </p:sp>
      <p:sp>
        <p:nvSpPr>
          <p:cNvPr id="11" name="Text 9"/>
          <p:cNvSpPr/>
          <p:nvPr/>
        </p:nvSpPr>
        <p:spPr>
          <a:xfrm>
            <a:off x="5235719" y="2381076"/>
            <a:ext cx="1772178"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Canny · adaptatif · HSV + Otsu · gradient</a:t>
            </a:r>
            <a:endParaRPr lang="en-US" sz="1200" dirty="0"/>
          </a:p>
        </p:txBody>
      </p:sp>
      <p:sp>
        <p:nvSpPr>
          <p:cNvPr id="12" name="Shape 10"/>
          <p:cNvSpPr/>
          <p:nvPr/>
        </p:nvSpPr>
        <p:spPr>
          <a:xfrm>
            <a:off x="7226877" y="1888201"/>
            <a:ext cx="2025448" cy="1058141"/>
          </a:xfrm>
          <a:prstGeom prst="roundRect">
            <a:avLst>
              <a:gd name="adj" fmla="val 6001"/>
            </a:avLst>
          </a:prstGeom>
          <a:solidFill>
            <a:srgbClr val="F1F4F7"/>
          </a:solidFill>
          <a:ln/>
        </p:spPr>
      </p:sp>
      <p:sp>
        <p:nvSpPr>
          <p:cNvPr id="13" name="Text 11"/>
          <p:cNvSpPr/>
          <p:nvPr/>
        </p:nvSpPr>
        <p:spPr>
          <a:xfrm>
            <a:off x="7379277" y="2040601"/>
            <a:ext cx="177226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4 Quadrilatère</a:t>
            </a:r>
            <a:endParaRPr lang="en-US" sz="1500" dirty="0"/>
          </a:p>
        </p:txBody>
      </p:sp>
      <p:sp>
        <p:nvSpPr>
          <p:cNvPr id="14" name="Text 12"/>
          <p:cNvSpPr/>
          <p:nvPr/>
        </p:nvSpPr>
        <p:spPr>
          <a:xfrm>
            <a:off x="7379277" y="2364451"/>
            <a:ext cx="177226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contours + score, retenu si ≥ 0,30</a:t>
            </a:r>
            <a:endParaRPr lang="en-US" sz="1200" dirty="0"/>
          </a:p>
        </p:txBody>
      </p:sp>
      <p:sp>
        <p:nvSpPr>
          <p:cNvPr id="15" name="Shape 13"/>
          <p:cNvSpPr/>
          <p:nvPr/>
        </p:nvSpPr>
        <p:spPr>
          <a:xfrm>
            <a:off x="9353896" y="1888201"/>
            <a:ext cx="2025361" cy="1058141"/>
          </a:xfrm>
          <a:prstGeom prst="roundRect">
            <a:avLst>
              <a:gd name="adj" fmla="val 6001"/>
            </a:avLst>
          </a:prstGeom>
          <a:solidFill>
            <a:srgbClr val="F1F4F7"/>
          </a:solidFill>
          <a:ln/>
        </p:spPr>
      </p:sp>
      <p:sp>
        <p:nvSpPr>
          <p:cNvPr id="16" name="Text 14"/>
          <p:cNvSpPr/>
          <p:nvPr/>
        </p:nvSpPr>
        <p:spPr>
          <a:xfrm>
            <a:off x="9506296" y="2040601"/>
            <a:ext cx="177217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5 Warp</a:t>
            </a:r>
            <a:endParaRPr lang="en-US" sz="1500" dirty="0"/>
          </a:p>
        </p:txBody>
      </p:sp>
      <p:sp>
        <p:nvSpPr>
          <p:cNvPr id="17" name="Text 15"/>
          <p:cNvSpPr/>
          <p:nvPr/>
        </p:nvSpPr>
        <p:spPr>
          <a:xfrm>
            <a:off x="9506296" y="2364451"/>
            <a:ext cx="1872961"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carte à plat 856 × 540 px</a:t>
            </a:r>
            <a:endParaRPr lang="en-US" sz="1200" dirty="0"/>
          </a:p>
        </p:txBody>
      </p:sp>
      <p:sp>
        <p:nvSpPr>
          <p:cNvPr id="18" name="Text 16"/>
          <p:cNvSpPr/>
          <p:nvPr/>
        </p:nvSpPr>
        <p:spPr>
          <a:xfrm>
            <a:off x="812742" y="3174944"/>
            <a:ext cx="1088351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02B"/>
                </a:solidFill>
                <a:latin typeface="Arial" pitchFamily="34" charset="0"/>
                <a:ea typeface="Arial" pitchFamily="34" charset="-122"/>
                <a:cs typeface="Arial" pitchFamily="34" charset="-120"/>
              </a:rPr>
              <a:t>Dernier recours, le gradient morphologique n’agit que si aucun candidat n’atteint 0,65.</a:t>
            </a:r>
            <a:endParaRPr lang="en-US" sz="1400" dirty="0"/>
          </a:p>
        </p:txBody>
      </p:sp>
      <p:sp>
        <p:nvSpPr>
          <p:cNvPr id="19" name="Text 17"/>
          <p:cNvSpPr/>
          <p:nvPr/>
        </p:nvSpPr>
        <p:spPr>
          <a:xfrm>
            <a:off x="812742" y="3634569"/>
            <a:ext cx="1088351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02B"/>
                </a:solidFill>
                <a:latin typeface="Arial" pitchFamily="34" charset="0"/>
                <a:ea typeface="Arial" pitchFamily="34" charset="-122"/>
                <a:cs typeface="Arial" pitchFamily="34" charset="-120"/>
              </a:rPr>
              <a:t>Tout tourne dans un Isolate Dart persistant ; les frames en excès sont abandonnées.</a:t>
            </a:r>
            <a:endParaRPr lang="en-US" sz="1400" dirty="0"/>
          </a:p>
        </p:txBody>
      </p:sp>
      <p:sp>
        <p:nvSpPr>
          <p:cNvPr id="20" name="Text 18"/>
          <p:cNvSpPr/>
          <p:nvPr/>
        </p:nvSpPr>
        <p:spPr>
          <a:xfrm>
            <a:off x="812742" y="6238273"/>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21" name="Text 19"/>
          <p:cNvSpPr/>
          <p:nvPr/>
        </p:nvSpPr>
        <p:spPr>
          <a:xfrm>
            <a:off x="9417107" y="6238273"/>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10 / 23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44"/>
            <a:ext cx="10883510" cy="872259"/>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Les seuils de Canny dérivaient de la moyenne,</a:t>
            </a:r>
            <a:endParaRPr lang="en-US" sz="2900" dirty="0"/>
          </a:p>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pas de la médiane</a:t>
            </a:r>
            <a:endParaRPr lang="en-US" sz="2900" dirty="0"/>
          </a:p>
        </p:txBody>
      </p:sp>
      <p:sp>
        <p:nvSpPr>
          <p:cNvPr id="3" name="Shape 1"/>
          <p:cNvSpPr/>
          <p:nvPr/>
        </p:nvSpPr>
        <p:spPr>
          <a:xfrm>
            <a:off x="812742" y="1888201"/>
            <a:ext cx="2557116" cy="1341120"/>
          </a:xfrm>
          <a:prstGeom prst="roundRect">
            <a:avLst>
              <a:gd name="adj" fmla="val 4735"/>
            </a:avLst>
          </a:prstGeom>
          <a:solidFill>
            <a:srgbClr val="F1F4F7"/>
          </a:solidFill>
          <a:ln/>
        </p:spPr>
      </p:sp>
      <p:sp>
        <p:nvSpPr>
          <p:cNvPr id="4" name="Text 2"/>
          <p:cNvSpPr/>
          <p:nvPr/>
        </p:nvSpPr>
        <p:spPr>
          <a:xfrm>
            <a:off x="977785" y="2053245"/>
            <a:ext cx="2293842" cy="256425"/>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B"/>
                </a:solidFill>
                <a:latin typeface="Arial" pitchFamily="34" charset="0"/>
                <a:ea typeface="Arial" pitchFamily="34" charset="-122"/>
                <a:cs typeface="Arial" pitchFamily="34" charset="-120"/>
              </a:rPr>
              <a:t>1 Symptôme</a:t>
            </a:r>
            <a:endParaRPr lang="en-US" sz="1400" dirty="0"/>
          </a:p>
        </p:txBody>
      </p:sp>
      <p:sp>
        <p:nvSpPr>
          <p:cNvPr id="5" name="Text 3"/>
          <p:cNvSpPr/>
          <p:nvPr/>
        </p:nvSpPr>
        <p:spPr>
          <a:xfrm>
            <a:off x="977785" y="2360470"/>
            <a:ext cx="229384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Carte claire sur fond clair</a:t>
            </a:r>
            <a:endParaRPr lang="en-US" sz="1200" dirty="0"/>
          </a:p>
        </p:txBody>
      </p:sp>
      <p:sp>
        <p:nvSpPr>
          <p:cNvPr id="6" name="Text 4"/>
          <p:cNvSpPr/>
          <p:nvPr/>
        </p:nvSpPr>
        <p:spPr>
          <a:xfrm>
            <a:off x="977785" y="2634791"/>
            <a:ext cx="239207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Détection en échec très fréquent</a:t>
            </a:r>
            <a:endParaRPr lang="en-US" sz="1200" dirty="0"/>
          </a:p>
        </p:txBody>
      </p:sp>
      <p:sp>
        <p:nvSpPr>
          <p:cNvPr id="7" name="Shape 5"/>
          <p:cNvSpPr/>
          <p:nvPr/>
        </p:nvSpPr>
        <p:spPr>
          <a:xfrm>
            <a:off x="3480954" y="1897726"/>
            <a:ext cx="2571404" cy="1322070"/>
          </a:xfrm>
          <a:prstGeom prst="roundRect">
            <a:avLst>
              <a:gd name="adj" fmla="val 4083"/>
            </a:avLst>
          </a:prstGeom>
          <a:solidFill>
            <a:srgbClr val="FFFFFF"/>
          </a:solidFill>
          <a:ln w="19050">
            <a:solidFill>
              <a:srgbClr val="C2410C"/>
            </a:solidFill>
            <a:prstDash val="solid"/>
          </a:ln>
        </p:spPr>
      </p:sp>
      <p:sp>
        <p:nvSpPr>
          <p:cNvPr id="8" name="Text 6"/>
          <p:cNvSpPr/>
          <p:nvPr/>
        </p:nvSpPr>
        <p:spPr>
          <a:xfrm>
            <a:off x="3653097" y="2069871"/>
            <a:ext cx="2293932" cy="256425"/>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B"/>
                </a:solidFill>
                <a:latin typeface="Arial" pitchFamily="34" charset="0"/>
                <a:ea typeface="Arial" pitchFamily="34" charset="-122"/>
                <a:cs typeface="Arial" pitchFamily="34" charset="-120"/>
              </a:rPr>
              <a:t>2 Causes</a:t>
            </a:r>
            <a:endParaRPr lang="en-US" sz="1400" dirty="0"/>
          </a:p>
        </p:txBody>
      </p:sp>
      <p:sp>
        <p:nvSpPr>
          <p:cNvPr id="9" name="Text 7"/>
          <p:cNvSpPr/>
          <p:nvPr/>
        </p:nvSpPr>
        <p:spPr>
          <a:xfrm>
            <a:off x="3653097" y="2377095"/>
            <a:ext cx="229393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Seuils de Canny dérivés de la moyenne, pas de la médiane</a:t>
            </a:r>
            <a:endParaRPr lang="en-US" sz="1200" dirty="0"/>
          </a:p>
        </p:txBody>
      </p:sp>
      <p:sp>
        <p:nvSpPr>
          <p:cNvPr id="10" name="Text 8"/>
          <p:cNvSpPr/>
          <p:nvPr/>
        </p:nvSpPr>
        <p:spPr>
          <a:xfrm>
            <a:off x="3653097" y="2849538"/>
            <a:ext cx="229393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Contraste local insuffisant</a:t>
            </a:r>
            <a:endParaRPr lang="en-US" sz="1200" dirty="0"/>
          </a:p>
        </p:txBody>
      </p:sp>
      <p:sp>
        <p:nvSpPr>
          <p:cNvPr id="11" name="Shape 9"/>
          <p:cNvSpPr/>
          <p:nvPr/>
        </p:nvSpPr>
        <p:spPr>
          <a:xfrm>
            <a:off x="6163454" y="1888201"/>
            <a:ext cx="2557116" cy="1341120"/>
          </a:xfrm>
          <a:prstGeom prst="roundRect">
            <a:avLst>
              <a:gd name="adj" fmla="val 4735"/>
            </a:avLst>
          </a:prstGeom>
          <a:solidFill>
            <a:srgbClr val="F1F4F7"/>
          </a:solidFill>
          <a:ln/>
        </p:spPr>
      </p:sp>
      <p:sp>
        <p:nvSpPr>
          <p:cNvPr id="12" name="Text 10"/>
          <p:cNvSpPr/>
          <p:nvPr/>
        </p:nvSpPr>
        <p:spPr>
          <a:xfrm>
            <a:off x="6328496" y="2053245"/>
            <a:ext cx="2293842" cy="256425"/>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B"/>
                </a:solidFill>
                <a:latin typeface="Arial" pitchFamily="34" charset="0"/>
                <a:ea typeface="Arial" pitchFamily="34" charset="-122"/>
                <a:cs typeface="Arial" pitchFamily="34" charset="-120"/>
              </a:rPr>
              <a:t>3 Correctifs</a:t>
            </a:r>
            <a:endParaRPr lang="en-US" sz="1400" dirty="0"/>
          </a:p>
        </p:txBody>
      </p:sp>
      <p:sp>
        <p:nvSpPr>
          <p:cNvPr id="13" name="Text 11"/>
          <p:cNvSpPr/>
          <p:nvPr/>
        </p:nvSpPr>
        <p:spPr>
          <a:xfrm>
            <a:off x="6328496" y="2360470"/>
            <a:ext cx="229384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Seuils × 0,66 et × 1,33 la médiane</a:t>
            </a:r>
            <a:endParaRPr lang="en-US" sz="1200" dirty="0"/>
          </a:p>
        </p:txBody>
      </p:sp>
      <p:sp>
        <p:nvSpPr>
          <p:cNvPr id="14" name="Text 12"/>
          <p:cNvSpPr/>
          <p:nvPr/>
        </p:nvSpPr>
        <p:spPr>
          <a:xfrm>
            <a:off x="6328496" y="2832912"/>
            <a:ext cx="239207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Passe CLAHE avant la détection</a:t>
            </a:r>
            <a:endParaRPr lang="en-US" sz="1200" dirty="0"/>
          </a:p>
        </p:txBody>
      </p:sp>
      <p:sp>
        <p:nvSpPr>
          <p:cNvPr id="15" name="Shape 13"/>
          <p:cNvSpPr/>
          <p:nvPr/>
        </p:nvSpPr>
        <p:spPr>
          <a:xfrm>
            <a:off x="8822141" y="1888201"/>
            <a:ext cx="2557116" cy="1341120"/>
          </a:xfrm>
          <a:prstGeom prst="roundRect">
            <a:avLst>
              <a:gd name="adj" fmla="val 4735"/>
            </a:avLst>
          </a:prstGeom>
          <a:solidFill>
            <a:srgbClr val="F1F4F7"/>
          </a:solidFill>
          <a:ln/>
        </p:spPr>
      </p:sp>
      <p:sp>
        <p:nvSpPr>
          <p:cNvPr id="16" name="Text 14"/>
          <p:cNvSpPr/>
          <p:nvPr/>
        </p:nvSpPr>
        <p:spPr>
          <a:xfrm>
            <a:off x="8987183" y="2053245"/>
            <a:ext cx="2293842" cy="256425"/>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B"/>
                </a:solidFill>
                <a:latin typeface="Arial" pitchFamily="34" charset="0"/>
                <a:ea typeface="Arial" pitchFamily="34" charset="-122"/>
                <a:cs typeface="Arial" pitchFamily="34" charset="-120"/>
              </a:rPr>
              <a:t>4 Résultat</a:t>
            </a:r>
            <a:endParaRPr lang="en-US" sz="1400" dirty="0"/>
          </a:p>
        </p:txBody>
      </p:sp>
      <p:sp>
        <p:nvSpPr>
          <p:cNvPr id="17" name="Text 15"/>
          <p:cNvSpPr/>
          <p:nvPr/>
        </p:nvSpPr>
        <p:spPr>
          <a:xfrm>
            <a:off x="8987183" y="2360470"/>
            <a:ext cx="229384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Taux de détection comparable, fond clair et fond sombre</a:t>
            </a:r>
            <a:endParaRPr lang="en-US" sz="1200" dirty="0"/>
          </a:p>
        </p:txBody>
      </p:sp>
      <p:sp>
        <p:nvSpPr>
          <p:cNvPr id="18" name="Text 16"/>
          <p:cNvSpPr/>
          <p:nvPr/>
        </p:nvSpPr>
        <p:spPr>
          <a:xfrm>
            <a:off x="812742" y="3457922"/>
            <a:ext cx="1088351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770"/>
                </a:solidFill>
                <a:latin typeface="Arial" pitchFamily="34" charset="0"/>
                <a:ea typeface="Arial" pitchFamily="34" charset="-122"/>
                <a:cs typeface="Arial" pitchFamily="34" charset="-120"/>
              </a:rPr>
              <a:t>Cas courant en usage réel : table blanche, feuille de papier.</a:t>
            </a:r>
            <a:endParaRPr lang="en-US" sz="1400" dirty="0"/>
          </a:p>
        </p:txBody>
      </p:sp>
      <p:sp>
        <p:nvSpPr>
          <p:cNvPr id="19" name="Text 17"/>
          <p:cNvSpPr/>
          <p:nvPr/>
        </p:nvSpPr>
        <p:spPr>
          <a:xfrm>
            <a:off x="812742" y="6238267"/>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20" name="Text 18"/>
          <p:cNvSpPr/>
          <p:nvPr/>
        </p:nvSpPr>
        <p:spPr>
          <a:xfrm>
            <a:off x="9417107" y="6238267"/>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11 / 23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44"/>
            <a:ext cx="10883510" cy="851910"/>
          </a:xfrm>
          <a:prstGeom prst="rect">
            <a:avLst/>
          </a:prstGeom>
          <a:noFill/>
          <a:ln/>
        </p:spPr>
        <p:txBody>
          <a:bodyPr wrap="square" lIns="0" tIns="0" rIns="0" bIns="0" rtlCol="0" anchor="t">
            <a:normAutofit/>
          </a:bodyPr>
          <a:lstStyle/>
          <a:p>
            <a:pPr algn="l" indent="0" marL="0">
              <a:lnSpc>
                <a:spcPts val="3262"/>
              </a:lnSpc>
              <a:buNone/>
            </a:pPr>
            <a:r>
              <a:rPr lang="en-US" sz="2837" b="1" i="0" dirty="0">
                <a:solidFill>
                  <a:srgbClr val="14202B"/>
                </a:solidFill>
                <a:latin typeface="Arial" pitchFamily="34" charset="0"/>
                <a:ea typeface="Arial" pitchFamily="34" charset="-122"/>
                <a:cs typeface="Arial" pitchFamily="34" charset="-120"/>
              </a:rPr>
              <a:t>Netteté, luminosité, stabilité :</a:t>
            </a:r>
            <a:endParaRPr lang="en-US" sz="2837" dirty="0"/>
          </a:p>
          <a:p>
            <a:pPr algn="l" indent="0" marL="0">
              <a:lnSpc>
                <a:spcPts val="3262"/>
              </a:lnSpc>
              <a:buNone/>
            </a:pPr>
            <a:r>
              <a:rPr lang="en-US" sz="2837" b="1" i="0" dirty="0">
                <a:solidFill>
                  <a:srgbClr val="14202B"/>
                </a:solidFill>
                <a:latin typeface="Arial" pitchFamily="34" charset="0"/>
                <a:ea typeface="Arial" pitchFamily="34" charset="-122"/>
                <a:cs typeface="Arial" pitchFamily="34" charset="-120"/>
              </a:rPr>
              <a:t>deux frames bonnes d’affilée déclenchent la capture</a:t>
            </a:r>
            <a:endParaRPr lang="en-US" sz="2837" dirty="0"/>
          </a:p>
        </p:txBody>
      </p:sp>
      <p:sp>
        <p:nvSpPr>
          <p:cNvPr id="3" name="Text 1"/>
          <p:cNvSpPr/>
          <p:nvPr/>
        </p:nvSpPr>
        <p:spPr>
          <a:xfrm>
            <a:off x="812742" y="1867855"/>
            <a:ext cx="1842481" cy="424036"/>
          </a:xfrm>
          <a:custGeom>
            <a:avLst/>
            <a:gdLst/>
            <a:ahLst/>
            <a:cxnLst/>
            <a:rect l="l" t="t" r="r" b="b"/>
            <a:pathLst>
              <a:path w="1842481" h="424036">
                <a:moveTo>
                  <a:pt x="50800" y="0"/>
                </a:moveTo>
                <a:lnTo>
                  <a:pt x="1791681" y="0"/>
                </a:lnTo>
                <a:arcTo hR="50800" wR="50800" stAng="16200000" swAng="5400000"/>
                <a:lnTo>
                  <a:pt x="1842481" y="373236"/>
                </a:lnTo>
                <a:arcTo hR="50800" wR="50800" stAng="0" swAng="5400000"/>
                <a:lnTo>
                  <a:pt x="50800" y="424036"/>
                </a:lnTo>
                <a:arcTo hR="50800" wR="50800" stAng="5400000" swAng="5400000"/>
                <a:lnTo>
                  <a:pt x="0" y="50800"/>
                </a:lnTo>
                <a:arcTo hR="50800" wR="50800" stAng="10800000" swAng="5400000"/>
                <a:close/>
              </a:path>
            </a:pathLst>
          </a:custGeom>
          <a:solidFill>
            <a:srgbClr val="F1F4F7"/>
          </a:solidFill>
          <a:ln/>
        </p:spPr>
        <p:txBody>
          <a:bodyPr wrap="square" lIns="24627" tIns="101600" rIns="24627" bIns="98916" rtlCol="0" anchor="t">
            <a:normAutofit/>
          </a:bodyPr>
          <a:lstStyle/>
          <a:p>
            <a:pPr algn="ctr" indent="0" marL="0">
              <a:lnSpc>
                <a:spcPts val="1560"/>
              </a:lnSpc>
              <a:buNone/>
            </a:pPr>
            <a:r>
              <a:rPr lang="en-US" sz="1200" b="1" dirty="0">
                <a:solidFill>
                  <a:srgbClr val="14202B"/>
                </a:solidFill>
                <a:latin typeface="Courier New" pitchFamily="49" charset="0"/>
                <a:ea typeface="Courier New" pitchFamily="49" charset="-122"/>
                <a:cs typeface="Courier New" pitchFamily="49" charset="-120"/>
              </a:rPr>
              <a:t>searching</a:t>
            </a:r>
            <a:endParaRPr lang="en-US" sz="1200" dirty="0"/>
          </a:p>
        </p:txBody>
      </p:sp>
      <p:sp>
        <p:nvSpPr>
          <p:cNvPr id="4" name="Text 2"/>
          <p:cNvSpPr/>
          <p:nvPr/>
        </p:nvSpPr>
        <p:spPr>
          <a:xfrm>
            <a:off x="2718695" y="1947776"/>
            <a:ext cx="254029"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5B6770"/>
                </a:solidFill>
                <a:latin typeface="Arial" pitchFamily="34" charset="0"/>
                <a:ea typeface="Arial" pitchFamily="34" charset="-122"/>
                <a:cs typeface="Arial" pitchFamily="34" charset="-120"/>
              </a:rPr>
              <a:t>→</a:t>
            </a:r>
            <a:endParaRPr lang="en-US" sz="1600" dirty="0"/>
          </a:p>
        </p:txBody>
      </p:sp>
      <p:sp>
        <p:nvSpPr>
          <p:cNvPr id="5" name="Text 3"/>
          <p:cNvSpPr/>
          <p:nvPr/>
        </p:nvSpPr>
        <p:spPr>
          <a:xfrm>
            <a:off x="2985395" y="1867855"/>
            <a:ext cx="1842568" cy="424036"/>
          </a:xfrm>
          <a:custGeom>
            <a:avLst/>
            <a:gdLst/>
            <a:ahLst/>
            <a:cxnLst/>
            <a:rect l="l" t="t" r="r" b="b"/>
            <a:pathLst>
              <a:path w="1842568" h="424036">
                <a:moveTo>
                  <a:pt x="50800" y="0"/>
                </a:moveTo>
                <a:lnTo>
                  <a:pt x="1791768" y="0"/>
                </a:lnTo>
                <a:arcTo hR="50800" wR="50800" stAng="16200000" swAng="5400000"/>
                <a:lnTo>
                  <a:pt x="1842568" y="373236"/>
                </a:lnTo>
                <a:arcTo hR="50800" wR="50800" stAng="0" swAng="5400000"/>
                <a:lnTo>
                  <a:pt x="50800" y="424036"/>
                </a:lnTo>
                <a:arcTo hR="50800" wR="50800" stAng="5400000" swAng="5400000"/>
                <a:lnTo>
                  <a:pt x="0" y="50800"/>
                </a:lnTo>
                <a:arcTo hR="50800" wR="50800" stAng="10800000" swAng="5400000"/>
                <a:close/>
              </a:path>
            </a:pathLst>
          </a:custGeom>
          <a:solidFill>
            <a:srgbClr val="F1F4F7"/>
          </a:solidFill>
          <a:ln/>
        </p:spPr>
        <p:txBody>
          <a:bodyPr wrap="square" lIns="24626" tIns="101600" rIns="24626" bIns="98916" rtlCol="0" anchor="t">
            <a:normAutofit/>
          </a:bodyPr>
          <a:lstStyle/>
          <a:p>
            <a:pPr algn="ctr" indent="0" marL="0">
              <a:lnSpc>
                <a:spcPts val="1560"/>
              </a:lnSpc>
              <a:buNone/>
            </a:pPr>
            <a:r>
              <a:rPr lang="en-US" sz="1200" b="1" dirty="0">
                <a:solidFill>
                  <a:srgbClr val="14202B"/>
                </a:solidFill>
                <a:latin typeface="Courier New" pitchFamily="49" charset="0"/>
                <a:ea typeface="Courier New" pitchFamily="49" charset="-122"/>
                <a:cs typeface="Courier New" pitchFamily="49" charset="-120"/>
              </a:rPr>
              <a:t>poorQuality</a:t>
            </a:r>
            <a:endParaRPr lang="en-US" sz="1200" dirty="0"/>
          </a:p>
        </p:txBody>
      </p:sp>
      <p:sp>
        <p:nvSpPr>
          <p:cNvPr id="6" name="Text 4"/>
          <p:cNvSpPr/>
          <p:nvPr/>
        </p:nvSpPr>
        <p:spPr>
          <a:xfrm>
            <a:off x="4891434" y="1947776"/>
            <a:ext cx="254029"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5B6770"/>
                </a:solidFill>
                <a:latin typeface="Arial" pitchFamily="34" charset="0"/>
                <a:ea typeface="Arial" pitchFamily="34" charset="-122"/>
                <a:cs typeface="Arial" pitchFamily="34" charset="-120"/>
              </a:rPr>
              <a:t>→</a:t>
            </a:r>
            <a:endParaRPr lang="en-US" sz="1600" dirty="0"/>
          </a:p>
        </p:txBody>
      </p:sp>
      <p:sp>
        <p:nvSpPr>
          <p:cNvPr id="7" name="Shape 5"/>
          <p:cNvSpPr/>
          <p:nvPr/>
        </p:nvSpPr>
        <p:spPr>
          <a:xfrm>
            <a:off x="5167659" y="1877380"/>
            <a:ext cx="1856682" cy="404986"/>
          </a:xfrm>
          <a:prstGeom prst="roundRect">
            <a:avLst>
              <a:gd name="adj" fmla="val 10192"/>
            </a:avLst>
          </a:prstGeom>
          <a:solidFill>
            <a:srgbClr val="FFFFFF"/>
          </a:solidFill>
          <a:ln w="19050">
            <a:solidFill>
              <a:srgbClr val="C2410C"/>
            </a:solidFill>
            <a:prstDash val="solid"/>
          </a:ln>
        </p:spPr>
      </p:sp>
      <p:sp>
        <p:nvSpPr>
          <p:cNvPr id="8" name="Text 6"/>
          <p:cNvSpPr/>
          <p:nvPr/>
        </p:nvSpPr>
        <p:spPr>
          <a:xfrm>
            <a:off x="5199386" y="1986049"/>
            <a:ext cx="1793227" cy="213042"/>
          </a:xfrm>
          <a:prstGeom prst="rect">
            <a:avLst/>
          </a:prstGeom>
          <a:noFill/>
          <a:ln/>
        </p:spPr>
        <p:txBody>
          <a:bodyPr wrap="square" lIns="0" tIns="0" rIns="0" bIns="0" rtlCol="0" anchor="t">
            <a:normAutofit/>
          </a:bodyPr>
          <a:lstStyle/>
          <a:p>
            <a:pPr algn="ctr" indent="0" marL="0">
              <a:lnSpc>
                <a:spcPts val="1521"/>
              </a:lnSpc>
              <a:buNone/>
            </a:pPr>
            <a:r>
              <a:rPr lang="en-US" sz="1170" b="1" dirty="0">
                <a:solidFill>
                  <a:srgbClr val="14202B"/>
                </a:solidFill>
                <a:latin typeface="Courier New" pitchFamily="49" charset="0"/>
                <a:ea typeface="Courier New" pitchFamily="49" charset="-122"/>
                <a:cs typeface="Courier New" pitchFamily="49" charset="-120"/>
              </a:rPr>
              <a:t>holding</a:t>
            </a:r>
            <a:endParaRPr lang="en-US" sz="1170" dirty="0"/>
          </a:p>
        </p:txBody>
      </p:sp>
      <p:sp>
        <p:nvSpPr>
          <p:cNvPr id="9" name="Text 7"/>
          <p:cNvSpPr/>
          <p:nvPr/>
        </p:nvSpPr>
        <p:spPr>
          <a:xfrm>
            <a:off x="7097337" y="1947776"/>
            <a:ext cx="254029"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5B6770"/>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7364037" y="1867855"/>
            <a:ext cx="1842568" cy="424036"/>
          </a:xfrm>
          <a:custGeom>
            <a:avLst/>
            <a:gdLst/>
            <a:ahLst/>
            <a:cxnLst/>
            <a:rect l="l" t="t" r="r" b="b"/>
            <a:pathLst>
              <a:path w="1842568" h="424036">
                <a:moveTo>
                  <a:pt x="50800" y="0"/>
                </a:moveTo>
                <a:lnTo>
                  <a:pt x="1791768" y="0"/>
                </a:lnTo>
                <a:arcTo hR="50800" wR="50800" stAng="16200000" swAng="5400000"/>
                <a:lnTo>
                  <a:pt x="1842568" y="373236"/>
                </a:lnTo>
                <a:arcTo hR="50800" wR="50800" stAng="0" swAng="5400000"/>
                <a:lnTo>
                  <a:pt x="50800" y="424036"/>
                </a:lnTo>
                <a:arcTo hR="50800" wR="50800" stAng="5400000" swAng="5400000"/>
                <a:lnTo>
                  <a:pt x="0" y="50800"/>
                </a:lnTo>
                <a:arcTo hR="50800" wR="50800" stAng="10800000" swAng="5400000"/>
                <a:close/>
              </a:path>
            </a:pathLst>
          </a:custGeom>
          <a:solidFill>
            <a:srgbClr val="F1F4F7"/>
          </a:solidFill>
          <a:ln/>
        </p:spPr>
        <p:txBody>
          <a:bodyPr wrap="square" lIns="24626" tIns="101600" rIns="24626" bIns="98916" rtlCol="0" anchor="t">
            <a:normAutofit/>
          </a:bodyPr>
          <a:lstStyle/>
          <a:p>
            <a:pPr algn="ctr" indent="0" marL="0">
              <a:lnSpc>
                <a:spcPts val="1560"/>
              </a:lnSpc>
              <a:buNone/>
            </a:pPr>
            <a:r>
              <a:rPr lang="en-US" sz="1200" b="1" dirty="0">
                <a:solidFill>
                  <a:srgbClr val="14202B"/>
                </a:solidFill>
                <a:latin typeface="Courier New" pitchFamily="49" charset="0"/>
                <a:ea typeface="Courier New" pitchFamily="49" charset="-122"/>
                <a:cs typeface="Courier New" pitchFamily="49" charset="-120"/>
              </a:rPr>
              <a:t>triggerCapture</a:t>
            </a:r>
            <a:endParaRPr lang="en-US" sz="1200" dirty="0"/>
          </a:p>
        </p:txBody>
      </p:sp>
      <p:sp>
        <p:nvSpPr>
          <p:cNvPr id="11" name="Text 9"/>
          <p:cNvSpPr/>
          <p:nvPr/>
        </p:nvSpPr>
        <p:spPr>
          <a:xfrm>
            <a:off x="9270076" y="1947776"/>
            <a:ext cx="254029"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5B6770"/>
                </a:solidFill>
                <a:latin typeface="Arial" pitchFamily="34" charset="0"/>
                <a:ea typeface="Arial" pitchFamily="34" charset="-122"/>
                <a:cs typeface="Arial" pitchFamily="34" charset="-120"/>
              </a:rPr>
              <a:t>→</a:t>
            </a:r>
            <a:endParaRPr lang="en-US" sz="1600" dirty="0"/>
          </a:p>
        </p:txBody>
      </p:sp>
      <p:sp>
        <p:nvSpPr>
          <p:cNvPr id="12" name="Text 10"/>
          <p:cNvSpPr/>
          <p:nvPr/>
        </p:nvSpPr>
        <p:spPr>
          <a:xfrm>
            <a:off x="9536776" y="1867855"/>
            <a:ext cx="1842481" cy="424036"/>
          </a:xfrm>
          <a:custGeom>
            <a:avLst/>
            <a:gdLst/>
            <a:ahLst/>
            <a:cxnLst/>
            <a:rect l="l" t="t" r="r" b="b"/>
            <a:pathLst>
              <a:path w="1842481" h="424036">
                <a:moveTo>
                  <a:pt x="50800" y="0"/>
                </a:moveTo>
                <a:lnTo>
                  <a:pt x="1791681" y="0"/>
                </a:lnTo>
                <a:arcTo hR="50800" wR="50800" stAng="16200000" swAng="5400000"/>
                <a:lnTo>
                  <a:pt x="1842481" y="373236"/>
                </a:lnTo>
                <a:arcTo hR="50800" wR="50800" stAng="0" swAng="5400000"/>
                <a:lnTo>
                  <a:pt x="50800" y="424036"/>
                </a:lnTo>
                <a:arcTo hR="50800" wR="50800" stAng="5400000" swAng="5400000"/>
                <a:lnTo>
                  <a:pt x="0" y="50800"/>
                </a:lnTo>
                <a:arcTo hR="50800" wR="50800" stAng="10800000" swAng="5400000"/>
                <a:close/>
              </a:path>
            </a:pathLst>
          </a:custGeom>
          <a:solidFill>
            <a:srgbClr val="F1F4F7"/>
          </a:solidFill>
          <a:ln/>
        </p:spPr>
        <p:txBody>
          <a:bodyPr wrap="square" lIns="24627" tIns="101600" rIns="24628" bIns="98916" rtlCol="0" anchor="t">
            <a:normAutofit/>
          </a:bodyPr>
          <a:lstStyle/>
          <a:p>
            <a:pPr algn="ctr" indent="0" marL="0">
              <a:lnSpc>
                <a:spcPts val="1560"/>
              </a:lnSpc>
              <a:buNone/>
            </a:pPr>
            <a:r>
              <a:rPr lang="en-US" sz="1200" b="1" dirty="0">
                <a:solidFill>
                  <a:srgbClr val="14202B"/>
                </a:solidFill>
                <a:latin typeface="Courier New" pitchFamily="49" charset="0"/>
                <a:ea typeface="Courier New" pitchFamily="49" charset="-122"/>
                <a:cs typeface="Courier New" pitchFamily="49" charset="-120"/>
              </a:rPr>
              <a:t>captured</a:t>
            </a:r>
            <a:endParaRPr lang="en-US" sz="1200" dirty="0"/>
          </a:p>
        </p:txBody>
      </p:sp>
      <p:sp>
        <p:nvSpPr>
          <p:cNvPr id="13" name="Text 11"/>
          <p:cNvSpPr/>
          <p:nvPr/>
        </p:nvSpPr>
        <p:spPr>
          <a:xfrm>
            <a:off x="812742" y="2520491"/>
            <a:ext cx="865977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Netteté</a:t>
            </a:r>
            <a:r>
              <a:rPr lang="en-US" sz="1500" dirty="0">
                <a:solidFill>
                  <a:srgbClr val="14202B"/>
                </a:solidFill>
                <a:latin typeface="Arial" pitchFamily="34" charset="0"/>
                <a:ea typeface="Arial" pitchFamily="34" charset="-122"/>
                <a:cs typeface="Arial" pitchFamily="34" charset="-120"/>
              </a:rPr>
              <a:t> ≥ 120 (Laplacien, à 856 × 540)</a:t>
            </a:r>
            <a:endParaRPr lang="en-US" sz="1500" dirty="0"/>
          </a:p>
        </p:txBody>
      </p:sp>
      <p:sp>
        <p:nvSpPr>
          <p:cNvPr id="14" name="Text 12"/>
          <p:cNvSpPr/>
          <p:nvPr/>
        </p:nvSpPr>
        <p:spPr>
          <a:xfrm>
            <a:off x="812742" y="2907810"/>
            <a:ext cx="865977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Luminosité</a:t>
            </a:r>
            <a:r>
              <a:rPr lang="en-US" sz="1500" dirty="0">
                <a:solidFill>
                  <a:srgbClr val="14202B"/>
                </a:solidFill>
                <a:latin typeface="Arial" pitchFamily="34" charset="0"/>
                <a:ea typeface="Arial" pitchFamily="34" charset="-122"/>
                <a:cs typeface="Arial" pitchFamily="34" charset="-120"/>
              </a:rPr>
              <a:t> 60–225, ≤ 12 % saturés</a:t>
            </a:r>
            <a:endParaRPr lang="en-US" sz="1500" dirty="0"/>
          </a:p>
        </p:txBody>
      </p:sp>
      <p:sp>
        <p:nvSpPr>
          <p:cNvPr id="15" name="Text 13"/>
          <p:cNvSpPr/>
          <p:nvPr/>
        </p:nvSpPr>
        <p:spPr>
          <a:xfrm>
            <a:off x="812742" y="3295129"/>
            <a:ext cx="865977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Stabilité</a:t>
            </a:r>
            <a:r>
              <a:rPr lang="en-US" sz="1500" dirty="0">
                <a:solidFill>
                  <a:srgbClr val="14202B"/>
                </a:solidFill>
                <a:latin typeface="Arial" pitchFamily="34" charset="0"/>
                <a:ea typeface="Arial" pitchFamily="34" charset="-122"/>
                <a:cs typeface="Arial" pitchFamily="34" charset="-120"/>
              </a:rPr>
              <a:t> ≤ 2,5 % de la diagonale, 3 frames</a:t>
            </a:r>
            <a:endParaRPr lang="en-US" sz="1500" dirty="0"/>
          </a:p>
        </p:txBody>
      </p:sp>
      <p:sp>
        <p:nvSpPr>
          <p:cNvPr id="16" name="Text 14"/>
          <p:cNvSpPr/>
          <p:nvPr/>
        </p:nvSpPr>
        <p:spPr>
          <a:xfrm>
            <a:off x="812742" y="3682454"/>
            <a:ext cx="865977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Maintien</a:t>
            </a:r>
            <a:r>
              <a:rPr lang="en-US" sz="1500" dirty="0">
                <a:solidFill>
                  <a:srgbClr val="14202B"/>
                </a:solidFill>
                <a:latin typeface="Arial" pitchFamily="34" charset="0"/>
                <a:ea typeface="Arial" pitchFamily="34" charset="-122"/>
                <a:cs typeface="Arial" pitchFamily="34" charset="-120"/>
              </a:rPr>
              <a:t> 2 frames bonnes de suite</a:t>
            </a:r>
            <a:endParaRPr lang="en-US" sz="1500" dirty="0"/>
          </a:p>
        </p:txBody>
      </p:sp>
      <p:pic>
        <p:nvPicPr>
          <p:cNvPr id="17" name="Image 0" descr="recto">    </p:cNvPr>
          <p:cNvPicPr>
            <a:picLocks noChangeAspect="1"/>
          </p:cNvPicPr>
          <p:nvPr/>
        </p:nvPicPr>
        <p:blipFill>
          <a:blip r:embed="rId1"/>
          <a:srcRect l="-100" r="-100" t="0" b="0"/>
          <a:stretch/>
        </p:blipFill>
        <p:spPr>
          <a:xfrm>
            <a:off x="9474257" y="2520491"/>
            <a:ext cx="1905000" cy="3403542"/>
          </a:xfrm>
          <a:prstGeom prst="rect">
            <a:avLst/>
          </a:prstGeom>
        </p:spPr>
      </p:pic>
      <p:sp>
        <p:nvSpPr>
          <p:cNvPr id="18" name="Text 15"/>
          <p:cNvSpPr/>
          <p:nvPr/>
        </p:nvSpPr>
        <p:spPr>
          <a:xfrm>
            <a:off x="812742" y="6238267"/>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19" name="Text 16"/>
          <p:cNvSpPr/>
          <p:nvPr/>
        </p:nvSpPr>
        <p:spPr>
          <a:xfrm>
            <a:off x="9417107" y="6238267"/>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12 / 23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44"/>
            <a:ext cx="10883510" cy="614997"/>
          </a:xfrm>
          <a:prstGeom prst="rect">
            <a:avLst/>
          </a:prstGeom>
          <a:noFill/>
          <a:ln/>
        </p:spPr>
        <p:txBody>
          <a:bodyPr wrap="square" lIns="0" tIns="0" rIns="0" bIns="0" rtlCol="0" anchor="t">
            <a:normAutofit/>
          </a:bodyPr>
          <a:lstStyle/>
          <a:p>
            <a:pPr algn="l" indent="0" marL="0">
              <a:lnSpc>
                <a:spcPts val="2334"/>
              </a:lnSpc>
              <a:buNone/>
            </a:pPr>
            <a:r>
              <a:rPr lang="en-US" sz="2030" b="1" i="0" dirty="0">
                <a:solidFill>
                  <a:srgbClr val="14202B"/>
                </a:solidFill>
                <a:latin typeface="Arial" pitchFamily="34" charset="0"/>
                <a:ea typeface="Arial" pitchFamily="34" charset="-122"/>
                <a:cs typeface="Arial" pitchFamily="34" charset="-120"/>
              </a:rPr>
              <a:t>Visage et gabarits identifient le recto,</a:t>
            </a:r>
            <a:endParaRPr lang="en-US" sz="2030" dirty="0"/>
          </a:p>
          <a:p>
            <a:pPr algn="l" indent="0" marL="0">
              <a:lnSpc>
                <a:spcPts val="2334"/>
              </a:lnSpc>
              <a:buNone/>
            </a:pPr>
            <a:r>
              <a:rPr lang="en-US" sz="2030" b="1" i="0" dirty="0">
                <a:solidFill>
                  <a:srgbClr val="14202B"/>
                </a:solidFill>
                <a:latin typeface="Arial" pitchFamily="34" charset="0"/>
                <a:ea typeface="Arial" pitchFamily="34" charset="-122"/>
                <a:cs typeface="Arial" pitchFamily="34" charset="-120"/>
              </a:rPr>
              <a:t>trois indices le verso</a:t>
            </a:r>
            <a:endParaRPr lang="en-US" sz="2030" dirty="0"/>
          </a:p>
        </p:txBody>
      </p:sp>
      <p:pic>
        <p:nvPicPr>
          <p:cNvPr id="3" name="Image 0" descr="recto">    </p:cNvPr>
          <p:cNvPicPr>
            <a:picLocks noChangeAspect="1"/>
          </p:cNvPicPr>
          <p:nvPr/>
        </p:nvPicPr>
        <p:blipFill>
          <a:blip r:embed="rId1"/>
          <a:srcRect l="-22165" r="-22165" t="0" b="0"/>
          <a:stretch/>
        </p:blipFill>
        <p:spPr>
          <a:xfrm>
            <a:off x="812742" y="1630939"/>
            <a:ext cx="1905000" cy="2362893"/>
          </a:xfrm>
          <a:prstGeom prst="rect">
            <a:avLst/>
          </a:prstGeom>
        </p:spPr>
      </p:pic>
      <p:sp>
        <p:nvSpPr>
          <p:cNvPr id="4" name="Text 1"/>
          <p:cNvSpPr/>
          <p:nvPr/>
        </p:nvSpPr>
        <p:spPr>
          <a:xfrm>
            <a:off x="787342" y="4057303"/>
            <a:ext cx="50800" cy="1810125"/>
          </a:xfrm>
          <a:prstGeom prst="rect">
            <a:avLst/>
          </a:prstGeom>
          <a:noFill/>
          <a:ln/>
        </p:spPr>
        <p:txBody>
          <a:bodyPr wrap="square" lIns="0" tIns="0" rIns="0" bIns="0" rtlCol="0" anchor="t">
            <a:normAutofit/>
          </a:bodyPr>
          <a:lstStyle/>
          <a:p>
            <a:pPr algn="ctr" indent="0" marL="0">
              <a:lnSpc>
                <a:spcPts val="1082"/>
              </a:lnSpc>
              <a:buNone/>
            </a:pPr>
            <a:r>
              <a:rPr lang="en-US" sz="832" dirty="0">
                <a:solidFill>
                  <a:srgbClr val="5B6770"/>
                </a:solidFill>
                <a:latin typeface="Arial" pitchFamily="34" charset="0"/>
                <a:ea typeface="Arial" pitchFamily="34" charset="-122"/>
                <a:cs typeface="Arial" pitchFamily="34" charset="-120"/>
              </a:rPr>
              <a:t>Recto : guidage</a:t>
            </a:r>
            <a:endParaRPr lang="en-US" sz="832" dirty="0"/>
          </a:p>
        </p:txBody>
      </p:sp>
      <p:pic>
        <p:nvPicPr>
          <p:cNvPr id="5" name="Image 1" descr="verso">    </p:cNvPr>
          <p:cNvPicPr>
            <a:picLocks noChangeAspect="1"/>
          </p:cNvPicPr>
          <p:nvPr/>
        </p:nvPicPr>
        <p:blipFill>
          <a:blip r:embed="rId2"/>
          <a:srcRect l="-22165" r="-22165" t="0" b="0"/>
          <a:stretch/>
        </p:blipFill>
        <p:spPr>
          <a:xfrm>
            <a:off x="1066713" y="1630939"/>
            <a:ext cx="1905000" cy="2362893"/>
          </a:xfrm>
          <a:prstGeom prst="rect">
            <a:avLst/>
          </a:prstGeom>
        </p:spPr>
      </p:pic>
      <p:sp>
        <p:nvSpPr>
          <p:cNvPr id="6" name="Text 2"/>
          <p:cNvSpPr/>
          <p:nvPr/>
        </p:nvSpPr>
        <p:spPr>
          <a:xfrm>
            <a:off x="1041313" y="4057303"/>
            <a:ext cx="50800" cy="1810125"/>
          </a:xfrm>
          <a:prstGeom prst="rect">
            <a:avLst/>
          </a:prstGeom>
          <a:noFill/>
          <a:ln/>
        </p:spPr>
        <p:txBody>
          <a:bodyPr wrap="square" lIns="0" tIns="0" rIns="0" bIns="0" rtlCol="0" anchor="t">
            <a:normAutofit/>
          </a:bodyPr>
          <a:lstStyle/>
          <a:p>
            <a:pPr algn="ctr" indent="0" marL="0">
              <a:lnSpc>
                <a:spcPts val="1082"/>
              </a:lnSpc>
              <a:buNone/>
            </a:pPr>
            <a:r>
              <a:rPr lang="en-US" sz="832" dirty="0">
                <a:solidFill>
                  <a:srgbClr val="5B6770"/>
                </a:solidFill>
                <a:latin typeface="Arial" pitchFamily="34" charset="0"/>
                <a:ea typeface="Arial" pitchFamily="34" charset="-122"/>
                <a:cs typeface="Arial" pitchFamily="34" charset="-120"/>
              </a:rPr>
              <a:t>Verso : guidage</a:t>
            </a:r>
            <a:endParaRPr lang="en-US" sz="832" dirty="0"/>
          </a:p>
        </p:txBody>
      </p:sp>
      <p:sp>
        <p:nvSpPr>
          <p:cNvPr id="7" name="Text 3"/>
          <p:cNvSpPr/>
          <p:nvPr/>
        </p:nvSpPr>
        <p:spPr>
          <a:xfrm>
            <a:off x="1320685" y="1630939"/>
            <a:ext cx="10360330"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C2410C"/>
                </a:solidFill>
                <a:latin typeface="Courier New" pitchFamily="49" charset="0"/>
                <a:ea typeface="Courier New" pitchFamily="49" charset="-122"/>
                <a:cs typeface="Courier New" pitchFamily="49" charset="-120"/>
              </a:rPr>
              <a:t>RECTO</a:t>
            </a:r>
            <a:endParaRPr lang="en-US" sz="1200" dirty="0"/>
          </a:p>
        </p:txBody>
      </p:sp>
      <p:sp>
        <p:nvSpPr>
          <p:cNvPr id="8" name="Text 4"/>
          <p:cNvSpPr/>
          <p:nvPr/>
        </p:nvSpPr>
        <p:spPr>
          <a:xfrm>
            <a:off x="1320685" y="1968729"/>
            <a:ext cx="1036033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Visage (Haar), 4 rotations ; gabarits logo et drapeau ≥ 0,6.</a:t>
            </a:r>
            <a:endParaRPr lang="en-US" sz="1500" dirty="0"/>
          </a:p>
        </p:txBody>
      </p:sp>
      <p:sp>
        <p:nvSpPr>
          <p:cNvPr id="9" name="Text 5"/>
          <p:cNvSpPr/>
          <p:nvPr/>
        </p:nvSpPr>
        <p:spPr>
          <a:xfrm>
            <a:off x="1320685" y="2356055"/>
            <a:ext cx="10360330"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C2410C"/>
                </a:solidFill>
                <a:latin typeface="Courier New" pitchFamily="49" charset="0"/>
                <a:ea typeface="Courier New" pitchFamily="49" charset="-122"/>
                <a:cs typeface="Courier New" pitchFamily="49" charset="-120"/>
              </a:rPr>
              <a:t>VERSO</a:t>
            </a:r>
            <a:endParaRPr lang="en-US" sz="1200" dirty="0"/>
          </a:p>
        </p:txBody>
      </p:sp>
      <p:sp>
        <p:nvSpPr>
          <p:cNvPr id="10" name="Text 6"/>
          <p:cNvSpPr/>
          <p:nvPr/>
        </p:nvSpPr>
        <p:spPr>
          <a:xfrm>
            <a:off x="1320685" y="2693845"/>
            <a:ext cx="1036033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Code-barres (localisation), texture d’empreinte, ligne de séparation ; vote sur 4 rotations.</a:t>
            </a:r>
            <a:endParaRPr lang="en-US" sz="1500" dirty="0"/>
          </a:p>
        </p:txBody>
      </p:sp>
      <p:sp>
        <p:nvSpPr>
          <p:cNvPr id="11" name="Text 7"/>
          <p:cNvSpPr/>
          <p:nvPr/>
        </p:nvSpPr>
        <p:spPr>
          <a:xfrm>
            <a:off x="812742" y="6238267"/>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12" name="Text 8"/>
          <p:cNvSpPr/>
          <p:nvPr/>
        </p:nvSpPr>
        <p:spPr>
          <a:xfrm>
            <a:off x="9417107" y="6238267"/>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13 / 23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44"/>
            <a:ext cx="10883510" cy="872259"/>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Aperçu, recadrage et page A4 :</a:t>
            </a:r>
            <a:endParaRPr lang="en-US" sz="2900" dirty="0"/>
          </a:p>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l’utilisateur valide ou reprend chaque face</a:t>
            </a:r>
            <a:endParaRPr lang="en-US" sz="2900" dirty="0"/>
          </a:p>
        </p:txBody>
      </p:sp>
      <p:sp>
        <p:nvSpPr>
          <p:cNvPr id="3" name="Text 1"/>
          <p:cNvSpPr/>
          <p:nvPr/>
        </p:nvSpPr>
        <p:spPr>
          <a:xfrm>
            <a:off x="812742" y="1888201"/>
            <a:ext cx="6880724" cy="289589"/>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202B"/>
                </a:solidFill>
                <a:latin typeface="Arial" pitchFamily="34" charset="0"/>
                <a:ea typeface="Arial" pitchFamily="34" charset="-122"/>
                <a:cs typeface="Arial" pitchFamily="34" charset="-120"/>
              </a:rPr>
              <a:t>Chaque face s’affiche en aperçu, avec recadrage, pivot et amélioration.</a:t>
            </a:r>
            <a:endParaRPr lang="en-US" sz="1600" dirty="0"/>
          </a:p>
        </p:txBody>
      </p:sp>
      <p:sp>
        <p:nvSpPr>
          <p:cNvPr id="4" name="Text 2"/>
          <p:cNvSpPr/>
          <p:nvPr/>
        </p:nvSpPr>
        <p:spPr>
          <a:xfrm>
            <a:off x="812742" y="2330159"/>
            <a:ext cx="6880724" cy="553778"/>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202B"/>
                </a:solidFill>
                <a:latin typeface="Arial" pitchFamily="34" charset="0"/>
                <a:ea typeface="Arial" pitchFamily="34" charset="-122"/>
                <a:cs typeface="Arial" pitchFamily="34" charset="-120"/>
              </a:rPr>
              <a:t>La page à imprimer compose recto et verso sur un A4 portrait de 2480 × 3508 px (300 dpi).</a:t>
            </a:r>
            <a:endParaRPr lang="en-US" sz="1600" dirty="0"/>
          </a:p>
        </p:txBody>
      </p:sp>
      <p:pic>
        <p:nvPicPr>
          <p:cNvPr id="5" name="Image 0" descr="apercu">    </p:cNvPr>
          <p:cNvPicPr>
            <a:picLocks noChangeAspect="1"/>
          </p:cNvPicPr>
          <p:nvPr/>
        </p:nvPicPr>
        <p:blipFill>
          <a:blip r:embed="rId1"/>
          <a:srcRect l="-17" r="-17" t="0" b="0"/>
          <a:stretch/>
        </p:blipFill>
        <p:spPr>
          <a:xfrm>
            <a:off x="7721657" y="1888201"/>
            <a:ext cx="1714500" cy="3835371"/>
          </a:xfrm>
          <a:prstGeom prst="rect">
            <a:avLst/>
          </a:prstGeom>
        </p:spPr>
      </p:pic>
      <p:pic>
        <p:nvPicPr>
          <p:cNvPr id="6" name="Image 1" descr="recadrer">    </p:cNvPr>
          <p:cNvPicPr>
            <a:picLocks noChangeAspect="1"/>
          </p:cNvPicPr>
          <p:nvPr/>
        </p:nvPicPr>
        <p:blipFill>
          <a:blip r:embed="rId2"/>
          <a:srcRect l="0" r="0" t="-20" b="-20"/>
          <a:stretch/>
        </p:blipFill>
        <p:spPr>
          <a:xfrm>
            <a:off x="9664757" y="1888201"/>
            <a:ext cx="1714500" cy="3835371"/>
          </a:xfrm>
          <a:prstGeom prst="rect">
            <a:avLst/>
          </a:prstGeom>
        </p:spPr>
      </p:pic>
      <p:sp>
        <p:nvSpPr>
          <p:cNvPr id="7" name="Text 3"/>
          <p:cNvSpPr/>
          <p:nvPr/>
        </p:nvSpPr>
        <p:spPr>
          <a:xfrm>
            <a:off x="812742" y="6238267"/>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8" name="Text 4"/>
          <p:cNvSpPr/>
          <p:nvPr/>
        </p:nvSpPr>
        <p:spPr>
          <a:xfrm>
            <a:off x="9417107" y="6238267"/>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14 / 23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44"/>
            <a:ext cx="10883510" cy="872259"/>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Démonstration : sept écrans,</a:t>
            </a:r>
            <a:endParaRPr lang="en-US" sz="2900" dirty="0"/>
          </a:p>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du recto à l’historique</a:t>
            </a:r>
            <a:endParaRPr lang="en-US" sz="2900" dirty="0"/>
          </a:p>
        </p:txBody>
      </p:sp>
      <p:pic>
        <p:nvPicPr>
          <p:cNvPr id="3" name="Image 0" descr="recto">    </p:cNvPr>
          <p:cNvPicPr>
            <a:picLocks noChangeAspect="1"/>
          </p:cNvPicPr>
          <p:nvPr/>
        </p:nvPicPr>
        <p:blipFill>
          <a:blip r:embed="rId1"/>
          <a:srcRect l="-8" r="-8" t="0" b="0"/>
          <a:stretch/>
        </p:blipFill>
        <p:spPr>
          <a:xfrm>
            <a:off x="812742" y="1888201"/>
            <a:ext cx="1631892" cy="2920971"/>
          </a:xfrm>
          <a:prstGeom prst="rect">
            <a:avLst/>
          </a:prstGeom>
        </p:spPr>
      </p:pic>
      <p:sp>
        <p:nvSpPr>
          <p:cNvPr id="4" name="Text 1"/>
          <p:cNvSpPr/>
          <p:nvPr/>
        </p:nvSpPr>
        <p:spPr>
          <a:xfrm>
            <a:off x="812742" y="4859914"/>
            <a:ext cx="1682692"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1 Recto</a:t>
            </a:r>
            <a:endParaRPr lang="en-US" sz="1200" dirty="0"/>
          </a:p>
        </p:txBody>
      </p:sp>
      <p:sp>
        <p:nvSpPr>
          <p:cNvPr id="5" name="Text 2"/>
          <p:cNvSpPr/>
          <p:nvPr/>
        </p:nvSpPr>
        <p:spPr>
          <a:xfrm>
            <a:off x="812742" y="5108780"/>
            <a:ext cx="168269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Cadre rouge/vert selon la détection</a:t>
            </a:r>
            <a:endParaRPr lang="en-US" sz="1200" dirty="0"/>
          </a:p>
        </p:txBody>
      </p:sp>
      <p:pic>
        <p:nvPicPr>
          <p:cNvPr id="6" name="Image 1" descr="verso">    </p:cNvPr>
          <p:cNvPicPr>
            <a:picLocks noChangeAspect="1"/>
          </p:cNvPicPr>
          <p:nvPr/>
        </p:nvPicPr>
        <p:blipFill>
          <a:blip r:embed="rId2"/>
          <a:srcRect l="-8" r="-8" t="0" b="0"/>
          <a:stretch/>
        </p:blipFill>
        <p:spPr>
          <a:xfrm>
            <a:off x="2546205" y="1888201"/>
            <a:ext cx="1631892" cy="2920971"/>
          </a:xfrm>
          <a:prstGeom prst="rect">
            <a:avLst/>
          </a:prstGeom>
        </p:spPr>
      </p:pic>
      <p:sp>
        <p:nvSpPr>
          <p:cNvPr id="7" name="Text 3"/>
          <p:cNvSpPr/>
          <p:nvPr/>
        </p:nvSpPr>
        <p:spPr>
          <a:xfrm>
            <a:off x="2546205" y="4859914"/>
            <a:ext cx="1682692"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2 Verso</a:t>
            </a:r>
            <a:endParaRPr lang="en-US" sz="1200" dirty="0"/>
          </a:p>
        </p:txBody>
      </p:sp>
      <p:sp>
        <p:nvSpPr>
          <p:cNvPr id="8" name="Text 4"/>
          <p:cNvSpPr/>
          <p:nvPr/>
        </p:nvSpPr>
        <p:spPr>
          <a:xfrm>
            <a:off x="2546205" y="5108780"/>
            <a:ext cx="168269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 Placez la carte dans le cadre »</a:t>
            </a:r>
            <a:endParaRPr lang="en-US" sz="1200" dirty="0"/>
          </a:p>
        </p:txBody>
      </p:sp>
      <p:pic>
        <p:nvPicPr>
          <p:cNvPr id="9" name="Image 2" descr="apercu">    </p:cNvPr>
          <p:cNvPicPr>
            <a:picLocks noChangeAspect="1"/>
          </p:cNvPicPr>
          <p:nvPr/>
        </p:nvPicPr>
        <p:blipFill>
          <a:blip r:embed="rId3"/>
          <a:srcRect l="-105" r="-105" t="0" b="0"/>
          <a:stretch/>
        </p:blipFill>
        <p:spPr>
          <a:xfrm>
            <a:off x="4279669" y="1888201"/>
            <a:ext cx="1308042" cy="2920971"/>
          </a:xfrm>
          <a:prstGeom prst="rect">
            <a:avLst/>
          </a:prstGeom>
        </p:spPr>
      </p:pic>
      <p:sp>
        <p:nvSpPr>
          <p:cNvPr id="10" name="Text 5"/>
          <p:cNvSpPr/>
          <p:nvPr/>
        </p:nvSpPr>
        <p:spPr>
          <a:xfrm>
            <a:off x="4279669" y="4859914"/>
            <a:ext cx="1358842"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3 Aperçu</a:t>
            </a:r>
            <a:endParaRPr lang="en-US" sz="1200" dirty="0"/>
          </a:p>
        </p:txBody>
      </p:sp>
      <p:sp>
        <p:nvSpPr>
          <p:cNvPr id="11" name="Text 6"/>
          <p:cNvSpPr/>
          <p:nvPr/>
        </p:nvSpPr>
        <p:spPr>
          <a:xfrm>
            <a:off x="4279669" y="5108780"/>
            <a:ext cx="135884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Recto, verso et page à imprimer</a:t>
            </a:r>
            <a:endParaRPr lang="en-US" sz="1200" dirty="0"/>
          </a:p>
        </p:txBody>
      </p:sp>
      <p:pic>
        <p:nvPicPr>
          <p:cNvPr id="12" name="Image 3" descr="recadrer">    </p:cNvPr>
          <p:cNvPicPr>
            <a:picLocks noChangeAspect="1"/>
          </p:cNvPicPr>
          <p:nvPr/>
        </p:nvPicPr>
        <p:blipFill>
          <a:blip r:embed="rId4"/>
          <a:srcRect l="-68" r="-68" t="0" b="0"/>
          <a:stretch/>
        </p:blipFill>
        <p:spPr>
          <a:xfrm>
            <a:off x="5689282" y="1888201"/>
            <a:ext cx="1308042" cy="2920971"/>
          </a:xfrm>
          <a:prstGeom prst="rect">
            <a:avLst/>
          </a:prstGeom>
        </p:spPr>
      </p:pic>
      <p:sp>
        <p:nvSpPr>
          <p:cNvPr id="13" name="Text 7"/>
          <p:cNvSpPr/>
          <p:nvPr/>
        </p:nvSpPr>
        <p:spPr>
          <a:xfrm>
            <a:off x="5689282" y="4859914"/>
            <a:ext cx="1358842"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4 Recadrer</a:t>
            </a:r>
            <a:endParaRPr lang="en-US" sz="1200" dirty="0"/>
          </a:p>
        </p:txBody>
      </p:sp>
      <p:sp>
        <p:nvSpPr>
          <p:cNvPr id="14" name="Text 8"/>
          <p:cNvSpPr/>
          <p:nvPr/>
        </p:nvSpPr>
        <p:spPr>
          <a:xfrm>
            <a:off x="5689282" y="5108780"/>
            <a:ext cx="135884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Glisser les coins du cadre</a:t>
            </a:r>
            <a:endParaRPr lang="en-US" sz="1200" dirty="0"/>
          </a:p>
        </p:txBody>
      </p:sp>
      <p:pic>
        <p:nvPicPr>
          <p:cNvPr id="15" name="Image 4" descr="pivoter">    </p:cNvPr>
          <p:cNvPicPr>
            <a:picLocks noChangeAspect="1"/>
          </p:cNvPicPr>
          <p:nvPr/>
        </p:nvPicPr>
        <p:blipFill>
          <a:blip r:embed="rId5"/>
          <a:srcRect l="-68" r="-68" t="0" b="0"/>
          <a:stretch/>
        </p:blipFill>
        <p:spPr>
          <a:xfrm>
            <a:off x="7098895" y="1888201"/>
            <a:ext cx="1308042" cy="2920971"/>
          </a:xfrm>
          <a:prstGeom prst="rect">
            <a:avLst/>
          </a:prstGeom>
        </p:spPr>
      </p:pic>
      <p:sp>
        <p:nvSpPr>
          <p:cNvPr id="16" name="Text 9"/>
          <p:cNvSpPr/>
          <p:nvPr/>
        </p:nvSpPr>
        <p:spPr>
          <a:xfrm>
            <a:off x="7098895" y="4859914"/>
            <a:ext cx="1358842"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5 Pivoter</a:t>
            </a:r>
            <a:endParaRPr lang="en-US" sz="1200" dirty="0"/>
          </a:p>
        </p:txBody>
      </p:sp>
      <p:sp>
        <p:nvSpPr>
          <p:cNvPr id="17" name="Text 10"/>
          <p:cNvSpPr/>
          <p:nvPr/>
        </p:nvSpPr>
        <p:spPr>
          <a:xfrm>
            <a:off x="7098895" y="5108780"/>
            <a:ext cx="135884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Quart de tour</a:t>
            </a:r>
            <a:endParaRPr lang="en-US" sz="1200" dirty="0"/>
          </a:p>
        </p:txBody>
      </p:sp>
      <p:pic>
        <p:nvPicPr>
          <p:cNvPr id="18" name="Image 5" descr="ameliorer">    </p:cNvPr>
          <p:cNvPicPr>
            <a:picLocks noChangeAspect="1"/>
          </p:cNvPicPr>
          <p:nvPr/>
        </p:nvPicPr>
        <p:blipFill>
          <a:blip r:embed="rId6"/>
          <a:srcRect l="-68" r="-68" t="0" b="0"/>
          <a:stretch/>
        </p:blipFill>
        <p:spPr>
          <a:xfrm>
            <a:off x="8508509" y="1888201"/>
            <a:ext cx="1308042" cy="2920971"/>
          </a:xfrm>
          <a:prstGeom prst="rect">
            <a:avLst/>
          </a:prstGeom>
        </p:spPr>
      </p:pic>
      <p:sp>
        <p:nvSpPr>
          <p:cNvPr id="19" name="Text 11"/>
          <p:cNvSpPr/>
          <p:nvPr/>
        </p:nvSpPr>
        <p:spPr>
          <a:xfrm>
            <a:off x="8508509" y="4859914"/>
            <a:ext cx="1358842"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6 Améliorer</a:t>
            </a:r>
            <a:endParaRPr lang="en-US" sz="1200" dirty="0"/>
          </a:p>
        </p:txBody>
      </p:sp>
      <p:sp>
        <p:nvSpPr>
          <p:cNvPr id="20" name="Text 12"/>
          <p:cNvSpPr/>
          <p:nvPr/>
        </p:nvSpPr>
        <p:spPr>
          <a:xfrm>
            <a:off x="8508509" y="5108780"/>
            <a:ext cx="135884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Contraste, netteté, mode scan</a:t>
            </a:r>
            <a:endParaRPr lang="en-US" sz="1200" dirty="0"/>
          </a:p>
        </p:txBody>
      </p:sp>
      <p:pic>
        <p:nvPicPr>
          <p:cNvPr id="21" name="Image 6" descr="historique">    </p:cNvPr>
          <p:cNvPicPr>
            <a:picLocks noChangeAspect="1"/>
          </p:cNvPicPr>
          <p:nvPr/>
        </p:nvPicPr>
        <p:blipFill>
          <a:blip r:embed="rId7"/>
          <a:srcRect l="-68" r="-68" t="0" b="0"/>
          <a:stretch/>
        </p:blipFill>
        <p:spPr>
          <a:xfrm>
            <a:off x="9918122" y="1888201"/>
            <a:ext cx="1308042" cy="2920971"/>
          </a:xfrm>
          <a:prstGeom prst="rect">
            <a:avLst/>
          </a:prstGeom>
        </p:spPr>
      </p:pic>
      <p:sp>
        <p:nvSpPr>
          <p:cNvPr id="22" name="Text 13"/>
          <p:cNvSpPr/>
          <p:nvPr/>
        </p:nvSpPr>
        <p:spPr>
          <a:xfrm>
            <a:off x="9918122" y="4859914"/>
            <a:ext cx="1358842"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7 Historique</a:t>
            </a:r>
            <a:endParaRPr lang="en-US" sz="1200" dirty="0"/>
          </a:p>
        </p:txBody>
      </p:sp>
      <p:sp>
        <p:nvSpPr>
          <p:cNvPr id="23" name="Text 14"/>
          <p:cNvSpPr/>
          <p:nvPr/>
        </p:nvSpPr>
        <p:spPr>
          <a:xfrm>
            <a:off x="9918122" y="5108780"/>
            <a:ext cx="135884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Captures de la session</a:t>
            </a:r>
            <a:endParaRPr lang="en-US" sz="1200" dirty="0"/>
          </a:p>
        </p:txBody>
      </p:sp>
      <p:sp>
        <p:nvSpPr>
          <p:cNvPr id="24" name="Text 15"/>
          <p:cNvSpPr/>
          <p:nvPr/>
        </p:nvSpPr>
        <p:spPr>
          <a:xfrm>
            <a:off x="812742" y="6238267"/>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25" name="Text 16"/>
          <p:cNvSpPr/>
          <p:nvPr/>
        </p:nvSpPr>
        <p:spPr>
          <a:xfrm>
            <a:off x="9417107" y="6238267"/>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15 / 23</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44"/>
            <a:ext cx="10883510" cy="448830"/>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177/177 cas réussis, sur 21 des 28 fichiers de test</a:t>
            </a:r>
            <a:endParaRPr lang="en-US" sz="2900" dirty="0"/>
          </a:p>
        </p:txBody>
      </p:sp>
      <p:sp>
        <p:nvSpPr>
          <p:cNvPr id="3" name="Text 1"/>
          <p:cNvSpPr/>
          <p:nvPr/>
        </p:nvSpPr>
        <p:spPr>
          <a:xfrm>
            <a:off x="812742" y="1464773"/>
            <a:ext cx="5245540" cy="718820"/>
          </a:xfrm>
          <a:prstGeom prst="rect">
            <a:avLst/>
          </a:prstGeom>
          <a:noFill/>
          <a:ln/>
        </p:spPr>
        <p:txBody>
          <a:bodyPr wrap="square" lIns="0" tIns="0" rIns="0" bIns="0" rtlCol="0" anchor="t">
            <a:normAutofit/>
          </a:bodyPr>
          <a:lstStyle/>
          <a:p>
            <a:pPr algn="l" indent="0" marL="0">
              <a:lnSpc>
                <a:spcPts val="5460"/>
              </a:lnSpc>
              <a:buNone/>
            </a:pPr>
            <a:r>
              <a:rPr lang="en-US" sz="4200" b="1" dirty="0">
                <a:solidFill>
                  <a:srgbClr val="15803D"/>
                </a:solidFill>
                <a:latin typeface="Arial" pitchFamily="34" charset="0"/>
                <a:ea typeface="Arial" pitchFamily="34" charset="-122"/>
                <a:cs typeface="Arial" pitchFamily="34" charset="-120"/>
              </a:rPr>
              <a:t>177 / 177</a:t>
            </a:r>
            <a:endParaRPr lang="en-US" sz="4200" dirty="0"/>
          </a:p>
        </p:txBody>
      </p:sp>
      <p:sp>
        <p:nvSpPr>
          <p:cNvPr id="4" name="Text 2"/>
          <p:cNvSpPr/>
          <p:nvPr/>
        </p:nvSpPr>
        <p:spPr>
          <a:xfrm>
            <a:off x="812742" y="2221663"/>
            <a:ext cx="524554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770"/>
                </a:solidFill>
                <a:latin typeface="Arial" pitchFamily="34" charset="0"/>
                <a:ea typeface="Arial" pitchFamily="34" charset="-122"/>
                <a:cs typeface="Arial" pitchFamily="34" charset="-120"/>
              </a:rPr>
              <a:t>cas exécutés, 0 échec</a:t>
            </a:r>
            <a:endParaRPr lang="en-US" sz="1500" dirty="0"/>
          </a:p>
        </p:txBody>
      </p:sp>
      <p:sp>
        <p:nvSpPr>
          <p:cNvPr id="5" name="Text 3"/>
          <p:cNvSpPr/>
          <p:nvPr/>
        </p:nvSpPr>
        <p:spPr>
          <a:xfrm>
            <a:off x="812742" y="2532788"/>
            <a:ext cx="5245540" cy="454544"/>
          </a:xfrm>
          <a:prstGeom prst="rect">
            <a:avLst/>
          </a:prstGeom>
          <a:noFill/>
          <a:ln/>
        </p:spPr>
        <p:txBody>
          <a:bodyPr wrap="square" lIns="0" tIns="0" rIns="0" bIns="0" rtlCol="0" anchor="t">
            <a:normAutofit/>
          </a:bodyPr>
          <a:lstStyle/>
          <a:p>
            <a:pPr algn="l" indent="0" marL="0">
              <a:lnSpc>
                <a:spcPts val="3380"/>
              </a:lnSpc>
              <a:buNone/>
            </a:pPr>
            <a:r>
              <a:rPr lang="en-US" sz="2600" b="1" dirty="0">
                <a:solidFill>
                  <a:srgbClr val="C2410C"/>
                </a:solidFill>
                <a:latin typeface="Arial" pitchFamily="34" charset="0"/>
                <a:ea typeface="Arial" pitchFamily="34" charset="-122"/>
                <a:cs typeface="Arial" pitchFamily="34" charset="-120"/>
              </a:rPr>
              <a:t>21 fichiers sur 28</a:t>
            </a:r>
            <a:endParaRPr lang="en-US" sz="2600" dirty="0"/>
          </a:p>
        </p:txBody>
      </p:sp>
      <p:sp>
        <p:nvSpPr>
          <p:cNvPr id="6" name="Text 4"/>
          <p:cNvSpPr/>
          <p:nvPr/>
        </p:nvSpPr>
        <p:spPr>
          <a:xfrm>
            <a:off x="6286500" y="1464773"/>
            <a:ext cx="5092757" cy="510367"/>
          </a:xfrm>
          <a:prstGeom prst="roundRect">
            <a:avLst>
              <a:gd name="adj" fmla="val 9954"/>
            </a:avLst>
          </a:prstGeom>
          <a:solidFill>
            <a:srgbClr val="F1F4F7"/>
          </a:solidFill>
          <a:ln/>
        </p:spPr>
        <p:txBody>
          <a:bodyPr wrap="square" lIns="162892" tIns="124821" rIns="20776" bIns="99363" rtlCol="0" anchor="t">
            <a:normAutofit/>
          </a:bodyPr>
          <a:lstStyle/>
          <a:p>
            <a:pPr algn="l" indent="0" marL="0">
              <a:lnSpc>
                <a:spcPts val="1820"/>
              </a:lnSpc>
              <a:buNone/>
            </a:pPr>
            <a:r>
              <a:rPr lang="en-US" sz="1400" dirty="0">
                <a:solidFill>
                  <a:srgbClr val="14202B"/>
                </a:solidFill>
                <a:latin typeface="Courier New" pitchFamily="49" charset="0"/>
                <a:ea typeface="Courier New" pitchFamily="49" charset="-122"/>
                <a:cs typeface="Courier New" pitchFamily="49" charset="-120"/>
              </a:rPr>
              <a:t>00:16 +177: All tests passed!</a:t>
            </a:r>
            <a:endParaRPr lang="en-US" sz="1400" dirty="0"/>
          </a:p>
        </p:txBody>
      </p:sp>
      <p:sp>
        <p:nvSpPr>
          <p:cNvPr id="7" name="Text 5"/>
          <p:cNvSpPr/>
          <p:nvPr/>
        </p:nvSpPr>
        <p:spPr>
          <a:xfrm>
            <a:off x="6286500" y="2063979"/>
            <a:ext cx="524554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Quatre paliers de test :</a:t>
            </a:r>
            <a:endParaRPr lang="en-US" sz="1500" dirty="0"/>
          </a:p>
        </p:txBody>
      </p:sp>
      <p:sp>
        <p:nvSpPr>
          <p:cNvPr id="8" name="Text 6"/>
          <p:cNvSpPr/>
          <p:nvPr/>
        </p:nvSpPr>
        <p:spPr>
          <a:xfrm>
            <a:off x="6286500" y="2400467"/>
            <a:ext cx="524554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02B"/>
                </a:solidFill>
                <a:latin typeface="Arial" pitchFamily="34" charset="0"/>
                <a:ea typeface="Arial" pitchFamily="34" charset="-122"/>
                <a:cs typeface="Arial" pitchFamily="34" charset="-120"/>
              </a:rPr>
              <a:t>A logique pure Dart, sans plateforme</a:t>
            </a:r>
            <a:endParaRPr lang="en-US" sz="1400" dirty="0"/>
          </a:p>
        </p:txBody>
      </p:sp>
      <p:sp>
        <p:nvSpPr>
          <p:cNvPr id="9" name="Text 7"/>
          <p:cNvSpPr/>
          <p:nvPr/>
        </p:nvSpPr>
        <p:spPr>
          <a:xfrm>
            <a:off x="6286500" y="2720336"/>
            <a:ext cx="524554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02B"/>
                </a:solidFill>
                <a:latin typeface="Arial" pitchFamily="34" charset="0"/>
                <a:ea typeface="Arial" pitchFamily="34" charset="-122"/>
                <a:cs typeface="Arial" pitchFamily="34" charset="-120"/>
              </a:rPr>
              <a:t>B plateforme simulée (mocks)</a:t>
            </a:r>
            <a:endParaRPr lang="en-US" sz="1400" dirty="0"/>
          </a:p>
        </p:txBody>
      </p:sp>
      <p:sp>
        <p:nvSpPr>
          <p:cNvPr id="10" name="Text 8"/>
          <p:cNvSpPr/>
          <p:nvPr/>
        </p:nvSpPr>
        <p:spPr>
          <a:xfrm>
            <a:off x="6286500" y="3040205"/>
            <a:ext cx="524554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02B"/>
                </a:solidFill>
                <a:latin typeface="Arial" pitchFamily="34" charset="0"/>
                <a:ea typeface="Arial" pitchFamily="34" charset="-122"/>
                <a:cs typeface="Arial" pitchFamily="34" charset="-120"/>
              </a:rPr>
              <a:t>C OpenCV réel, images synthétiques</a:t>
            </a:r>
            <a:endParaRPr lang="en-US" sz="1400" dirty="0"/>
          </a:p>
        </p:txBody>
      </p:sp>
      <p:sp>
        <p:nvSpPr>
          <p:cNvPr id="11" name="Text 9"/>
          <p:cNvSpPr/>
          <p:nvPr/>
        </p:nvSpPr>
        <p:spPr>
          <a:xfrm>
            <a:off x="6286500" y="3360074"/>
            <a:ext cx="524554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02B"/>
                </a:solidFill>
                <a:latin typeface="Arial" pitchFamily="34" charset="0"/>
                <a:ea typeface="Arial" pitchFamily="34" charset="-122"/>
                <a:cs typeface="Arial" pitchFamily="34" charset="-120"/>
              </a:rPr>
              <a:t>D cartes réelles, appareil : manuel</a:t>
            </a:r>
            <a:endParaRPr lang="en-US" sz="1400" dirty="0"/>
          </a:p>
        </p:txBody>
      </p:sp>
      <p:sp>
        <p:nvSpPr>
          <p:cNvPr id="12" name="Text 10"/>
          <p:cNvSpPr/>
          <p:nvPr/>
        </p:nvSpPr>
        <p:spPr>
          <a:xfrm>
            <a:off x="812742" y="6238273"/>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13" name="Text 11"/>
          <p:cNvSpPr/>
          <p:nvPr/>
        </p:nvSpPr>
        <p:spPr>
          <a:xfrm>
            <a:off x="9417107" y="6238273"/>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16 / 23</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50"/>
            <a:ext cx="10883510" cy="448830"/>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Trois mesures manuelles, à la limite de leur cible</a:t>
            </a:r>
            <a:endParaRPr lang="en-US" sz="2900" dirty="0"/>
          </a:p>
        </p:txBody>
      </p:sp>
      <p:sp>
        <p:nvSpPr>
          <p:cNvPr id="3" name="Shape 1"/>
          <p:cNvSpPr/>
          <p:nvPr/>
        </p:nvSpPr>
        <p:spPr>
          <a:xfrm>
            <a:off x="812742" y="1464779"/>
            <a:ext cx="10566515" cy="1365971"/>
          </a:xfrm>
          <a:prstGeom prst="roundRect">
            <a:avLst>
              <a:gd name="adj" fmla="val 4649"/>
            </a:avLst>
          </a:prstGeom>
          <a:solidFill>
            <a:srgbClr val="F1F4F7"/>
          </a:solidFill>
          <a:ln/>
        </p:spPr>
      </p:sp>
      <p:sp>
        <p:nvSpPr>
          <p:cNvPr id="4" name="Text 2"/>
          <p:cNvSpPr/>
          <p:nvPr/>
        </p:nvSpPr>
        <p:spPr>
          <a:xfrm>
            <a:off x="965142" y="1617179"/>
            <a:ext cx="2485330" cy="523211"/>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4202B"/>
                </a:solidFill>
                <a:latin typeface="Arial" pitchFamily="34" charset="0"/>
                <a:ea typeface="Arial" pitchFamily="34" charset="-122"/>
                <a:cs typeface="Arial" pitchFamily="34" charset="-120"/>
              </a:rPr>
              <a:t>92–100 ms</a:t>
            </a:r>
            <a:endParaRPr lang="en-US" sz="2800" dirty="0"/>
          </a:p>
        </p:txBody>
      </p:sp>
      <p:sp>
        <p:nvSpPr>
          <p:cNvPr id="5" name="Text 3"/>
          <p:cNvSpPr/>
          <p:nvPr/>
        </p:nvSpPr>
        <p:spPr>
          <a:xfrm>
            <a:off x="3568585" y="1651471"/>
            <a:ext cx="2786431"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02B"/>
                </a:solidFill>
                <a:latin typeface="Arial" pitchFamily="34" charset="0"/>
                <a:ea typeface="Arial" pitchFamily="34" charset="-122"/>
                <a:cs typeface="Arial" pitchFamily="34" charset="-120"/>
              </a:rPr>
              <a:t>par frame</a:t>
            </a:r>
            <a:endParaRPr lang="en-US" sz="1400" dirty="0"/>
          </a:p>
        </p:txBody>
      </p:sp>
      <p:sp>
        <p:nvSpPr>
          <p:cNvPr id="6" name="Text 4"/>
          <p:cNvSpPr/>
          <p:nvPr/>
        </p:nvSpPr>
        <p:spPr>
          <a:xfrm>
            <a:off x="3568585" y="1882490"/>
            <a:ext cx="2786431"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chronométrage dans l’isolate</a:t>
            </a:r>
            <a:endParaRPr lang="en-US" sz="1200" dirty="0"/>
          </a:p>
        </p:txBody>
      </p:sp>
      <p:sp>
        <p:nvSpPr>
          <p:cNvPr id="7" name="Text 5"/>
          <p:cNvSpPr/>
          <p:nvPr/>
        </p:nvSpPr>
        <p:spPr>
          <a:xfrm>
            <a:off x="6464357" y="1766974"/>
            <a:ext cx="196215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cible : &lt; 100 ms</a:t>
            </a:r>
            <a:endParaRPr lang="en-US" sz="1200" dirty="0"/>
          </a:p>
        </p:txBody>
      </p:sp>
      <p:sp>
        <p:nvSpPr>
          <p:cNvPr id="8" name="Text 6"/>
          <p:cNvSpPr/>
          <p:nvPr/>
        </p:nvSpPr>
        <p:spPr>
          <a:xfrm>
            <a:off x="8559857" y="1667917"/>
            <a:ext cx="2747010"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42318"/>
                </a:solidFill>
                <a:latin typeface="Arial" pitchFamily="34" charset="0"/>
                <a:ea typeface="Arial" pitchFamily="34" charset="-122"/>
                <a:cs typeface="Arial" pitchFamily="34" charset="-120"/>
              </a:rPr>
              <a:t>limite : appareil et nombre de frames non documentés</a:t>
            </a:r>
            <a:endParaRPr lang="en-US" sz="1200" dirty="0"/>
          </a:p>
        </p:txBody>
      </p:sp>
      <p:sp>
        <p:nvSpPr>
          <p:cNvPr id="9" name="Shape 7"/>
          <p:cNvSpPr/>
          <p:nvPr/>
        </p:nvSpPr>
        <p:spPr>
          <a:xfrm>
            <a:off x="812742" y="2970423"/>
            <a:ext cx="10566515" cy="1365971"/>
          </a:xfrm>
          <a:prstGeom prst="roundRect">
            <a:avLst>
              <a:gd name="adj" fmla="val 4649"/>
            </a:avLst>
          </a:prstGeom>
          <a:solidFill>
            <a:srgbClr val="F1F4F7"/>
          </a:solidFill>
          <a:ln/>
        </p:spPr>
      </p:sp>
      <p:sp>
        <p:nvSpPr>
          <p:cNvPr id="10" name="Text 8"/>
          <p:cNvSpPr/>
          <p:nvPr/>
        </p:nvSpPr>
        <p:spPr>
          <a:xfrm>
            <a:off x="965142" y="3122823"/>
            <a:ext cx="2485330" cy="523211"/>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4202B"/>
                </a:solidFill>
                <a:latin typeface="Arial" pitchFamily="34" charset="0"/>
                <a:ea typeface="Arial" pitchFamily="34" charset="-122"/>
                <a:cs typeface="Arial" pitchFamily="34" charset="-120"/>
              </a:rPr>
              <a:t>92 %</a:t>
            </a:r>
            <a:endParaRPr lang="en-US" sz="2800" dirty="0"/>
          </a:p>
        </p:txBody>
      </p:sp>
      <p:sp>
        <p:nvSpPr>
          <p:cNvPr id="11" name="Text 9"/>
          <p:cNvSpPr/>
          <p:nvPr/>
        </p:nvSpPr>
        <p:spPr>
          <a:xfrm>
            <a:off x="3568585" y="3157103"/>
            <a:ext cx="2786431"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02B"/>
                </a:solidFill>
                <a:latin typeface="Arial" pitchFamily="34" charset="0"/>
                <a:ea typeface="Arial" pitchFamily="34" charset="-122"/>
                <a:cs typeface="Arial" pitchFamily="34" charset="-120"/>
              </a:rPr>
              <a:t>recto / verso reconnus</a:t>
            </a:r>
            <a:endParaRPr lang="en-US" sz="1400" dirty="0"/>
          </a:p>
        </p:txBody>
      </p:sp>
      <p:sp>
        <p:nvSpPr>
          <p:cNvPr id="12" name="Text 10"/>
          <p:cNvSpPr/>
          <p:nvPr/>
        </p:nvSpPr>
        <p:spPr>
          <a:xfrm>
            <a:off x="3568585" y="3388134"/>
            <a:ext cx="2786431"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protocole manuel, cartes réelles</a:t>
            </a:r>
            <a:endParaRPr lang="en-US" sz="1200" dirty="0"/>
          </a:p>
        </p:txBody>
      </p:sp>
      <p:sp>
        <p:nvSpPr>
          <p:cNvPr id="13" name="Text 11"/>
          <p:cNvSpPr/>
          <p:nvPr/>
        </p:nvSpPr>
        <p:spPr>
          <a:xfrm>
            <a:off x="6464357" y="3272619"/>
            <a:ext cx="196215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cible : ≥ 90 %</a:t>
            </a:r>
            <a:endParaRPr lang="en-US" sz="1200" dirty="0"/>
          </a:p>
        </p:txBody>
      </p:sp>
      <p:sp>
        <p:nvSpPr>
          <p:cNvPr id="14" name="Text 12"/>
          <p:cNvSpPr/>
          <p:nvPr/>
        </p:nvSpPr>
        <p:spPr>
          <a:xfrm>
            <a:off x="8559857" y="3173561"/>
            <a:ext cx="2747010"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42318"/>
                </a:solidFill>
                <a:latin typeface="Arial" pitchFamily="34" charset="0"/>
                <a:ea typeface="Arial" pitchFamily="34" charset="-122"/>
                <a:cs typeface="Arial" pitchFamily="34" charset="-120"/>
              </a:rPr>
              <a:t>limite : conditions et taille de l’échantillon non documentées</a:t>
            </a:r>
            <a:endParaRPr lang="en-US" sz="1200" dirty="0"/>
          </a:p>
        </p:txBody>
      </p:sp>
      <p:sp>
        <p:nvSpPr>
          <p:cNvPr id="15" name="Shape 13"/>
          <p:cNvSpPr/>
          <p:nvPr/>
        </p:nvSpPr>
        <p:spPr>
          <a:xfrm>
            <a:off x="812742" y="4476068"/>
            <a:ext cx="10566515" cy="1365971"/>
          </a:xfrm>
          <a:prstGeom prst="roundRect">
            <a:avLst>
              <a:gd name="adj" fmla="val 4649"/>
            </a:avLst>
          </a:prstGeom>
          <a:solidFill>
            <a:srgbClr val="F1F4F7"/>
          </a:solidFill>
          <a:ln/>
        </p:spPr>
      </p:sp>
      <p:sp>
        <p:nvSpPr>
          <p:cNvPr id="16" name="Text 14"/>
          <p:cNvSpPr/>
          <p:nvPr/>
        </p:nvSpPr>
        <p:spPr>
          <a:xfrm>
            <a:off x="965142" y="4628468"/>
            <a:ext cx="2485330" cy="523211"/>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4202B"/>
                </a:solidFill>
                <a:latin typeface="Arial" pitchFamily="34" charset="0"/>
                <a:ea typeface="Arial" pitchFamily="34" charset="-122"/>
                <a:cs typeface="Arial" pitchFamily="34" charset="-120"/>
              </a:rPr>
              <a:t>≈ 2 s</a:t>
            </a:r>
            <a:endParaRPr lang="en-US" sz="2800" dirty="0"/>
          </a:p>
        </p:txBody>
      </p:sp>
      <p:sp>
        <p:nvSpPr>
          <p:cNvPr id="17" name="Text 15"/>
          <p:cNvSpPr/>
          <p:nvPr/>
        </p:nvSpPr>
        <p:spPr>
          <a:xfrm>
            <a:off x="3568585" y="4662748"/>
            <a:ext cx="2786431"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02B"/>
                </a:solidFill>
                <a:latin typeface="Arial" pitchFamily="34" charset="0"/>
                <a:ea typeface="Arial" pitchFamily="34" charset="-122"/>
                <a:cs typeface="Arial" pitchFamily="34" charset="-120"/>
              </a:rPr>
              <a:t>stabilisation → capture</a:t>
            </a:r>
            <a:endParaRPr lang="en-US" sz="1400" dirty="0"/>
          </a:p>
        </p:txBody>
      </p:sp>
      <p:sp>
        <p:nvSpPr>
          <p:cNvPr id="18" name="Text 16"/>
          <p:cNvSpPr/>
          <p:nvPr/>
        </p:nvSpPr>
        <p:spPr>
          <a:xfrm>
            <a:off x="3568585" y="4893779"/>
            <a:ext cx="2786431"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chronométrage manuel</a:t>
            </a:r>
            <a:endParaRPr lang="en-US" sz="1200" dirty="0"/>
          </a:p>
        </p:txBody>
      </p:sp>
      <p:sp>
        <p:nvSpPr>
          <p:cNvPr id="19" name="Text 17"/>
          <p:cNvSpPr/>
          <p:nvPr/>
        </p:nvSpPr>
        <p:spPr>
          <a:xfrm>
            <a:off x="6464357" y="4778263"/>
            <a:ext cx="196215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770"/>
                </a:solidFill>
                <a:latin typeface="Arial" pitchFamily="34" charset="0"/>
                <a:ea typeface="Arial" pitchFamily="34" charset="-122"/>
                <a:cs typeface="Arial" pitchFamily="34" charset="-120"/>
              </a:rPr>
              <a:t>cible : ≈ 2 s maximum</a:t>
            </a:r>
            <a:endParaRPr lang="en-US" sz="1200" dirty="0"/>
          </a:p>
        </p:txBody>
      </p:sp>
      <p:sp>
        <p:nvSpPr>
          <p:cNvPr id="20" name="Text 18"/>
          <p:cNvSpPr/>
          <p:nvPr/>
        </p:nvSpPr>
        <p:spPr>
          <a:xfrm>
            <a:off x="8559857" y="4679206"/>
            <a:ext cx="2747010"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42318"/>
                </a:solidFill>
                <a:latin typeface="Arial" pitchFamily="34" charset="0"/>
                <a:ea typeface="Arial" pitchFamily="34" charset="-122"/>
                <a:cs typeface="Arial" pitchFamily="34" charset="-120"/>
              </a:rPr>
              <a:t>limite : départ à la stabilisation, pas à la pose</a:t>
            </a:r>
            <a:endParaRPr lang="en-US" sz="1200" dirty="0"/>
          </a:p>
        </p:txBody>
      </p:sp>
      <p:sp>
        <p:nvSpPr>
          <p:cNvPr id="21" name="Text 19"/>
          <p:cNvSpPr/>
          <p:nvPr/>
        </p:nvSpPr>
        <p:spPr>
          <a:xfrm>
            <a:off x="812742" y="623828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22" name="Text 20"/>
          <p:cNvSpPr/>
          <p:nvPr/>
        </p:nvSpPr>
        <p:spPr>
          <a:xfrm>
            <a:off x="9417107" y="6238280"/>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17 / 23</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50"/>
            <a:ext cx="10883510" cy="448830"/>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Limites assumées : ce qui n’est ni implémenté ni prouvé</a:t>
            </a:r>
            <a:endParaRPr lang="en-US" sz="2900" dirty="0"/>
          </a:p>
        </p:txBody>
      </p:sp>
      <p:sp>
        <p:nvSpPr>
          <p:cNvPr id="3" name="Shape 1"/>
          <p:cNvSpPr/>
          <p:nvPr/>
        </p:nvSpPr>
        <p:spPr>
          <a:xfrm>
            <a:off x="812742" y="1464779"/>
            <a:ext cx="10566515" cy="1212706"/>
          </a:xfrm>
          <a:prstGeom prst="roundRect">
            <a:avLst>
              <a:gd name="adj" fmla="val 5236"/>
            </a:avLst>
          </a:prstGeom>
          <a:solidFill>
            <a:srgbClr val="F1F4F7"/>
          </a:solidFill>
          <a:ln/>
        </p:spPr>
      </p:sp>
      <p:sp>
        <p:nvSpPr>
          <p:cNvPr id="4" name="Shape 2"/>
          <p:cNvSpPr/>
          <p:nvPr/>
        </p:nvSpPr>
        <p:spPr>
          <a:xfrm>
            <a:off x="1003242" y="1704801"/>
            <a:ext cx="165042" cy="165042"/>
          </a:xfrm>
          <a:prstGeom prst="rect">
            <a:avLst/>
          </a:prstGeom>
          <a:solidFill>
            <a:srgbClr val="C2410C"/>
          </a:solidFill>
          <a:ln/>
        </p:spPr>
      </p:sp>
      <p:sp>
        <p:nvSpPr>
          <p:cNvPr id="5" name="Text 3"/>
          <p:cNvSpPr/>
          <p:nvPr/>
        </p:nvSpPr>
        <p:spPr>
          <a:xfrm>
            <a:off x="1346056" y="1655279"/>
            <a:ext cx="4416240"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B"/>
                </a:solidFill>
                <a:latin typeface="Arial" pitchFamily="34" charset="0"/>
                <a:ea typeface="Arial" pitchFamily="34" charset="-122"/>
                <a:cs typeface="Arial" pitchFamily="34" charset="-120"/>
              </a:rPr>
              <a:t>Message de timeout : non implémenté</a:t>
            </a:r>
            <a:endParaRPr lang="en-US" sz="1600" dirty="0"/>
          </a:p>
        </p:txBody>
      </p:sp>
      <p:sp>
        <p:nvSpPr>
          <p:cNvPr id="6" name="Shape 4"/>
          <p:cNvSpPr/>
          <p:nvPr/>
        </p:nvSpPr>
        <p:spPr>
          <a:xfrm>
            <a:off x="812742" y="2817155"/>
            <a:ext cx="10566515" cy="1212792"/>
          </a:xfrm>
          <a:prstGeom prst="roundRect">
            <a:avLst>
              <a:gd name="adj" fmla="val 5236"/>
            </a:avLst>
          </a:prstGeom>
          <a:solidFill>
            <a:srgbClr val="F1F4F7"/>
          </a:solidFill>
          <a:ln/>
        </p:spPr>
      </p:sp>
      <p:sp>
        <p:nvSpPr>
          <p:cNvPr id="7" name="Shape 5"/>
          <p:cNvSpPr/>
          <p:nvPr/>
        </p:nvSpPr>
        <p:spPr>
          <a:xfrm>
            <a:off x="1003242" y="3057178"/>
            <a:ext cx="165042" cy="165042"/>
          </a:xfrm>
          <a:prstGeom prst="rect">
            <a:avLst/>
          </a:prstGeom>
          <a:solidFill>
            <a:srgbClr val="C2410C"/>
          </a:solidFill>
          <a:ln/>
        </p:spPr>
      </p:sp>
      <p:sp>
        <p:nvSpPr>
          <p:cNvPr id="8" name="Text 6"/>
          <p:cNvSpPr/>
          <p:nvPr/>
        </p:nvSpPr>
        <p:spPr>
          <a:xfrm>
            <a:off x="1346056" y="3007655"/>
            <a:ext cx="4254142"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B"/>
                </a:solidFill>
                <a:latin typeface="Arial" pitchFamily="34" charset="0"/>
                <a:ea typeface="Arial" pitchFamily="34" charset="-122"/>
                <a:cs typeface="Arial" pitchFamily="34" charset="-120"/>
              </a:rPr>
              <a:t>Anti-fraude, vivacité : hors périmètre</a:t>
            </a:r>
            <a:endParaRPr lang="en-US" sz="1600" dirty="0"/>
          </a:p>
        </p:txBody>
      </p:sp>
      <p:sp>
        <p:nvSpPr>
          <p:cNvPr id="9" name="Shape 7"/>
          <p:cNvSpPr/>
          <p:nvPr/>
        </p:nvSpPr>
        <p:spPr>
          <a:xfrm>
            <a:off x="812742" y="4169618"/>
            <a:ext cx="10566515" cy="1212792"/>
          </a:xfrm>
          <a:prstGeom prst="roundRect">
            <a:avLst>
              <a:gd name="adj" fmla="val 5236"/>
            </a:avLst>
          </a:prstGeom>
          <a:solidFill>
            <a:srgbClr val="F1F4F7"/>
          </a:solidFill>
          <a:ln/>
        </p:spPr>
      </p:sp>
      <p:sp>
        <p:nvSpPr>
          <p:cNvPr id="10" name="Shape 8"/>
          <p:cNvSpPr/>
          <p:nvPr/>
        </p:nvSpPr>
        <p:spPr>
          <a:xfrm>
            <a:off x="1003242" y="4409641"/>
            <a:ext cx="165042" cy="165042"/>
          </a:xfrm>
          <a:prstGeom prst="rect">
            <a:avLst/>
          </a:prstGeom>
          <a:solidFill>
            <a:srgbClr val="C2410C"/>
          </a:solidFill>
          <a:ln/>
        </p:spPr>
      </p:sp>
      <p:sp>
        <p:nvSpPr>
          <p:cNvPr id="11" name="Text 9"/>
          <p:cNvSpPr/>
          <p:nvPr/>
        </p:nvSpPr>
        <p:spPr>
          <a:xfrm>
            <a:off x="1346056" y="4360118"/>
            <a:ext cx="4714459"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B"/>
                </a:solidFill>
                <a:latin typeface="Arial" pitchFamily="34" charset="0"/>
                <a:ea typeface="Arial" pitchFamily="34" charset="-122"/>
                <a:cs typeface="Arial" pitchFamily="34" charset="-120"/>
              </a:rPr>
              <a:t>Mesures : appareil, échantillon inconnus</a:t>
            </a:r>
            <a:endParaRPr lang="en-US" sz="1600" dirty="0"/>
          </a:p>
        </p:txBody>
      </p:sp>
      <p:sp>
        <p:nvSpPr>
          <p:cNvPr id="12" name="Text 10"/>
          <p:cNvSpPr/>
          <p:nvPr/>
        </p:nvSpPr>
        <p:spPr>
          <a:xfrm>
            <a:off x="812742" y="5611006"/>
            <a:ext cx="1088351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770"/>
                </a:solidFill>
                <a:latin typeface="Arial" pitchFamily="34" charset="0"/>
                <a:ea typeface="Arial" pitchFamily="34" charset="-122"/>
                <a:cs typeface="Arial" pitchFamily="34" charset="-120"/>
              </a:rPr>
              <a:t>Avant production : tests iOS, couverture, timeout, échantillon élargi.</a:t>
            </a:r>
            <a:endParaRPr lang="en-US" sz="1400" dirty="0"/>
          </a:p>
        </p:txBody>
      </p:sp>
      <p:sp>
        <p:nvSpPr>
          <p:cNvPr id="13" name="Text 11"/>
          <p:cNvSpPr/>
          <p:nvPr/>
        </p:nvSpPr>
        <p:spPr>
          <a:xfrm>
            <a:off x="812742" y="6238267"/>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14" name="Text 12"/>
          <p:cNvSpPr/>
          <p:nvPr/>
        </p:nvSpPr>
        <p:spPr>
          <a:xfrm>
            <a:off x="9417107" y="6238267"/>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18 / 23</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42" y="812750"/>
            <a:ext cx="10883510" cy="872259"/>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Capture recto/verso autonome en six semaines,</a:t>
            </a:r>
            <a:endParaRPr lang="en-US" sz="2900" dirty="0"/>
          </a:p>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validation encore à étendre</a:t>
            </a:r>
            <a:endParaRPr lang="en-US" sz="2900" dirty="0"/>
          </a:p>
        </p:txBody>
      </p:sp>
      <p:sp>
        <p:nvSpPr>
          <p:cNvPr id="3" name="Text 1"/>
          <p:cNvSpPr/>
          <p:nvPr/>
        </p:nvSpPr>
        <p:spPr>
          <a:xfrm>
            <a:off x="812742" y="1888207"/>
            <a:ext cx="5245540"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5B6770"/>
                </a:solidFill>
                <a:latin typeface="Courier New" pitchFamily="49" charset="0"/>
                <a:ea typeface="Courier New" pitchFamily="49" charset="-122"/>
                <a:cs typeface="Courier New" pitchFamily="49" charset="-120"/>
              </a:rPr>
              <a:t>LIVRÉ</a:t>
            </a:r>
            <a:endParaRPr lang="en-US" sz="1200" dirty="0"/>
          </a:p>
        </p:txBody>
      </p:sp>
      <p:sp>
        <p:nvSpPr>
          <p:cNvPr id="4" name="Text 2"/>
          <p:cNvSpPr/>
          <p:nvPr/>
        </p:nvSpPr>
        <p:spPr>
          <a:xfrm>
            <a:off x="812742" y="2175173"/>
            <a:ext cx="5422957"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02B"/>
                </a:solidFill>
                <a:latin typeface="Arial" pitchFamily="34" charset="0"/>
                <a:ea typeface="Arial" pitchFamily="34" charset="-122"/>
                <a:cs typeface="Arial" pitchFamily="34" charset="-120"/>
              </a:rPr>
              <a:t>Autocapture recto/verso, aperçu, recadrage, page A4, historique</a:t>
            </a:r>
            <a:endParaRPr lang="en-US" sz="1400" dirty="0"/>
          </a:p>
        </p:txBody>
      </p:sp>
      <p:sp>
        <p:nvSpPr>
          <p:cNvPr id="5" name="Text 3"/>
          <p:cNvSpPr/>
          <p:nvPr/>
        </p:nvSpPr>
        <p:spPr>
          <a:xfrm>
            <a:off x="812742" y="2495029"/>
            <a:ext cx="5245540"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5B6770"/>
                </a:solidFill>
                <a:latin typeface="Courier New" pitchFamily="49" charset="0"/>
                <a:ea typeface="Courier New" pitchFamily="49" charset="-122"/>
                <a:cs typeface="Courier New" pitchFamily="49" charset="-120"/>
              </a:rPr>
              <a:t>MESURÉ</a:t>
            </a:r>
            <a:endParaRPr lang="en-US" sz="1200" dirty="0"/>
          </a:p>
        </p:txBody>
      </p:sp>
      <p:sp>
        <p:nvSpPr>
          <p:cNvPr id="6" name="Text 4"/>
          <p:cNvSpPr/>
          <p:nvPr/>
        </p:nvSpPr>
        <p:spPr>
          <a:xfrm>
            <a:off x="812742" y="2781995"/>
            <a:ext cx="524554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02B"/>
                </a:solidFill>
                <a:latin typeface="Arial" pitchFamily="34" charset="0"/>
                <a:ea typeface="Arial" pitchFamily="34" charset="-122"/>
                <a:cs typeface="Arial" pitchFamily="34" charset="-120"/>
              </a:rPr>
              <a:t>92–100 ms, 92 %, ≈ 2 s ; 177 cas sur 21 fichiers</a:t>
            </a:r>
            <a:endParaRPr lang="en-US" sz="1400" dirty="0"/>
          </a:p>
        </p:txBody>
      </p:sp>
      <p:sp>
        <p:nvSpPr>
          <p:cNvPr id="7" name="Text 5"/>
          <p:cNvSpPr/>
          <p:nvPr/>
        </p:nvSpPr>
        <p:spPr>
          <a:xfrm>
            <a:off x="812742" y="3101863"/>
            <a:ext cx="5245540"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C2410C"/>
                </a:solidFill>
                <a:latin typeface="Courier New" pitchFamily="49" charset="0"/>
                <a:ea typeface="Courier New" pitchFamily="49" charset="-122"/>
                <a:cs typeface="Courier New" pitchFamily="49" charset="-120"/>
              </a:rPr>
              <a:t>NON FAIT</a:t>
            </a:r>
            <a:endParaRPr lang="en-US" sz="1200" dirty="0"/>
          </a:p>
        </p:txBody>
      </p:sp>
      <p:sp>
        <p:nvSpPr>
          <p:cNvPr id="8" name="Text 6"/>
          <p:cNvSpPr/>
          <p:nvPr/>
        </p:nvSpPr>
        <p:spPr>
          <a:xfrm>
            <a:off x="812742" y="3388829"/>
            <a:ext cx="524554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02B"/>
                </a:solidFill>
                <a:latin typeface="Arial" pitchFamily="34" charset="0"/>
                <a:ea typeface="Arial" pitchFamily="34" charset="-122"/>
                <a:cs typeface="Arial" pitchFamily="34" charset="-120"/>
              </a:rPr>
              <a:t>Message de timeout, échantillon de mesures élargi</a:t>
            </a:r>
            <a:endParaRPr lang="en-US" sz="1400" dirty="0"/>
          </a:p>
        </p:txBody>
      </p:sp>
      <p:sp>
        <p:nvSpPr>
          <p:cNvPr id="9" name="Text 7"/>
          <p:cNvSpPr/>
          <p:nvPr/>
        </p:nvSpPr>
        <p:spPr>
          <a:xfrm>
            <a:off x="6286500" y="1888207"/>
            <a:ext cx="524554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770"/>
                </a:solidFill>
                <a:latin typeface="Arial" pitchFamily="34" charset="0"/>
                <a:ea typeface="Arial" pitchFamily="34" charset="-122"/>
                <a:cs typeface="Arial" pitchFamily="34" charset="-120"/>
              </a:rPr>
              <a:t>Jours par étape (25,5 sur 30)</a:t>
            </a:r>
            <a:endParaRPr lang="en-US" sz="1200" dirty="0"/>
          </a:p>
        </p:txBody>
      </p:sp>
      <p:sp>
        <p:nvSpPr>
          <p:cNvPr id="10" name="Text 8"/>
          <p:cNvSpPr/>
          <p:nvPr/>
        </p:nvSpPr>
        <p:spPr>
          <a:xfrm>
            <a:off x="6235700" y="2175173"/>
            <a:ext cx="1511242"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Mise en place</a:t>
            </a:r>
            <a:endParaRPr lang="en-US" sz="1200" dirty="0"/>
          </a:p>
        </p:txBody>
      </p:sp>
      <p:sp>
        <p:nvSpPr>
          <p:cNvPr id="11" name="Shape 9"/>
          <p:cNvSpPr/>
          <p:nvPr/>
        </p:nvSpPr>
        <p:spPr>
          <a:xfrm>
            <a:off x="7848513" y="2186595"/>
            <a:ext cx="571500" cy="190500"/>
          </a:xfrm>
          <a:prstGeom prst="rect">
            <a:avLst/>
          </a:prstGeom>
          <a:solidFill>
            <a:srgbClr val="8A98A6"/>
          </a:solidFill>
          <a:ln/>
        </p:spPr>
      </p:sp>
      <p:sp>
        <p:nvSpPr>
          <p:cNvPr id="12" name="Text 10"/>
          <p:cNvSpPr/>
          <p:nvPr/>
        </p:nvSpPr>
        <p:spPr>
          <a:xfrm>
            <a:off x="8521584" y="2175173"/>
            <a:ext cx="2626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B"/>
                </a:solidFill>
                <a:latin typeface="Arial" pitchFamily="34" charset="0"/>
                <a:ea typeface="Arial" pitchFamily="34" charset="-122"/>
                <a:cs typeface="Arial" pitchFamily="34" charset="-120"/>
              </a:rPr>
              <a:t>1,5</a:t>
            </a:r>
            <a:endParaRPr lang="en-US" sz="1200" dirty="0"/>
          </a:p>
        </p:txBody>
      </p:sp>
      <p:sp>
        <p:nvSpPr>
          <p:cNvPr id="13" name="Text 11"/>
          <p:cNvSpPr/>
          <p:nvPr/>
        </p:nvSpPr>
        <p:spPr>
          <a:xfrm>
            <a:off x="6235700" y="2477368"/>
            <a:ext cx="1511242"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Détection</a:t>
            </a:r>
            <a:endParaRPr lang="en-US" sz="1200" dirty="0"/>
          </a:p>
        </p:txBody>
      </p:sp>
      <p:sp>
        <p:nvSpPr>
          <p:cNvPr id="14" name="Shape 12"/>
          <p:cNvSpPr/>
          <p:nvPr/>
        </p:nvSpPr>
        <p:spPr>
          <a:xfrm>
            <a:off x="7848513" y="2488803"/>
            <a:ext cx="3048000" cy="190500"/>
          </a:xfrm>
          <a:prstGeom prst="rect">
            <a:avLst/>
          </a:prstGeom>
          <a:solidFill>
            <a:srgbClr val="8A98A6"/>
          </a:solidFill>
          <a:ln/>
        </p:spPr>
      </p:sp>
      <p:sp>
        <p:nvSpPr>
          <p:cNvPr id="15" name="Text 13"/>
          <p:cNvSpPr/>
          <p:nvPr/>
        </p:nvSpPr>
        <p:spPr>
          <a:xfrm>
            <a:off x="10998084" y="2477368"/>
            <a:ext cx="1355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B"/>
                </a:solidFill>
                <a:latin typeface="Arial" pitchFamily="34" charset="0"/>
                <a:ea typeface="Arial" pitchFamily="34" charset="-122"/>
                <a:cs typeface="Arial" pitchFamily="34" charset="-120"/>
              </a:rPr>
              <a:t>8</a:t>
            </a:r>
            <a:endParaRPr lang="en-US" sz="1200" dirty="0"/>
          </a:p>
        </p:txBody>
      </p:sp>
      <p:sp>
        <p:nvSpPr>
          <p:cNvPr id="16" name="Text 14"/>
          <p:cNvSpPr/>
          <p:nvPr/>
        </p:nvSpPr>
        <p:spPr>
          <a:xfrm>
            <a:off x="6235700" y="2779576"/>
            <a:ext cx="1511242"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Autocapture</a:t>
            </a:r>
            <a:endParaRPr lang="en-US" sz="1200" dirty="0"/>
          </a:p>
        </p:txBody>
      </p:sp>
      <p:sp>
        <p:nvSpPr>
          <p:cNvPr id="17" name="Shape 15"/>
          <p:cNvSpPr/>
          <p:nvPr/>
        </p:nvSpPr>
        <p:spPr>
          <a:xfrm>
            <a:off x="7848513" y="2790999"/>
            <a:ext cx="762000" cy="190500"/>
          </a:xfrm>
          <a:prstGeom prst="rect">
            <a:avLst/>
          </a:prstGeom>
          <a:solidFill>
            <a:srgbClr val="8A98A6"/>
          </a:solidFill>
          <a:ln/>
        </p:spPr>
      </p:sp>
      <p:sp>
        <p:nvSpPr>
          <p:cNvPr id="18" name="Text 16"/>
          <p:cNvSpPr/>
          <p:nvPr/>
        </p:nvSpPr>
        <p:spPr>
          <a:xfrm>
            <a:off x="8712084" y="2779576"/>
            <a:ext cx="1355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B"/>
                </a:solidFill>
                <a:latin typeface="Arial" pitchFamily="34" charset="0"/>
                <a:ea typeface="Arial" pitchFamily="34" charset="-122"/>
                <a:cs typeface="Arial" pitchFamily="34" charset="-120"/>
              </a:rPr>
              <a:t>2</a:t>
            </a:r>
            <a:endParaRPr lang="en-US" sz="1200" dirty="0"/>
          </a:p>
        </p:txBody>
      </p:sp>
      <p:sp>
        <p:nvSpPr>
          <p:cNvPr id="19" name="Text 17"/>
          <p:cNvSpPr/>
          <p:nvPr/>
        </p:nvSpPr>
        <p:spPr>
          <a:xfrm>
            <a:off x="6235700" y="3081772"/>
            <a:ext cx="1511242"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Reco. recto/verso</a:t>
            </a:r>
            <a:endParaRPr lang="en-US" sz="1200" dirty="0"/>
          </a:p>
        </p:txBody>
      </p:sp>
      <p:sp>
        <p:nvSpPr>
          <p:cNvPr id="20" name="Shape 18"/>
          <p:cNvSpPr/>
          <p:nvPr/>
        </p:nvSpPr>
        <p:spPr>
          <a:xfrm>
            <a:off x="7848513" y="3093207"/>
            <a:ext cx="1524000" cy="190500"/>
          </a:xfrm>
          <a:prstGeom prst="rect">
            <a:avLst/>
          </a:prstGeom>
          <a:solidFill>
            <a:srgbClr val="8A98A6"/>
          </a:solidFill>
          <a:ln/>
        </p:spPr>
      </p:sp>
      <p:sp>
        <p:nvSpPr>
          <p:cNvPr id="21" name="Text 19"/>
          <p:cNvSpPr/>
          <p:nvPr/>
        </p:nvSpPr>
        <p:spPr>
          <a:xfrm>
            <a:off x="9474084" y="3081772"/>
            <a:ext cx="1355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B"/>
                </a:solidFill>
                <a:latin typeface="Arial" pitchFamily="34" charset="0"/>
                <a:ea typeface="Arial" pitchFamily="34" charset="-122"/>
                <a:cs typeface="Arial" pitchFamily="34" charset="-120"/>
              </a:rPr>
              <a:t>4</a:t>
            </a:r>
            <a:endParaRPr lang="en-US" sz="1200" dirty="0"/>
          </a:p>
        </p:txBody>
      </p:sp>
      <p:sp>
        <p:nvSpPr>
          <p:cNvPr id="22" name="Text 20"/>
          <p:cNvSpPr/>
          <p:nvPr/>
        </p:nvSpPr>
        <p:spPr>
          <a:xfrm>
            <a:off x="6235700" y="3383979"/>
            <a:ext cx="1511242"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Finitions</a:t>
            </a:r>
            <a:endParaRPr lang="en-US" sz="1200" dirty="0"/>
          </a:p>
        </p:txBody>
      </p:sp>
      <p:sp>
        <p:nvSpPr>
          <p:cNvPr id="23" name="Shape 21"/>
          <p:cNvSpPr/>
          <p:nvPr/>
        </p:nvSpPr>
        <p:spPr>
          <a:xfrm>
            <a:off x="7848513" y="3395402"/>
            <a:ext cx="1905000" cy="190500"/>
          </a:xfrm>
          <a:prstGeom prst="rect">
            <a:avLst/>
          </a:prstGeom>
          <a:solidFill>
            <a:srgbClr val="8A98A6"/>
          </a:solidFill>
          <a:ln/>
        </p:spPr>
      </p:sp>
      <p:sp>
        <p:nvSpPr>
          <p:cNvPr id="24" name="Text 22"/>
          <p:cNvSpPr/>
          <p:nvPr/>
        </p:nvSpPr>
        <p:spPr>
          <a:xfrm>
            <a:off x="9855084" y="3383979"/>
            <a:ext cx="1355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B"/>
                </a:solidFill>
                <a:latin typeface="Arial" pitchFamily="34" charset="0"/>
                <a:ea typeface="Arial" pitchFamily="34" charset="-122"/>
                <a:cs typeface="Arial" pitchFamily="34" charset="-120"/>
              </a:rPr>
              <a:t>5</a:t>
            </a:r>
            <a:endParaRPr lang="en-US" sz="1200" dirty="0"/>
          </a:p>
        </p:txBody>
      </p:sp>
      <p:sp>
        <p:nvSpPr>
          <p:cNvPr id="25" name="Text 23"/>
          <p:cNvSpPr/>
          <p:nvPr/>
        </p:nvSpPr>
        <p:spPr>
          <a:xfrm>
            <a:off x="6235700" y="3686175"/>
            <a:ext cx="1511242"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Livraison</a:t>
            </a:r>
            <a:endParaRPr lang="en-US" sz="1200" dirty="0"/>
          </a:p>
        </p:txBody>
      </p:sp>
      <p:sp>
        <p:nvSpPr>
          <p:cNvPr id="26" name="Shape 24"/>
          <p:cNvSpPr/>
          <p:nvPr/>
        </p:nvSpPr>
        <p:spPr>
          <a:xfrm>
            <a:off x="7848513" y="3697610"/>
            <a:ext cx="1905000" cy="190500"/>
          </a:xfrm>
          <a:prstGeom prst="rect">
            <a:avLst/>
          </a:prstGeom>
          <a:solidFill>
            <a:srgbClr val="8A98A6"/>
          </a:solidFill>
          <a:ln/>
        </p:spPr>
      </p:sp>
      <p:sp>
        <p:nvSpPr>
          <p:cNvPr id="27" name="Text 25"/>
          <p:cNvSpPr/>
          <p:nvPr/>
        </p:nvSpPr>
        <p:spPr>
          <a:xfrm>
            <a:off x="9855084" y="3686175"/>
            <a:ext cx="1355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B"/>
                </a:solidFill>
                <a:latin typeface="Arial" pitchFamily="34" charset="0"/>
                <a:ea typeface="Arial" pitchFamily="34" charset="-122"/>
                <a:cs typeface="Arial" pitchFamily="34" charset="-120"/>
              </a:rPr>
              <a:t>5</a:t>
            </a:r>
            <a:endParaRPr lang="en-US" sz="1200" dirty="0"/>
          </a:p>
        </p:txBody>
      </p:sp>
      <p:sp>
        <p:nvSpPr>
          <p:cNvPr id="28" name="Text 26"/>
          <p:cNvSpPr/>
          <p:nvPr/>
        </p:nvSpPr>
        <p:spPr>
          <a:xfrm>
            <a:off x="812742" y="6238267"/>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29" name="Text 27"/>
          <p:cNvSpPr/>
          <p:nvPr/>
        </p:nvSpPr>
        <p:spPr>
          <a:xfrm>
            <a:off x="9417107" y="6238267"/>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19 / 23</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742" y="2321074"/>
            <a:ext cx="10883510"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C2410C"/>
                </a:solidFill>
                <a:latin typeface="Courier New" pitchFamily="49" charset="0"/>
                <a:ea typeface="Courier New" pitchFamily="49" charset="-122"/>
                <a:cs typeface="Courier New" pitchFamily="49" charset="-120"/>
              </a:rPr>
              <a:t>REMERCIEMENTS ET QUESTIONS</a:t>
            </a:r>
            <a:endParaRPr lang="en-US" sz="1200" dirty="0"/>
          </a:p>
        </p:txBody>
      </p:sp>
      <p:sp>
        <p:nvSpPr>
          <p:cNvPr id="3" name="Text 1"/>
          <p:cNvSpPr/>
          <p:nvPr>
            <p:ph type="title"/>
          </p:nvPr>
        </p:nvSpPr>
        <p:spPr>
          <a:xfrm>
            <a:off x="812742" y="2696964"/>
            <a:ext cx="10883510" cy="69596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FFFFF"/>
                </a:solidFill>
                <a:latin typeface="Arial" pitchFamily="34" charset="0"/>
                <a:ea typeface="Arial" pitchFamily="34" charset="-122"/>
                <a:cs typeface="Arial" pitchFamily="34" charset="-120"/>
              </a:rPr>
              <a:t>Merci de votre attention</a:t>
            </a:r>
            <a:endParaRPr lang="en-US" sz="4800" dirty="0"/>
          </a:p>
        </p:txBody>
      </p:sp>
      <p:sp>
        <p:nvSpPr>
          <p:cNvPr id="4" name="Text 2"/>
          <p:cNvSpPr/>
          <p:nvPr/>
        </p:nvSpPr>
        <p:spPr>
          <a:xfrm>
            <a:off x="812742" y="3545297"/>
            <a:ext cx="10883510" cy="305955"/>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B8C2CC"/>
                </a:solidFill>
                <a:latin typeface="Arial" pitchFamily="34" charset="0"/>
                <a:ea typeface="Arial" pitchFamily="34" charset="-122"/>
                <a:cs typeface="Arial" pitchFamily="34" charset="-120"/>
              </a:rPr>
              <a:t>Merci à mes encadrants, à l’ENSI et aux membres du jury.</a:t>
            </a:r>
            <a:endParaRPr lang="en-US" sz="1700" dirty="0"/>
          </a:p>
        </p:txBody>
      </p:sp>
      <p:sp>
        <p:nvSpPr>
          <p:cNvPr id="5" name="Text 3"/>
          <p:cNvSpPr/>
          <p:nvPr/>
        </p:nvSpPr>
        <p:spPr>
          <a:xfrm>
            <a:off x="812742" y="4003625"/>
            <a:ext cx="10883510" cy="355485"/>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FDBA74"/>
                </a:solidFill>
                <a:latin typeface="Arial" pitchFamily="34" charset="0"/>
                <a:ea typeface="Arial" pitchFamily="34" charset="-122"/>
                <a:cs typeface="Arial" pitchFamily="34" charset="-120"/>
              </a:rPr>
              <a:t>Questions ?</a:t>
            </a:r>
            <a:endParaRPr lang="en-US" sz="2000" dirty="0"/>
          </a:p>
        </p:txBody>
      </p:sp>
      <p:sp>
        <p:nvSpPr>
          <p:cNvPr id="6" name="Text 4"/>
          <p:cNvSpPr/>
          <p:nvPr/>
        </p:nvSpPr>
        <p:spPr>
          <a:xfrm>
            <a:off x="812742" y="6238267"/>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CC"/>
                </a:solidFill>
                <a:latin typeface="Arial" pitchFamily="34" charset="0"/>
                <a:ea typeface="Arial" pitchFamily="34" charset="-122"/>
                <a:cs typeface="Arial" pitchFamily="34" charset="-120"/>
              </a:rPr>
              <a:t>Avatar-ID · autocapture de la CIN</a:t>
            </a:r>
            <a:endParaRPr lang="en-US" sz="1200" dirty="0"/>
          </a:p>
        </p:txBody>
      </p:sp>
      <p:sp>
        <p:nvSpPr>
          <p:cNvPr id="7" name="Text 5"/>
          <p:cNvSpPr/>
          <p:nvPr/>
        </p:nvSpPr>
        <p:spPr>
          <a:xfrm>
            <a:off x="9417107" y="6238267"/>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C2CC"/>
                </a:solidFill>
                <a:latin typeface="Arial" pitchFamily="34" charset="0"/>
                <a:ea typeface="Arial" pitchFamily="34" charset="-122"/>
                <a:cs typeface="Arial" pitchFamily="34" charset="-120"/>
              </a:rPr>
              <a:t>20 / 23</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42" y="812750"/>
            <a:ext cx="10883510"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C2410C"/>
                </a:solidFill>
                <a:latin typeface="Courier New" pitchFamily="49" charset="0"/>
                <a:ea typeface="Courier New" pitchFamily="49" charset="-122"/>
                <a:cs typeface="Courier New" pitchFamily="49" charset="-120"/>
              </a:rPr>
              <a:t>ANNEXE A</a:t>
            </a:r>
            <a:endParaRPr lang="en-US" sz="1200" dirty="0"/>
          </a:p>
        </p:txBody>
      </p:sp>
      <p:sp>
        <p:nvSpPr>
          <p:cNvPr id="3" name="Text 1"/>
          <p:cNvSpPr/>
          <p:nvPr>
            <p:ph type="title"/>
          </p:nvPr>
        </p:nvSpPr>
        <p:spPr>
          <a:xfrm>
            <a:off x="812742" y="1239465"/>
            <a:ext cx="10883510" cy="872259"/>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Les seuils sont empiriques ; 120 n’a de sens</a:t>
            </a:r>
            <a:endParaRPr lang="en-US" sz="2900" dirty="0"/>
          </a:p>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qu’à 856 × 540 px</a:t>
            </a:r>
            <a:endParaRPr lang="en-US" sz="2900" dirty="0"/>
          </a:p>
        </p:txBody>
      </p:sp>
      <p:sp>
        <p:nvSpPr>
          <p:cNvPr id="4" name="Text 2"/>
          <p:cNvSpPr/>
          <p:nvPr/>
        </p:nvSpPr>
        <p:spPr>
          <a:xfrm>
            <a:off x="812742" y="2314922"/>
            <a:ext cx="4063971" cy="350520"/>
          </a:xfrm>
          <a:prstGeom prst="rect">
            <a:avLst/>
          </a:prstGeom>
          <a:solidFill>
            <a:srgbClr val="DDE3E9"/>
          </a:solidFill>
          <a:ln/>
        </p:spPr>
        <p:txBody>
          <a:bodyPr wrap="square" lIns="126942" tIns="76200" rIns="12640" bIns="5080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Paramètre</a:t>
            </a:r>
            <a:endParaRPr lang="en-US" sz="1200" dirty="0"/>
          </a:p>
        </p:txBody>
      </p:sp>
      <p:sp>
        <p:nvSpPr>
          <p:cNvPr id="5" name="Text 3"/>
          <p:cNvSpPr/>
          <p:nvPr/>
        </p:nvSpPr>
        <p:spPr>
          <a:xfrm>
            <a:off x="4895763" y="2314922"/>
            <a:ext cx="2667000" cy="350520"/>
          </a:xfrm>
          <a:prstGeom prst="rect">
            <a:avLst/>
          </a:prstGeom>
          <a:solidFill>
            <a:srgbClr val="DDE3E9"/>
          </a:solidFill>
          <a:ln/>
        </p:spPr>
        <p:txBody>
          <a:bodyPr wrap="square" lIns="126942" tIns="76200" rIns="54549" bIns="5080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Valeur</a:t>
            </a:r>
            <a:endParaRPr lang="en-US" sz="1200" dirty="0"/>
          </a:p>
        </p:txBody>
      </p:sp>
      <p:sp>
        <p:nvSpPr>
          <p:cNvPr id="6" name="Text 4"/>
          <p:cNvSpPr/>
          <p:nvPr/>
        </p:nvSpPr>
        <p:spPr>
          <a:xfrm>
            <a:off x="7581813" y="2314922"/>
            <a:ext cx="4444971" cy="350520"/>
          </a:xfrm>
          <a:prstGeom prst="rect">
            <a:avLst/>
          </a:prstGeom>
          <a:solidFill>
            <a:srgbClr val="DDE3E9"/>
          </a:solidFill>
          <a:ln/>
        </p:spPr>
        <p:txBody>
          <a:bodyPr wrap="square" lIns="126942" tIns="76200" rIns="1210" bIns="5080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Fichier source</a:t>
            </a:r>
            <a:endParaRPr lang="en-US" sz="1200" dirty="0"/>
          </a:p>
        </p:txBody>
      </p:sp>
      <p:sp>
        <p:nvSpPr>
          <p:cNvPr id="7" name="Text 5"/>
          <p:cNvSpPr/>
          <p:nvPr/>
        </p:nvSpPr>
        <p:spPr>
          <a:xfrm>
            <a:off x="812742" y="2684500"/>
            <a:ext cx="4063971" cy="350520"/>
          </a:xfrm>
          <a:prstGeom prst="rect">
            <a:avLst/>
          </a:prstGeom>
          <a:solidFill>
            <a:srgbClr val="F1F4F7"/>
          </a:solidFill>
          <a:ln/>
        </p:spPr>
        <p:txBody>
          <a:bodyPr wrap="square" lIns="126942" tIns="76200" rIns="12640" bIns="5080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Score de détection minimal</a:t>
            </a:r>
            <a:endParaRPr lang="en-US" sz="1200" dirty="0"/>
          </a:p>
        </p:txBody>
      </p:sp>
      <p:sp>
        <p:nvSpPr>
          <p:cNvPr id="8" name="Text 6"/>
          <p:cNvSpPr/>
          <p:nvPr/>
        </p:nvSpPr>
        <p:spPr>
          <a:xfrm>
            <a:off x="4895763" y="2684500"/>
            <a:ext cx="2667000" cy="350520"/>
          </a:xfrm>
          <a:prstGeom prst="rect">
            <a:avLst/>
          </a:prstGeom>
          <a:solidFill>
            <a:srgbClr val="F1F4F7"/>
          </a:solidFill>
          <a:ln/>
        </p:spPr>
        <p:txBody>
          <a:bodyPr wrap="square" lIns="126942" tIns="76200" rIns="54549" bIns="50800" rtlCol="0" anchor="t">
            <a:normAutofit/>
          </a:bodyPr>
          <a:lstStyle/>
          <a:p>
            <a:pPr algn="l" indent="0" marL="0">
              <a:lnSpc>
                <a:spcPts val="1560"/>
              </a:lnSpc>
              <a:buNone/>
            </a:pPr>
            <a:r>
              <a:rPr lang="en-US" sz="1200" dirty="0">
                <a:solidFill>
                  <a:srgbClr val="14202B"/>
                </a:solidFill>
                <a:latin typeface="Arial" pitchFamily="34" charset="0"/>
                <a:ea typeface="Arial" pitchFamily="34" charset="-122"/>
                <a:cs typeface="Arial" pitchFamily="34" charset="-120"/>
              </a:rPr>
              <a:t>0,30</a:t>
            </a:r>
            <a:endParaRPr lang="en-US" sz="1200" dirty="0"/>
          </a:p>
        </p:txBody>
      </p:sp>
      <p:sp>
        <p:nvSpPr>
          <p:cNvPr id="9" name="Text 7"/>
          <p:cNvSpPr/>
          <p:nvPr/>
        </p:nvSpPr>
        <p:spPr>
          <a:xfrm>
            <a:off x="7581813" y="2684500"/>
            <a:ext cx="4444971" cy="350520"/>
          </a:xfrm>
          <a:prstGeom prst="rect">
            <a:avLst/>
          </a:prstGeom>
          <a:solidFill>
            <a:srgbClr val="F1F4F7"/>
          </a:solidFill>
          <a:ln/>
        </p:spPr>
        <p:txBody>
          <a:bodyPr wrap="square" lIns="126942" tIns="76200" rIns="1210" bIns="50800" rtlCol="0" anchor="t">
            <a:normAutofit/>
          </a:bodyPr>
          <a:lstStyle/>
          <a:p>
            <a:pPr algn="l" indent="0" marL="0">
              <a:lnSpc>
                <a:spcPts val="1560"/>
              </a:lnSpc>
              <a:buNone/>
            </a:pPr>
            <a:r>
              <a:rPr lang="en-US" sz="1200" dirty="0">
                <a:solidFill>
                  <a:srgbClr val="14202B"/>
                </a:solidFill>
                <a:latin typeface="Courier New" pitchFamily="49" charset="0"/>
                <a:ea typeface="Courier New" pitchFamily="49" charset="-122"/>
                <a:cs typeface="Courier New" pitchFamily="49" charset="-120"/>
              </a:rPr>
              <a:t>document_contour_detector.dart</a:t>
            </a:r>
            <a:endParaRPr lang="en-US" sz="1200" dirty="0"/>
          </a:p>
        </p:txBody>
      </p:sp>
      <p:sp>
        <p:nvSpPr>
          <p:cNvPr id="10" name="Text 8"/>
          <p:cNvSpPr/>
          <p:nvPr/>
        </p:nvSpPr>
        <p:spPr>
          <a:xfrm>
            <a:off x="812742" y="3054065"/>
            <a:ext cx="4063971" cy="350520"/>
          </a:xfrm>
          <a:prstGeom prst="rect">
            <a:avLst/>
          </a:prstGeom>
          <a:solidFill>
            <a:srgbClr val="F1F4F7"/>
          </a:solidFill>
          <a:ln/>
        </p:spPr>
        <p:txBody>
          <a:bodyPr wrap="square" lIns="126942" tIns="76200" rIns="12640" bIns="5080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Sortie anticipée</a:t>
            </a:r>
            <a:endParaRPr lang="en-US" sz="1200" dirty="0"/>
          </a:p>
        </p:txBody>
      </p:sp>
      <p:sp>
        <p:nvSpPr>
          <p:cNvPr id="11" name="Text 9"/>
          <p:cNvSpPr/>
          <p:nvPr/>
        </p:nvSpPr>
        <p:spPr>
          <a:xfrm>
            <a:off x="4895763" y="3054065"/>
            <a:ext cx="2667000" cy="350520"/>
          </a:xfrm>
          <a:prstGeom prst="rect">
            <a:avLst/>
          </a:prstGeom>
          <a:solidFill>
            <a:srgbClr val="F1F4F7"/>
          </a:solidFill>
          <a:ln/>
        </p:spPr>
        <p:txBody>
          <a:bodyPr wrap="square" lIns="126942" tIns="76200" rIns="54549" bIns="50800" rtlCol="0" anchor="t">
            <a:normAutofit/>
          </a:bodyPr>
          <a:lstStyle/>
          <a:p>
            <a:pPr algn="l" indent="0" marL="0">
              <a:lnSpc>
                <a:spcPts val="1560"/>
              </a:lnSpc>
              <a:buNone/>
            </a:pPr>
            <a:r>
              <a:rPr lang="en-US" sz="1200" dirty="0">
                <a:solidFill>
                  <a:srgbClr val="14202B"/>
                </a:solidFill>
                <a:latin typeface="Arial" pitchFamily="34" charset="0"/>
                <a:ea typeface="Arial" pitchFamily="34" charset="-122"/>
                <a:cs typeface="Arial" pitchFamily="34" charset="-120"/>
              </a:rPr>
              <a:t>0,65</a:t>
            </a:r>
            <a:endParaRPr lang="en-US" sz="1200" dirty="0"/>
          </a:p>
        </p:txBody>
      </p:sp>
      <p:sp>
        <p:nvSpPr>
          <p:cNvPr id="12" name="Text 10"/>
          <p:cNvSpPr/>
          <p:nvPr/>
        </p:nvSpPr>
        <p:spPr>
          <a:xfrm>
            <a:off x="7581813" y="3054065"/>
            <a:ext cx="4444971" cy="350520"/>
          </a:xfrm>
          <a:prstGeom prst="rect">
            <a:avLst/>
          </a:prstGeom>
          <a:solidFill>
            <a:srgbClr val="F1F4F7"/>
          </a:solidFill>
          <a:ln/>
        </p:spPr>
        <p:txBody>
          <a:bodyPr wrap="square" lIns="126942" tIns="76200" rIns="1210" bIns="50800" rtlCol="0" anchor="t">
            <a:normAutofit/>
          </a:bodyPr>
          <a:lstStyle/>
          <a:p>
            <a:pPr algn="l" indent="0" marL="0">
              <a:lnSpc>
                <a:spcPts val="1560"/>
              </a:lnSpc>
              <a:buNone/>
            </a:pPr>
            <a:r>
              <a:rPr lang="en-US" sz="1200" dirty="0">
                <a:solidFill>
                  <a:srgbClr val="14202B"/>
                </a:solidFill>
                <a:latin typeface="Courier New" pitchFamily="49" charset="0"/>
                <a:ea typeface="Courier New" pitchFamily="49" charset="-122"/>
                <a:cs typeface="Courier New" pitchFamily="49" charset="-120"/>
              </a:rPr>
              <a:t>document_contour_detector.dart</a:t>
            </a:r>
            <a:endParaRPr lang="en-US" sz="1200" dirty="0"/>
          </a:p>
        </p:txBody>
      </p:sp>
      <p:sp>
        <p:nvSpPr>
          <p:cNvPr id="13" name="Text 11"/>
          <p:cNvSpPr/>
          <p:nvPr/>
        </p:nvSpPr>
        <p:spPr>
          <a:xfrm>
            <a:off x="812742" y="3423630"/>
            <a:ext cx="4063971" cy="350520"/>
          </a:xfrm>
          <a:prstGeom prst="rect">
            <a:avLst/>
          </a:prstGeom>
          <a:solidFill>
            <a:srgbClr val="F1F4F7"/>
          </a:solidFill>
          <a:ln/>
        </p:spPr>
        <p:txBody>
          <a:bodyPr wrap="square" lIns="126942" tIns="76200" rIns="12640" bIns="5080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Échelle de recherche grossière</a:t>
            </a:r>
            <a:endParaRPr lang="en-US" sz="1200" dirty="0"/>
          </a:p>
        </p:txBody>
      </p:sp>
      <p:sp>
        <p:nvSpPr>
          <p:cNvPr id="14" name="Text 12"/>
          <p:cNvSpPr/>
          <p:nvPr/>
        </p:nvSpPr>
        <p:spPr>
          <a:xfrm>
            <a:off x="4895763" y="3423630"/>
            <a:ext cx="2667000" cy="350520"/>
          </a:xfrm>
          <a:prstGeom prst="rect">
            <a:avLst/>
          </a:prstGeom>
          <a:solidFill>
            <a:srgbClr val="F1F4F7"/>
          </a:solidFill>
          <a:ln/>
        </p:spPr>
        <p:txBody>
          <a:bodyPr wrap="square" lIns="126942" tIns="76200" rIns="54549" bIns="50800" rtlCol="0" anchor="t">
            <a:normAutofit/>
          </a:bodyPr>
          <a:lstStyle/>
          <a:p>
            <a:pPr algn="l" indent="0" marL="0">
              <a:lnSpc>
                <a:spcPts val="1560"/>
              </a:lnSpc>
              <a:buNone/>
            </a:pPr>
            <a:r>
              <a:rPr lang="en-US" sz="1200" dirty="0">
                <a:solidFill>
                  <a:srgbClr val="14202B"/>
                </a:solidFill>
                <a:latin typeface="Arial" pitchFamily="34" charset="0"/>
                <a:ea typeface="Arial" pitchFamily="34" charset="-122"/>
                <a:cs typeface="Arial" pitchFamily="34" charset="-120"/>
              </a:rPr>
              <a:t>0,45</a:t>
            </a:r>
            <a:endParaRPr lang="en-US" sz="1200" dirty="0"/>
          </a:p>
        </p:txBody>
      </p:sp>
      <p:sp>
        <p:nvSpPr>
          <p:cNvPr id="15" name="Text 13"/>
          <p:cNvSpPr/>
          <p:nvPr/>
        </p:nvSpPr>
        <p:spPr>
          <a:xfrm>
            <a:off x="7581813" y="3423630"/>
            <a:ext cx="4444971" cy="350520"/>
          </a:xfrm>
          <a:prstGeom prst="rect">
            <a:avLst/>
          </a:prstGeom>
          <a:solidFill>
            <a:srgbClr val="F1F4F7"/>
          </a:solidFill>
          <a:ln/>
        </p:spPr>
        <p:txBody>
          <a:bodyPr wrap="square" lIns="126942" tIns="76200" rIns="1210" bIns="50800" rtlCol="0" anchor="t">
            <a:normAutofit/>
          </a:bodyPr>
          <a:lstStyle/>
          <a:p>
            <a:pPr algn="l" indent="0" marL="0">
              <a:lnSpc>
                <a:spcPts val="1560"/>
              </a:lnSpc>
              <a:buNone/>
            </a:pPr>
            <a:r>
              <a:rPr lang="en-US" sz="1200" dirty="0">
                <a:solidFill>
                  <a:srgbClr val="14202B"/>
                </a:solidFill>
                <a:latin typeface="Courier New" pitchFamily="49" charset="0"/>
                <a:ea typeface="Courier New" pitchFamily="49" charset="-122"/>
                <a:cs typeface="Courier New" pitchFamily="49" charset="-120"/>
              </a:rPr>
              <a:t>document_contour_detector.dart</a:t>
            </a:r>
            <a:endParaRPr lang="en-US" sz="1200" dirty="0"/>
          </a:p>
        </p:txBody>
      </p:sp>
      <p:sp>
        <p:nvSpPr>
          <p:cNvPr id="16" name="Text 14"/>
          <p:cNvSpPr/>
          <p:nvPr/>
        </p:nvSpPr>
        <p:spPr>
          <a:xfrm>
            <a:off x="812742" y="3793207"/>
            <a:ext cx="4063971" cy="350520"/>
          </a:xfrm>
          <a:prstGeom prst="rect">
            <a:avLst/>
          </a:prstGeom>
          <a:solidFill>
            <a:srgbClr val="F1F4F7"/>
          </a:solidFill>
          <a:ln/>
        </p:spPr>
        <p:txBody>
          <a:bodyPr wrap="square" lIns="126942" tIns="76200" rIns="12640" bIns="5080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Canny bas / haut (× médiane)</a:t>
            </a:r>
            <a:endParaRPr lang="en-US" sz="1200" dirty="0"/>
          </a:p>
        </p:txBody>
      </p:sp>
      <p:sp>
        <p:nvSpPr>
          <p:cNvPr id="17" name="Text 15"/>
          <p:cNvSpPr/>
          <p:nvPr/>
        </p:nvSpPr>
        <p:spPr>
          <a:xfrm>
            <a:off x="4895763" y="3793207"/>
            <a:ext cx="2667000" cy="350520"/>
          </a:xfrm>
          <a:prstGeom prst="rect">
            <a:avLst/>
          </a:prstGeom>
          <a:solidFill>
            <a:srgbClr val="F1F4F7"/>
          </a:solidFill>
          <a:ln/>
        </p:spPr>
        <p:txBody>
          <a:bodyPr wrap="square" lIns="126942" tIns="76200" rIns="54549" bIns="50800" rtlCol="0" anchor="t">
            <a:normAutofit/>
          </a:bodyPr>
          <a:lstStyle/>
          <a:p>
            <a:pPr algn="l" indent="0" marL="0">
              <a:lnSpc>
                <a:spcPts val="1560"/>
              </a:lnSpc>
              <a:buNone/>
            </a:pPr>
            <a:r>
              <a:rPr lang="en-US" sz="1200" dirty="0">
                <a:solidFill>
                  <a:srgbClr val="14202B"/>
                </a:solidFill>
                <a:latin typeface="Arial" pitchFamily="34" charset="0"/>
                <a:ea typeface="Arial" pitchFamily="34" charset="-122"/>
                <a:cs typeface="Arial" pitchFamily="34" charset="-120"/>
              </a:rPr>
              <a:t>0,66 / 1,33</a:t>
            </a:r>
            <a:endParaRPr lang="en-US" sz="1200" dirty="0"/>
          </a:p>
        </p:txBody>
      </p:sp>
      <p:sp>
        <p:nvSpPr>
          <p:cNvPr id="18" name="Text 16"/>
          <p:cNvSpPr/>
          <p:nvPr/>
        </p:nvSpPr>
        <p:spPr>
          <a:xfrm>
            <a:off x="7581813" y="3793207"/>
            <a:ext cx="4444971" cy="350520"/>
          </a:xfrm>
          <a:prstGeom prst="rect">
            <a:avLst/>
          </a:prstGeom>
          <a:solidFill>
            <a:srgbClr val="F1F4F7"/>
          </a:solidFill>
          <a:ln/>
        </p:spPr>
        <p:txBody>
          <a:bodyPr wrap="square" lIns="126942" tIns="76200" rIns="1210" bIns="50800" rtlCol="0" anchor="t">
            <a:normAutofit/>
          </a:bodyPr>
          <a:lstStyle/>
          <a:p>
            <a:pPr algn="l" indent="0" marL="0">
              <a:lnSpc>
                <a:spcPts val="1560"/>
              </a:lnSpc>
              <a:buNone/>
            </a:pPr>
            <a:r>
              <a:rPr lang="en-US" sz="1200" dirty="0">
                <a:solidFill>
                  <a:srgbClr val="14202B"/>
                </a:solidFill>
                <a:latin typeface="Courier New" pitchFamily="49" charset="0"/>
                <a:ea typeface="Courier New" pitchFamily="49" charset="-122"/>
                <a:cs typeface="Courier New" pitchFamily="49" charset="-120"/>
              </a:rPr>
              <a:t>document_contour_detector.dart</a:t>
            </a:r>
            <a:endParaRPr lang="en-US" sz="1200" dirty="0"/>
          </a:p>
        </p:txBody>
      </p:sp>
      <p:sp>
        <p:nvSpPr>
          <p:cNvPr id="19" name="Text 17"/>
          <p:cNvSpPr/>
          <p:nvPr/>
        </p:nvSpPr>
        <p:spPr>
          <a:xfrm>
            <a:off x="812742" y="4162772"/>
            <a:ext cx="4063971" cy="350520"/>
          </a:xfrm>
          <a:prstGeom prst="rect">
            <a:avLst/>
          </a:prstGeom>
          <a:solidFill>
            <a:srgbClr val="F1F4F7"/>
          </a:solidFill>
          <a:ln/>
        </p:spPr>
        <p:txBody>
          <a:bodyPr wrap="square" lIns="126942" tIns="76200" rIns="12640" bIns="5080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Netteté minimale (Laplacien)</a:t>
            </a:r>
            <a:endParaRPr lang="en-US" sz="1200" dirty="0"/>
          </a:p>
        </p:txBody>
      </p:sp>
      <p:sp>
        <p:nvSpPr>
          <p:cNvPr id="20" name="Text 18"/>
          <p:cNvSpPr/>
          <p:nvPr/>
        </p:nvSpPr>
        <p:spPr>
          <a:xfrm>
            <a:off x="4895763" y="4162772"/>
            <a:ext cx="2667000" cy="350520"/>
          </a:xfrm>
          <a:prstGeom prst="rect">
            <a:avLst/>
          </a:prstGeom>
          <a:solidFill>
            <a:srgbClr val="F1F4F7"/>
          </a:solidFill>
          <a:ln/>
        </p:spPr>
        <p:txBody>
          <a:bodyPr wrap="square" lIns="126942" tIns="76200" rIns="54549" bIns="50800" rtlCol="0" anchor="t">
            <a:normAutofit/>
          </a:bodyPr>
          <a:lstStyle/>
          <a:p>
            <a:pPr algn="l" indent="0" marL="0">
              <a:lnSpc>
                <a:spcPts val="1560"/>
              </a:lnSpc>
              <a:buNone/>
            </a:pPr>
            <a:r>
              <a:rPr lang="en-US" sz="1200" dirty="0">
                <a:solidFill>
                  <a:srgbClr val="14202B"/>
                </a:solidFill>
                <a:latin typeface="Arial" pitchFamily="34" charset="0"/>
                <a:ea typeface="Arial" pitchFamily="34" charset="-122"/>
                <a:cs typeface="Arial" pitchFamily="34" charset="-120"/>
              </a:rPr>
              <a:t>120</a:t>
            </a:r>
            <a:endParaRPr lang="en-US" sz="1200" dirty="0"/>
          </a:p>
        </p:txBody>
      </p:sp>
      <p:sp>
        <p:nvSpPr>
          <p:cNvPr id="21" name="Text 19"/>
          <p:cNvSpPr/>
          <p:nvPr/>
        </p:nvSpPr>
        <p:spPr>
          <a:xfrm>
            <a:off x="7581813" y="4162772"/>
            <a:ext cx="4444971" cy="350520"/>
          </a:xfrm>
          <a:prstGeom prst="rect">
            <a:avLst/>
          </a:prstGeom>
          <a:solidFill>
            <a:srgbClr val="F1F4F7"/>
          </a:solidFill>
          <a:ln/>
        </p:spPr>
        <p:txBody>
          <a:bodyPr wrap="square" lIns="126942" tIns="76200" rIns="1210" bIns="50800" rtlCol="0" anchor="t">
            <a:normAutofit/>
          </a:bodyPr>
          <a:lstStyle/>
          <a:p>
            <a:pPr algn="l" indent="0" marL="0">
              <a:lnSpc>
                <a:spcPts val="1560"/>
              </a:lnSpc>
              <a:buNone/>
            </a:pPr>
            <a:r>
              <a:rPr lang="en-US" sz="1200" dirty="0">
                <a:solidFill>
                  <a:srgbClr val="14202B"/>
                </a:solidFill>
                <a:latin typeface="Courier New" pitchFamily="49" charset="0"/>
                <a:ea typeface="Courier New" pitchFamily="49" charset="-122"/>
                <a:cs typeface="Courier New" pitchFamily="49" charset="-120"/>
              </a:rPr>
              <a:t>blur_detector.dart</a:t>
            </a:r>
            <a:endParaRPr lang="en-US" sz="1200" dirty="0"/>
          </a:p>
        </p:txBody>
      </p:sp>
      <p:sp>
        <p:nvSpPr>
          <p:cNvPr id="22" name="Text 20"/>
          <p:cNvSpPr/>
          <p:nvPr/>
        </p:nvSpPr>
        <p:spPr>
          <a:xfrm>
            <a:off x="812742" y="4532350"/>
            <a:ext cx="4063971" cy="350520"/>
          </a:xfrm>
          <a:prstGeom prst="rect">
            <a:avLst/>
          </a:prstGeom>
          <a:solidFill>
            <a:srgbClr val="F1F4F7"/>
          </a:solidFill>
          <a:ln/>
        </p:spPr>
        <p:txBody>
          <a:bodyPr wrap="square" lIns="126942" tIns="76200" rIns="12640" bIns="5080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Luminosité moyenne</a:t>
            </a:r>
            <a:endParaRPr lang="en-US" sz="1200" dirty="0"/>
          </a:p>
        </p:txBody>
      </p:sp>
      <p:sp>
        <p:nvSpPr>
          <p:cNvPr id="23" name="Text 21"/>
          <p:cNvSpPr/>
          <p:nvPr/>
        </p:nvSpPr>
        <p:spPr>
          <a:xfrm>
            <a:off x="4895763" y="4532350"/>
            <a:ext cx="2667000" cy="350520"/>
          </a:xfrm>
          <a:prstGeom prst="rect">
            <a:avLst/>
          </a:prstGeom>
          <a:solidFill>
            <a:srgbClr val="F1F4F7"/>
          </a:solidFill>
          <a:ln/>
        </p:spPr>
        <p:txBody>
          <a:bodyPr wrap="square" lIns="126942" tIns="76200" rIns="54549" bIns="50800" rtlCol="0" anchor="t">
            <a:normAutofit/>
          </a:bodyPr>
          <a:lstStyle/>
          <a:p>
            <a:pPr algn="l" indent="0" marL="0">
              <a:lnSpc>
                <a:spcPts val="1560"/>
              </a:lnSpc>
              <a:buNone/>
            </a:pPr>
            <a:r>
              <a:rPr lang="en-US" sz="1200" dirty="0">
                <a:solidFill>
                  <a:srgbClr val="14202B"/>
                </a:solidFill>
                <a:latin typeface="Arial" pitchFamily="34" charset="0"/>
                <a:ea typeface="Arial" pitchFamily="34" charset="-122"/>
                <a:cs typeface="Arial" pitchFamily="34" charset="-120"/>
              </a:rPr>
              <a:t>[60 ; 225]</a:t>
            </a:r>
            <a:endParaRPr lang="en-US" sz="1200" dirty="0"/>
          </a:p>
        </p:txBody>
      </p:sp>
      <p:sp>
        <p:nvSpPr>
          <p:cNvPr id="24" name="Text 22"/>
          <p:cNvSpPr/>
          <p:nvPr/>
        </p:nvSpPr>
        <p:spPr>
          <a:xfrm>
            <a:off x="7581813" y="4532350"/>
            <a:ext cx="4444971" cy="350520"/>
          </a:xfrm>
          <a:prstGeom prst="rect">
            <a:avLst/>
          </a:prstGeom>
          <a:solidFill>
            <a:srgbClr val="F1F4F7"/>
          </a:solidFill>
          <a:ln/>
        </p:spPr>
        <p:txBody>
          <a:bodyPr wrap="square" lIns="126942" tIns="76200" rIns="1210" bIns="50800" rtlCol="0" anchor="t">
            <a:normAutofit/>
          </a:bodyPr>
          <a:lstStyle/>
          <a:p>
            <a:pPr algn="l" indent="0" marL="0">
              <a:lnSpc>
                <a:spcPts val="1560"/>
              </a:lnSpc>
              <a:buNone/>
            </a:pPr>
            <a:r>
              <a:rPr lang="en-US" sz="1200" dirty="0">
                <a:solidFill>
                  <a:srgbClr val="14202B"/>
                </a:solidFill>
                <a:latin typeface="Courier New" pitchFamily="49" charset="0"/>
                <a:ea typeface="Courier New" pitchFamily="49" charset="-122"/>
                <a:cs typeface="Courier New" pitchFamily="49" charset="-120"/>
              </a:rPr>
              <a:t>brightness_detector.dart</a:t>
            </a:r>
            <a:endParaRPr lang="en-US" sz="1200" dirty="0"/>
          </a:p>
        </p:txBody>
      </p:sp>
      <p:sp>
        <p:nvSpPr>
          <p:cNvPr id="25" name="Text 23"/>
          <p:cNvSpPr/>
          <p:nvPr/>
        </p:nvSpPr>
        <p:spPr>
          <a:xfrm>
            <a:off x="812742" y="4901915"/>
            <a:ext cx="4063971" cy="350520"/>
          </a:xfrm>
          <a:prstGeom prst="rect">
            <a:avLst/>
          </a:prstGeom>
          <a:solidFill>
            <a:srgbClr val="F1F4F7"/>
          </a:solidFill>
          <a:ln/>
        </p:spPr>
        <p:txBody>
          <a:bodyPr wrap="square" lIns="126942" tIns="76200" rIns="12640" bIns="5080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Pixels saturés tolérés</a:t>
            </a:r>
            <a:endParaRPr lang="en-US" sz="1200" dirty="0"/>
          </a:p>
        </p:txBody>
      </p:sp>
      <p:sp>
        <p:nvSpPr>
          <p:cNvPr id="26" name="Text 24"/>
          <p:cNvSpPr/>
          <p:nvPr/>
        </p:nvSpPr>
        <p:spPr>
          <a:xfrm>
            <a:off x="4895763" y="4901915"/>
            <a:ext cx="2667000" cy="350520"/>
          </a:xfrm>
          <a:prstGeom prst="rect">
            <a:avLst/>
          </a:prstGeom>
          <a:solidFill>
            <a:srgbClr val="F1F4F7"/>
          </a:solidFill>
          <a:ln/>
        </p:spPr>
        <p:txBody>
          <a:bodyPr wrap="square" lIns="126942" tIns="76200" rIns="54549" bIns="50800" rtlCol="0" anchor="t">
            <a:normAutofit/>
          </a:bodyPr>
          <a:lstStyle/>
          <a:p>
            <a:pPr algn="l" indent="0" marL="0">
              <a:lnSpc>
                <a:spcPts val="1560"/>
              </a:lnSpc>
              <a:buNone/>
            </a:pPr>
            <a:r>
              <a:rPr lang="en-US" sz="1200" dirty="0">
                <a:solidFill>
                  <a:srgbClr val="14202B"/>
                </a:solidFill>
                <a:latin typeface="Arial" pitchFamily="34" charset="0"/>
                <a:ea typeface="Arial" pitchFamily="34" charset="-122"/>
                <a:cs typeface="Arial" pitchFamily="34" charset="-120"/>
              </a:rPr>
              <a:t>12 %</a:t>
            </a:r>
            <a:endParaRPr lang="en-US" sz="1200" dirty="0"/>
          </a:p>
        </p:txBody>
      </p:sp>
      <p:sp>
        <p:nvSpPr>
          <p:cNvPr id="27" name="Text 25"/>
          <p:cNvSpPr/>
          <p:nvPr/>
        </p:nvSpPr>
        <p:spPr>
          <a:xfrm>
            <a:off x="7581813" y="4901915"/>
            <a:ext cx="4444971" cy="350520"/>
          </a:xfrm>
          <a:prstGeom prst="rect">
            <a:avLst/>
          </a:prstGeom>
          <a:solidFill>
            <a:srgbClr val="F1F4F7"/>
          </a:solidFill>
          <a:ln/>
        </p:spPr>
        <p:txBody>
          <a:bodyPr wrap="square" lIns="126942" tIns="76200" rIns="1210" bIns="50800" rtlCol="0" anchor="t">
            <a:normAutofit/>
          </a:bodyPr>
          <a:lstStyle/>
          <a:p>
            <a:pPr algn="l" indent="0" marL="0">
              <a:lnSpc>
                <a:spcPts val="1560"/>
              </a:lnSpc>
              <a:buNone/>
            </a:pPr>
            <a:r>
              <a:rPr lang="en-US" sz="1200" dirty="0">
                <a:solidFill>
                  <a:srgbClr val="14202B"/>
                </a:solidFill>
                <a:latin typeface="Courier New" pitchFamily="49" charset="0"/>
                <a:ea typeface="Courier New" pitchFamily="49" charset="-122"/>
                <a:cs typeface="Courier New" pitchFamily="49" charset="-120"/>
              </a:rPr>
              <a:t>brightness_detector.dart</a:t>
            </a:r>
            <a:endParaRPr lang="en-US" sz="1200" dirty="0"/>
          </a:p>
        </p:txBody>
      </p:sp>
      <p:sp>
        <p:nvSpPr>
          <p:cNvPr id="28" name="Text 26"/>
          <p:cNvSpPr/>
          <p:nvPr/>
        </p:nvSpPr>
        <p:spPr>
          <a:xfrm>
            <a:off x="812742" y="5271480"/>
            <a:ext cx="4063971" cy="350520"/>
          </a:xfrm>
          <a:prstGeom prst="rect">
            <a:avLst/>
          </a:prstGeom>
          <a:solidFill>
            <a:srgbClr val="F1F4F7"/>
          </a:solidFill>
          <a:ln/>
        </p:spPr>
        <p:txBody>
          <a:bodyPr wrap="square" lIns="126942" tIns="76200" rIns="12640" bIns="50800" rtlCol="0" anchor="t">
            <a:normAutofit/>
          </a:bodyPr>
          <a:lstStyle/>
          <a:p>
            <a:pPr algn="l" indent="0" marL="0">
              <a:lnSpc>
                <a:spcPts val="1560"/>
              </a:lnSpc>
              <a:buNone/>
            </a:pPr>
            <a:r>
              <a:rPr lang="en-US" sz="1200" b="1" dirty="0">
                <a:solidFill>
                  <a:srgbClr val="14202B"/>
                </a:solidFill>
                <a:latin typeface="Arial" pitchFamily="34" charset="0"/>
                <a:ea typeface="Arial" pitchFamily="34" charset="-122"/>
                <a:cs typeface="Arial" pitchFamily="34" charset="-120"/>
              </a:rPr>
              <a:t>Dérive de coin maximale</a:t>
            </a:r>
            <a:endParaRPr lang="en-US" sz="1200" dirty="0"/>
          </a:p>
        </p:txBody>
      </p:sp>
      <p:sp>
        <p:nvSpPr>
          <p:cNvPr id="29" name="Text 27"/>
          <p:cNvSpPr/>
          <p:nvPr/>
        </p:nvSpPr>
        <p:spPr>
          <a:xfrm>
            <a:off x="4895763" y="5271480"/>
            <a:ext cx="2667000" cy="350520"/>
          </a:xfrm>
          <a:prstGeom prst="rect">
            <a:avLst/>
          </a:prstGeom>
          <a:solidFill>
            <a:srgbClr val="F1F4F7"/>
          </a:solidFill>
          <a:ln/>
        </p:spPr>
        <p:txBody>
          <a:bodyPr wrap="square" lIns="126942" tIns="76200" rIns="54549" bIns="50800" rtlCol="0" anchor="t">
            <a:normAutofit/>
          </a:bodyPr>
          <a:lstStyle/>
          <a:p>
            <a:pPr algn="l" indent="0" marL="0">
              <a:lnSpc>
                <a:spcPts val="1560"/>
              </a:lnSpc>
              <a:buNone/>
            </a:pPr>
            <a:r>
              <a:rPr lang="en-US" sz="1200" dirty="0">
                <a:solidFill>
                  <a:srgbClr val="14202B"/>
                </a:solidFill>
                <a:latin typeface="Arial" pitchFamily="34" charset="0"/>
                <a:ea typeface="Arial" pitchFamily="34" charset="-122"/>
                <a:cs typeface="Arial" pitchFamily="34" charset="-120"/>
              </a:rPr>
              <a:t>2,5 % de la diagonale</a:t>
            </a:r>
            <a:endParaRPr lang="en-US" sz="1200" dirty="0"/>
          </a:p>
        </p:txBody>
      </p:sp>
      <p:sp>
        <p:nvSpPr>
          <p:cNvPr id="30" name="Text 28"/>
          <p:cNvSpPr/>
          <p:nvPr/>
        </p:nvSpPr>
        <p:spPr>
          <a:xfrm>
            <a:off x="7581813" y="5271480"/>
            <a:ext cx="4444971" cy="350520"/>
          </a:xfrm>
          <a:prstGeom prst="rect">
            <a:avLst/>
          </a:prstGeom>
          <a:solidFill>
            <a:srgbClr val="F1F4F7"/>
          </a:solidFill>
          <a:ln/>
        </p:spPr>
        <p:txBody>
          <a:bodyPr wrap="square" lIns="126942" tIns="76200" rIns="1210" bIns="50800" rtlCol="0" anchor="t">
            <a:normAutofit/>
          </a:bodyPr>
          <a:lstStyle/>
          <a:p>
            <a:pPr algn="l" indent="0" marL="0">
              <a:lnSpc>
                <a:spcPts val="1560"/>
              </a:lnSpc>
              <a:buNone/>
            </a:pPr>
            <a:r>
              <a:rPr lang="en-US" sz="1200" dirty="0">
                <a:solidFill>
                  <a:srgbClr val="14202B"/>
                </a:solidFill>
                <a:latin typeface="Courier New" pitchFamily="49" charset="0"/>
                <a:ea typeface="Courier New" pitchFamily="49" charset="-122"/>
                <a:cs typeface="Courier New" pitchFamily="49" charset="-120"/>
              </a:rPr>
              <a:t>stability_tracker.dart</a:t>
            </a:r>
            <a:endParaRPr lang="en-US" sz="1200" dirty="0"/>
          </a:p>
        </p:txBody>
      </p:sp>
      <p:sp>
        <p:nvSpPr>
          <p:cNvPr id="31" name="Text 29"/>
          <p:cNvSpPr/>
          <p:nvPr/>
        </p:nvSpPr>
        <p:spPr>
          <a:xfrm>
            <a:off x="812742" y="6238267"/>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32" name="Text 30"/>
          <p:cNvSpPr/>
          <p:nvPr/>
        </p:nvSpPr>
        <p:spPr>
          <a:xfrm>
            <a:off x="9417107" y="6238267"/>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21 / 23</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42" y="812750"/>
            <a:ext cx="10883510" cy="217285"/>
          </a:xfrm>
          <a:prstGeom prst="rect">
            <a:avLst/>
          </a:prstGeom>
          <a:noFill/>
          <a:ln/>
        </p:spPr>
        <p:txBody>
          <a:bodyPr wrap="square" lIns="0" tIns="0" rIns="0" bIns="0" rtlCol="0" anchor="t">
            <a:normAutofit/>
          </a:bodyPr>
          <a:lstStyle/>
          <a:p>
            <a:pPr algn="l" indent="0" marL="0">
              <a:lnSpc>
                <a:spcPts val="1521"/>
              </a:lnSpc>
              <a:buNone/>
            </a:pPr>
            <a:r>
              <a:rPr lang="en-US" sz="1170" b="1" spc="100" kern="0" dirty="0">
                <a:solidFill>
                  <a:srgbClr val="C2410C"/>
                </a:solidFill>
                <a:latin typeface="Courier New" pitchFamily="49" charset="0"/>
                <a:ea typeface="Courier New" pitchFamily="49" charset="-122"/>
                <a:cs typeface="Courier New" pitchFamily="49" charset="-120"/>
              </a:rPr>
              <a:t>ANNEXE B</a:t>
            </a:r>
            <a:endParaRPr lang="en-US" sz="1170" dirty="0"/>
          </a:p>
        </p:txBody>
      </p:sp>
      <p:sp>
        <p:nvSpPr>
          <p:cNvPr id="3" name="Text 1"/>
          <p:cNvSpPr/>
          <p:nvPr>
            <p:ph type="title"/>
          </p:nvPr>
        </p:nvSpPr>
        <p:spPr>
          <a:xfrm>
            <a:off x="812742" y="1233227"/>
            <a:ext cx="10883510" cy="845416"/>
          </a:xfrm>
          <a:prstGeom prst="rect">
            <a:avLst/>
          </a:prstGeom>
          <a:noFill/>
          <a:ln/>
        </p:spPr>
        <p:txBody>
          <a:bodyPr wrap="square" lIns="0" tIns="0" rIns="0" bIns="0" rtlCol="0" anchor="t">
            <a:normAutofit/>
          </a:bodyPr>
          <a:lstStyle/>
          <a:p>
            <a:pPr algn="l" indent="0" marL="0">
              <a:lnSpc>
                <a:spcPts val="3231"/>
              </a:lnSpc>
              <a:buNone/>
            </a:pPr>
            <a:r>
              <a:rPr lang="en-US" sz="2809" b="1" i="0" dirty="0">
                <a:solidFill>
                  <a:srgbClr val="14202B"/>
                </a:solidFill>
                <a:latin typeface="Arial" pitchFamily="34" charset="0"/>
                <a:ea typeface="Arial" pitchFamily="34" charset="-122"/>
                <a:cs typeface="Arial" pitchFamily="34" charset="-120"/>
              </a:rPr>
              <a:t>177 cas exécutés ne prouvent ni couverture</a:t>
            </a:r>
            <a:endParaRPr lang="en-US" sz="2809" dirty="0"/>
          </a:p>
          <a:p>
            <a:pPr algn="l" indent="0" marL="0">
              <a:lnSpc>
                <a:spcPts val="3231"/>
              </a:lnSpc>
              <a:buNone/>
            </a:pPr>
            <a:r>
              <a:rPr lang="en-US" sz="2809" b="1" i="0" dirty="0">
                <a:solidFill>
                  <a:srgbClr val="14202B"/>
                </a:solidFill>
                <a:latin typeface="Arial" pitchFamily="34" charset="0"/>
                <a:ea typeface="Arial" pitchFamily="34" charset="-122"/>
                <a:cs typeface="Arial" pitchFamily="34" charset="-120"/>
              </a:rPr>
              <a:t>ni validité sur cartes réelles</a:t>
            </a:r>
            <a:endParaRPr lang="en-US" sz="2809" dirty="0"/>
          </a:p>
        </p:txBody>
      </p:sp>
      <p:sp>
        <p:nvSpPr>
          <p:cNvPr id="4" name="Text 2"/>
          <p:cNvSpPr/>
          <p:nvPr/>
        </p:nvSpPr>
        <p:spPr>
          <a:xfrm>
            <a:off x="812742" y="2281845"/>
            <a:ext cx="2793942" cy="338917"/>
          </a:xfrm>
          <a:prstGeom prst="rect">
            <a:avLst/>
          </a:prstGeom>
          <a:solidFill>
            <a:srgbClr val="DDE3E9"/>
          </a:solidFill>
          <a:ln/>
        </p:spPr>
        <p:txBody>
          <a:bodyPr wrap="square" lIns="126942" tIns="76200" rIns="50740" bIns="50800" rtlCol="0" anchor="t">
            <a:normAutofit/>
          </a:bodyPr>
          <a:lstStyle/>
          <a:p>
            <a:pPr algn="l" indent="0" marL="0">
              <a:lnSpc>
                <a:spcPts val="1472"/>
              </a:lnSpc>
              <a:buNone/>
            </a:pPr>
            <a:r>
              <a:rPr lang="en-US" sz="1133" b="1" dirty="0">
                <a:solidFill>
                  <a:srgbClr val="14202B"/>
                </a:solidFill>
                <a:latin typeface="Arial" pitchFamily="34" charset="0"/>
                <a:ea typeface="Arial" pitchFamily="34" charset="-122"/>
                <a:cs typeface="Arial" pitchFamily="34" charset="-120"/>
              </a:rPr>
              <a:t>Module</a:t>
            </a:r>
            <a:endParaRPr lang="en-US" sz="1133" dirty="0"/>
          </a:p>
        </p:txBody>
      </p:sp>
      <p:sp>
        <p:nvSpPr>
          <p:cNvPr id="5" name="Text 3"/>
          <p:cNvSpPr/>
          <p:nvPr/>
        </p:nvSpPr>
        <p:spPr>
          <a:xfrm>
            <a:off x="3625734" y="2281845"/>
            <a:ext cx="952500" cy="338917"/>
          </a:xfrm>
          <a:prstGeom prst="rect">
            <a:avLst/>
          </a:prstGeom>
          <a:solidFill>
            <a:srgbClr val="DDE3E9"/>
          </a:solidFill>
          <a:ln/>
        </p:spPr>
        <p:txBody>
          <a:bodyPr wrap="square" lIns="126943" tIns="76200" rIns="76142" bIns="50800" rtlCol="0" anchor="t">
            <a:normAutofit/>
          </a:bodyPr>
          <a:lstStyle/>
          <a:p>
            <a:pPr algn="l" indent="0" marL="0">
              <a:lnSpc>
                <a:spcPts val="1472"/>
              </a:lnSpc>
              <a:buNone/>
            </a:pPr>
            <a:r>
              <a:rPr lang="en-US" sz="1133" b="1" dirty="0">
                <a:solidFill>
                  <a:srgbClr val="14202B"/>
                </a:solidFill>
                <a:latin typeface="Arial" pitchFamily="34" charset="0"/>
                <a:ea typeface="Arial" pitchFamily="34" charset="-122"/>
                <a:cs typeface="Arial" pitchFamily="34" charset="-120"/>
              </a:rPr>
              <a:t>Fichiers</a:t>
            </a:r>
            <a:endParaRPr lang="en-US" sz="1133" dirty="0"/>
          </a:p>
        </p:txBody>
      </p:sp>
      <p:sp>
        <p:nvSpPr>
          <p:cNvPr id="6" name="Text 4"/>
          <p:cNvSpPr/>
          <p:nvPr/>
        </p:nvSpPr>
        <p:spPr>
          <a:xfrm>
            <a:off x="4597284" y="2281845"/>
            <a:ext cx="1079442" cy="338917"/>
          </a:xfrm>
          <a:prstGeom prst="rect">
            <a:avLst/>
          </a:prstGeom>
          <a:solidFill>
            <a:srgbClr val="DDE3E9"/>
          </a:solidFill>
          <a:ln/>
        </p:spPr>
        <p:txBody>
          <a:bodyPr wrap="square" lIns="126942" tIns="76200" rIns="76142" bIns="50800" rtlCol="0" anchor="t">
            <a:normAutofit/>
          </a:bodyPr>
          <a:lstStyle/>
          <a:p>
            <a:pPr algn="l" indent="0" marL="0">
              <a:lnSpc>
                <a:spcPts val="1472"/>
              </a:lnSpc>
              <a:buNone/>
            </a:pPr>
            <a:r>
              <a:rPr lang="en-US" sz="1133" b="1" dirty="0">
                <a:solidFill>
                  <a:srgbClr val="14202B"/>
                </a:solidFill>
                <a:latin typeface="Arial" pitchFamily="34" charset="0"/>
                <a:ea typeface="Arial" pitchFamily="34" charset="-122"/>
                <a:cs typeface="Arial" pitchFamily="34" charset="-120"/>
              </a:rPr>
              <a:t>Exécutés</a:t>
            </a:r>
            <a:endParaRPr lang="en-US" sz="1133" dirty="0"/>
          </a:p>
        </p:txBody>
      </p:sp>
      <p:sp>
        <p:nvSpPr>
          <p:cNvPr id="7" name="Text 5"/>
          <p:cNvSpPr/>
          <p:nvPr/>
        </p:nvSpPr>
        <p:spPr>
          <a:xfrm>
            <a:off x="5695776" y="2281845"/>
            <a:ext cx="762000" cy="338917"/>
          </a:xfrm>
          <a:prstGeom prst="rect">
            <a:avLst/>
          </a:prstGeom>
          <a:solidFill>
            <a:srgbClr val="DDE3E9"/>
          </a:solidFill>
          <a:ln/>
        </p:spPr>
        <p:txBody>
          <a:bodyPr wrap="square" lIns="126942" tIns="76200" rIns="76142" bIns="50800" rtlCol="0" anchor="t">
            <a:normAutofit/>
          </a:bodyPr>
          <a:lstStyle/>
          <a:p>
            <a:pPr algn="l" indent="0" marL="0">
              <a:lnSpc>
                <a:spcPts val="1472"/>
              </a:lnSpc>
              <a:buNone/>
            </a:pPr>
            <a:r>
              <a:rPr lang="en-US" sz="1133" b="1" dirty="0">
                <a:solidFill>
                  <a:srgbClr val="14202B"/>
                </a:solidFill>
                <a:latin typeface="Arial" pitchFamily="34" charset="0"/>
                <a:ea typeface="Arial" pitchFamily="34" charset="-122"/>
                <a:cs typeface="Arial" pitchFamily="34" charset="-120"/>
              </a:rPr>
              <a:t>Cas</a:t>
            </a:r>
            <a:endParaRPr lang="en-US" sz="1133" dirty="0"/>
          </a:p>
        </p:txBody>
      </p:sp>
      <p:sp>
        <p:nvSpPr>
          <p:cNvPr id="8" name="Text 6"/>
          <p:cNvSpPr/>
          <p:nvPr/>
        </p:nvSpPr>
        <p:spPr>
          <a:xfrm>
            <a:off x="812742" y="2639814"/>
            <a:ext cx="2793942" cy="338830"/>
          </a:xfrm>
          <a:prstGeom prst="rect">
            <a:avLst/>
          </a:prstGeom>
          <a:solidFill>
            <a:srgbClr val="F1F4F7"/>
          </a:solidFill>
          <a:ln/>
        </p:spPr>
        <p:txBody>
          <a:bodyPr wrap="square" lIns="126942" tIns="76200" rIns="50740" bIns="50800" rtlCol="0" anchor="t">
            <a:normAutofit/>
          </a:bodyPr>
          <a:lstStyle/>
          <a:p>
            <a:pPr algn="l" indent="0" marL="0">
              <a:lnSpc>
                <a:spcPts val="1472"/>
              </a:lnSpc>
              <a:buNone/>
            </a:pPr>
            <a:r>
              <a:rPr lang="en-US" sz="1133" b="1" dirty="0">
                <a:solidFill>
                  <a:srgbClr val="14202B"/>
                </a:solidFill>
                <a:latin typeface="Arial" pitchFamily="34" charset="0"/>
                <a:ea typeface="Arial" pitchFamily="34" charset="-122"/>
                <a:cs typeface="Arial" pitchFamily="34" charset="-120"/>
              </a:rPr>
              <a:t>document_detection</a:t>
            </a:r>
            <a:endParaRPr lang="en-US" sz="1133" dirty="0"/>
          </a:p>
        </p:txBody>
      </p:sp>
      <p:sp>
        <p:nvSpPr>
          <p:cNvPr id="9" name="Text 7"/>
          <p:cNvSpPr/>
          <p:nvPr/>
        </p:nvSpPr>
        <p:spPr>
          <a:xfrm>
            <a:off x="3625734" y="2639814"/>
            <a:ext cx="952500" cy="338830"/>
          </a:xfrm>
          <a:prstGeom prst="rect">
            <a:avLst/>
          </a:prstGeom>
          <a:solidFill>
            <a:srgbClr val="F1F4F7"/>
          </a:solidFill>
          <a:ln/>
        </p:spPr>
        <p:txBody>
          <a:bodyPr wrap="square" lIns="126943"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7</a:t>
            </a:r>
            <a:endParaRPr lang="en-US" sz="1133" dirty="0"/>
          </a:p>
        </p:txBody>
      </p:sp>
      <p:sp>
        <p:nvSpPr>
          <p:cNvPr id="10" name="Text 8"/>
          <p:cNvSpPr/>
          <p:nvPr/>
        </p:nvSpPr>
        <p:spPr>
          <a:xfrm>
            <a:off x="4597284" y="2639814"/>
            <a:ext cx="1079442" cy="338830"/>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Courier New" pitchFamily="49" charset="0"/>
                <a:ea typeface="Courier New" pitchFamily="49" charset="-122"/>
                <a:cs typeface="Courier New" pitchFamily="49" charset="-120"/>
              </a:rPr>
              <a:t>4</a:t>
            </a:r>
            <a:endParaRPr lang="en-US" sz="1133" dirty="0"/>
          </a:p>
        </p:txBody>
      </p:sp>
      <p:sp>
        <p:nvSpPr>
          <p:cNvPr id="11" name="Text 9"/>
          <p:cNvSpPr/>
          <p:nvPr/>
        </p:nvSpPr>
        <p:spPr>
          <a:xfrm>
            <a:off x="5695776" y="2639814"/>
            <a:ext cx="762000" cy="338830"/>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59</a:t>
            </a:r>
            <a:endParaRPr lang="en-US" sz="1133" dirty="0"/>
          </a:p>
        </p:txBody>
      </p:sp>
      <p:sp>
        <p:nvSpPr>
          <p:cNvPr id="12" name="Text 10"/>
          <p:cNvSpPr/>
          <p:nvPr/>
        </p:nvSpPr>
        <p:spPr>
          <a:xfrm>
            <a:off x="812742" y="2997696"/>
            <a:ext cx="2793942" cy="338917"/>
          </a:xfrm>
          <a:prstGeom prst="rect">
            <a:avLst/>
          </a:prstGeom>
          <a:solidFill>
            <a:srgbClr val="F1F4F7"/>
          </a:solidFill>
          <a:ln/>
        </p:spPr>
        <p:txBody>
          <a:bodyPr wrap="square" lIns="126942" tIns="76200" rIns="50740" bIns="50800" rtlCol="0" anchor="t">
            <a:normAutofit/>
          </a:bodyPr>
          <a:lstStyle/>
          <a:p>
            <a:pPr algn="l" indent="0" marL="0">
              <a:lnSpc>
                <a:spcPts val="1472"/>
              </a:lnSpc>
              <a:buNone/>
            </a:pPr>
            <a:r>
              <a:rPr lang="en-US" sz="1133" b="1" dirty="0">
                <a:solidFill>
                  <a:srgbClr val="14202B"/>
                </a:solidFill>
                <a:latin typeface="Arial" pitchFamily="34" charset="0"/>
                <a:ea typeface="Arial" pitchFamily="34" charset="-122"/>
                <a:cs typeface="Arial" pitchFamily="34" charset="-120"/>
              </a:rPr>
              <a:t>image_postprocessing</a:t>
            </a:r>
            <a:endParaRPr lang="en-US" sz="1133" dirty="0"/>
          </a:p>
        </p:txBody>
      </p:sp>
      <p:sp>
        <p:nvSpPr>
          <p:cNvPr id="13" name="Text 11"/>
          <p:cNvSpPr/>
          <p:nvPr/>
        </p:nvSpPr>
        <p:spPr>
          <a:xfrm>
            <a:off x="3625734" y="2997696"/>
            <a:ext cx="952500" cy="338917"/>
          </a:xfrm>
          <a:prstGeom prst="rect">
            <a:avLst/>
          </a:prstGeom>
          <a:solidFill>
            <a:srgbClr val="F1F4F7"/>
          </a:solidFill>
          <a:ln/>
        </p:spPr>
        <p:txBody>
          <a:bodyPr wrap="square" lIns="126943"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7</a:t>
            </a:r>
            <a:endParaRPr lang="en-US" sz="1133" dirty="0"/>
          </a:p>
        </p:txBody>
      </p:sp>
      <p:sp>
        <p:nvSpPr>
          <p:cNvPr id="14" name="Text 12"/>
          <p:cNvSpPr/>
          <p:nvPr/>
        </p:nvSpPr>
        <p:spPr>
          <a:xfrm>
            <a:off x="4597284" y="2997696"/>
            <a:ext cx="1079442" cy="338917"/>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Courier New" pitchFamily="49" charset="0"/>
                <a:ea typeface="Courier New" pitchFamily="49" charset="-122"/>
                <a:cs typeface="Courier New" pitchFamily="49" charset="-120"/>
              </a:rPr>
              <a:t>4</a:t>
            </a:r>
            <a:endParaRPr lang="en-US" sz="1133" dirty="0"/>
          </a:p>
        </p:txBody>
      </p:sp>
      <p:sp>
        <p:nvSpPr>
          <p:cNvPr id="15" name="Text 13"/>
          <p:cNvSpPr/>
          <p:nvPr/>
        </p:nvSpPr>
        <p:spPr>
          <a:xfrm>
            <a:off x="5695776" y="2997696"/>
            <a:ext cx="762000" cy="338917"/>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24</a:t>
            </a:r>
            <a:endParaRPr lang="en-US" sz="1133" dirty="0"/>
          </a:p>
        </p:txBody>
      </p:sp>
      <p:sp>
        <p:nvSpPr>
          <p:cNvPr id="16" name="Text 14"/>
          <p:cNvSpPr/>
          <p:nvPr/>
        </p:nvSpPr>
        <p:spPr>
          <a:xfrm>
            <a:off x="812742" y="3355665"/>
            <a:ext cx="2793942" cy="338830"/>
          </a:xfrm>
          <a:prstGeom prst="rect">
            <a:avLst/>
          </a:prstGeom>
          <a:solidFill>
            <a:srgbClr val="F1F4F7"/>
          </a:solidFill>
          <a:ln/>
        </p:spPr>
        <p:txBody>
          <a:bodyPr wrap="square" lIns="126942" tIns="76200" rIns="50740" bIns="50800" rtlCol="0" anchor="t">
            <a:normAutofit/>
          </a:bodyPr>
          <a:lstStyle/>
          <a:p>
            <a:pPr algn="l" indent="0" marL="0">
              <a:lnSpc>
                <a:spcPts val="1472"/>
              </a:lnSpc>
              <a:buNone/>
            </a:pPr>
            <a:r>
              <a:rPr lang="en-US" sz="1133" b="1" dirty="0">
                <a:solidFill>
                  <a:srgbClr val="14202B"/>
                </a:solidFill>
                <a:latin typeface="Arial" pitchFamily="34" charset="0"/>
                <a:ea typeface="Arial" pitchFamily="34" charset="-122"/>
                <a:cs typeface="Arial" pitchFamily="34" charset="-120"/>
              </a:rPr>
              <a:t>image_quality</a:t>
            </a:r>
            <a:endParaRPr lang="en-US" sz="1133" dirty="0"/>
          </a:p>
        </p:txBody>
      </p:sp>
      <p:sp>
        <p:nvSpPr>
          <p:cNvPr id="17" name="Text 15"/>
          <p:cNvSpPr/>
          <p:nvPr/>
        </p:nvSpPr>
        <p:spPr>
          <a:xfrm>
            <a:off x="3625734" y="3355665"/>
            <a:ext cx="952500" cy="338830"/>
          </a:xfrm>
          <a:prstGeom prst="rect">
            <a:avLst/>
          </a:prstGeom>
          <a:solidFill>
            <a:srgbClr val="F1F4F7"/>
          </a:solidFill>
          <a:ln/>
        </p:spPr>
        <p:txBody>
          <a:bodyPr wrap="square" lIns="126943"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3</a:t>
            </a:r>
            <a:endParaRPr lang="en-US" sz="1133" dirty="0"/>
          </a:p>
        </p:txBody>
      </p:sp>
      <p:sp>
        <p:nvSpPr>
          <p:cNvPr id="18" name="Text 16"/>
          <p:cNvSpPr/>
          <p:nvPr/>
        </p:nvSpPr>
        <p:spPr>
          <a:xfrm>
            <a:off x="4597284" y="3355665"/>
            <a:ext cx="1079442" cy="338830"/>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Courier New" pitchFamily="49" charset="0"/>
                <a:ea typeface="Courier New" pitchFamily="49" charset="-122"/>
                <a:cs typeface="Courier New" pitchFamily="49" charset="-120"/>
              </a:rPr>
              <a:t>2</a:t>
            </a:r>
            <a:endParaRPr lang="en-US" sz="1133" dirty="0"/>
          </a:p>
        </p:txBody>
      </p:sp>
      <p:sp>
        <p:nvSpPr>
          <p:cNvPr id="19" name="Text 17"/>
          <p:cNvSpPr/>
          <p:nvPr/>
        </p:nvSpPr>
        <p:spPr>
          <a:xfrm>
            <a:off x="5695776" y="3355665"/>
            <a:ext cx="762000" cy="338830"/>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17</a:t>
            </a:r>
            <a:endParaRPr lang="en-US" sz="1133" dirty="0"/>
          </a:p>
        </p:txBody>
      </p:sp>
      <p:sp>
        <p:nvSpPr>
          <p:cNvPr id="20" name="Text 18"/>
          <p:cNvSpPr/>
          <p:nvPr/>
        </p:nvSpPr>
        <p:spPr>
          <a:xfrm>
            <a:off x="812742" y="3713535"/>
            <a:ext cx="2793942" cy="338917"/>
          </a:xfrm>
          <a:prstGeom prst="rect">
            <a:avLst/>
          </a:prstGeom>
          <a:solidFill>
            <a:srgbClr val="F1F4F7"/>
          </a:solidFill>
          <a:ln/>
        </p:spPr>
        <p:txBody>
          <a:bodyPr wrap="square" lIns="126942" tIns="76200" rIns="50740" bIns="50800" rtlCol="0" anchor="t">
            <a:normAutofit/>
          </a:bodyPr>
          <a:lstStyle/>
          <a:p>
            <a:pPr algn="l" indent="0" marL="0">
              <a:lnSpc>
                <a:spcPts val="1472"/>
              </a:lnSpc>
              <a:buNone/>
            </a:pPr>
            <a:r>
              <a:rPr lang="en-US" sz="1133" b="1" dirty="0">
                <a:solidFill>
                  <a:srgbClr val="14202B"/>
                </a:solidFill>
                <a:latin typeface="Arial" pitchFamily="34" charset="0"/>
                <a:ea typeface="Arial" pitchFamily="34" charset="-122"/>
                <a:cs typeface="Arial" pitchFamily="34" charset="-120"/>
              </a:rPr>
              <a:t>autocapture</a:t>
            </a:r>
            <a:endParaRPr lang="en-US" sz="1133" dirty="0"/>
          </a:p>
        </p:txBody>
      </p:sp>
      <p:sp>
        <p:nvSpPr>
          <p:cNvPr id="21" name="Text 19"/>
          <p:cNvSpPr/>
          <p:nvPr/>
        </p:nvSpPr>
        <p:spPr>
          <a:xfrm>
            <a:off x="3625734" y="3713535"/>
            <a:ext cx="952500" cy="338917"/>
          </a:xfrm>
          <a:prstGeom prst="rect">
            <a:avLst/>
          </a:prstGeom>
          <a:solidFill>
            <a:srgbClr val="F1F4F7"/>
          </a:solidFill>
          <a:ln/>
        </p:spPr>
        <p:txBody>
          <a:bodyPr wrap="square" lIns="126943"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3</a:t>
            </a:r>
            <a:endParaRPr lang="en-US" sz="1133" dirty="0"/>
          </a:p>
        </p:txBody>
      </p:sp>
      <p:sp>
        <p:nvSpPr>
          <p:cNvPr id="22" name="Text 20"/>
          <p:cNvSpPr/>
          <p:nvPr/>
        </p:nvSpPr>
        <p:spPr>
          <a:xfrm>
            <a:off x="4597284" y="3713535"/>
            <a:ext cx="1079442" cy="338917"/>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Courier New" pitchFamily="49" charset="0"/>
                <a:ea typeface="Courier New" pitchFamily="49" charset="-122"/>
                <a:cs typeface="Courier New" pitchFamily="49" charset="-120"/>
              </a:rPr>
              <a:t>3</a:t>
            </a:r>
            <a:endParaRPr lang="en-US" sz="1133" dirty="0"/>
          </a:p>
        </p:txBody>
      </p:sp>
      <p:sp>
        <p:nvSpPr>
          <p:cNvPr id="23" name="Text 21"/>
          <p:cNvSpPr/>
          <p:nvPr/>
        </p:nvSpPr>
        <p:spPr>
          <a:xfrm>
            <a:off x="5695776" y="3713535"/>
            <a:ext cx="762000" cy="338917"/>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26</a:t>
            </a:r>
            <a:endParaRPr lang="en-US" sz="1133" dirty="0"/>
          </a:p>
        </p:txBody>
      </p:sp>
      <p:sp>
        <p:nvSpPr>
          <p:cNvPr id="24" name="Text 22"/>
          <p:cNvSpPr/>
          <p:nvPr/>
        </p:nvSpPr>
        <p:spPr>
          <a:xfrm>
            <a:off x="812742" y="4071503"/>
            <a:ext cx="2793942" cy="338830"/>
          </a:xfrm>
          <a:prstGeom prst="rect">
            <a:avLst/>
          </a:prstGeom>
          <a:solidFill>
            <a:srgbClr val="F1F4F7"/>
          </a:solidFill>
          <a:ln/>
        </p:spPr>
        <p:txBody>
          <a:bodyPr wrap="square" lIns="126942" tIns="76200" rIns="50740" bIns="50800" rtlCol="0" anchor="t">
            <a:normAutofit/>
          </a:bodyPr>
          <a:lstStyle/>
          <a:p>
            <a:pPr algn="l" indent="0" marL="0">
              <a:lnSpc>
                <a:spcPts val="1472"/>
              </a:lnSpc>
              <a:buNone/>
            </a:pPr>
            <a:r>
              <a:rPr lang="en-US" sz="1133" b="1" dirty="0">
                <a:solidFill>
                  <a:srgbClr val="14202B"/>
                </a:solidFill>
                <a:latin typeface="Arial" pitchFamily="34" charset="0"/>
                <a:ea typeface="Arial" pitchFamily="34" charset="-122"/>
                <a:cs typeface="Arial" pitchFamily="34" charset="-120"/>
              </a:rPr>
              <a:t>result_preview</a:t>
            </a:r>
            <a:endParaRPr lang="en-US" sz="1133" dirty="0"/>
          </a:p>
        </p:txBody>
      </p:sp>
      <p:sp>
        <p:nvSpPr>
          <p:cNvPr id="25" name="Text 23"/>
          <p:cNvSpPr/>
          <p:nvPr/>
        </p:nvSpPr>
        <p:spPr>
          <a:xfrm>
            <a:off x="3625734" y="4071503"/>
            <a:ext cx="952500" cy="338830"/>
          </a:xfrm>
          <a:prstGeom prst="rect">
            <a:avLst/>
          </a:prstGeom>
          <a:solidFill>
            <a:srgbClr val="F1F4F7"/>
          </a:solidFill>
          <a:ln/>
        </p:spPr>
        <p:txBody>
          <a:bodyPr wrap="square" lIns="126943"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2</a:t>
            </a:r>
            <a:endParaRPr lang="en-US" sz="1133" dirty="0"/>
          </a:p>
        </p:txBody>
      </p:sp>
      <p:sp>
        <p:nvSpPr>
          <p:cNvPr id="26" name="Text 24"/>
          <p:cNvSpPr/>
          <p:nvPr/>
        </p:nvSpPr>
        <p:spPr>
          <a:xfrm>
            <a:off x="4597284" y="4071503"/>
            <a:ext cx="1079442" cy="338830"/>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Courier New" pitchFamily="49" charset="0"/>
                <a:ea typeface="Courier New" pitchFamily="49" charset="-122"/>
                <a:cs typeface="Courier New" pitchFamily="49" charset="-120"/>
              </a:rPr>
              <a:t>2</a:t>
            </a:r>
            <a:endParaRPr lang="en-US" sz="1133" dirty="0"/>
          </a:p>
        </p:txBody>
      </p:sp>
      <p:sp>
        <p:nvSpPr>
          <p:cNvPr id="27" name="Text 25"/>
          <p:cNvSpPr/>
          <p:nvPr/>
        </p:nvSpPr>
        <p:spPr>
          <a:xfrm>
            <a:off x="5695776" y="4071503"/>
            <a:ext cx="762000" cy="338830"/>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10</a:t>
            </a:r>
            <a:endParaRPr lang="en-US" sz="1133" dirty="0"/>
          </a:p>
        </p:txBody>
      </p:sp>
      <p:sp>
        <p:nvSpPr>
          <p:cNvPr id="28" name="Text 26"/>
          <p:cNvSpPr/>
          <p:nvPr/>
        </p:nvSpPr>
        <p:spPr>
          <a:xfrm>
            <a:off x="812742" y="4429385"/>
            <a:ext cx="2793942" cy="338917"/>
          </a:xfrm>
          <a:prstGeom prst="rect">
            <a:avLst/>
          </a:prstGeom>
          <a:solidFill>
            <a:srgbClr val="F1F4F7"/>
          </a:solidFill>
          <a:ln/>
        </p:spPr>
        <p:txBody>
          <a:bodyPr wrap="square" lIns="126942" tIns="76200" rIns="50740" bIns="50800" rtlCol="0" anchor="t">
            <a:normAutofit/>
          </a:bodyPr>
          <a:lstStyle/>
          <a:p>
            <a:pPr algn="l" indent="0" marL="0">
              <a:lnSpc>
                <a:spcPts val="1472"/>
              </a:lnSpc>
              <a:buNone/>
            </a:pPr>
            <a:r>
              <a:rPr lang="en-US" sz="1133" b="1" dirty="0">
                <a:solidFill>
                  <a:srgbClr val="14202B"/>
                </a:solidFill>
                <a:latin typeface="Arial" pitchFamily="34" charset="0"/>
                <a:ea typeface="Arial" pitchFamily="34" charset="-122"/>
                <a:cs typeface="Arial" pitchFamily="34" charset="-120"/>
              </a:rPr>
              <a:t>camera_capture</a:t>
            </a:r>
            <a:endParaRPr lang="en-US" sz="1133" dirty="0"/>
          </a:p>
        </p:txBody>
      </p:sp>
      <p:sp>
        <p:nvSpPr>
          <p:cNvPr id="29" name="Text 27"/>
          <p:cNvSpPr/>
          <p:nvPr/>
        </p:nvSpPr>
        <p:spPr>
          <a:xfrm>
            <a:off x="3625734" y="4429385"/>
            <a:ext cx="952500" cy="338917"/>
          </a:xfrm>
          <a:prstGeom prst="rect">
            <a:avLst/>
          </a:prstGeom>
          <a:solidFill>
            <a:srgbClr val="F1F4F7"/>
          </a:solidFill>
          <a:ln/>
        </p:spPr>
        <p:txBody>
          <a:bodyPr wrap="square" lIns="126943"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1</a:t>
            </a:r>
            <a:endParaRPr lang="en-US" sz="1133" dirty="0"/>
          </a:p>
        </p:txBody>
      </p:sp>
      <p:sp>
        <p:nvSpPr>
          <p:cNvPr id="30" name="Text 28"/>
          <p:cNvSpPr/>
          <p:nvPr/>
        </p:nvSpPr>
        <p:spPr>
          <a:xfrm>
            <a:off x="4597284" y="4429385"/>
            <a:ext cx="1079442" cy="338917"/>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Courier New" pitchFamily="49" charset="0"/>
                <a:ea typeface="Courier New" pitchFamily="49" charset="-122"/>
                <a:cs typeface="Courier New" pitchFamily="49" charset="-120"/>
              </a:rPr>
              <a:t>1</a:t>
            </a:r>
            <a:endParaRPr lang="en-US" sz="1133" dirty="0"/>
          </a:p>
        </p:txBody>
      </p:sp>
      <p:sp>
        <p:nvSpPr>
          <p:cNvPr id="31" name="Text 29"/>
          <p:cNvSpPr/>
          <p:nvPr/>
        </p:nvSpPr>
        <p:spPr>
          <a:xfrm>
            <a:off x="5695776" y="4429385"/>
            <a:ext cx="762000" cy="338917"/>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8</a:t>
            </a:r>
            <a:endParaRPr lang="en-US" sz="1133" dirty="0"/>
          </a:p>
        </p:txBody>
      </p:sp>
      <p:sp>
        <p:nvSpPr>
          <p:cNvPr id="32" name="Text 30"/>
          <p:cNvSpPr/>
          <p:nvPr/>
        </p:nvSpPr>
        <p:spPr>
          <a:xfrm>
            <a:off x="812742" y="4787354"/>
            <a:ext cx="2793942" cy="338830"/>
          </a:xfrm>
          <a:prstGeom prst="rect">
            <a:avLst/>
          </a:prstGeom>
          <a:solidFill>
            <a:srgbClr val="F1F4F7"/>
          </a:solidFill>
          <a:ln/>
        </p:spPr>
        <p:txBody>
          <a:bodyPr wrap="square" lIns="126942" tIns="76200" rIns="50740" bIns="50800" rtlCol="0" anchor="t">
            <a:normAutofit/>
          </a:bodyPr>
          <a:lstStyle/>
          <a:p>
            <a:pPr algn="l" indent="0" marL="0">
              <a:lnSpc>
                <a:spcPts val="1472"/>
              </a:lnSpc>
              <a:buNone/>
            </a:pPr>
            <a:r>
              <a:rPr lang="en-US" sz="1133" b="1" dirty="0">
                <a:solidFill>
                  <a:srgbClr val="14202B"/>
                </a:solidFill>
                <a:latin typeface="Arial" pitchFamily="34" charset="0"/>
                <a:ea typeface="Arial" pitchFamily="34" charset="-122"/>
                <a:cs typeface="Arial" pitchFamily="34" charset="-120"/>
              </a:rPr>
              <a:t>core/services</a:t>
            </a:r>
            <a:endParaRPr lang="en-US" sz="1133" dirty="0"/>
          </a:p>
        </p:txBody>
      </p:sp>
      <p:sp>
        <p:nvSpPr>
          <p:cNvPr id="33" name="Text 31"/>
          <p:cNvSpPr/>
          <p:nvPr/>
        </p:nvSpPr>
        <p:spPr>
          <a:xfrm>
            <a:off x="3625734" y="4787354"/>
            <a:ext cx="952500" cy="338830"/>
          </a:xfrm>
          <a:prstGeom prst="rect">
            <a:avLst/>
          </a:prstGeom>
          <a:solidFill>
            <a:srgbClr val="F1F4F7"/>
          </a:solidFill>
          <a:ln/>
        </p:spPr>
        <p:txBody>
          <a:bodyPr wrap="square" lIns="126943"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3</a:t>
            </a:r>
            <a:endParaRPr lang="en-US" sz="1133" dirty="0"/>
          </a:p>
        </p:txBody>
      </p:sp>
      <p:sp>
        <p:nvSpPr>
          <p:cNvPr id="34" name="Text 32"/>
          <p:cNvSpPr/>
          <p:nvPr/>
        </p:nvSpPr>
        <p:spPr>
          <a:xfrm>
            <a:off x="4597284" y="4787354"/>
            <a:ext cx="1079442" cy="338830"/>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Courier New" pitchFamily="49" charset="0"/>
                <a:ea typeface="Courier New" pitchFamily="49" charset="-122"/>
                <a:cs typeface="Courier New" pitchFamily="49" charset="-120"/>
              </a:rPr>
              <a:t>3</a:t>
            </a:r>
            <a:endParaRPr lang="en-US" sz="1133" dirty="0"/>
          </a:p>
        </p:txBody>
      </p:sp>
      <p:sp>
        <p:nvSpPr>
          <p:cNvPr id="35" name="Text 33"/>
          <p:cNvSpPr/>
          <p:nvPr/>
        </p:nvSpPr>
        <p:spPr>
          <a:xfrm>
            <a:off x="5695776" y="4787354"/>
            <a:ext cx="762000" cy="338830"/>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20</a:t>
            </a:r>
            <a:endParaRPr lang="en-US" sz="1133" dirty="0"/>
          </a:p>
        </p:txBody>
      </p:sp>
      <p:sp>
        <p:nvSpPr>
          <p:cNvPr id="36" name="Text 34"/>
          <p:cNvSpPr/>
          <p:nvPr/>
        </p:nvSpPr>
        <p:spPr>
          <a:xfrm>
            <a:off x="812742" y="5145236"/>
            <a:ext cx="2793942" cy="338917"/>
          </a:xfrm>
          <a:prstGeom prst="rect">
            <a:avLst/>
          </a:prstGeom>
          <a:solidFill>
            <a:srgbClr val="F1F4F7"/>
          </a:solidFill>
          <a:ln/>
        </p:spPr>
        <p:txBody>
          <a:bodyPr wrap="square" lIns="126942" tIns="76200" rIns="50740" bIns="50800" rtlCol="0" anchor="t">
            <a:normAutofit/>
          </a:bodyPr>
          <a:lstStyle/>
          <a:p>
            <a:pPr algn="l" indent="0" marL="0">
              <a:lnSpc>
                <a:spcPts val="1472"/>
              </a:lnSpc>
              <a:buNone/>
            </a:pPr>
            <a:r>
              <a:rPr lang="en-US" sz="1133" b="1" dirty="0">
                <a:solidFill>
                  <a:srgbClr val="14202B"/>
                </a:solidFill>
                <a:latin typeface="Arial" pitchFamily="34" charset="0"/>
                <a:ea typeface="Arial" pitchFamily="34" charset="-122"/>
                <a:cs typeface="Arial" pitchFamily="34" charset="-120"/>
              </a:rPr>
              <a:t>shared/utils</a:t>
            </a:r>
            <a:endParaRPr lang="en-US" sz="1133" dirty="0"/>
          </a:p>
        </p:txBody>
      </p:sp>
      <p:sp>
        <p:nvSpPr>
          <p:cNvPr id="37" name="Text 35"/>
          <p:cNvSpPr/>
          <p:nvPr/>
        </p:nvSpPr>
        <p:spPr>
          <a:xfrm>
            <a:off x="3625734" y="5145236"/>
            <a:ext cx="952500" cy="338917"/>
          </a:xfrm>
          <a:prstGeom prst="rect">
            <a:avLst/>
          </a:prstGeom>
          <a:solidFill>
            <a:srgbClr val="F1F4F7"/>
          </a:solidFill>
          <a:ln/>
        </p:spPr>
        <p:txBody>
          <a:bodyPr wrap="square" lIns="126943"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2</a:t>
            </a:r>
            <a:endParaRPr lang="en-US" sz="1133" dirty="0"/>
          </a:p>
        </p:txBody>
      </p:sp>
      <p:sp>
        <p:nvSpPr>
          <p:cNvPr id="38" name="Text 36"/>
          <p:cNvSpPr/>
          <p:nvPr/>
        </p:nvSpPr>
        <p:spPr>
          <a:xfrm>
            <a:off x="4597284" y="5145236"/>
            <a:ext cx="1079442" cy="338917"/>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Courier New" pitchFamily="49" charset="0"/>
                <a:ea typeface="Courier New" pitchFamily="49" charset="-122"/>
                <a:cs typeface="Courier New" pitchFamily="49" charset="-120"/>
              </a:rPr>
              <a:t>2</a:t>
            </a:r>
            <a:endParaRPr lang="en-US" sz="1133" dirty="0"/>
          </a:p>
        </p:txBody>
      </p:sp>
      <p:sp>
        <p:nvSpPr>
          <p:cNvPr id="39" name="Text 37"/>
          <p:cNvSpPr/>
          <p:nvPr/>
        </p:nvSpPr>
        <p:spPr>
          <a:xfrm>
            <a:off x="5695776" y="5145236"/>
            <a:ext cx="762000" cy="338917"/>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13</a:t>
            </a:r>
            <a:endParaRPr lang="en-US" sz="1133" dirty="0"/>
          </a:p>
        </p:txBody>
      </p:sp>
      <p:sp>
        <p:nvSpPr>
          <p:cNvPr id="40" name="Text 38"/>
          <p:cNvSpPr/>
          <p:nvPr/>
        </p:nvSpPr>
        <p:spPr>
          <a:xfrm>
            <a:off x="812742" y="5503205"/>
            <a:ext cx="2793942" cy="338830"/>
          </a:xfrm>
          <a:prstGeom prst="rect">
            <a:avLst/>
          </a:prstGeom>
          <a:solidFill>
            <a:srgbClr val="F1F4F7"/>
          </a:solidFill>
          <a:ln/>
        </p:spPr>
        <p:txBody>
          <a:bodyPr wrap="square" lIns="126942" tIns="76200" rIns="50740" bIns="50800" rtlCol="0" anchor="t">
            <a:normAutofit/>
          </a:bodyPr>
          <a:lstStyle/>
          <a:p>
            <a:pPr algn="l" indent="0" marL="0">
              <a:lnSpc>
                <a:spcPts val="1472"/>
              </a:lnSpc>
              <a:buNone/>
            </a:pPr>
            <a:r>
              <a:rPr lang="en-US" sz="1133" b="1" dirty="0">
                <a:solidFill>
                  <a:srgbClr val="14202B"/>
                </a:solidFill>
                <a:latin typeface="Arial" pitchFamily="34" charset="0"/>
                <a:ea typeface="Arial" pitchFamily="34" charset="-122"/>
                <a:cs typeface="Arial" pitchFamily="34" charset="-120"/>
              </a:rPr>
              <a:t>Total</a:t>
            </a:r>
            <a:endParaRPr lang="en-US" sz="1133" dirty="0"/>
          </a:p>
        </p:txBody>
      </p:sp>
      <p:sp>
        <p:nvSpPr>
          <p:cNvPr id="41" name="Text 39"/>
          <p:cNvSpPr/>
          <p:nvPr/>
        </p:nvSpPr>
        <p:spPr>
          <a:xfrm>
            <a:off x="3625734" y="5503205"/>
            <a:ext cx="952500" cy="338830"/>
          </a:xfrm>
          <a:prstGeom prst="rect">
            <a:avLst/>
          </a:prstGeom>
          <a:solidFill>
            <a:srgbClr val="F1F4F7"/>
          </a:solidFill>
          <a:ln/>
        </p:spPr>
        <p:txBody>
          <a:bodyPr wrap="square" lIns="126943"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28</a:t>
            </a:r>
            <a:endParaRPr lang="en-US" sz="1133" dirty="0"/>
          </a:p>
        </p:txBody>
      </p:sp>
      <p:sp>
        <p:nvSpPr>
          <p:cNvPr id="42" name="Text 40"/>
          <p:cNvSpPr/>
          <p:nvPr/>
        </p:nvSpPr>
        <p:spPr>
          <a:xfrm>
            <a:off x="4597284" y="5503205"/>
            <a:ext cx="1079442" cy="338830"/>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Courier New" pitchFamily="49" charset="0"/>
                <a:ea typeface="Courier New" pitchFamily="49" charset="-122"/>
                <a:cs typeface="Courier New" pitchFamily="49" charset="-120"/>
              </a:rPr>
              <a:t>21</a:t>
            </a:r>
            <a:endParaRPr lang="en-US" sz="1133" dirty="0"/>
          </a:p>
        </p:txBody>
      </p:sp>
      <p:sp>
        <p:nvSpPr>
          <p:cNvPr id="43" name="Text 41"/>
          <p:cNvSpPr/>
          <p:nvPr/>
        </p:nvSpPr>
        <p:spPr>
          <a:xfrm>
            <a:off x="5695776" y="5503205"/>
            <a:ext cx="762000" cy="338830"/>
          </a:xfrm>
          <a:prstGeom prst="rect">
            <a:avLst/>
          </a:prstGeom>
          <a:solidFill>
            <a:srgbClr val="F1F4F7"/>
          </a:solidFill>
          <a:ln/>
        </p:spPr>
        <p:txBody>
          <a:bodyPr wrap="square" lIns="126942" tIns="76200" rIns="76142" bIns="50800" rtlCol="0" anchor="t">
            <a:normAutofit/>
          </a:bodyPr>
          <a:lstStyle/>
          <a:p>
            <a:pPr algn="l" indent="0" marL="0">
              <a:lnSpc>
                <a:spcPts val="1472"/>
              </a:lnSpc>
              <a:buNone/>
            </a:pPr>
            <a:r>
              <a:rPr lang="en-US" sz="1133" dirty="0">
                <a:solidFill>
                  <a:srgbClr val="14202B"/>
                </a:solidFill>
                <a:latin typeface="Arial" pitchFamily="34" charset="0"/>
                <a:ea typeface="Arial" pitchFamily="34" charset="-122"/>
                <a:cs typeface="Arial" pitchFamily="34" charset="-120"/>
              </a:rPr>
              <a:t>177</a:t>
            </a:r>
            <a:endParaRPr lang="en-US" sz="1133" dirty="0"/>
          </a:p>
        </p:txBody>
      </p:sp>
      <p:sp>
        <p:nvSpPr>
          <p:cNvPr id="44" name="Text 42"/>
          <p:cNvSpPr/>
          <p:nvPr/>
        </p:nvSpPr>
        <p:spPr>
          <a:xfrm>
            <a:off x="6711748" y="2281845"/>
            <a:ext cx="4807535" cy="24005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02B"/>
                </a:solidFill>
                <a:latin typeface="Arial" pitchFamily="34" charset="0"/>
                <a:ea typeface="Arial" pitchFamily="34" charset="-122"/>
                <a:cs typeface="Arial" pitchFamily="34" charset="-120"/>
              </a:rPr>
              <a:t>Paliers : 15 fichiers A, 6 B, 7 C.</a:t>
            </a:r>
            <a:endParaRPr lang="en-US" sz="1300" dirty="0"/>
          </a:p>
        </p:txBody>
      </p:sp>
      <p:sp>
        <p:nvSpPr>
          <p:cNvPr id="45" name="Text 43"/>
          <p:cNvSpPr/>
          <p:nvPr/>
        </p:nvSpPr>
        <p:spPr>
          <a:xfrm>
            <a:off x="6711748" y="2610805"/>
            <a:ext cx="4807535" cy="24005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02B"/>
                </a:solidFill>
                <a:latin typeface="Arial" pitchFamily="34" charset="0"/>
                <a:ea typeface="Arial" pitchFamily="34" charset="-122"/>
                <a:cs typeface="Arial" pitchFamily="34" charset="-120"/>
              </a:rPr>
              <a:t>Palier D (cartes réelles) : manuel.</a:t>
            </a:r>
            <a:endParaRPr lang="en-US" sz="1300" dirty="0"/>
          </a:p>
        </p:txBody>
      </p:sp>
      <p:sp>
        <p:nvSpPr>
          <p:cNvPr id="46" name="Text 44"/>
          <p:cNvSpPr/>
          <p:nvPr/>
        </p:nvSpPr>
        <p:spPr>
          <a:xfrm>
            <a:off x="6711748" y="2939765"/>
            <a:ext cx="4807535" cy="240059"/>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C2410C"/>
                </a:solidFill>
                <a:latin typeface="Arial" pitchFamily="34" charset="0"/>
                <a:ea typeface="Arial" pitchFamily="34" charset="-122"/>
                <a:cs typeface="Arial" pitchFamily="34" charset="-120"/>
              </a:rPr>
              <a:t>Couverture : non mesurée.</a:t>
            </a:r>
            <a:endParaRPr lang="en-US" sz="1300" dirty="0"/>
          </a:p>
        </p:txBody>
      </p:sp>
      <p:sp>
        <p:nvSpPr>
          <p:cNvPr id="47" name="Text 45"/>
          <p:cNvSpPr/>
          <p:nvPr/>
        </p:nvSpPr>
        <p:spPr>
          <a:xfrm>
            <a:off x="812742" y="6238267"/>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48" name="Text 46"/>
          <p:cNvSpPr/>
          <p:nvPr/>
        </p:nvSpPr>
        <p:spPr>
          <a:xfrm>
            <a:off x="9417107" y="6238267"/>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22 / 23</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42" y="812750"/>
            <a:ext cx="10883510" cy="22352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C2410C"/>
                </a:solidFill>
                <a:latin typeface="Courier New" pitchFamily="49" charset="0"/>
                <a:ea typeface="Courier New" pitchFamily="49" charset="-122"/>
                <a:cs typeface="Courier New" pitchFamily="49" charset="-120"/>
              </a:rPr>
              <a:t>ANNEXE C</a:t>
            </a:r>
            <a:endParaRPr lang="en-US" sz="1200" dirty="0"/>
          </a:p>
        </p:txBody>
      </p:sp>
      <p:sp>
        <p:nvSpPr>
          <p:cNvPr id="3" name="Text 1"/>
          <p:cNvSpPr/>
          <p:nvPr>
            <p:ph type="title"/>
          </p:nvPr>
        </p:nvSpPr>
        <p:spPr>
          <a:xfrm>
            <a:off x="812742" y="1239465"/>
            <a:ext cx="10883510" cy="872259"/>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Aucune garantie de confidentialité</a:t>
            </a:r>
            <a:endParaRPr lang="en-US" sz="2900" dirty="0"/>
          </a:p>
          <a:p>
            <a:pPr algn="l" indent="0" marL="0">
              <a:lnSpc>
                <a:spcPts val="3335"/>
              </a:lnSpc>
              <a:buNone/>
            </a:pPr>
            <a:r>
              <a:rPr lang="en-US" sz="2900" b="1" i="0" dirty="0">
                <a:solidFill>
                  <a:srgbClr val="14202B"/>
                </a:solidFill>
                <a:latin typeface="Arial" pitchFamily="34" charset="0"/>
                <a:ea typeface="Arial" pitchFamily="34" charset="-122"/>
                <a:cs typeface="Arial" pitchFamily="34" charset="-120"/>
              </a:rPr>
              <a:t>ou d’anti-fraude n’est démontrée</a:t>
            </a:r>
            <a:endParaRPr lang="en-US" sz="2900" dirty="0"/>
          </a:p>
        </p:txBody>
      </p:sp>
      <p:sp>
        <p:nvSpPr>
          <p:cNvPr id="4" name="Shape 2"/>
          <p:cNvSpPr/>
          <p:nvPr/>
        </p:nvSpPr>
        <p:spPr>
          <a:xfrm>
            <a:off x="812742" y="2314922"/>
            <a:ext cx="10566515" cy="796030"/>
          </a:xfrm>
          <a:prstGeom prst="roundRect">
            <a:avLst>
              <a:gd name="adj" fmla="val 7977"/>
            </a:avLst>
          </a:prstGeom>
          <a:solidFill>
            <a:srgbClr val="F1F4F7"/>
          </a:solidFill>
          <a:ln/>
        </p:spPr>
      </p:sp>
      <p:sp>
        <p:nvSpPr>
          <p:cNvPr id="5" name="Shape 3"/>
          <p:cNvSpPr/>
          <p:nvPr/>
        </p:nvSpPr>
        <p:spPr>
          <a:xfrm>
            <a:off x="1003242" y="2554957"/>
            <a:ext cx="165042" cy="165042"/>
          </a:xfrm>
          <a:prstGeom prst="rect">
            <a:avLst/>
          </a:prstGeom>
          <a:solidFill>
            <a:srgbClr val="C2410C"/>
          </a:solidFill>
          <a:ln/>
        </p:spPr>
      </p:sp>
      <p:sp>
        <p:nvSpPr>
          <p:cNvPr id="6" name="Text 4"/>
          <p:cNvSpPr/>
          <p:nvPr/>
        </p:nvSpPr>
        <p:spPr>
          <a:xfrm>
            <a:off x="1346056" y="2505422"/>
            <a:ext cx="6042833"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B"/>
                </a:solidFill>
                <a:latin typeface="Arial" pitchFamily="34" charset="0"/>
                <a:ea typeface="Arial" pitchFamily="34" charset="-122"/>
                <a:cs typeface="Arial" pitchFamily="34" charset="-120"/>
              </a:rPr>
              <a:t>Pas de détection de vivacité ni d’analyse anti-fraude</a:t>
            </a:r>
            <a:endParaRPr lang="en-US" sz="1600" dirty="0"/>
          </a:p>
        </p:txBody>
      </p:sp>
      <p:sp>
        <p:nvSpPr>
          <p:cNvPr id="7" name="Shape 5"/>
          <p:cNvSpPr/>
          <p:nvPr/>
        </p:nvSpPr>
        <p:spPr>
          <a:xfrm>
            <a:off x="812742" y="3225254"/>
            <a:ext cx="10566515" cy="796117"/>
          </a:xfrm>
          <a:prstGeom prst="roundRect">
            <a:avLst>
              <a:gd name="adj" fmla="val 7976"/>
            </a:avLst>
          </a:prstGeom>
          <a:solidFill>
            <a:srgbClr val="F1F4F7"/>
          </a:solidFill>
          <a:ln/>
        </p:spPr>
      </p:sp>
      <p:sp>
        <p:nvSpPr>
          <p:cNvPr id="8" name="Shape 6"/>
          <p:cNvSpPr/>
          <p:nvPr/>
        </p:nvSpPr>
        <p:spPr>
          <a:xfrm>
            <a:off x="1003242" y="3465289"/>
            <a:ext cx="165042" cy="165042"/>
          </a:xfrm>
          <a:prstGeom prst="rect">
            <a:avLst/>
          </a:prstGeom>
          <a:solidFill>
            <a:srgbClr val="C2410C"/>
          </a:solidFill>
          <a:ln/>
        </p:spPr>
      </p:sp>
      <p:sp>
        <p:nvSpPr>
          <p:cNvPr id="9" name="Text 7"/>
          <p:cNvSpPr/>
          <p:nvPr/>
        </p:nvSpPr>
        <p:spPr>
          <a:xfrm>
            <a:off x="1346056" y="3415754"/>
            <a:ext cx="7600326"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B"/>
                </a:solidFill>
                <a:latin typeface="Arial" pitchFamily="34" charset="0"/>
                <a:ea typeface="Arial" pitchFamily="34" charset="-122"/>
                <a:cs typeface="Arial" pitchFamily="34" charset="-120"/>
              </a:rPr>
              <a:t>Export galerie : les images échappent au contrôle de l’application</a:t>
            </a:r>
            <a:endParaRPr lang="en-US" sz="1600" dirty="0"/>
          </a:p>
        </p:txBody>
      </p:sp>
      <p:sp>
        <p:nvSpPr>
          <p:cNvPr id="10" name="Shape 8"/>
          <p:cNvSpPr/>
          <p:nvPr/>
        </p:nvSpPr>
        <p:spPr>
          <a:xfrm>
            <a:off x="812742" y="4135673"/>
            <a:ext cx="10566515" cy="796030"/>
          </a:xfrm>
          <a:prstGeom prst="roundRect">
            <a:avLst>
              <a:gd name="adj" fmla="val 7977"/>
            </a:avLst>
          </a:prstGeom>
          <a:solidFill>
            <a:srgbClr val="F1F4F7"/>
          </a:solidFill>
          <a:ln/>
        </p:spPr>
      </p:sp>
      <p:sp>
        <p:nvSpPr>
          <p:cNvPr id="11" name="Shape 9"/>
          <p:cNvSpPr/>
          <p:nvPr/>
        </p:nvSpPr>
        <p:spPr>
          <a:xfrm>
            <a:off x="1003242" y="4375696"/>
            <a:ext cx="165042" cy="165042"/>
          </a:xfrm>
          <a:prstGeom prst="rect">
            <a:avLst/>
          </a:prstGeom>
          <a:solidFill>
            <a:srgbClr val="C2410C"/>
          </a:solidFill>
          <a:ln/>
        </p:spPr>
      </p:sp>
      <p:sp>
        <p:nvSpPr>
          <p:cNvPr id="12" name="Text 10"/>
          <p:cNvSpPr/>
          <p:nvPr/>
        </p:nvSpPr>
        <p:spPr>
          <a:xfrm>
            <a:off x="1346056" y="4326173"/>
            <a:ext cx="7573310"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B"/>
                </a:solidFill>
                <a:latin typeface="Arial" pitchFamily="34" charset="0"/>
                <a:ea typeface="Arial" pitchFamily="34" charset="-122"/>
                <a:cs typeface="Arial" pitchFamily="34" charset="-120"/>
              </a:rPr>
              <a:t>Historique : captures de la session conservées pour consultation</a:t>
            </a:r>
            <a:endParaRPr lang="en-US" sz="1600" dirty="0"/>
          </a:p>
        </p:txBody>
      </p:sp>
      <p:sp>
        <p:nvSpPr>
          <p:cNvPr id="13" name="Shape 11"/>
          <p:cNvSpPr/>
          <p:nvPr/>
        </p:nvSpPr>
        <p:spPr>
          <a:xfrm>
            <a:off x="812742" y="5046005"/>
            <a:ext cx="10566515" cy="796030"/>
          </a:xfrm>
          <a:prstGeom prst="roundRect">
            <a:avLst>
              <a:gd name="adj" fmla="val 7977"/>
            </a:avLst>
          </a:prstGeom>
          <a:solidFill>
            <a:srgbClr val="F1F4F7"/>
          </a:solidFill>
          <a:ln/>
        </p:spPr>
      </p:sp>
      <p:sp>
        <p:nvSpPr>
          <p:cNvPr id="14" name="Shape 12"/>
          <p:cNvSpPr/>
          <p:nvPr/>
        </p:nvSpPr>
        <p:spPr>
          <a:xfrm>
            <a:off x="1003242" y="5286028"/>
            <a:ext cx="165042" cy="165042"/>
          </a:xfrm>
          <a:prstGeom prst="rect">
            <a:avLst/>
          </a:prstGeom>
          <a:solidFill>
            <a:srgbClr val="C2410C"/>
          </a:solidFill>
          <a:ln/>
        </p:spPr>
      </p:sp>
      <p:sp>
        <p:nvSpPr>
          <p:cNvPr id="15" name="Text 13"/>
          <p:cNvSpPr/>
          <p:nvPr/>
        </p:nvSpPr>
        <p:spPr>
          <a:xfrm>
            <a:off x="1346056" y="5236505"/>
            <a:ext cx="6529439"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B"/>
                </a:solidFill>
                <a:latin typeface="Arial" pitchFamily="34" charset="0"/>
                <a:ea typeface="Arial" pitchFamily="34" charset="-122"/>
                <a:cs typeface="Arial" pitchFamily="34" charset="-120"/>
              </a:rPr>
              <a:t>Chiffrement, conformité : aucune preuve dans le rapport</a:t>
            </a:r>
            <a:endParaRPr lang="en-US" sz="1600" dirty="0"/>
          </a:p>
        </p:txBody>
      </p:sp>
      <p:sp>
        <p:nvSpPr>
          <p:cNvPr id="16" name="Text 14"/>
          <p:cNvSpPr/>
          <p:nvPr/>
        </p:nvSpPr>
        <p:spPr>
          <a:xfrm>
            <a:off x="812742" y="6238267"/>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Arial" pitchFamily="34" charset="0"/>
                <a:ea typeface="Arial" pitchFamily="34" charset="-122"/>
                <a:cs typeface="Arial" pitchFamily="34" charset="-120"/>
              </a:rPr>
              <a:t>Avatar-ID · autocapture de la CIN</a:t>
            </a:r>
            <a:endParaRPr lang="en-US" sz="1200" dirty="0"/>
          </a:p>
        </p:txBody>
      </p:sp>
      <p:sp>
        <p:nvSpPr>
          <p:cNvPr id="17" name="Text 15"/>
          <p:cNvSpPr/>
          <p:nvPr/>
        </p:nvSpPr>
        <p:spPr>
          <a:xfrm>
            <a:off x="9417107" y="6238267"/>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0"/>
                </a:solidFill>
                <a:latin typeface="Arial" pitchFamily="34" charset="0"/>
                <a:ea typeface="Arial" pitchFamily="34" charset="-122"/>
                <a:cs typeface="Arial" pitchFamily="34" charset="-120"/>
              </a:rPr>
              <a:t>23 / 23</a:t>
            </a:r>
            <a:endParaRPr lang="en-US" sz="1200" dirty="0"/>
          </a:p>
        </p:txBody>
      </p:sp>
    </p:spTree>
  </p:cSld>
  <p:clrMapOvr>
    <a:masterClrMapping/>
  </p:clrMapOvr>
</p:sld>
</file>

<file path=ppt/theme/theme1.xml><?xml version="1.0" encoding="utf-8"?>
<a:theme xmlns:a="http://schemas.openxmlformats.org/drawingml/2006/main" name="Avatar-ID — Soutenance de stage">
  <a:themeElements>
    <a:clrScheme name="Avatar-ID — Soutenance de stage">
      <a:dk1>
        <a:srgbClr val="14202B"/>
      </a:dk1>
      <a:lt1>
        <a:srgbClr val="FFFFFF"/>
      </a:lt1>
      <a:dk2>
        <a:srgbClr val="4F5860"/>
      </a:dk2>
      <a:lt2>
        <a:srgbClr val="E8E9EA"/>
      </a:lt2>
      <a:accent1>
        <a:srgbClr val="C2410C"/>
      </a:accent1>
      <a:accent2>
        <a:srgbClr val="B42318"/>
      </a:accent2>
      <a:accent3>
        <a:srgbClr val="15803D"/>
      </a:accent3>
      <a:accent4>
        <a:srgbClr val="FDBA74"/>
      </a:accent4>
      <a:accent5>
        <a:srgbClr val="5B6770"/>
      </a:accent5>
      <a:accent6>
        <a:srgbClr val="DDE3E9"/>
      </a:accent6>
      <a:hlink>
        <a:srgbClr val="0563C1"/>
      </a:hlink>
      <a:folHlink>
        <a:srgbClr val="954F72"/>
      </a:folHlink>
    </a:clrScheme>
    <a:fontScheme name="Avatar-ID — Soutenance de stag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Avatar-ID — Soutenance de stage</dc:title>
  <dc:subject/>
  <dc:creator/>
  <cp:lastModifiedBy/>
  <cp:revision>1</cp:revision>
  <dcterms:created xsi:type="dcterms:W3CDTF">2026-10-23T08:02:00Z</dcterms:created>
  <dcterms:modified xsi:type="dcterms:W3CDTF">2026-10-23T08:02:00Z</dcterms:modified>
</cp:coreProperties>
</file>